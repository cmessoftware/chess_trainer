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  <p:embeddedFontLst>
    <p:embeddedFont>
      <p:font typeface="MiSans" charset="-122" pitchFamily="34"/>
      <p:regular r:id="rId22"/>
    </p:embeddedFont>
    <p:embeddedFont>
      <p:font typeface="Alimama ShuHeiTi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64cd9ab5b963ec27e4ba6a1d7c6591d534f0337a.jpe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508000" y="2067983"/>
            <a:ext cx="249555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Technical Deep Dive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2559050"/>
            <a:ext cx="1562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Chess Trainer ML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81635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Implementación Técnica Avanzada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83235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1930400" y="4679950"/>
            <a:ext cx="622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Código, Arquitectura y Optimización para </a:t>
            </a:r>
            <a:pPr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F1=1.0000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350" y="5854700"/>
            <a:ext cx="2082800" cy="1231900"/>
          </a:xfrm>
          <a:custGeom>
            <a:avLst/>
            <a:gdLst/>
            <a:ahLst/>
            <a:cxnLst/>
            <a:rect l="l" t="t" r="r" b="b"/>
            <a:pathLst>
              <a:path w="2082800" h="1231900">
                <a:moveTo>
                  <a:pt x="101595" y="0"/>
                </a:moveTo>
                <a:lnTo>
                  <a:pt x="1981205" y="0"/>
                </a:lnTo>
                <a:cubicBezTo>
                  <a:pt x="2037314" y="0"/>
                  <a:pt x="2082800" y="45486"/>
                  <a:pt x="2082800" y="101595"/>
                </a:cubicBezTo>
                <a:lnTo>
                  <a:pt x="2082800" y="1130305"/>
                </a:lnTo>
                <a:cubicBezTo>
                  <a:pt x="2082800" y="1186414"/>
                  <a:pt x="2037314" y="1231900"/>
                  <a:pt x="1981205" y="1231900"/>
                </a:cubicBezTo>
                <a:lnTo>
                  <a:pt x="101595" y="1231900"/>
                </a:lnTo>
                <a:cubicBezTo>
                  <a:pt x="45486" y="1231900"/>
                  <a:pt x="0" y="1186414"/>
                  <a:pt x="0" y="1130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5500" y="6064250"/>
            <a:ext cx="1689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5500" y="6572250"/>
            <a:ext cx="156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3.9+ Stack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918619" y="5854700"/>
            <a:ext cx="2514600" cy="1231900"/>
          </a:xfrm>
          <a:custGeom>
            <a:avLst/>
            <a:gdLst/>
            <a:ahLst/>
            <a:cxnLst/>
            <a:rect l="l" t="t" r="r" b="b"/>
            <a:pathLst>
              <a:path w="2514600" h="1231900">
                <a:moveTo>
                  <a:pt x="101595" y="0"/>
                </a:moveTo>
                <a:lnTo>
                  <a:pt x="2413005" y="0"/>
                </a:lnTo>
                <a:cubicBezTo>
                  <a:pt x="2469114" y="0"/>
                  <a:pt x="2514600" y="45486"/>
                  <a:pt x="2514600" y="101595"/>
                </a:cubicBezTo>
                <a:lnTo>
                  <a:pt x="2514600" y="1130305"/>
                </a:lnTo>
                <a:cubicBezTo>
                  <a:pt x="2514600" y="1186414"/>
                  <a:pt x="2469114" y="1231900"/>
                  <a:pt x="2413005" y="1231900"/>
                </a:cubicBezTo>
                <a:lnTo>
                  <a:pt x="101595" y="1231900"/>
                </a:lnTo>
                <a:cubicBezTo>
                  <a:pt x="45486" y="1231900"/>
                  <a:pt x="0" y="1186414"/>
                  <a:pt x="0" y="1130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29769" y="6064250"/>
            <a:ext cx="2120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TF/Keras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229769" y="6572250"/>
            <a:ext cx="199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50785" y="5854700"/>
            <a:ext cx="2171700" cy="1231900"/>
          </a:xfrm>
          <a:custGeom>
            <a:avLst/>
            <a:gdLst/>
            <a:ahLst/>
            <a:cxnLst/>
            <a:rect l="l" t="t" r="r" b="b"/>
            <a:pathLst>
              <a:path w="2171700" h="1231900">
                <a:moveTo>
                  <a:pt x="101595" y="0"/>
                </a:moveTo>
                <a:lnTo>
                  <a:pt x="2070105" y="0"/>
                </a:lnTo>
                <a:cubicBezTo>
                  <a:pt x="2126214" y="0"/>
                  <a:pt x="2171700" y="45486"/>
                  <a:pt x="2171700" y="101595"/>
                </a:cubicBezTo>
                <a:lnTo>
                  <a:pt x="2171700" y="1130305"/>
                </a:lnTo>
                <a:cubicBezTo>
                  <a:pt x="2171700" y="1186414"/>
                  <a:pt x="2126214" y="1231900"/>
                  <a:pt x="2070105" y="1231900"/>
                </a:cubicBezTo>
                <a:lnTo>
                  <a:pt x="101595" y="1231900"/>
                </a:lnTo>
                <a:cubicBezTo>
                  <a:pt x="45486" y="1231900"/>
                  <a:pt x="0" y="1186414"/>
                  <a:pt x="0" y="1130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61935" y="6064250"/>
            <a:ext cx="177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MLflow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61935" y="657225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Tracking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4"/>
            <a:ext cx="174267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Stack Tecnológico y Arquitectura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4787900"/>
          </a:xfrm>
          <a:custGeom>
            <a:avLst/>
            <a:gdLst/>
            <a:ahLst/>
            <a:cxnLst/>
            <a:rect l="l" t="t" r="r" b="b"/>
            <a:pathLst>
              <a:path w="7531100" h="4787900">
                <a:moveTo>
                  <a:pt x="101599" y="0"/>
                </a:moveTo>
                <a:lnTo>
                  <a:pt x="7429501" y="0"/>
                </a:lnTo>
                <a:cubicBezTo>
                  <a:pt x="7485612" y="0"/>
                  <a:pt x="7531100" y="45488"/>
                  <a:pt x="7531100" y="101599"/>
                </a:cubicBezTo>
                <a:lnTo>
                  <a:pt x="7531100" y="4686301"/>
                </a:lnTo>
                <a:cubicBezTo>
                  <a:pt x="7531100" y="4742412"/>
                  <a:pt x="7485612" y="4787900"/>
                  <a:pt x="7429501" y="4787900"/>
                </a:cubicBezTo>
                <a:lnTo>
                  <a:pt x="101599" y="4787900"/>
                </a:lnTo>
                <a:cubicBezTo>
                  <a:pt x="45488" y="4787900"/>
                  <a:pt x="0" y="4742412"/>
                  <a:pt x="0" y="4686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Core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762000"/>
          </a:xfrm>
          <a:custGeom>
            <a:avLst/>
            <a:gdLst/>
            <a:ahLst/>
            <a:cxnLst/>
            <a:rect l="l" t="t" r="r" b="b"/>
            <a:pathLst>
              <a:path w="7213600" h="762000">
                <a:moveTo>
                  <a:pt x="50803" y="0"/>
                </a:moveTo>
                <a:lnTo>
                  <a:pt x="7162797" y="0"/>
                </a:lnTo>
                <a:cubicBezTo>
                  <a:pt x="7190855" y="0"/>
                  <a:pt x="7213600" y="22745"/>
                  <a:pt x="7213600" y="50803"/>
                </a:cubicBezTo>
                <a:lnTo>
                  <a:pt x="7213600" y="711197"/>
                </a:lnTo>
                <a:cubicBezTo>
                  <a:pt x="7213600" y="739255"/>
                  <a:pt x="7190855" y="762000"/>
                  <a:pt x="71627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4700" y="2247900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3.9+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4700" y="2552700"/>
            <a:ext cx="158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Lenguaje principal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15225" y="24003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8182" y="99467"/>
                </a:moveTo>
                <a:cubicBezTo>
                  <a:pt x="214362" y="84138"/>
                  <a:pt x="207119" y="72579"/>
                  <a:pt x="191691" y="72579"/>
                </a:cubicBezTo>
                <a:lnTo>
                  <a:pt x="171797" y="72579"/>
                </a:lnTo>
                <a:lnTo>
                  <a:pt x="171797" y="96093"/>
                </a:lnTo>
                <a:cubicBezTo>
                  <a:pt x="171797" y="114350"/>
                  <a:pt x="156319" y="129729"/>
                  <a:pt x="138658" y="129729"/>
                </a:cubicBezTo>
                <a:lnTo>
                  <a:pt x="85675" y="129729"/>
                </a:lnTo>
                <a:cubicBezTo>
                  <a:pt x="71189" y="129729"/>
                  <a:pt x="59184" y="142131"/>
                  <a:pt x="59184" y="156666"/>
                </a:cubicBezTo>
                <a:lnTo>
                  <a:pt x="59184" y="207169"/>
                </a:lnTo>
                <a:cubicBezTo>
                  <a:pt x="59184" y="221555"/>
                  <a:pt x="71686" y="229989"/>
                  <a:pt x="85675" y="234107"/>
                </a:cubicBezTo>
                <a:cubicBezTo>
                  <a:pt x="102443" y="239018"/>
                  <a:pt x="118566" y="239911"/>
                  <a:pt x="138658" y="234107"/>
                </a:cubicBezTo>
                <a:cubicBezTo>
                  <a:pt x="152003" y="230237"/>
                  <a:pt x="165150" y="222448"/>
                  <a:pt x="165150" y="207169"/>
                </a:cubicBezTo>
                <a:lnTo>
                  <a:pt x="165150" y="186978"/>
                </a:lnTo>
                <a:lnTo>
                  <a:pt x="112216" y="186978"/>
                </a:lnTo>
                <a:lnTo>
                  <a:pt x="112216" y="180231"/>
                </a:lnTo>
                <a:lnTo>
                  <a:pt x="191691" y="180231"/>
                </a:lnTo>
                <a:cubicBezTo>
                  <a:pt x="207119" y="180231"/>
                  <a:pt x="212824" y="169466"/>
                  <a:pt x="218182" y="153343"/>
                </a:cubicBezTo>
                <a:cubicBezTo>
                  <a:pt x="223738" y="136723"/>
                  <a:pt x="223490" y="120749"/>
                  <a:pt x="218182" y="99467"/>
                </a:cubicBezTo>
                <a:close/>
                <a:moveTo>
                  <a:pt x="141982" y="220613"/>
                </a:moveTo>
                <a:cubicBezTo>
                  <a:pt x="138206" y="220878"/>
                  <a:pt x="134598" y="219014"/>
                  <a:pt x="132630" y="215781"/>
                </a:cubicBezTo>
                <a:cubicBezTo>
                  <a:pt x="130661" y="212548"/>
                  <a:pt x="130661" y="208487"/>
                  <a:pt x="132630" y="205254"/>
                </a:cubicBezTo>
                <a:cubicBezTo>
                  <a:pt x="134598" y="202021"/>
                  <a:pt x="138206" y="200157"/>
                  <a:pt x="141982" y="200422"/>
                </a:cubicBezTo>
                <a:cubicBezTo>
                  <a:pt x="145758" y="200157"/>
                  <a:pt x="149366" y="202021"/>
                  <a:pt x="151334" y="205254"/>
                </a:cubicBezTo>
                <a:cubicBezTo>
                  <a:pt x="153303" y="208487"/>
                  <a:pt x="153303" y="212548"/>
                  <a:pt x="151334" y="215781"/>
                </a:cubicBezTo>
                <a:cubicBezTo>
                  <a:pt x="149366" y="219014"/>
                  <a:pt x="145758" y="220878"/>
                  <a:pt x="141982" y="220613"/>
                </a:cubicBezTo>
                <a:close/>
                <a:moveTo>
                  <a:pt x="83245" y="123081"/>
                </a:moveTo>
                <a:lnTo>
                  <a:pt x="136227" y="123081"/>
                </a:lnTo>
                <a:cubicBezTo>
                  <a:pt x="150961" y="123081"/>
                  <a:pt x="162719" y="110927"/>
                  <a:pt x="162719" y="96143"/>
                </a:cubicBezTo>
                <a:lnTo>
                  <a:pt x="162719" y="45591"/>
                </a:lnTo>
                <a:cubicBezTo>
                  <a:pt x="162719" y="31204"/>
                  <a:pt x="150614" y="20439"/>
                  <a:pt x="136227" y="18008"/>
                </a:cubicBezTo>
                <a:cubicBezTo>
                  <a:pt x="118467" y="15081"/>
                  <a:pt x="99169" y="15230"/>
                  <a:pt x="83245" y="18058"/>
                </a:cubicBezTo>
                <a:cubicBezTo>
                  <a:pt x="60821" y="22027"/>
                  <a:pt x="56753" y="30311"/>
                  <a:pt x="56753" y="45641"/>
                </a:cubicBezTo>
                <a:lnTo>
                  <a:pt x="56753" y="65832"/>
                </a:lnTo>
                <a:lnTo>
                  <a:pt x="109786" y="65832"/>
                </a:lnTo>
                <a:lnTo>
                  <a:pt x="109786" y="72579"/>
                </a:lnTo>
                <a:lnTo>
                  <a:pt x="36860" y="72579"/>
                </a:lnTo>
                <a:cubicBezTo>
                  <a:pt x="21431" y="72579"/>
                  <a:pt x="7938" y="81855"/>
                  <a:pt x="3721" y="99467"/>
                </a:cubicBezTo>
                <a:cubicBezTo>
                  <a:pt x="-1141" y="119658"/>
                  <a:pt x="-1339" y="132259"/>
                  <a:pt x="3721" y="153343"/>
                </a:cubicBezTo>
                <a:cubicBezTo>
                  <a:pt x="7491" y="169019"/>
                  <a:pt x="16470" y="180231"/>
                  <a:pt x="31899" y="180231"/>
                </a:cubicBezTo>
                <a:lnTo>
                  <a:pt x="50105" y="180231"/>
                </a:lnTo>
                <a:lnTo>
                  <a:pt x="50105" y="156021"/>
                </a:lnTo>
                <a:cubicBezTo>
                  <a:pt x="50105" y="138509"/>
                  <a:pt x="65236" y="123081"/>
                  <a:pt x="83245" y="123081"/>
                </a:cubicBezTo>
                <a:close/>
                <a:moveTo>
                  <a:pt x="79970" y="32097"/>
                </a:moveTo>
                <a:cubicBezTo>
                  <a:pt x="85556" y="32097"/>
                  <a:pt x="90091" y="36632"/>
                  <a:pt x="90091" y="42218"/>
                </a:cubicBezTo>
                <a:cubicBezTo>
                  <a:pt x="90091" y="47803"/>
                  <a:pt x="85556" y="52338"/>
                  <a:pt x="79970" y="52338"/>
                </a:cubicBezTo>
                <a:cubicBezTo>
                  <a:pt x="74385" y="52338"/>
                  <a:pt x="69850" y="47803"/>
                  <a:pt x="69850" y="42218"/>
                </a:cubicBezTo>
                <a:cubicBezTo>
                  <a:pt x="69850" y="36632"/>
                  <a:pt x="74385" y="32097"/>
                  <a:pt x="79970" y="32097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673100" y="2959100"/>
            <a:ext cx="7213600" cy="762000"/>
          </a:xfrm>
          <a:custGeom>
            <a:avLst/>
            <a:gdLst/>
            <a:ahLst/>
            <a:cxnLst/>
            <a:rect l="l" t="t" r="r" b="b"/>
            <a:pathLst>
              <a:path w="7213600" h="762000">
                <a:moveTo>
                  <a:pt x="50803" y="0"/>
                </a:moveTo>
                <a:lnTo>
                  <a:pt x="7162797" y="0"/>
                </a:lnTo>
                <a:cubicBezTo>
                  <a:pt x="7190855" y="0"/>
                  <a:pt x="7213600" y="22745"/>
                  <a:pt x="7213600" y="50803"/>
                </a:cubicBezTo>
                <a:lnTo>
                  <a:pt x="7213600" y="711197"/>
                </a:lnTo>
                <a:cubicBezTo>
                  <a:pt x="7213600" y="739255"/>
                  <a:pt x="7190855" y="762000"/>
                  <a:pt x="71627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74700" y="3060700"/>
            <a:ext cx="113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4700" y="3365500"/>
            <a:ext cx="111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clásico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67600" y="32131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4" name="Shape 12"/>
          <p:cNvSpPr/>
          <p:nvPr/>
        </p:nvSpPr>
        <p:spPr>
          <a:xfrm>
            <a:off x="673100" y="3771900"/>
            <a:ext cx="7213600" cy="762000"/>
          </a:xfrm>
          <a:custGeom>
            <a:avLst/>
            <a:gdLst/>
            <a:ahLst/>
            <a:cxnLst/>
            <a:rect l="l" t="t" r="r" b="b"/>
            <a:pathLst>
              <a:path w="7213600" h="762000">
                <a:moveTo>
                  <a:pt x="50803" y="0"/>
                </a:moveTo>
                <a:lnTo>
                  <a:pt x="7162797" y="0"/>
                </a:lnTo>
                <a:cubicBezTo>
                  <a:pt x="7190855" y="0"/>
                  <a:pt x="7213600" y="22745"/>
                  <a:pt x="7213600" y="50803"/>
                </a:cubicBezTo>
                <a:lnTo>
                  <a:pt x="7213600" y="711197"/>
                </a:lnTo>
                <a:cubicBezTo>
                  <a:pt x="7213600" y="739255"/>
                  <a:pt x="7190855" y="762000"/>
                  <a:pt x="71627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4700" y="3873500"/>
            <a:ext cx="179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TensorFlow/Keras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4700" y="417830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99350" y="4025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9531" y="27781"/>
                </a:moveTo>
                <a:cubicBezTo>
                  <a:pt x="59531" y="12452"/>
                  <a:pt x="71983" y="0"/>
                  <a:pt x="87313" y="0"/>
                </a:cubicBezTo>
                <a:lnTo>
                  <a:pt x="99219" y="0"/>
                </a:lnTo>
                <a:cubicBezTo>
                  <a:pt x="108000" y="0"/>
                  <a:pt x="115094" y="7094"/>
                  <a:pt x="115094" y="15875"/>
                </a:cubicBezTo>
                <a:lnTo>
                  <a:pt x="115094" y="238125"/>
                </a:lnTo>
                <a:cubicBezTo>
                  <a:pt x="115094" y="246906"/>
                  <a:pt x="108000" y="254000"/>
                  <a:pt x="99219" y="254000"/>
                </a:cubicBezTo>
                <a:lnTo>
                  <a:pt x="83344" y="254000"/>
                </a:lnTo>
                <a:cubicBezTo>
                  <a:pt x="68560" y="254000"/>
                  <a:pt x="56108" y="243880"/>
                  <a:pt x="52586" y="230188"/>
                </a:cubicBezTo>
                <a:cubicBezTo>
                  <a:pt x="52239" y="230188"/>
                  <a:pt x="51941" y="230188"/>
                  <a:pt x="51594" y="230188"/>
                </a:cubicBezTo>
                <a:cubicBezTo>
                  <a:pt x="29666" y="230188"/>
                  <a:pt x="11906" y="212427"/>
                  <a:pt x="11906" y="190500"/>
                </a:cubicBezTo>
                <a:cubicBezTo>
                  <a:pt x="11906" y="181570"/>
                  <a:pt x="14883" y="173335"/>
                  <a:pt x="19844" y="166688"/>
                </a:cubicBezTo>
                <a:cubicBezTo>
                  <a:pt x="10220" y="159445"/>
                  <a:pt x="3969" y="147935"/>
                  <a:pt x="3969" y="134938"/>
                </a:cubicBezTo>
                <a:cubicBezTo>
                  <a:pt x="3969" y="119608"/>
                  <a:pt x="12700" y="106263"/>
                  <a:pt x="25400" y="99665"/>
                </a:cubicBezTo>
                <a:cubicBezTo>
                  <a:pt x="21878" y="93712"/>
                  <a:pt x="19844" y="86767"/>
                  <a:pt x="19844" y="79375"/>
                </a:cubicBezTo>
                <a:cubicBezTo>
                  <a:pt x="19844" y="57448"/>
                  <a:pt x="37604" y="39688"/>
                  <a:pt x="59531" y="39688"/>
                </a:cubicBezTo>
                <a:lnTo>
                  <a:pt x="59531" y="27781"/>
                </a:lnTo>
                <a:close/>
                <a:moveTo>
                  <a:pt x="194469" y="27781"/>
                </a:moveTo>
                <a:lnTo>
                  <a:pt x="194469" y="39688"/>
                </a:lnTo>
                <a:cubicBezTo>
                  <a:pt x="216396" y="39688"/>
                  <a:pt x="234156" y="57448"/>
                  <a:pt x="234156" y="79375"/>
                </a:cubicBezTo>
                <a:cubicBezTo>
                  <a:pt x="234156" y="86816"/>
                  <a:pt x="232122" y="93762"/>
                  <a:pt x="228600" y="99665"/>
                </a:cubicBezTo>
                <a:cubicBezTo>
                  <a:pt x="241350" y="106263"/>
                  <a:pt x="250031" y="119559"/>
                  <a:pt x="250031" y="134938"/>
                </a:cubicBezTo>
                <a:cubicBezTo>
                  <a:pt x="250031" y="147935"/>
                  <a:pt x="243780" y="159445"/>
                  <a:pt x="234156" y="166688"/>
                </a:cubicBezTo>
                <a:cubicBezTo>
                  <a:pt x="239117" y="173335"/>
                  <a:pt x="242094" y="181570"/>
                  <a:pt x="242094" y="190500"/>
                </a:cubicBezTo>
                <a:cubicBezTo>
                  <a:pt x="242094" y="212427"/>
                  <a:pt x="224334" y="230188"/>
                  <a:pt x="202406" y="230188"/>
                </a:cubicBezTo>
                <a:cubicBezTo>
                  <a:pt x="202059" y="230188"/>
                  <a:pt x="201761" y="230188"/>
                  <a:pt x="201414" y="230188"/>
                </a:cubicBezTo>
                <a:cubicBezTo>
                  <a:pt x="197892" y="243880"/>
                  <a:pt x="185440" y="254000"/>
                  <a:pt x="170656" y="254000"/>
                </a:cubicBezTo>
                <a:lnTo>
                  <a:pt x="154781" y="254000"/>
                </a:lnTo>
                <a:cubicBezTo>
                  <a:pt x="146000" y="254000"/>
                  <a:pt x="138906" y="246906"/>
                  <a:pt x="138906" y="238125"/>
                </a:cubicBezTo>
                <a:lnTo>
                  <a:pt x="138906" y="15875"/>
                </a:lnTo>
                <a:cubicBezTo>
                  <a:pt x="138906" y="7094"/>
                  <a:pt x="146000" y="0"/>
                  <a:pt x="154781" y="0"/>
                </a:cubicBezTo>
                <a:lnTo>
                  <a:pt x="166688" y="0"/>
                </a:lnTo>
                <a:cubicBezTo>
                  <a:pt x="182017" y="0"/>
                  <a:pt x="194469" y="12452"/>
                  <a:pt x="194469" y="2778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8" name="Shape 16"/>
          <p:cNvSpPr/>
          <p:nvPr/>
        </p:nvSpPr>
        <p:spPr>
          <a:xfrm>
            <a:off x="673100" y="4584700"/>
            <a:ext cx="7213600" cy="762000"/>
          </a:xfrm>
          <a:custGeom>
            <a:avLst/>
            <a:gdLst/>
            <a:ahLst/>
            <a:cxnLst/>
            <a:rect l="l" t="t" r="r" b="b"/>
            <a:pathLst>
              <a:path w="7213600" h="762000">
                <a:moveTo>
                  <a:pt x="50803" y="0"/>
                </a:moveTo>
                <a:lnTo>
                  <a:pt x="7162797" y="0"/>
                </a:lnTo>
                <a:cubicBezTo>
                  <a:pt x="7190855" y="0"/>
                  <a:pt x="7213600" y="22745"/>
                  <a:pt x="7213600" y="50803"/>
                </a:cubicBezTo>
                <a:lnTo>
                  <a:pt x="7213600" y="711197"/>
                </a:lnTo>
                <a:cubicBezTo>
                  <a:pt x="7213600" y="739255"/>
                  <a:pt x="7190855" y="762000"/>
                  <a:pt x="71627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74700" y="4686300"/>
            <a:ext cx="184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XGBoost/CatBoost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4700" y="4991100"/>
            <a:ext cx="182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15225" y="48387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11125" y="-15875"/>
                </a:moveTo>
                <a:cubicBezTo>
                  <a:pt x="114598" y="-15875"/>
                  <a:pt x="117921" y="-14337"/>
                  <a:pt x="120204" y="-11658"/>
                </a:cubicBezTo>
                <a:lnTo>
                  <a:pt x="187672" y="67717"/>
                </a:lnTo>
                <a:cubicBezTo>
                  <a:pt x="190698" y="71239"/>
                  <a:pt x="191343" y="76200"/>
                  <a:pt x="189409" y="80417"/>
                </a:cubicBezTo>
                <a:cubicBezTo>
                  <a:pt x="187474" y="84634"/>
                  <a:pt x="183257" y="87313"/>
                  <a:pt x="178594" y="87313"/>
                </a:cubicBezTo>
                <a:lnTo>
                  <a:pt x="166241" y="87313"/>
                </a:lnTo>
                <a:lnTo>
                  <a:pt x="203547" y="131217"/>
                </a:lnTo>
                <a:cubicBezTo>
                  <a:pt x="206573" y="134739"/>
                  <a:pt x="207218" y="139700"/>
                  <a:pt x="205284" y="143917"/>
                </a:cubicBezTo>
                <a:cubicBezTo>
                  <a:pt x="203349" y="148134"/>
                  <a:pt x="199132" y="150813"/>
                  <a:pt x="194469" y="150813"/>
                </a:cubicBezTo>
                <a:lnTo>
                  <a:pt x="175369" y="150813"/>
                </a:lnTo>
                <a:lnTo>
                  <a:pt x="219422" y="202654"/>
                </a:lnTo>
                <a:cubicBezTo>
                  <a:pt x="222448" y="206177"/>
                  <a:pt x="223093" y="211138"/>
                  <a:pt x="221159" y="215354"/>
                </a:cubicBezTo>
                <a:cubicBezTo>
                  <a:pt x="219224" y="219571"/>
                  <a:pt x="215007" y="222250"/>
                  <a:pt x="210344" y="222250"/>
                </a:cubicBezTo>
                <a:lnTo>
                  <a:pt x="127000" y="222250"/>
                </a:lnTo>
                <a:lnTo>
                  <a:pt x="127000" y="254000"/>
                </a:lnTo>
                <a:cubicBezTo>
                  <a:pt x="127000" y="262781"/>
                  <a:pt x="119906" y="269875"/>
                  <a:pt x="111125" y="269875"/>
                </a:cubicBezTo>
                <a:cubicBezTo>
                  <a:pt x="102344" y="269875"/>
                  <a:pt x="95250" y="262781"/>
                  <a:pt x="95250" y="254000"/>
                </a:cubicBezTo>
                <a:lnTo>
                  <a:pt x="95250" y="222250"/>
                </a:lnTo>
                <a:lnTo>
                  <a:pt x="11906" y="222250"/>
                </a:lnTo>
                <a:cubicBezTo>
                  <a:pt x="7243" y="222250"/>
                  <a:pt x="3026" y="219571"/>
                  <a:pt x="1091" y="215354"/>
                </a:cubicBezTo>
                <a:cubicBezTo>
                  <a:pt x="-843" y="211138"/>
                  <a:pt x="-198" y="206177"/>
                  <a:pt x="2828" y="202654"/>
                </a:cubicBezTo>
                <a:lnTo>
                  <a:pt x="46881" y="150813"/>
                </a:lnTo>
                <a:lnTo>
                  <a:pt x="27781" y="150813"/>
                </a:lnTo>
                <a:cubicBezTo>
                  <a:pt x="23118" y="150813"/>
                  <a:pt x="18901" y="148134"/>
                  <a:pt x="16966" y="143917"/>
                </a:cubicBezTo>
                <a:cubicBezTo>
                  <a:pt x="15032" y="139700"/>
                  <a:pt x="15677" y="134739"/>
                  <a:pt x="18703" y="131217"/>
                </a:cubicBezTo>
                <a:lnTo>
                  <a:pt x="56009" y="87313"/>
                </a:lnTo>
                <a:lnTo>
                  <a:pt x="43656" y="87313"/>
                </a:lnTo>
                <a:cubicBezTo>
                  <a:pt x="38993" y="87313"/>
                  <a:pt x="34776" y="84634"/>
                  <a:pt x="32841" y="80417"/>
                </a:cubicBezTo>
                <a:cubicBezTo>
                  <a:pt x="30907" y="76200"/>
                  <a:pt x="31552" y="71239"/>
                  <a:pt x="34578" y="67717"/>
                </a:cubicBezTo>
                <a:lnTo>
                  <a:pt x="102046" y="-11658"/>
                </a:lnTo>
                <a:cubicBezTo>
                  <a:pt x="104329" y="-14337"/>
                  <a:pt x="107652" y="-15875"/>
                  <a:pt x="111125" y="-1587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2" name="Shape 20"/>
          <p:cNvSpPr/>
          <p:nvPr/>
        </p:nvSpPr>
        <p:spPr>
          <a:xfrm>
            <a:off x="673100" y="5397500"/>
            <a:ext cx="7213600" cy="762000"/>
          </a:xfrm>
          <a:custGeom>
            <a:avLst/>
            <a:gdLst/>
            <a:ahLst/>
            <a:cxnLst/>
            <a:rect l="l" t="t" r="r" b="b"/>
            <a:pathLst>
              <a:path w="7213600" h="762000">
                <a:moveTo>
                  <a:pt x="50803" y="0"/>
                </a:moveTo>
                <a:lnTo>
                  <a:pt x="7162797" y="0"/>
                </a:lnTo>
                <a:cubicBezTo>
                  <a:pt x="7190855" y="0"/>
                  <a:pt x="7213600" y="22745"/>
                  <a:pt x="7213600" y="50803"/>
                </a:cubicBezTo>
                <a:lnTo>
                  <a:pt x="7213600" y="711197"/>
                </a:lnTo>
                <a:cubicBezTo>
                  <a:pt x="7213600" y="739255"/>
                  <a:pt x="7190855" y="762000"/>
                  <a:pt x="71627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74700" y="5499100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pandas/numpy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4700" y="5803900"/>
            <a:ext cx="147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Procesamiento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15225" y="56515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27000" y="79375"/>
                </a:moveTo>
                <a:lnTo>
                  <a:pt x="127000" y="127000"/>
                </a:lnTo>
                <a:lnTo>
                  <a:pt x="190500" y="127000"/>
                </a:lnTo>
                <a:lnTo>
                  <a:pt x="190500" y="79375"/>
                </a:lnTo>
                <a:lnTo>
                  <a:pt x="127000" y="79375"/>
                </a:lnTo>
                <a:close/>
                <a:moveTo>
                  <a:pt x="95250" y="79375"/>
                </a:moveTo>
                <a:lnTo>
                  <a:pt x="31750" y="79375"/>
                </a:lnTo>
                <a:lnTo>
                  <a:pt x="31750" y="127000"/>
                </a:lnTo>
                <a:lnTo>
                  <a:pt x="95250" y="127000"/>
                </a:lnTo>
                <a:lnTo>
                  <a:pt x="95250" y="79375"/>
                </a:lnTo>
                <a:close/>
                <a:moveTo>
                  <a:pt x="0" y="158750"/>
                </a:moveTo>
                <a:lnTo>
                  <a:pt x="0" y="47625"/>
                </a:lnTo>
                <a:cubicBezTo>
                  <a:pt x="0" y="30113"/>
                  <a:pt x="14238" y="15875"/>
                  <a:pt x="31750" y="15875"/>
                </a:cubicBezTo>
                <a:lnTo>
                  <a:pt x="190500" y="15875"/>
                </a:lnTo>
                <a:cubicBezTo>
                  <a:pt x="208012" y="15875"/>
                  <a:pt x="222250" y="30113"/>
                  <a:pt x="222250" y="47625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158750"/>
                </a:lnTo>
                <a:close/>
                <a:moveTo>
                  <a:pt x="190500" y="158750"/>
                </a:moveTo>
                <a:lnTo>
                  <a:pt x="127000" y="158750"/>
                </a:lnTo>
                <a:lnTo>
                  <a:pt x="127000" y="206375"/>
                </a:lnTo>
                <a:lnTo>
                  <a:pt x="190500" y="206375"/>
                </a:lnTo>
                <a:lnTo>
                  <a:pt x="190500" y="158750"/>
                </a:lnTo>
                <a:close/>
                <a:moveTo>
                  <a:pt x="95250" y="206375"/>
                </a:moveTo>
                <a:lnTo>
                  <a:pt x="95250" y="158750"/>
                </a:lnTo>
                <a:lnTo>
                  <a:pt x="31750" y="158750"/>
                </a:lnTo>
                <a:lnTo>
                  <a:pt x="31750" y="206375"/>
                </a:lnTo>
                <a:lnTo>
                  <a:pt x="95250" y="206375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6" name="Shape 24"/>
          <p:cNvSpPr/>
          <p:nvPr/>
        </p:nvSpPr>
        <p:spPr>
          <a:xfrm>
            <a:off x="8210550" y="1530350"/>
            <a:ext cx="7531100" cy="4787900"/>
          </a:xfrm>
          <a:custGeom>
            <a:avLst/>
            <a:gdLst/>
            <a:ahLst/>
            <a:cxnLst/>
            <a:rect l="l" t="t" r="r" b="b"/>
            <a:pathLst>
              <a:path w="7531100" h="4787900">
                <a:moveTo>
                  <a:pt x="101599" y="0"/>
                </a:moveTo>
                <a:lnTo>
                  <a:pt x="7429501" y="0"/>
                </a:lnTo>
                <a:cubicBezTo>
                  <a:pt x="7485612" y="0"/>
                  <a:pt x="7531100" y="45488"/>
                  <a:pt x="7531100" y="101599"/>
                </a:cubicBezTo>
                <a:lnTo>
                  <a:pt x="7531100" y="4686301"/>
                </a:lnTo>
                <a:cubicBezTo>
                  <a:pt x="7531100" y="4742412"/>
                  <a:pt x="7485612" y="4787900"/>
                  <a:pt x="7429501" y="4787900"/>
                </a:cubicBezTo>
                <a:lnTo>
                  <a:pt x="101599" y="4787900"/>
                </a:lnTo>
                <a:cubicBezTo>
                  <a:pt x="45488" y="4787900"/>
                  <a:pt x="0" y="4742412"/>
                  <a:pt x="0" y="4686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Infraestructura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69300" y="2146300"/>
            <a:ext cx="7213600" cy="762000"/>
          </a:xfrm>
          <a:custGeom>
            <a:avLst/>
            <a:gdLst/>
            <a:ahLst/>
            <a:cxnLst/>
            <a:rect l="l" t="t" r="r" b="b"/>
            <a:pathLst>
              <a:path w="7213600" h="762000">
                <a:moveTo>
                  <a:pt x="50803" y="0"/>
                </a:moveTo>
                <a:lnTo>
                  <a:pt x="7162797" y="0"/>
                </a:lnTo>
                <a:cubicBezTo>
                  <a:pt x="7190855" y="0"/>
                  <a:pt x="7213600" y="22745"/>
                  <a:pt x="7213600" y="50803"/>
                </a:cubicBezTo>
                <a:lnTo>
                  <a:pt x="7213600" y="711197"/>
                </a:lnTo>
                <a:cubicBezTo>
                  <a:pt x="7213600" y="739255"/>
                  <a:pt x="7190855" y="762000"/>
                  <a:pt x="71627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470900" y="2247900"/>
            <a:ext cx="147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70900" y="2552700"/>
            <a:ext cx="146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Almacenamiento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5211425" y="24003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2" name="Shape 30"/>
          <p:cNvSpPr/>
          <p:nvPr/>
        </p:nvSpPr>
        <p:spPr>
          <a:xfrm>
            <a:off x="8369300" y="2959100"/>
            <a:ext cx="7213600" cy="762000"/>
          </a:xfrm>
          <a:custGeom>
            <a:avLst/>
            <a:gdLst/>
            <a:ahLst/>
            <a:cxnLst/>
            <a:rect l="l" t="t" r="r" b="b"/>
            <a:pathLst>
              <a:path w="7213600" h="762000">
                <a:moveTo>
                  <a:pt x="50803" y="0"/>
                </a:moveTo>
                <a:lnTo>
                  <a:pt x="7162797" y="0"/>
                </a:lnTo>
                <a:cubicBezTo>
                  <a:pt x="7190855" y="0"/>
                  <a:pt x="7213600" y="22745"/>
                  <a:pt x="7213600" y="50803"/>
                </a:cubicBezTo>
                <a:lnTo>
                  <a:pt x="7213600" y="711197"/>
                </a:lnTo>
                <a:cubicBezTo>
                  <a:pt x="7213600" y="739255"/>
                  <a:pt x="7190855" y="762000"/>
                  <a:pt x="71627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470900" y="3060700"/>
            <a:ext cx="173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MLflow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70900" y="3365500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Experiment tracking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5211425" y="32131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42875" y="0"/>
                </a:moveTo>
                <a:lnTo>
                  <a:pt x="63500" y="0"/>
                </a:lnTo>
                <a:cubicBezTo>
                  <a:pt x="54719" y="0"/>
                  <a:pt x="47625" y="7094"/>
                  <a:pt x="47625" y="15875"/>
                </a:cubicBezTo>
                <a:cubicBezTo>
                  <a:pt x="47625" y="24656"/>
                  <a:pt x="54719" y="31750"/>
                  <a:pt x="63500" y="31750"/>
                </a:cubicBezTo>
                <a:lnTo>
                  <a:pt x="63500" y="106908"/>
                </a:lnTo>
                <a:lnTo>
                  <a:pt x="3721" y="211485"/>
                </a:lnTo>
                <a:cubicBezTo>
                  <a:pt x="1290" y="215801"/>
                  <a:pt x="0" y="220613"/>
                  <a:pt x="0" y="225574"/>
                </a:cubicBezTo>
                <a:cubicBezTo>
                  <a:pt x="0" y="241300"/>
                  <a:pt x="12700" y="254000"/>
                  <a:pt x="28426" y="254000"/>
                </a:cubicBezTo>
                <a:lnTo>
                  <a:pt x="193824" y="254000"/>
                </a:lnTo>
                <a:cubicBezTo>
                  <a:pt x="209500" y="254000"/>
                  <a:pt x="222250" y="241300"/>
                  <a:pt x="222250" y="225574"/>
                </a:cubicBezTo>
                <a:cubicBezTo>
                  <a:pt x="222250" y="220613"/>
                  <a:pt x="220960" y="215751"/>
                  <a:pt x="218529" y="211485"/>
                </a:cubicBezTo>
                <a:lnTo>
                  <a:pt x="158750" y="106908"/>
                </a:lnTo>
                <a:lnTo>
                  <a:pt x="158750" y="31750"/>
                </a:lnTo>
                <a:cubicBezTo>
                  <a:pt x="167531" y="31750"/>
                  <a:pt x="174625" y="24656"/>
                  <a:pt x="174625" y="15875"/>
                </a:cubicBezTo>
                <a:cubicBezTo>
                  <a:pt x="174625" y="7094"/>
                  <a:pt x="167531" y="0"/>
                  <a:pt x="158750" y="0"/>
                </a:cubicBezTo>
                <a:lnTo>
                  <a:pt x="142875" y="0"/>
                </a:lnTo>
                <a:close/>
                <a:moveTo>
                  <a:pt x="95250" y="106908"/>
                </a:moveTo>
                <a:lnTo>
                  <a:pt x="95250" y="31750"/>
                </a:lnTo>
                <a:lnTo>
                  <a:pt x="127000" y="31750"/>
                </a:lnTo>
                <a:lnTo>
                  <a:pt x="127000" y="106908"/>
                </a:lnTo>
                <a:cubicBezTo>
                  <a:pt x="127000" y="112415"/>
                  <a:pt x="128439" y="117872"/>
                  <a:pt x="131167" y="122684"/>
                </a:cubicBezTo>
                <a:lnTo>
                  <a:pt x="151805" y="158750"/>
                </a:lnTo>
                <a:lnTo>
                  <a:pt x="70445" y="158750"/>
                </a:lnTo>
                <a:lnTo>
                  <a:pt x="91083" y="122684"/>
                </a:lnTo>
                <a:cubicBezTo>
                  <a:pt x="93811" y="117872"/>
                  <a:pt x="95250" y="112464"/>
                  <a:pt x="95250" y="10690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6" name="Shape 34"/>
          <p:cNvSpPr/>
          <p:nvPr/>
        </p:nvSpPr>
        <p:spPr>
          <a:xfrm>
            <a:off x="8369300" y="3771900"/>
            <a:ext cx="7213600" cy="762000"/>
          </a:xfrm>
          <a:custGeom>
            <a:avLst/>
            <a:gdLst/>
            <a:ahLst/>
            <a:cxnLst/>
            <a:rect l="l" t="t" r="r" b="b"/>
            <a:pathLst>
              <a:path w="7213600" h="762000">
                <a:moveTo>
                  <a:pt x="50803" y="0"/>
                </a:moveTo>
                <a:lnTo>
                  <a:pt x="7162797" y="0"/>
                </a:lnTo>
                <a:cubicBezTo>
                  <a:pt x="7190855" y="0"/>
                  <a:pt x="7213600" y="22745"/>
                  <a:pt x="7213600" y="50803"/>
                </a:cubicBezTo>
                <a:lnTo>
                  <a:pt x="7213600" y="711197"/>
                </a:lnTo>
                <a:cubicBezTo>
                  <a:pt x="7213600" y="739255"/>
                  <a:pt x="7190855" y="762000"/>
                  <a:pt x="71627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470900" y="3873500"/>
            <a:ext cx="143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70900" y="4178300"/>
            <a:ext cx="142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Containerization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5163800" y="40259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73583" y="117227"/>
                </a:moveTo>
                <a:lnTo>
                  <a:pt x="140791" y="117227"/>
                </a:lnTo>
                <a:lnTo>
                  <a:pt x="140791" y="87759"/>
                </a:lnTo>
                <a:lnTo>
                  <a:pt x="173583" y="87759"/>
                </a:lnTo>
                <a:lnTo>
                  <a:pt x="173583" y="117227"/>
                </a:lnTo>
                <a:close/>
                <a:moveTo>
                  <a:pt x="173583" y="15875"/>
                </a:moveTo>
                <a:lnTo>
                  <a:pt x="140791" y="15875"/>
                </a:lnTo>
                <a:lnTo>
                  <a:pt x="140791" y="45988"/>
                </a:lnTo>
                <a:lnTo>
                  <a:pt x="173583" y="45988"/>
                </a:lnTo>
                <a:lnTo>
                  <a:pt x="173583" y="15875"/>
                </a:lnTo>
                <a:close/>
                <a:moveTo>
                  <a:pt x="212378" y="87709"/>
                </a:moveTo>
                <a:lnTo>
                  <a:pt x="179586" y="87709"/>
                </a:lnTo>
                <a:lnTo>
                  <a:pt x="179586" y="117177"/>
                </a:lnTo>
                <a:lnTo>
                  <a:pt x="212378" y="117177"/>
                </a:lnTo>
                <a:lnTo>
                  <a:pt x="212378" y="87709"/>
                </a:lnTo>
                <a:close/>
                <a:moveTo>
                  <a:pt x="134838" y="51941"/>
                </a:moveTo>
                <a:lnTo>
                  <a:pt x="102046" y="51941"/>
                </a:lnTo>
                <a:lnTo>
                  <a:pt x="102046" y="81756"/>
                </a:lnTo>
                <a:lnTo>
                  <a:pt x="134838" y="81756"/>
                </a:lnTo>
                <a:lnTo>
                  <a:pt x="134838" y="51941"/>
                </a:lnTo>
                <a:close/>
                <a:moveTo>
                  <a:pt x="173583" y="51941"/>
                </a:moveTo>
                <a:lnTo>
                  <a:pt x="140791" y="51941"/>
                </a:lnTo>
                <a:lnTo>
                  <a:pt x="140791" y="81756"/>
                </a:lnTo>
                <a:lnTo>
                  <a:pt x="173583" y="81756"/>
                </a:lnTo>
                <a:lnTo>
                  <a:pt x="173583" y="51941"/>
                </a:lnTo>
                <a:close/>
                <a:moveTo>
                  <a:pt x="310902" y="101550"/>
                </a:moveTo>
                <a:cubicBezTo>
                  <a:pt x="303758" y="96738"/>
                  <a:pt x="287288" y="95002"/>
                  <a:pt x="274638" y="97383"/>
                </a:cubicBezTo>
                <a:cubicBezTo>
                  <a:pt x="273000" y="85477"/>
                  <a:pt x="266353" y="75109"/>
                  <a:pt x="254248" y="65782"/>
                </a:cubicBezTo>
                <a:lnTo>
                  <a:pt x="247303" y="61168"/>
                </a:lnTo>
                <a:lnTo>
                  <a:pt x="242689" y="68114"/>
                </a:lnTo>
                <a:cubicBezTo>
                  <a:pt x="233561" y="81905"/>
                  <a:pt x="231080" y="104626"/>
                  <a:pt x="240854" y="119608"/>
                </a:cubicBezTo>
                <a:cubicBezTo>
                  <a:pt x="236538" y="121940"/>
                  <a:pt x="228054" y="125115"/>
                  <a:pt x="216843" y="124916"/>
                </a:cubicBezTo>
                <a:lnTo>
                  <a:pt x="1191" y="124916"/>
                </a:lnTo>
                <a:cubicBezTo>
                  <a:pt x="-3125" y="150118"/>
                  <a:pt x="4068" y="182860"/>
                  <a:pt x="23019" y="205333"/>
                </a:cubicBezTo>
                <a:cubicBezTo>
                  <a:pt x="41424" y="227112"/>
                  <a:pt x="69007" y="238175"/>
                  <a:pt x="105073" y="238175"/>
                </a:cubicBezTo>
                <a:cubicBezTo>
                  <a:pt x="183158" y="238175"/>
                  <a:pt x="240953" y="202208"/>
                  <a:pt x="267990" y="136872"/>
                </a:cubicBezTo>
                <a:cubicBezTo>
                  <a:pt x="278606" y="137071"/>
                  <a:pt x="301526" y="136922"/>
                  <a:pt x="313283" y="114449"/>
                </a:cubicBezTo>
                <a:cubicBezTo>
                  <a:pt x="314027" y="113209"/>
                  <a:pt x="316557" y="107900"/>
                  <a:pt x="317500" y="105966"/>
                </a:cubicBezTo>
                <a:lnTo>
                  <a:pt x="310902" y="101550"/>
                </a:lnTo>
                <a:close/>
                <a:moveTo>
                  <a:pt x="57348" y="87709"/>
                </a:moveTo>
                <a:lnTo>
                  <a:pt x="24606" y="87709"/>
                </a:lnTo>
                <a:lnTo>
                  <a:pt x="24606" y="117177"/>
                </a:lnTo>
                <a:lnTo>
                  <a:pt x="57398" y="117177"/>
                </a:lnTo>
                <a:lnTo>
                  <a:pt x="57398" y="87709"/>
                </a:lnTo>
                <a:lnTo>
                  <a:pt x="57348" y="87709"/>
                </a:lnTo>
                <a:close/>
                <a:moveTo>
                  <a:pt x="96093" y="87709"/>
                </a:moveTo>
                <a:lnTo>
                  <a:pt x="63302" y="87709"/>
                </a:lnTo>
                <a:lnTo>
                  <a:pt x="63302" y="117177"/>
                </a:lnTo>
                <a:lnTo>
                  <a:pt x="96093" y="117177"/>
                </a:lnTo>
                <a:lnTo>
                  <a:pt x="96093" y="87709"/>
                </a:lnTo>
                <a:close/>
                <a:moveTo>
                  <a:pt x="134838" y="87709"/>
                </a:moveTo>
                <a:lnTo>
                  <a:pt x="102046" y="87709"/>
                </a:lnTo>
                <a:lnTo>
                  <a:pt x="102046" y="117177"/>
                </a:lnTo>
                <a:lnTo>
                  <a:pt x="134838" y="117177"/>
                </a:lnTo>
                <a:lnTo>
                  <a:pt x="134838" y="87709"/>
                </a:lnTo>
                <a:close/>
                <a:moveTo>
                  <a:pt x="96093" y="51941"/>
                </a:moveTo>
                <a:lnTo>
                  <a:pt x="63302" y="51941"/>
                </a:lnTo>
                <a:lnTo>
                  <a:pt x="63302" y="81756"/>
                </a:lnTo>
                <a:lnTo>
                  <a:pt x="96093" y="81756"/>
                </a:lnTo>
                <a:lnTo>
                  <a:pt x="96093" y="51941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0" name="Shape 38"/>
          <p:cNvSpPr/>
          <p:nvPr/>
        </p:nvSpPr>
        <p:spPr>
          <a:xfrm>
            <a:off x="8369300" y="4584700"/>
            <a:ext cx="7213600" cy="762000"/>
          </a:xfrm>
          <a:custGeom>
            <a:avLst/>
            <a:gdLst/>
            <a:ahLst/>
            <a:cxnLst/>
            <a:rect l="l" t="t" r="r" b="b"/>
            <a:pathLst>
              <a:path w="7213600" h="762000">
                <a:moveTo>
                  <a:pt x="50803" y="0"/>
                </a:moveTo>
                <a:lnTo>
                  <a:pt x="7162797" y="0"/>
                </a:lnTo>
                <a:cubicBezTo>
                  <a:pt x="7190855" y="0"/>
                  <a:pt x="7213600" y="22745"/>
                  <a:pt x="7213600" y="50803"/>
                </a:cubicBezTo>
                <a:lnTo>
                  <a:pt x="7213600" y="711197"/>
                </a:lnTo>
                <a:cubicBezTo>
                  <a:pt x="7213600" y="739255"/>
                  <a:pt x="7190855" y="762000"/>
                  <a:pt x="71627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470900" y="4686300"/>
            <a:ext cx="134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FastAPI/Flask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70900" y="4991100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REST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5211425" y="48387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79375"/>
                </a:lnTo>
                <a:cubicBezTo>
                  <a:pt x="0" y="96887"/>
                  <a:pt x="14238" y="111125"/>
                  <a:pt x="31750" y="111125"/>
                </a:cubicBezTo>
                <a:lnTo>
                  <a:pt x="190500" y="111125"/>
                </a:lnTo>
                <a:cubicBezTo>
                  <a:pt x="208012" y="111125"/>
                  <a:pt x="222250" y="96887"/>
                  <a:pt x="222250" y="79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138906" y="51594"/>
                </a:moveTo>
                <a:cubicBezTo>
                  <a:pt x="145477" y="51594"/>
                  <a:pt x="150813" y="56929"/>
                  <a:pt x="150813" y="63500"/>
                </a:cubicBezTo>
                <a:cubicBezTo>
                  <a:pt x="150813" y="70071"/>
                  <a:pt x="145477" y="75406"/>
                  <a:pt x="138906" y="75406"/>
                </a:cubicBezTo>
                <a:cubicBezTo>
                  <a:pt x="132335" y="75406"/>
                  <a:pt x="127000" y="70071"/>
                  <a:pt x="127000" y="63500"/>
                </a:cubicBezTo>
                <a:cubicBezTo>
                  <a:pt x="127000" y="56929"/>
                  <a:pt x="132335" y="51594"/>
                  <a:pt x="138906" y="51594"/>
                </a:cubicBezTo>
                <a:close/>
                <a:moveTo>
                  <a:pt x="166688" y="63500"/>
                </a:moveTo>
                <a:cubicBezTo>
                  <a:pt x="166688" y="56929"/>
                  <a:pt x="172023" y="51594"/>
                  <a:pt x="178594" y="51594"/>
                </a:cubicBezTo>
                <a:cubicBezTo>
                  <a:pt x="185165" y="51594"/>
                  <a:pt x="190500" y="56929"/>
                  <a:pt x="190500" y="63500"/>
                </a:cubicBezTo>
                <a:cubicBezTo>
                  <a:pt x="190500" y="70071"/>
                  <a:pt x="185165" y="75406"/>
                  <a:pt x="178594" y="75406"/>
                </a:cubicBezTo>
                <a:cubicBezTo>
                  <a:pt x="172023" y="75406"/>
                  <a:pt x="166688" y="70071"/>
                  <a:pt x="166688" y="63500"/>
                </a:cubicBezTo>
                <a:close/>
                <a:moveTo>
                  <a:pt x="31750" y="142875"/>
                </a:moveTo>
                <a:cubicBezTo>
                  <a:pt x="14238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74625"/>
                </a:lnTo>
                <a:cubicBezTo>
                  <a:pt x="222250" y="157113"/>
                  <a:pt x="208012" y="142875"/>
                  <a:pt x="190500" y="142875"/>
                </a:cubicBezTo>
                <a:lnTo>
                  <a:pt x="31750" y="142875"/>
                </a:lnTo>
                <a:close/>
                <a:moveTo>
                  <a:pt x="138906" y="178594"/>
                </a:moveTo>
                <a:cubicBezTo>
                  <a:pt x="145477" y="178594"/>
                  <a:pt x="150813" y="183929"/>
                  <a:pt x="150813" y="190500"/>
                </a:cubicBezTo>
                <a:cubicBezTo>
                  <a:pt x="150813" y="197071"/>
                  <a:pt x="145477" y="202406"/>
                  <a:pt x="138906" y="202406"/>
                </a:cubicBezTo>
                <a:cubicBezTo>
                  <a:pt x="132335" y="202406"/>
                  <a:pt x="127000" y="197071"/>
                  <a:pt x="127000" y="190500"/>
                </a:cubicBezTo>
                <a:cubicBezTo>
                  <a:pt x="127000" y="183929"/>
                  <a:pt x="132335" y="178594"/>
                  <a:pt x="138906" y="178594"/>
                </a:cubicBezTo>
                <a:close/>
                <a:moveTo>
                  <a:pt x="166688" y="190500"/>
                </a:moveTo>
                <a:cubicBezTo>
                  <a:pt x="166688" y="183929"/>
                  <a:pt x="172023" y="178594"/>
                  <a:pt x="178594" y="178594"/>
                </a:cubicBezTo>
                <a:cubicBezTo>
                  <a:pt x="185165" y="178594"/>
                  <a:pt x="190500" y="183929"/>
                  <a:pt x="190500" y="190500"/>
                </a:cubicBezTo>
                <a:cubicBezTo>
                  <a:pt x="190500" y="197071"/>
                  <a:pt x="185165" y="202406"/>
                  <a:pt x="178594" y="202406"/>
                </a:cubicBezTo>
                <a:cubicBezTo>
                  <a:pt x="172023" y="202406"/>
                  <a:pt x="166688" y="197071"/>
                  <a:pt x="166688" y="1905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4" name="Shape 42"/>
          <p:cNvSpPr/>
          <p:nvPr/>
        </p:nvSpPr>
        <p:spPr>
          <a:xfrm>
            <a:off x="8369300" y="5397500"/>
            <a:ext cx="7213600" cy="762000"/>
          </a:xfrm>
          <a:custGeom>
            <a:avLst/>
            <a:gdLst/>
            <a:ahLst/>
            <a:cxnLst/>
            <a:rect l="l" t="t" r="r" b="b"/>
            <a:pathLst>
              <a:path w="7213600" h="762000">
                <a:moveTo>
                  <a:pt x="50803" y="0"/>
                </a:moveTo>
                <a:lnTo>
                  <a:pt x="7162797" y="0"/>
                </a:lnTo>
                <a:cubicBezTo>
                  <a:pt x="7190855" y="0"/>
                  <a:pt x="7213600" y="22745"/>
                  <a:pt x="7213600" y="50803"/>
                </a:cubicBezTo>
                <a:lnTo>
                  <a:pt x="7213600" y="711197"/>
                </a:lnTo>
                <a:cubicBezTo>
                  <a:pt x="7213600" y="739255"/>
                  <a:pt x="7190855" y="762000"/>
                  <a:pt x="71627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470900" y="5499100"/>
            <a:ext cx="149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70900" y="58039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CI/CD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5195550" y="5651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86271" y="197148"/>
                </a:moveTo>
                <a:cubicBezTo>
                  <a:pt x="86271" y="198140"/>
                  <a:pt x="85130" y="198934"/>
                  <a:pt x="83691" y="198934"/>
                </a:cubicBezTo>
                <a:cubicBezTo>
                  <a:pt x="82054" y="199082"/>
                  <a:pt x="80913" y="198289"/>
                  <a:pt x="80913" y="197148"/>
                </a:cubicBezTo>
                <a:cubicBezTo>
                  <a:pt x="80913" y="196155"/>
                  <a:pt x="82054" y="195362"/>
                  <a:pt x="83493" y="195362"/>
                </a:cubicBezTo>
                <a:cubicBezTo>
                  <a:pt x="84981" y="195213"/>
                  <a:pt x="86271" y="196007"/>
                  <a:pt x="86271" y="197148"/>
                </a:cubicBezTo>
                <a:close/>
                <a:moveTo>
                  <a:pt x="70842" y="194915"/>
                </a:moveTo>
                <a:cubicBezTo>
                  <a:pt x="70495" y="195907"/>
                  <a:pt x="71487" y="197048"/>
                  <a:pt x="72975" y="197346"/>
                </a:cubicBezTo>
                <a:cubicBezTo>
                  <a:pt x="74265" y="197842"/>
                  <a:pt x="75754" y="197346"/>
                  <a:pt x="76051" y="196354"/>
                </a:cubicBezTo>
                <a:cubicBezTo>
                  <a:pt x="76349" y="195362"/>
                  <a:pt x="75406" y="194221"/>
                  <a:pt x="73918" y="193774"/>
                </a:cubicBezTo>
                <a:cubicBezTo>
                  <a:pt x="72628" y="193427"/>
                  <a:pt x="71189" y="193923"/>
                  <a:pt x="70842" y="194915"/>
                </a:cubicBezTo>
                <a:close/>
                <a:moveTo>
                  <a:pt x="92770" y="194072"/>
                </a:moveTo>
                <a:cubicBezTo>
                  <a:pt x="91331" y="194419"/>
                  <a:pt x="90339" y="195362"/>
                  <a:pt x="90488" y="196503"/>
                </a:cubicBezTo>
                <a:cubicBezTo>
                  <a:pt x="90636" y="197495"/>
                  <a:pt x="91926" y="198140"/>
                  <a:pt x="93414" y="197793"/>
                </a:cubicBezTo>
                <a:cubicBezTo>
                  <a:pt x="94853" y="197445"/>
                  <a:pt x="95845" y="196503"/>
                  <a:pt x="95696" y="195511"/>
                </a:cubicBezTo>
                <a:cubicBezTo>
                  <a:pt x="95548" y="194568"/>
                  <a:pt x="94208" y="193923"/>
                  <a:pt x="92770" y="194072"/>
                </a:cubicBezTo>
                <a:close/>
                <a:moveTo>
                  <a:pt x="125413" y="3969"/>
                </a:moveTo>
                <a:cubicBezTo>
                  <a:pt x="56604" y="3969"/>
                  <a:pt x="3969" y="56207"/>
                  <a:pt x="3969" y="125016"/>
                </a:cubicBezTo>
                <a:cubicBezTo>
                  <a:pt x="3969" y="180032"/>
                  <a:pt x="38596" y="227112"/>
                  <a:pt x="88057" y="243681"/>
                </a:cubicBezTo>
                <a:cubicBezTo>
                  <a:pt x="94407" y="244822"/>
                  <a:pt x="96639" y="240903"/>
                  <a:pt x="96639" y="237679"/>
                </a:cubicBezTo>
                <a:cubicBezTo>
                  <a:pt x="96639" y="234603"/>
                  <a:pt x="96490" y="217636"/>
                  <a:pt x="96490" y="207218"/>
                </a:cubicBezTo>
                <a:cubicBezTo>
                  <a:pt x="96490" y="207218"/>
                  <a:pt x="61764" y="214660"/>
                  <a:pt x="54471" y="192435"/>
                </a:cubicBezTo>
                <a:cubicBezTo>
                  <a:pt x="54471" y="192435"/>
                  <a:pt x="48816" y="177998"/>
                  <a:pt x="40680" y="174278"/>
                </a:cubicBezTo>
                <a:cubicBezTo>
                  <a:pt x="40680" y="174278"/>
                  <a:pt x="29319" y="166489"/>
                  <a:pt x="41473" y="166638"/>
                </a:cubicBezTo>
                <a:cubicBezTo>
                  <a:pt x="41473" y="166638"/>
                  <a:pt x="53826" y="167630"/>
                  <a:pt x="60623" y="179437"/>
                </a:cubicBezTo>
                <a:cubicBezTo>
                  <a:pt x="71487" y="198586"/>
                  <a:pt x="89694" y="193080"/>
                  <a:pt x="96788" y="189805"/>
                </a:cubicBezTo>
                <a:cubicBezTo>
                  <a:pt x="97929" y="181868"/>
                  <a:pt x="101154" y="176361"/>
                  <a:pt x="104725" y="173087"/>
                </a:cubicBezTo>
                <a:cubicBezTo>
                  <a:pt x="76994" y="170011"/>
                  <a:pt x="49014" y="165993"/>
                  <a:pt x="49014" y="118269"/>
                </a:cubicBezTo>
                <a:cubicBezTo>
                  <a:pt x="49014" y="104626"/>
                  <a:pt x="52784" y="97780"/>
                  <a:pt x="60722" y="89049"/>
                </a:cubicBezTo>
                <a:cubicBezTo>
                  <a:pt x="59432" y="85824"/>
                  <a:pt x="55215" y="72529"/>
                  <a:pt x="62012" y="55364"/>
                </a:cubicBezTo>
                <a:cubicBezTo>
                  <a:pt x="72380" y="52139"/>
                  <a:pt x="96242" y="68759"/>
                  <a:pt x="96242" y="68759"/>
                </a:cubicBezTo>
                <a:cubicBezTo>
                  <a:pt x="106164" y="65980"/>
                  <a:pt x="116830" y="64542"/>
                  <a:pt x="127397" y="64542"/>
                </a:cubicBezTo>
                <a:cubicBezTo>
                  <a:pt x="137964" y="64542"/>
                  <a:pt x="148630" y="65980"/>
                  <a:pt x="158552" y="68759"/>
                </a:cubicBezTo>
                <a:cubicBezTo>
                  <a:pt x="158552" y="68759"/>
                  <a:pt x="182414" y="52090"/>
                  <a:pt x="192782" y="55364"/>
                </a:cubicBezTo>
                <a:cubicBezTo>
                  <a:pt x="199579" y="72579"/>
                  <a:pt x="195362" y="85824"/>
                  <a:pt x="194072" y="89049"/>
                </a:cubicBezTo>
                <a:cubicBezTo>
                  <a:pt x="202009" y="97830"/>
                  <a:pt x="206871" y="104676"/>
                  <a:pt x="206871" y="118269"/>
                </a:cubicBezTo>
                <a:cubicBezTo>
                  <a:pt x="206871" y="166142"/>
                  <a:pt x="177651" y="169962"/>
                  <a:pt x="149920" y="173087"/>
                </a:cubicBezTo>
                <a:cubicBezTo>
                  <a:pt x="154484" y="177006"/>
                  <a:pt x="158353" y="184448"/>
                  <a:pt x="158353" y="196106"/>
                </a:cubicBezTo>
                <a:cubicBezTo>
                  <a:pt x="158353" y="212824"/>
                  <a:pt x="158204" y="233511"/>
                  <a:pt x="158204" y="237579"/>
                </a:cubicBezTo>
                <a:cubicBezTo>
                  <a:pt x="158204" y="240804"/>
                  <a:pt x="160486" y="244723"/>
                  <a:pt x="166787" y="243582"/>
                </a:cubicBezTo>
                <a:cubicBezTo>
                  <a:pt x="216396" y="227112"/>
                  <a:pt x="250031" y="180032"/>
                  <a:pt x="250031" y="125016"/>
                </a:cubicBezTo>
                <a:cubicBezTo>
                  <a:pt x="250031" y="56207"/>
                  <a:pt x="194221" y="3969"/>
                  <a:pt x="125413" y="3969"/>
                </a:cubicBezTo>
                <a:close/>
                <a:moveTo>
                  <a:pt x="52189" y="175071"/>
                </a:moveTo>
                <a:cubicBezTo>
                  <a:pt x="51544" y="175568"/>
                  <a:pt x="51693" y="176709"/>
                  <a:pt x="52536" y="177651"/>
                </a:cubicBezTo>
                <a:cubicBezTo>
                  <a:pt x="53330" y="178445"/>
                  <a:pt x="54471" y="178792"/>
                  <a:pt x="55116" y="178147"/>
                </a:cubicBezTo>
                <a:cubicBezTo>
                  <a:pt x="55761" y="177651"/>
                  <a:pt x="55612" y="176510"/>
                  <a:pt x="54769" y="175568"/>
                </a:cubicBezTo>
                <a:cubicBezTo>
                  <a:pt x="53975" y="174774"/>
                  <a:pt x="52834" y="174427"/>
                  <a:pt x="52189" y="175071"/>
                </a:cubicBezTo>
                <a:close/>
                <a:moveTo>
                  <a:pt x="46831" y="171053"/>
                </a:moveTo>
                <a:cubicBezTo>
                  <a:pt x="46484" y="171698"/>
                  <a:pt x="46980" y="172492"/>
                  <a:pt x="47972" y="172988"/>
                </a:cubicBezTo>
                <a:cubicBezTo>
                  <a:pt x="48766" y="173484"/>
                  <a:pt x="49758" y="173335"/>
                  <a:pt x="50105" y="172641"/>
                </a:cubicBezTo>
                <a:cubicBezTo>
                  <a:pt x="50453" y="171996"/>
                  <a:pt x="49957" y="171202"/>
                  <a:pt x="48964" y="170706"/>
                </a:cubicBezTo>
                <a:cubicBezTo>
                  <a:pt x="47972" y="170408"/>
                  <a:pt x="47179" y="170557"/>
                  <a:pt x="46831" y="171053"/>
                </a:cubicBezTo>
                <a:close/>
                <a:moveTo>
                  <a:pt x="62905" y="188714"/>
                </a:moveTo>
                <a:cubicBezTo>
                  <a:pt x="62111" y="189359"/>
                  <a:pt x="62409" y="190847"/>
                  <a:pt x="63550" y="191790"/>
                </a:cubicBezTo>
                <a:cubicBezTo>
                  <a:pt x="64691" y="192931"/>
                  <a:pt x="66129" y="193080"/>
                  <a:pt x="66774" y="192286"/>
                </a:cubicBezTo>
                <a:cubicBezTo>
                  <a:pt x="67419" y="191641"/>
                  <a:pt x="67121" y="190153"/>
                  <a:pt x="66129" y="189210"/>
                </a:cubicBezTo>
                <a:cubicBezTo>
                  <a:pt x="65038" y="188069"/>
                  <a:pt x="63550" y="187920"/>
                  <a:pt x="62905" y="188714"/>
                </a:cubicBezTo>
                <a:close/>
                <a:moveTo>
                  <a:pt x="57249" y="181421"/>
                </a:moveTo>
                <a:cubicBezTo>
                  <a:pt x="56455" y="181918"/>
                  <a:pt x="56455" y="183207"/>
                  <a:pt x="57249" y="184348"/>
                </a:cubicBezTo>
                <a:cubicBezTo>
                  <a:pt x="58043" y="185489"/>
                  <a:pt x="59382" y="185986"/>
                  <a:pt x="60027" y="185489"/>
                </a:cubicBezTo>
                <a:cubicBezTo>
                  <a:pt x="60821" y="184845"/>
                  <a:pt x="60821" y="183555"/>
                  <a:pt x="60027" y="182414"/>
                </a:cubicBezTo>
                <a:cubicBezTo>
                  <a:pt x="59333" y="181273"/>
                  <a:pt x="58043" y="180777"/>
                  <a:pt x="57249" y="18142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8" name="Shape 46"/>
          <p:cNvSpPr/>
          <p:nvPr/>
        </p:nvSpPr>
        <p:spPr>
          <a:xfrm>
            <a:off x="514350" y="6432550"/>
            <a:ext cx="15227300" cy="1460500"/>
          </a:xfrm>
          <a:custGeom>
            <a:avLst/>
            <a:gdLst/>
            <a:ahLst/>
            <a:cxnLst/>
            <a:rect l="l" t="t" r="r" b="b"/>
            <a:pathLst>
              <a:path w="15227300" h="1460500">
                <a:moveTo>
                  <a:pt x="101607" y="0"/>
                </a:moveTo>
                <a:lnTo>
                  <a:pt x="15125693" y="0"/>
                </a:lnTo>
                <a:cubicBezTo>
                  <a:pt x="15181809" y="0"/>
                  <a:pt x="15227300" y="45491"/>
                  <a:pt x="15227300" y="101607"/>
                </a:cubicBezTo>
                <a:lnTo>
                  <a:pt x="15227300" y="1358893"/>
                </a:lnTo>
                <a:cubicBezTo>
                  <a:pt x="15227300" y="1415009"/>
                  <a:pt x="15181809" y="1460500"/>
                  <a:pt x="15125693" y="1460500"/>
                </a:cubicBezTo>
                <a:lnTo>
                  <a:pt x="101607" y="1460500"/>
                </a:lnTo>
                <a:cubicBezTo>
                  <a:pt x="45491" y="1460500"/>
                  <a:pt x="0" y="1415009"/>
                  <a:pt x="0" y="1358893"/>
                </a:cubicBezTo>
                <a:lnTo>
                  <a:pt x="0" y="101607"/>
                </a:lnTo>
                <a:cubicBezTo>
                  <a:pt x="0" y="45529"/>
                  <a:pt x="45529" y="0"/>
                  <a:pt x="10160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3100" y="6591300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Arquitectura del Pipeline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73100" y="7061200"/>
            <a:ext cx="2616200" cy="660400"/>
          </a:xfrm>
          <a:custGeom>
            <a:avLst/>
            <a:gdLst/>
            <a:ahLst/>
            <a:cxnLst/>
            <a:rect l="l" t="t" r="r" b="b"/>
            <a:pathLst>
              <a:path w="2616200" h="660400">
                <a:moveTo>
                  <a:pt x="50798" y="0"/>
                </a:moveTo>
                <a:lnTo>
                  <a:pt x="2565402" y="0"/>
                </a:lnTo>
                <a:cubicBezTo>
                  <a:pt x="2593457" y="0"/>
                  <a:pt x="2616200" y="22743"/>
                  <a:pt x="2616200" y="50798"/>
                </a:cubicBezTo>
                <a:lnTo>
                  <a:pt x="2616200" y="609602"/>
                </a:lnTo>
                <a:cubicBezTo>
                  <a:pt x="2616200" y="637657"/>
                  <a:pt x="2593457" y="660400"/>
                  <a:pt x="25654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30250" y="7162800"/>
            <a:ext cx="250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PGN Parser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36600" y="7416800"/>
            <a:ext cx="248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python-chess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411207" y="7289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4" name="Shape 52"/>
          <p:cNvSpPr/>
          <p:nvPr/>
        </p:nvSpPr>
        <p:spPr>
          <a:xfrm>
            <a:off x="3741407" y="7061200"/>
            <a:ext cx="2616200" cy="660400"/>
          </a:xfrm>
          <a:custGeom>
            <a:avLst/>
            <a:gdLst/>
            <a:ahLst/>
            <a:cxnLst/>
            <a:rect l="l" t="t" r="r" b="b"/>
            <a:pathLst>
              <a:path w="2616200" h="660400">
                <a:moveTo>
                  <a:pt x="50798" y="0"/>
                </a:moveTo>
                <a:lnTo>
                  <a:pt x="2565402" y="0"/>
                </a:lnTo>
                <a:cubicBezTo>
                  <a:pt x="2593457" y="0"/>
                  <a:pt x="2616200" y="22743"/>
                  <a:pt x="2616200" y="50798"/>
                </a:cubicBezTo>
                <a:lnTo>
                  <a:pt x="2616200" y="609602"/>
                </a:lnTo>
                <a:cubicBezTo>
                  <a:pt x="2616200" y="637657"/>
                  <a:pt x="2593457" y="660400"/>
                  <a:pt x="25654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3798557" y="7162800"/>
            <a:ext cx="250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Stockfish Eval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804907" y="7416800"/>
            <a:ext cx="248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Centipawns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79580" y="7289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8" name="Shape 56"/>
          <p:cNvSpPr/>
          <p:nvPr/>
        </p:nvSpPr>
        <p:spPr>
          <a:xfrm>
            <a:off x="6809780" y="7061200"/>
            <a:ext cx="2616200" cy="660400"/>
          </a:xfrm>
          <a:custGeom>
            <a:avLst/>
            <a:gdLst/>
            <a:ahLst/>
            <a:cxnLst/>
            <a:rect l="l" t="t" r="r" b="b"/>
            <a:pathLst>
              <a:path w="2616200" h="660400">
                <a:moveTo>
                  <a:pt x="50798" y="0"/>
                </a:moveTo>
                <a:lnTo>
                  <a:pt x="2565402" y="0"/>
                </a:lnTo>
                <a:cubicBezTo>
                  <a:pt x="2593457" y="0"/>
                  <a:pt x="2616200" y="22743"/>
                  <a:pt x="2616200" y="50798"/>
                </a:cubicBezTo>
                <a:lnTo>
                  <a:pt x="2616200" y="609602"/>
                </a:lnTo>
                <a:cubicBezTo>
                  <a:pt x="2616200" y="637657"/>
                  <a:pt x="2593457" y="660400"/>
                  <a:pt x="25654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866930" y="7162800"/>
            <a:ext cx="250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73280" y="7416800"/>
            <a:ext cx="248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25+ features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547887" y="7289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2" name="Shape 60"/>
          <p:cNvSpPr/>
          <p:nvPr/>
        </p:nvSpPr>
        <p:spPr>
          <a:xfrm>
            <a:off x="9878087" y="7061200"/>
            <a:ext cx="2616200" cy="660400"/>
          </a:xfrm>
          <a:custGeom>
            <a:avLst/>
            <a:gdLst/>
            <a:ahLst/>
            <a:cxnLst/>
            <a:rect l="l" t="t" r="r" b="b"/>
            <a:pathLst>
              <a:path w="2616200" h="660400">
                <a:moveTo>
                  <a:pt x="50798" y="0"/>
                </a:moveTo>
                <a:lnTo>
                  <a:pt x="2565402" y="0"/>
                </a:lnTo>
                <a:cubicBezTo>
                  <a:pt x="2593457" y="0"/>
                  <a:pt x="2616200" y="22743"/>
                  <a:pt x="2616200" y="50798"/>
                </a:cubicBezTo>
                <a:lnTo>
                  <a:pt x="2616200" y="609602"/>
                </a:lnTo>
                <a:cubicBezTo>
                  <a:pt x="2616200" y="637657"/>
                  <a:pt x="2593457" y="660400"/>
                  <a:pt x="25654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9935237" y="7162800"/>
            <a:ext cx="250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941587" y="7416800"/>
            <a:ext cx="248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Scaling, encoding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2616193" y="7289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6" name="Shape 64"/>
          <p:cNvSpPr/>
          <p:nvPr/>
        </p:nvSpPr>
        <p:spPr>
          <a:xfrm>
            <a:off x="12952743" y="7054850"/>
            <a:ext cx="2628900" cy="673100"/>
          </a:xfrm>
          <a:custGeom>
            <a:avLst/>
            <a:gdLst/>
            <a:ahLst/>
            <a:cxnLst/>
            <a:rect l="l" t="t" r="r" b="b"/>
            <a:pathLst>
              <a:path w="2628900" h="673100">
                <a:moveTo>
                  <a:pt x="50799" y="0"/>
                </a:moveTo>
                <a:lnTo>
                  <a:pt x="2578101" y="0"/>
                </a:lnTo>
                <a:cubicBezTo>
                  <a:pt x="2606157" y="0"/>
                  <a:pt x="2628900" y="22743"/>
                  <a:pt x="2628900" y="50799"/>
                </a:cubicBezTo>
                <a:lnTo>
                  <a:pt x="2628900" y="622301"/>
                </a:lnTo>
                <a:cubicBezTo>
                  <a:pt x="2628900" y="650357"/>
                  <a:pt x="2606157" y="673100"/>
                  <a:pt x="2578101" y="673100"/>
                </a:cubicBezTo>
                <a:lnTo>
                  <a:pt x="50799" y="673100"/>
                </a:lnTo>
                <a:cubicBezTo>
                  <a:pt x="22743" y="673100"/>
                  <a:pt x="0" y="650357"/>
                  <a:pt x="0" y="622301"/>
                </a:cubicBezTo>
                <a:lnTo>
                  <a:pt x="0" y="50799"/>
                </a:lnTo>
                <a:cubicBezTo>
                  <a:pt x="0" y="22743"/>
                  <a:pt x="22743" y="0"/>
                  <a:pt x="50799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016244" y="7162800"/>
            <a:ext cx="250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Models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3022594" y="7416800"/>
            <a:ext cx="248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10+ algoritmos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14350" y="8007350"/>
            <a:ext cx="15227300" cy="889000"/>
          </a:xfrm>
          <a:custGeom>
            <a:avLst/>
            <a:gdLst/>
            <a:ahLst/>
            <a:cxnLst/>
            <a:rect l="l" t="t" r="r" b="b"/>
            <a:pathLst>
              <a:path w="15227300" h="889000">
                <a:moveTo>
                  <a:pt x="101604" y="0"/>
                </a:moveTo>
                <a:lnTo>
                  <a:pt x="15125696" y="0"/>
                </a:lnTo>
                <a:cubicBezTo>
                  <a:pt x="15181810" y="0"/>
                  <a:pt x="15227300" y="45490"/>
                  <a:pt x="15227300" y="101604"/>
                </a:cubicBezTo>
                <a:lnTo>
                  <a:pt x="15227300" y="787396"/>
                </a:lnTo>
                <a:cubicBezTo>
                  <a:pt x="15227300" y="843510"/>
                  <a:pt x="15181810" y="889000"/>
                  <a:pt x="15125696" y="889000"/>
                </a:cubicBezTo>
                <a:lnTo>
                  <a:pt x="101604" y="889000"/>
                </a:lnTo>
                <a:cubicBezTo>
                  <a:pt x="45490" y="889000"/>
                  <a:pt x="0" y="843510"/>
                  <a:pt x="0" y="7873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92150" y="8301501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1" name="Text 69"/>
          <p:cNvSpPr/>
          <p:nvPr/>
        </p:nvSpPr>
        <p:spPr>
          <a:xfrm>
            <a:off x="1206500" y="8166100"/>
            <a:ext cx="1217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del Proyecto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206500" y="8470900"/>
            <a:ext cx="1216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dirty="0">
                <a:solidFill>
                  <a:srgbClr val="8D99AE"/>
                </a:solidFill>
                <a:highlight>
                  <a:srgbClr val="4A6C8C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src/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(extractores, modelos, utils) • </a:t>
            </a:r>
            <a:pPr>
              <a:lnSpc>
                <a:spcPct val="120000"/>
              </a:lnSpc>
            </a:pPr>
            <a:r>
              <a:rPr lang="en-US" sz="1260" dirty="0">
                <a:solidFill>
                  <a:srgbClr val="8D99AE"/>
                </a:solidFill>
                <a:highlight>
                  <a:srgbClr val="4A6C8C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notebooks/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(EDA, experimentos) • </a:t>
            </a:r>
            <a:pPr>
              <a:lnSpc>
                <a:spcPct val="120000"/>
              </a:lnSpc>
            </a:pPr>
            <a:r>
              <a:rPr lang="en-US" sz="1260" dirty="0">
                <a:solidFill>
                  <a:srgbClr val="8D99AE"/>
                </a:solidFill>
                <a:highlight>
                  <a:srgbClr val="4A6C8C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configs/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(YAML) • </a:t>
            </a:r>
            <a:pPr>
              <a:lnSpc>
                <a:spcPct val="120000"/>
              </a:lnSpc>
            </a:pPr>
            <a:r>
              <a:rPr lang="en-US" sz="1260" dirty="0">
                <a:solidFill>
                  <a:srgbClr val="8D99AE"/>
                </a:solidFill>
                <a:highlight>
                  <a:srgbClr val="4A6C8C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tests/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(pytest) • </a:t>
            </a:r>
            <a:pPr>
              <a:lnSpc>
                <a:spcPct val="120000"/>
              </a:lnSpc>
            </a:pPr>
            <a:r>
              <a:rPr lang="en-US" sz="1260" dirty="0">
                <a:solidFill>
                  <a:srgbClr val="8D99AE"/>
                </a:solidFill>
                <a:highlight>
                  <a:srgbClr val="4A6C8C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deployment/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(Docker, API)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4"/>
            <a:ext cx="256282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Pipeline de Features: De PGN a Dataset ML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7226300"/>
          </a:xfrm>
          <a:custGeom>
            <a:avLst/>
            <a:gdLst/>
            <a:ahLst/>
            <a:cxnLst/>
            <a:rect l="l" t="t" r="r" b="b"/>
            <a:pathLst>
              <a:path w="7531100" h="7226300">
                <a:moveTo>
                  <a:pt x="101602" y="0"/>
                </a:moveTo>
                <a:lnTo>
                  <a:pt x="7429498" y="0"/>
                </a:lnTo>
                <a:cubicBezTo>
                  <a:pt x="7485611" y="0"/>
                  <a:pt x="7531100" y="45489"/>
                  <a:pt x="7531100" y="101602"/>
                </a:cubicBezTo>
                <a:lnTo>
                  <a:pt x="7531100" y="7124698"/>
                </a:lnTo>
                <a:cubicBezTo>
                  <a:pt x="7531100" y="7180811"/>
                  <a:pt x="7485611" y="7226300"/>
                  <a:pt x="7429498" y="7226300"/>
                </a:cubicBezTo>
                <a:lnTo>
                  <a:pt x="101602" y="7226300"/>
                </a:lnTo>
                <a:cubicBezTo>
                  <a:pt x="45489" y="7226300"/>
                  <a:pt x="0" y="7180811"/>
                  <a:pt x="0" y="71246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Extracción de Features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3835400"/>
          </a:xfrm>
          <a:custGeom>
            <a:avLst/>
            <a:gdLst/>
            <a:ahLst/>
            <a:cxnLst/>
            <a:rect l="l" t="t" r="r" b="b"/>
            <a:pathLst>
              <a:path w="7213600" h="3835400">
                <a:moveTo>
                  <a:pt x="50819" y="0"/>
                </a:moveTo>
                <a:lnTo>
                  <a:pt x="7162781" y="0"/>
                </a:lnTo>
                <a:cubicBezTo>
                  <a:pt x="7190848" y="0"/>
                  <a:pt x="7213600" y="22752"/>
                  <a:pt x="7213600" y="50819"/>
                </a:cubicBezTo>
                <a:lnTo>
                  <a:pt x="7213600" y="3784581"/>
                </a:lnTo>
                <a:cubicBezTo>
                  <a:pt x="7213600" y="3812648"/>
                  <a:pt x="7190848" y="3835400"/>
                  <a:pt x="7162781" y="3835400"/>
                </a:cubicBezTo>
                <a:lnTo>
                  <a:pt x="50819" y="3835400"/>
                </a:lnTo>
                <a:cubicBezTo>
                  <a:pt x="22752" y="3835400"/>
                  <a:pt x="0" y="3812648"/>
                  <a:pt x="0" y="3784581"/>
                </a:cubicBezTo>
                <a:lnTo>
                  <a:pt x="0" y="50819"/>
                </a:lnTo>
                <a:cubicBezTo>
                  <a:pt x="0" y="22771"/>
                  <a:pt x="22771" y="0"/>
                  <a:pt x="5081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4700" y="22479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python-chess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4700" y="2552700"/>
            <a:ext cx="7010400" cy="3327400"/>
          </a:xfrm>
          <a:custGeom>
            <a:avLst/>
            <a:gdLst/>
            <a:ahLst/>
            <a:cxnLst/>
            <a:rect l="l" t="t" r="r" b="b"/>
            <a:pathLst>
              <a:path w="7010400" h="3327400">
                <a:moveTo>
                  <a:pt x="101586" y="0"/>
                </a:moveTo>
                <a:lnTo>
                  <a:pt x="6908814" y="0"/>
                </a:lnTo>
                <a:cubicBezTo>
                  <a:pt x="6964919" y="0"/>
                  <a:pt x="7010400" y="45481"/>
                  <a:pt x="7010400" y="101586"/>
                </a:cubicBezTo>
                <a:lnTo>
                  <a:pt x="7010400" y="3225814"/>
                </a:lnTo>
                <a:cubicBezTo>
                  <a:pt x="7010400" y="3281919"/>
                  <a:pt x="6964919" y="3327400"/>
                  <a:pt x="6908814" y="3327400"/>
                </a:cubicBezTo>
                <a:lnTo>
                  <a:pt x="101586" y="3327400"/>
                </a:lnTo>
                <a:cubicBezTo>
                  <a:pt x="45481" y="3327400"/>
                  <a:pt x="0" y="3281919"/>
                  <a:pt x="0" y="32258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7100" y="2734734"/>
            <a:ext cx="3652639" cy="2986484"/>
          </a:xfrm>
          <a:custGeom>
            <a:avLst/>
            <a:gdLst/>
            <a:ahLst/>
            <a:cxnLst/>
            <a:rect l="l" t="t" r="r" b="b"/>
            <a:pathLst>
              <a:path w="3652639" h="2986484">
                <a:moveTo>
                  <a:pt x="50800" y="0"/>
                </a:moveTo>
                <a:lnTo>
                  <a:pt x="3601839" y="0"/>
                </a:lnTo>
                <a:cubicBezTo>
                  <a:pt x="3629895" y="0"/>
                  <a:pt x="3652639" y="22744"/>
                  <a:pt x="3652639" y="50800"/>
                </a:cubicBezTo>
                <a:lnTo>
                  <a:pt x="3652639" y="2935684"/>
                </a:lnTo>
                <a:cubicBezTo>
                  <a:pt x="3652639" y="2963740"/>
                  <a:pt x="3629895" y="2986484"/>
                  <a:pt x="3601839" y="2986484"/>
                </a:cubicBezTo>
                <a:lnTo>
                  <a:pt x="50800" y="2986484"/>
                </a:lnTo>
                <a:cubicBezTo>
                  <a:pt x="22744" y="2986484"/>
                  <a:pt x="0" y="2963740"/>
                  <a:pt x="0" y="2935684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27100" y="2734734"/>
            <a:ext cx="3730363" cy="2986484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 chess import chess.pgn import chess.engine # Parse PGN game = chess.pgn.read_game(pgn_file) board = game.board() # Iterate through moves for move in game.mainline_moves(): board.push(move) features = extract_features(board)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3100" y="6027738"/>
            <a:ext cx="7213600" cy="2578100"/>
          </a:xfrm>
          <a:custGeom>
            <a:avLst/>
            <a:gdLst/>
            <a:ahLst/>
            <a:cxnLst/>
            <a:rect l="l" t="t" r="r" b="b"/>
            <a:pathLst>
              <a:path w="7213600" h="2578100">
                <a:moveTo>
                  <a:pt x="50789" y="0"/>
                </a:moveTo>
                <a:lnTo>
                  <a:pt x="7162811" y="0"/>
                </a:lnTo>
                <a:cubicBezTo>
                  <a:pt x="7190861" y="0"/>
                  <a:pt x="7213600" y="22739"/>
                  <a:pt x="7213600" y="50789"/>
                </a:cubicBezTo>
                <a:lnTo>
                  <a:pt x="7213600" y="2527311"/>
                </a:lnTo>
                <a:cubicBezTo>
                  <a:pt x="7213600" y="2555361"/>
                  <a:pt x="7190861" y="2578100"/>
                  <a:pt x="7162811" y="2578100"/>
                </a:cubicBezTo>
                <a:lnTo>
                  <a:pt x="50789" y="2578100"/>
                </a:lnTo>
                <a:cubicBezTo>
                  <a:pt x="22739" y="2578100"/>
                  <a:pt x="0" y="2555361"/>
                  <a:pt x="0" y="2527311"/>
                </a:cubicBezTo>
                <a:lnTo>
                  <a:pt x="0" y="50789"/>
                </a:lnTo>
                <a:cubicBezTo>
                  <a:pt x="0" y="22758"/>
                  <a:pt x="22758" y="0"/>
                  <a:pt x="5078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4700" y="6129338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Stockfish Evaluation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4700" y="6434138"/>
            <a:ext cx="7010400" cy="2070100"/>
          </a:xfrm>
          <a:custGeom>
            <a:avLst/>
            <a:gdLst/>
            <a:ahLst/>
            <a:cxnLst/>
            <a:rect l="l" t="t" r="r" b="b"/>
            <a:pathLst>
              <a:path w="7010400" h="2070100">
                <a:moveTo>
                  <a:pt x="101601" y="0"/>
                </a:moveTo>
                <a:lnTo>
                  <a:pt x="6908799" y="0"/>
                </a:lnTo>
                <a:cubicBezTo>
                  <a:pt x="6964912" y="0"/>
                  <a:pt x="7010400" y="45488"/>
                  <a:pt x="7010400" y="101601"/>
                </a:cubicBezTo>
                <a:lnTo>
                  <a:pt x="7010400" y="1968499"/>
                </a:lnTo>
                <a:cubicBezTo>
                  <a:pt x="7010400" y="2024612"/>
                  <a:pt x="6964912" y="2070100"/>
                  <a:pt x="6908799" y="2070100"/>
                </a:cubicBezTo>
                <a:lnTo>
                  <a:pt x="101601" y="2070100"/>
                </a:lnTo>
                <a:cubicBezTo>
                  <a:pt x="45488" y="2070100"/>
                  <a:pt x="0" y="2024612"/>
                  <a:pt x="0" y="1968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27100" y="6616173"/>
            <a:ext cx="3934950" cy="1729052"/>
          </a:xfrm>
          <a:custGeom>
            <a:avLst/>
            <a:gdLst/>
            <a:ahLst/>
            <a:cxnLst/>
            <a:rect l="l" t="t" r="r" b="b"/>
            <a:pathLst>
              <a:path w="3934950" h="1729052">
                <a:moveTo>
                  <a:pt x="50800" y="0"/>
                </a:moveTo>
                <a:lnTo>
                  <a:pt x="3884150" y="0"/>
                </a:lnTo>
                <a:cubicBezTo>
                  <a:pt x="3912206" y="0"/>
                  <a:pt x="3934950" y="22744"/>
                  <a:pt x="3934950" y="50800"/>
                </a:cubicBezTo>
                <a:lnTo>
                  <a:pt x="3934950" y="1678253"/>
                </a:lnTo>
                <a:cubicBezTo>
                  <a:pt x="3934950" y="1706308"/>
                  <a:pt x="3912206" y="1729052"/>
                  <a:pt x="3884150" y="1729052"/>
                </a:cubicBezTo>
                <a:lnTo>
                  <a:pt x="50800" y="1729052"/>
                </a:lnTo>
                <a:cubicBezTo>
                  <a:pt x="22744" y="1729052"/>
                  <a:pt x="0" y="1706308"/>
                  <a:pt x="0" y="1678253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27100" y="6616173"/>
            <a:ext cx="4012674" cy="1729052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with chess.engine.SimpleEngine.popen_uci( "/path/to/stockfish") as engine: info = engine.analyse( board, chess.engine.Limit(depth=20) ) score = info["score"].white()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10550" y="1530350"/>
            <a:ext cx="7531100" cy="7226300"/>
          </a:xfrm>
          <a:custGeom>
            <a:avLst/>
            <a:gdLst/>
            <a:ahLst/>
            <a:cxnLst/>
            <a:rect l="l" t="t" r="r" b="b"/>
            <a:pathLst>
              <a:path w="7531100" h="7226300">
                <a:moveTo>
                  <a:pt x="101602" y="0"/>
                </a:moveTo>
                <a:lnTo>
                  <a:pt x="7429498" y="0"/>
                </a:lnTo>
                <a:cubicBezTo>
                  <a:pt x="7485611" y="0"/>
                  <a:pt x="7531100" y="45489"/>
                  <a:pt x="7531100" y="101602"/>
                </a:cubicBezTo>
                <a:lnTo>
                  <a:pt x="7531100" y="7124698"/>
                </a:lnTo>
                <a:cubicBezTo>
                  <a:pt x="7531100" y="7180811"/>
                  <a:pt x="7485611" y="7226300"/>
                  <a:pt x="7429498" y="7226300"/>
                </a:cubicBezTo>
                <a:lnTo>
                  <a:pt x="101602" y="7226300"/>
                </a:lnTo>
                <a:cubicBezTo>
                  <a:pt x="45489" y="7226300"/>
                  <a:pt x="0" y="7180811"/>
                  <a:pt x="0" y="71246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Features Generados (25+)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69300" y="2146300"/>
            <a:ext cx="7213600" cy="711200"/>
          </a:xfrm>
          <a:custGeom>
            <a:avLst/>
            <a:gdLst/>
            <a:ahLst/>
            <a:cxnLst/>
            <a:rect l="l" t="t" r="r" b="b"/>
            <a:pathLst>
              <a:path w="7213600" h="7112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660399"/>
                </a:lnTo>
                <a:cubicBezTo>
                  <a:pt x="7213600" y="688456"/>
                  <a:pt x="7190856" y="711200"/>
                  <a:pt x="71627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470900" y="22479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Numéricos (15+)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70900" y="2552700"/>
            <a:ext cx="7086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material_balance, score_diff, branching_factor, mobility metrics, center_control, king_safety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69300" y="2908300"/>
            <a:ext cx="7213600" cy="711200"/>
          </a:xfrm>
          <a:custGeom>
            <a:avLst/>
            <a:gdLst/>
            <a:ahLst/>
            <a:cxnLst/>
            <a:rect l="l" t="t" r="r" b="b"/>
            <a:pathLst>
              <a:path w="7213600" h="7112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660399"/>
                </a:lnTo>
                <a:cubicBezTo>
                  <a:pt x="7213600" y="688456"/>
                  <a:pt x="7190856" y="711200"/>
                  <a:pt x="71627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470900" y="30099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Binarios (10+)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70900" y="3314700"/>
            <a:ext cx="7086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threatens_mate, is_center_controlled, is_pawn_endgame, has_castling_rights, pin, fork, skewer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69300" y="3670300"/>
            <a:ext cx="7213600" cy="711200"/>
          </a:xfrm>
          <a:custGeom>
            <a:avLst/>
            <a:gdLst/>
            <a:ahLst/>
            <a:cxnLst/>
            <a:rect l="l" t="t" r="r" b="b"/>
            <a:pathLst>
              <a:path w="7213600" h="7112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660399"/>
                </a:lnTo>
                <a:cubicBezTo>
                  <a:pt x="7213600" y="688456"/>
                  <a:pt x="7190856" y="711200"/>
                  <a:pt x="71627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470900" y="37719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Temporales (Fase 3+)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70900" y="4076700"/>
            <a:ext cx="7086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score_diff_lag1/2, score_acceleration, errors_last_3/5, consecutive_errors, time_pressure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75650" y="4438650"/>
            <a:ext cx="7200900" cy="419100"/>
          </a:xfrm>
          <a:custGeom>
            <a:avLst/>
            <a:gdLst/>
            <a:ahLst/>
            <a:cxnLst/>
            <a:rect l="l" t="t" r="r" b="b"/>
            <a:pathLst>
              <a:path w="7200900" h="419100">
                <a:moveTo>
                  <a:pt x="50799" y="0"/>
                </a:moveTo>
                <a:lnTo>
                  <a:pt x="7150101" y="0"/>
                </a:lnTo>
                <a:cubicBezTo>
                  <a:pt x="7178156" y="0"/>
                  <a:pt x="7200900" y="22744"/>
                  <a:pt x="7200900" y="50799"/>
                </a:cubicBezTo>
                <a:lnTo>
                  <a:pt x="7200900" y="368301"/>
                </a:lnTo>
                <a:cubicBezTo>
                  <a:pt x="7200900" y="396356"/>
                  <a:pt x="7178156" y="419100"/>
                  <a:pt x="7150101" y="419100"/>
                </a:cubicBezTo>
                <a:lnTo>
                  <a:pt x="50799" y="419100"/>
                </a:lnTo>
                <a:cubicBezTo>
                  <a:pt x="22744" y="419100"/>
                  <a:pt x="0" y="396356"/>
                  <a:pt x="0" y="3683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3600" y="4546600"/>
            <a:ext cx="7061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328,283 registros en ~2 horas (paralelizado)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4350" y="8873995"/>
            <a:ext cx="15227300" cy="6616700"/>
          </a:xfrm>
          <a:custGeom>
            <a:avLst/>
            <a:gdLst/>
            <a:ahLst/>
            <a:cxnLst/>
            <a:rect l="l" t="t" r="r" b="b"/>
            <a:pathLst>
              <a:path w="15227300" h="6616700">
                <a:moveTo>
                  <a:pt x="101633" y="0"/>
                </a:moveTo>
                <a:lnTo>
                  <a:pt x="15125667" y="0"/>
                </a:lnTo>
                <a:cubicBezTo>
                  <a:pt x="15181798" y="0"/>
                  <a:pt x="15227300" y="45502"/>
                  <a:pt x="15227300" y="101633"/>
                </a:cubicBezTo>
                <a:lnTo>
                  <a:pt x="15227300" y="6515067"/>
                </a:lnTo>
                <a:cubicBezTo>
                  <a:pt x="15227300" y="6571198"/>
                  <a:pt x="15181798" y="6616700"/>
                  <a:pt x="15125667" y="6616700"/>
                </a:cubicBezTo>
                <a:lnTo>
                  <a:pt x="101633" y="6616700"/>
                </a:lnTo>
                <a:cubicBezTo>
                  <a:pt x="45502" y="6616700"/>
                  <a:pt x="0" y="6571198"/>
                  <a:pt x="0" y="6515067"/>
                </a:cubicBezTo>
                <a:lnTo>
                  <a:pt x="0" y="101633"/>
                </a:lnTo>
                <a:cubicBezTo>
                  <a:pt x="0" y="45540"/>
                  <a:pt x="45540" y="0"/>
                  <a:pt x="10163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100" y="9032745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Ejemplo de Extractor de Features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3100" y="9489945"/>
            <a:ext cx="14909800" cy="5842000"/>
          </a:xfrm>
          <a:custGeom>
            <a:avLst/>
            <a:gdLst/>
            <a:ahLst/>
            <a:cxnLst/>
            <a:rect l="l" t="t" r="r" b="b"/>
            <a:pathLst>
              <a:path w="14909800" h="5842000">
                <a:moveTo>
                  <a:pt x="101592" y="0"/>
                </a:moveTo>
                <a:lnTo>
                  <a:pt x="14808208" y="0"/>
                </a:lnTo>
                <a:cubicBezTo>
                  <a:pt x="14864316" y="0"/>
                  <a:pt x="14909800" y="45484"/>
                  <a:pt x="14909800" y="101592"/>
                </a:cubicBezTo>
                <a:lnTo>
                  <a:pt x="14909800" y="5740408"/>
                </a:lnTo>
                <a:cubicBezTo>
                  <a:pt x="14909800" y="5796516"/>
                  <a:pt x="14864316" y="5842000"/>
                  <a:pt x="14808208" y="5842000"/>
                </a:cubicBezTo>
                <a:lnTo>
                  <a:pt x="101592" y="5842000"/>
                </a:lnTo>
                <a:cubicBezTo>
                  <a:pt x="45484" y="5842000"/>
                  <a:pt x="0" y="5796516"/>
                  <a:pt x="0" y="57404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25500" y="9671977"/>
            <a:ext cx="7246938" cy="5501349"/>
          </a:xfrm>
          <a:custGeom>
            <a:avLst/>
            <a:gdLst/>
            <a:ahLst/>
            <a:cxnLst/>
            <a:rect l="l" t="t" r="r" b="b"/>
            <a:pathLst>
              <a:path w="7246938" h="5501349">
                <a:moveTo>
                  <a:pt x="50777" y="0"/>
                </a:moveTo>
                <a:lnTo>
                  <a:pt x="7196160" y="0"/>
                </a:lnTo>
                <a:cubicBezTo>
                  <a:pt x="7224204" y="0"/>
                  <a:pt x="7246938" y="22734"/>
                  <a:pt x="7246938" y="50777"/>
                </a:cubicBezTo>
                <a:lnTo>
                  <a:pt x="7246938" y="5450572"/>
                </a:lnTo>
                <a:cubicBezTo>
                  <a:pt x="7246938" y="5478615"/>
                  <a:pt x="7224204" y="5501349"/>
                  <a:pt x="7196160" y="5501349"/>
                </a:cubicBezTo>
                <a:lnTo>
                  <a:pt x="50777" y="5501349"/>
                </a:lnTo>
                <a:cubicBezTo>
                  <a:pt x="22734" y="5501349"/>
                  <a:pt x="0" y="5478615"/>
                  <a:pt x="0" y="5450572"/>
                </a:cubicBezTo>
                <a:lnTo>
                  <a:pt x="0" y="50777"/>
                </a:lnTo>
                <a:cubicBezTo>
                  <a:pt x="0" y="22734"/>
                  <a:pt x="22734" y="0"/>
                  <a:pt x="50777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25500" y="9671977"/>
            <a:ext cx="7324662" cy="5501349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extract_features(board: chess.Board) -&gt; Dict[str, float]: features = {} # Material balance features['material_balance'] = calculate_material(board) # Position evaluation (from Stockfish) features['score_diff'] = get_evaluation(board) # Complexity features['branching_factor'] = len(list(board.legal_moves)) # Mobility features['self_mobility'] = calculate_mobility(board, board.turn) features['opponent_mobility'] = calculate_mobility(board, not board.turn) # Tactical patterns features['pin'] = detect_pins(board) features['fork'] = detect_forks(board) features['discovered_attack'] = detect_discovered_attacks(board) return features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4350" y="15600496"/>
            <a:ext cx="15227300" cy="889000"/>
          </a:xfrm>
          <a:custGeom>
            <a:avLst/>
            <a:gdLst/>
            <a:ahLst/>
            <a:cxnLst/>
            <a:rect l="l" t="t" r="r" b="b"/>
            <a:pathLst>
              <a:path w="15227300" h="889000">
                <a:moveTo>
                  <a:pt x="101604" y="0"/>
                </a:moveTo>
                <a:lnTo>
                  <a:pt x="15125696" y="0"/>
                </a:lnTo>
                <a:cubicBezTo>
                  <a:pt x="15181810" y="0"/>
                  <a:pt x="15227300" y="45490"/>
                  <a:pt x="15227300" y="101604"/>
                </a:cubicBezTo>
                <a:lnTo>
                  <a:pt x="15227300" y="787396"/>
                </a:lnTo>
                <a:cubicBezTo>
                  <a:pt x="15227300" y="843510"/>
                  <a:pt x="15181810" y="889000"/>
                  <a:pt x="15125696" y="889000"/>
                </a:cubicBezTo>
                <a:lnTo>
                  <a:pt x="101604" y="889000"/>
                </a:lnTo>
                <a:cubicBezTo>
                  <a:pt x="45490" y="889000"/>
                  <a:pt x="0" y="843510"/>
                  <a:pt x="0" y="7873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0250" y="15894645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6" name="Text 34"/>
          <p:cNvSpPr/>
          <p:nvPr/>
        </p:nvSpPr>
        <p:spPr>
          <a:xfrm>
            <a:off x="1206500" y="15759246"/>
            <a:ext cx="1329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Almacenamiento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06500" y="16064046"/>
            <a:ext cx="1328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PostgreSQL con esquema optimizado: </a:t>
            </a:r>
            <a:pPr>
              <a:lnSpc>
                <a:spcPct val="120000"/>
              </a:lnSpc>
            </a:pPr>
            <a:r>
              <a:rPr lang="en-US" sz="1260" dirty="0">
                <a:solidFill>
                  <a:srgbClr val="8D99AE"/>
                </a:solidFill>
                <a:highlight>
                  <a:srgbClr val="4A6C8C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games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20000"/>
              </a:lnSpc>
            </a:pPr>
            <a:r>
              <a:rPr lang="en-US" sz="1260" dirty="0">
                <a:solidFill>
                  <a:srgbClr val="8D99AE"/>
                </a:solidFill>
                <a:highlight>
                  <a:srgbClr val="4A6C8C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moves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20000"/>
              </a:lnSpc>
            </a:pPr>
            <a:r>
              <a:rPr lang="en-US" sz="1260" dirty="0">
                <a:solidFill>
                  <a:srgbClr val="8D99AE"/>
                </a:solidFill>
                <a:highlight>
                  <a:srgbClr val="4A6C8C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features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20000"/>
              </a:lnSpc>
            </a:pPr>
            <a:r>
              <a:rPr lang="en-US" sz="1260" dirty="0">
                <a:solidFill>
                  <a:srgbClr val="8D99AE"/>
                </a:solidFill>
                <a:highlight>
                  <a:srgbClr val="4A6C8C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models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20000"/>
              </a:lnSpc>
            </a:pPr>
            <a:r>
              <a:rPr lang="en-US" sz="1260" dirty="0">
                <a:solidFill>
                  <a:srgbClr val="8D99AE"/>
                </a:solidFill>
                <a:highlight>
                  <a:srgbClr val="4A6C8C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predictions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Índices en player_id, game_id, move_number para queries rápidas.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5"/>
            <a:ext cx="221998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1 - Baseline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Implementación ML Clásico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9715500"/>
          </a:xfrm>
          <a:custGeom>
            <a:avLst/>
            <a:gdLst/>
            <a:ahLst/>
            <a:cxnLst/>
            <a:rect l="l" t="t" r="r" b="b"/>
            <a:pathLst>
              <a:path w="7531100" h="9715500">
                <a:moveTo>
                  <a:pt x="101595" y="0"/>
                </a:moveTo>
                <a:lnTo>
                  <a:pt x="7429505" y="0"/>
                </a:lnTo>
                <a:cubicBezTo>
                  <a:pt x="7485615" y="0"/>
                  <a:pt x="7531100" y="45485"/>
                  <a:pt x="7531100" y="101595"/>
                </a:cubicBezTo>
                <a:lnTo>
                  <a:pt x="7531100" y="9613905"/>
                </a:lnTo>
                <a:cubicBezTo>
                  <a:pt x="7531100" y="9670015"/>
                  <a:pt x="7485615" y="9715500"/>
                  <a:pt x="7429505" y="9715500"/>
                </a:cubicBezTo>
                <a:lnTo>
                  <a:pt x="101595" y="9715500"/>
                </a:lnTo>
                <a:cubicBezTo>
                  <a:pt x="45485" y="9715500"/>
                  <a:pt x="0" y="9670015"/>
                  <a:pt x="0" y="96139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8356600"/>
          </a:xfrm>
          <a:custGeom>
            <a:avLst/>
            <a:gdLst/>
            <a:ahLst/>
            <a:cxnLst/>
            <a:rect l="l" t="t" r="r" b="b"/>
            <a:pathLst>
              <a:path w="7213600" h="8356600">
                <a:moveTo>
                  <a:pt x="101567" y="0"/>
                </a:moveTo>
                <a:lnTo>
                  <a:pt x="7112033" y="0"/>
                </a:lnTo>
                <a:cubicBezTo>
                  <a:pt x="7168127" y="0"/>
                  <a:pt x="7213600" y="45473"/>
                  <a:pt x="7213600" y="101567"/>
                </a:cubicBezTo>
                <a:lnTo>
                  <a:pt x="7213600" y="8255033"/>
                </a:lnTo>
                <a:cubicBezTo>
                  <a:pt x="7213600" y="8311127"/>
                  <a:pt x="7168127" y="8356600"/>
                  <a:pt x="7112033" y="8356600"/>
                </a:cubicBezTo>
                <a:lnTo>
                  <a:pt x="101567" y="8356600"/>
                </a:lnTo>
                <a:cubicBezTo>
                  <a:pt x="45473" y="8356600"/>
                  <a:pt x="0" y="8311127"/>
                  <a:pt x="0" y="8255033"/>
                </a:cubicBezTo>
                <a:lnTo>
                  <a:pt x="0" y="101567"/>
                </a:lnTo>
                <a:cubicBezTo>
                  <a:pt x="0" y="45511"/>
                  <a:pt x="45511" y="0"/>
                  <a:pt x="101567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5500" y="2328335"/>
            <a:ext cx="4876139" cy="8016214"/>
          </a:xfrm>
          <a:custGeom>
            <a:avLst/>
            <a:gdLst/>
            <a:ahLst/>
            <a:cxnLst/>
            <a:rect l="l" t="t" r="r" b="b"/>
            <a:pathLst>
              <a:path w="4876139" h="8016214">
                <a:moveTo>
                  <a:pt x="50809" y="0"/>
                </a:moveTo>
                <a:lnTo>
                  <a:pt x="4825329" y="0"/>
                </a:lnTo>
                <a:cubicBezTo>
                  <a:pt x="4853391" y="0"/>
                  <a:pt x="4876139" y="22748"/>
                  <a:pt x="4876139" y="50809"/>
                </a:cubicBezTo>
                <a:lnTo>
                  <a:pt x="4876139" y="7965404"/>
                </a:lnTo>
                <a:cubicBezTo>
                  <a:pt x="4876139" y="7993466"/>
                  <a:pt x="4853391" y="8016214"/>
                  <a:pt x="4825329" y="8016214"/>
                </a:cubicBezTo>
                <a:lnTo>
                  <a:pt x="50809" y="8016214"/>
                </a:lnTo>
                <a:cubicBezTo>
                  <a:pt x="22748" y="8016214"/>
                  <a:pt x="0" y="7993466"/>
                  <a:pt x="0" y="7965404"/>
                </a:cubicBezTo>
                <a:lnTo>
                  <a:pt x="0" y="50809"/>
                </a:lnTo>
                <a:cubicBezTo>
                  <a:pt x="0" y="22748"/>
                  <a:pt x="22748" y="0"/>
                  <a:pt x="50809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5500" y="2328335"/>
            <a:ext cx="4953863" cy="8016214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sklearn.linear_model import LogisticRegression from sklearn.preprocessing import StandardScaler from sklearn.model_selection import GridSearchCV # Preprocessing scaler = StandardScaler() X_train_scaled = scaler.fit_transform(X_train) X_test_scaled = scaler.transform(X_test) # Grid Search param_grid = { 'C': [0.1, 0.5, 1.0, 10.0], 'penalty': ['l1', 'l2', 'elasticnet'], 'solver': ['lbfgs', 'saga'] } lr = LogisticRegression( class_weight='balanced', max_iter=1000, random_state=42 ) grid_search = GridSearchCV( lr, param_grid, cv=5, scoring='f1_macro', n_jobs=-1 ) grid_search.fit(X_train_scaled, y_train) print(f"Best F1: {grid_search.best_score_:.4f}") print(f"Best params: {grid_search.best_params_}")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9450" y="10606618"/>
            <a:ext cx="7200900" cy="469900"/>
          </a:xfrm>
          <a:custGeom>
            <a:avLst/>
            <a:gdLst/>
            <a:ahLst/>
            <a:cxnLst/>
            <a:rect l="l" t="t" r="r" b="b"/>
            <a:pathLst>
              <a:path w="7200900" h="469900">
                <a:moveTo>
                  <a:pt x="50801" y="0"/>
                </a:moveTo>
                <a:lnTo>
                  <a:pt x="7150099" y="0"/>
                </a:lnTo>
                <a:cubicBezTo>
                  <a:pt x="7178156" y="0"/>
                  <a:pt x="7200900" y="22744"/>
                  <a:pt x="7200900" y="50801"/>
                </a:cubicBezTo>
                <a:lnTo>
                  <a:pt x="7200900" y="419099"/>
                </a:lnTo>
                <a:cubicBezTo>
                  <a:pt x="7200900" y="447156"/>
                  <a:pt x="7178156" y="469900"/>
                  <a:pt x="7150099" y="469900"/>
                </a:cubicBezTo>
                <a:lnTo>
                  <a:pt x="50801" y="469900"/>
                </a:lnTo>
                <a:cubicBezTo>
                  <a:pt x="22744" y="469900"/>
                  <a:pt x="0" y="447156"/>
                  <a:pt x="0" y="4190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7400" y="10714568"/>
            <a:ext cx="707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Resultado: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F1=0.890, Accuracy=85.0%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10550" y="1530350"/>
            <a:ext cx="7531100" cy="9715500"/>
          </a:xfrm>
          <a:custGeom>
            <a:avLst/>
            <a:gdLst/>
            <a:ahLst/>
            <a:cxnLst/>
            <a:rect l="l" t="t" r="r" b="b"/>
            <a:pathLst>
              <a:path w="7531100" h="9715500">
                <a:moveTo>
                  <a:pt x="101595" y="0"/>
                </a:moveTo>
                <a:lnTo>
                  <a:pt x="7429505" y="0"/>
                </a:lnTo>
                <a:cubicBezTo>
                  <a:pt x="7485615" y="0"/>
                  <a:pt x="7531100" y="45485"/>
                  <a:pt x="7531100" y="101595"/>
                </a:cubicBezTo>
                <a:lnTo>
                  <a:pt x="7531100" y="9613905"/>
                </a:lnTo>
                <a:cubicBezTo>
                  <a:pt x="7531100" y="9670015"/>
                  <a:pt x="7485615" y="9715500"/>
                  <a:pt x="7429505" y="9715500"/>
                </a:cubicBezTo>
                <a:lnTo>
                  <a:pt x="101595" y="9715500"/>
                </a:lnTo>
                <a:cubicBezTo>
                  <a:pt x="45485" y="9715500"/>
                  <a:pt x="0" y="9670015"/>
                  <a:pt x="0" y="96139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69300" y="2146300"/>
            <a:ext cx="7213600" cy="7594600"/>
          </a:xfrm>
          <a:custGeom>
            <a:avLst/>
            <a:gdLst/>
            <a:ahLst/>
            <a:cxnLst/>
            <a:rect l="l" t="t" r="r" b="b"/>
            <a:pathLst>
              <a:path w="7213600" h="7594600">
                <a:moveTo>
                  <a:pt x="101567" y="0"/>
                </a:moveTo>
                <a:lnTo>
                  <a:pt x="7112033" y="0"/>
                </a:lnTo>
                <a:cubicBezTo>
                  <a:pt x="7168127" y="0"/>
                  <a:pt x="7213600" y="45473"/>
                  <a:pt x="7213600" y="101567"/>
                </a:cubicBezTo>
                <a:lnTo>
                  <a:pt x="7213600" y="7493033"/>
                </a:lnTo>
                <a:cubicBezTo>
                  <a:pt x="7213600" y="7549127"/>
                  <a:pt x="7168127" y="7594600"/>
                  <a:pt x="7112033" y="7594600"/>
                </a:cubicBezTo>
                <a:lnTo>
                  <a:pt x="101567" y="7594600"/>
                </a:lnTo>
                <a:cubicBezTo>
                  <a:pt x="45473" y="7594600"/>
                  <a:pt x="0" y="7549127"/>
                  <a:pt x="0" y="7493033"/>
                </a:cubicBezTo>
                <a:lnTo>
                  <a:pt x="0" y="101567"/>
                </a:lnTo>
                <a:cubicBezTo>
                  <a:pt x="0" y="45511"/>
                  <a:pt x="45511" y="0"/>
                  <a:pt x="101567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21700" y="2328335"/>
            <a:ext cx="7417264" cy="7261754"/>
          </a:xfrm>
          <a:custGeom>
            <a:avLst/>
            <a:gdLst/>
            <a:ahLst/>
            <a:cxnLst/>
            <a:rect l="l" t="t" r="r" b="b"/>
            <a:pathLst>
              <a:path w="7417264" h="7261754">
                <a:moveTo>
                  <a:pt x="50832" y="0"/>
                </a:moveTo>
                <a:lnTo>
                  <a:pt x="7366431" y="0"/>
                </a:lnTo>
                <a:cubicBezTo>
                  <a:pt x="7394505" y="0"/>
                  <a:pt x="7417264" y="22758"/>
                  <a:pt x="7417264" y="50832"/>
                </a:cubicBezTo>
                <a:lnTo>
                  <a:pt x="7417264" y="7210922"/>
                </a:lnTo>
                <a:cubicBezTo>
                  <a:pt x="7417264" y="7238996"/>
                  <a:pt x="7394505" y="7261754"/>
                  <a:pt x="7366431" y="7261754"/>
                </a:cubicBezTo>
                <a:lnTo>
                  <a:pt x="50832" y="7261754"/>
                </a:lnTo>
                <a:cubicBezTo>
                  <a:pt x="22758" y="7261754"/>
                  <a:pt x="0" y="7238996"/>
                  <a:pt x="0" y="7210922"/>
                </a:cubicBezTo>
                <a:lnTo>
                  <a:pt x="0" y="50832"/>
                </a:lnTo>
                <a:cubicBezTo>
                  <a:pt x="0" y="22758"/>
                  <a:pt x="22758" y="0"/>
                  <a:pt x="5083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521700" y="2328335"/>
            <a:ext cx="7494988" cy="7261754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sklearn.ensemble import RandomForestClassifier # Random Forest with OOB score rf = RandomForestClassifier( n_estimators=300, max_depth=None, min_samples_split=5, min_samples_leaf=2, class_weight='balanced', oob_score=True, random_state=42, n_jobs=-1 ) rf.fit(X_train, y_train) # Feature importance importances = rf.feature_importances_ feature_names = X.columns for name, importance in sorted( zip(feature_names, importances), key=lambda x: x[1], reverse=True )[:5]: print(f"{name}: {importance:.4f}") print(f"OOB Score: {rf.oob_score_:.4f}") print(f"Test F1: {f1_score(y_test, rf.predict(X_test), average='macro'):.4f}")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75650" y="9852158"/>
            <a:ext cx="7200900" cy="469900"/>
          </a:xfrm>
          <a:custGeom>
            <a:avLst/>
            <a:gdLst/>
            <a:ahLst/>
            <a:cxnLst/>
            <a:rect l="l" t="t" r="r" b="b"/>
            <a:pathLst>
              <a:path w="7200900" h="469900">
                <a:moveTo>
                  <a:pt x="50801" y="0"/>
                </a:moveTo>
                <a:lnTo>
                  <a:pt x="7150099" y="0"/>
                </a:lnTo>
                <a:cubicBezTo>
                  <a:pt x="7178156" y="0"/>
                  <a:pt x="7200900" y="22744"/>
                  <a:pt x="7200900" y="50801"/>
                </a:cubicBezTo>
                <a:lnTo>
                  <a:pt x="7200900" y="419099"/>
                </a:lnTo>
                <a:cubicBezTo>
                  <a:pt x="7200900" y="447156"/>
                  <a:pt x="7178156" y="469900"/>
                  <a:pt x="7150099" y="469900"/>
                </a:cubicBezTo>
                <a:lnTo>
                  <a:pt x="50801" y="469900"/>
                </a:lnTo>
                <a:cubicBezTo>
                  <a:pt x="22744" y="469900"/>
                  <a:pt x="0" y="447156"/>
                  <a:pt x="0" y="4190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3600" y="9960108"/>
            <a:ext cx="707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Resultado: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F1=0.849, OOB=84.6%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4350" y="11355918"/>
            <a:ext cx="15227300" cy="6616700"/>
          </a:xfrm>
          <a:custGeom>
            <a:avLst/>
            <a:gdLst/>
            <a:ahLst/>
            <a:cxnLst/>
            <a:rect l="l" t="t" r="r" b="b"/>
            <a:pathLst>
              <a:path w="15227300" h="6616700">
                <a:moveTo>
                  <a:pt x="101633" y="0"/>
                </a:moveTo>
                <a:lnTo>
                  <a:pt x="15125667" y="0"/>
                </a:lnTo>
                <a:cubicBezTo>
                  <a:pt x="15181798" y="0"/>
                  <a:pt x="15227300" y="45502"/>
                  <a:pt x="15227300" y="101633"/>
                </a:cubicBezTo>
                <a:lnTo>
                  <a:pt x="15227300" y="6515067"/>
                </a:lnTo>
                <a:cubicBezTo>
                  <a:pt x="15227300" y="6571198"/>
                  <a:pt x="15181798" y="6616700"/>
                  <a:pt x="15125667" y="6616700"/>
                </a:cubicBezTo>
                <a:lnTo>
                  <a:pt x="101633" y="6616700"/>
                </a:lnTo>
                <a:cubicBezTo>
                  <a:pt x="45502" y="6616700"/>
                  <a:pt x="0" y="6571198"/>
                  <a:pt x="0" y="6515067"/>
                </a:cubicBezTo>
                <a:lnTo>
                  <a:pt x="0" y="101633"/>
                </a:lnTo>
                <a:cubicBezTo>
                  <a:pt x="0" y="45540"/>
                  <a:pt x="45540" y="0"/>
                  <a:pt x="10163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100" y="11514668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Métricas y Validación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3100" y="11971868"/>
            <a:ext cx="14909800" cy="5842000"/>
          </a:xfrm>
          <a:custGeom>
            <a:avLst/>
            <a:gdLst/>
            <a:ahLst/>
            <a:cxnLst/>
            <a:rect l="l" t="t" r="r" b="b"/>
            <a:pathLst>
              <a:path w="14909800" h="5842000">
                <a:moveTo>
                  <a:pt x="101592" y="0"/>
                </a:moveTo>
                <a:lnTo>
                  <a:pt x="14808208" y="0"/>
                </a:lnTo>
                <a:cubicBezTo>
                  <a:pt x="14864316" y="0"/>
                  <a:pt x="14909800" y="45484"/>
                  <a:pt x="14909800" y="101592"/>
                </a:cubicBezTo>
                <a:lnTo>
                  <a:pt x="14909800" y="5740408"/>
                </a:lnTo>
                <a:cubicBezTo>
                  <a:pt x="14909800" y="5796516"/>
                  <a:pt x="14864316" y="5842000"/>
                  <a:pt x="14808208" y="5842000"/>
                </a:cubicBezTo>
                <a:lnTo>
                  <a:pt x="101592" y="5842000"/>
                </a:lnTo>
                <a:cubicBezTo>
                  <a:pt x="45484" y="5842000"/>
                  <a:pt x="0" y="5796516"/>
                  <a:pt x="0" y="57404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25500" y="12153900"/>
            <a:ext cx="9693937" cy="5501349"/>
          </a:xfrm>
          <a:custGeom>
            <a:avLst/>
            <a:gdLst/>
            <a:ahLst/>
            <a:cxnLst/>
            <a:rect l="l" t="t" r="r" b="b"/>
            <a:pathLst>
              <a:path w="9693937" h="5501349">
                <a:moveTo>
                  <a:pt x="50777" y="0"/>
                </a:moveTo>
                <a:lnTo>
                  <a:pt x="9643160" y="0"/>
                </a:lnTo>
                <a:cubicBezTo>
                  <a:pt x="9671203" y="0"/>
                  <a:pt x="9693937" y="22734"/>
                  <a:pt x="9693937" y="50777"/>
                </a:cubicBezTo>
                <a:lnTo>
                  <a:pt x="9693937" y="5450572"/>
                </a:lnTo>
                <a:cubicBezTo>
                  <a:pt x="9693937" y="5478615"/>
                  <a:pt x="9671203" y="5501349"/>
                  <a:pt x="9643160" y="5501349"/>
                </a:cubicBezTo>
                <a:lnTo>
                  <a:pt x="50777" y="5501349"/>
                </a:lnTo>
                <a:cubicBezTo>
                  <a:pt x="22734" y="5501349"/>
                  <a:pt x="0" y="5478615"/>
                  <a:pt x="0" y="5450572"/>
                </a:cubicBezTo>
                <a:lnTo>
                  <a:pt x="0" y="50777"/>
                </a:lnTo>
                <a:cubicBezTo>
                  <a:pt x="0" y="22734"/>
                  <a:pt x="22734" y="0"/>
                  <a:pt x="50777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25500" y="12153900"/>
            <a:ext cx="9771661" cy="5501349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sklearn.metrics import classification_report, confusion_matrix, f1_score # Predictions y_pred = model.predict(X_test) # Classification report print(classification_report(y_test, y_pred, target_names=['blunder', 'good', 'inaccuracy', 'mistake'])) # Confusion matrix cm = confusion_matrix(y_test, y_pred) print("Confusion Matrix:") print(cm) # F1 macro (primary metric) f1_macro = f1_score(y_test, y_pred, average='macro') print(f"F1 Macro: {f1_macro:.4f}") # Check confusion between extreme classes good_blunder_confusion = cm[1, 0] + cm[0, 1] total = cm.sum() confusion_rate = good_blunder_confusion / total print(f"Good↔Blunder confusion: {confusion_rate:.2%} (target: &lt;5%)")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4350" y="18082419"/>
            <a:ext cx="15227300" cy="876300"/>
          </a:xfrm>
          <a:custGeom>
            <a:avLst/>
            <a:gdLst/>
            <a:ahLst/>
            <a:cxnLst/>
            <a:rect l="l" t="t" r="r" b="b"/>
            <a:pathLst>
              <a:path w="15227300" h="876300">
                <a:moveTo>
                  <a:pt x="101598" y="0"/>
                </a:moveTo>
                <a:lnTo>
                  <a:pt x="15125702" y="0"/>
                </a:lnTo>
                <a:cubicBezTo>
                  <a:pt x="15181813" y="0"/>
                  <a:pt x="15227300" y="45487"/>
                  <a:pt x="15227300" y="101598"/>
                </a:cubicBezTo>
                <a:lnTo>
                  <a:pt x="15227300" y="774702"/>
                </a:lnTo>
                <a:cubicBezTo>
                  <a:pt x="15227300" y="830813"/>
                  <a:pt x="15181813" y="876300"/>
                  <a:pt x="15125702" y="876300"/>
                </a:cubicBezTo>
                <a:lnTo>
                  <a:pt x="101598" y="876300"/>
                </a:lnTo>
                <a:cubicBezTo>
                  <a:pt x="45487" y="876300"/>
                  <a:pt x="0" y="830813"/>
                  <a:pt x="0" y="7747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1200" y="1836816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1206500" y="18241169"/>
            <a:ext cx="892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Criterios de Éxito Phase 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06500" y="18545969"/>
            <a:ext cx="891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&gt; 0.70 ✓ (0.890) • Confusión good↔blunder &lt; 5% ✓ (2.89%) • Baseline establecido para comparación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5"/>
            <a:ext cx="292854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2 - Deep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MLP con TensorFlow/Keras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11137900"/>
          </a:xfrm>
          <a:custGeom>
            <a:avLst/>
            <a:gdLst/>
            <a:ahLst/>
            <a:cxnLst/>
            <a:rect l="l" t="t" r="r" b="b"/>
            <a:pathLst>
              <a:path w="7531100" h="11137900">
                <a:moveTo>
                  <a:pt x="101595" y="0"/>
                </a:moveTo>
                <a:lnTo>
                  <a:pt x="7429505" y="0"/>
                </a:lnTo>
                <a:cubicBezTo>
                  <a:pt x="7485615" y="0"/>
                  <a:pt x="7531100" y="45485"/>
                  <a:pt x="7531100" y="101595"/>
                </a:cubicBezTo>
                <a:lnTo>
                  <a:pt x="7531100" y="11036305"/>
                </a:lnTo>
                <a:cubicBezTo>
                  <a:pt x="7531100" y="11092415"/>
                  <a:pt x="7485615" y="11137900"/>
                  <a:pt x="7429505" y="11137900"/>
                </a:cubicBezTo>
                <a:lnTo>
                  <a:pt x="101595" y="11137900"/>
                </a:lnTo>
                <a:cubicBezTo>
                  <a:pt x="45485" y="11137900"/>
                  <a:pt x="0" y="11092415"/>
                  <a:pt x="0" y="11036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Arquitectura MLP_Basic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6083300"/>
          </a:xfrm>
          <a:custGeom>
            <a:avLst/>
            <a:gdLst/>
            <a:ahLst/>
            <a:cxnLst/>
            <a:rect l="l" t="t" r="r" b="b"/>
            <a:pathLst>
              <a:path w="7213600" h="6083300">
                <a:moveTo>
                  <a:pt x="101591" y="0"/>
                </a:moveTo>
                <a:lnTo>
                  <a:pt x="7112009" y="0"/>
                </a:lnTo>
                <a:cubicBezTo>
                  <a:pt x="7168116" y="0"/>
                  <a:pt x="7213600" y="45484"/>
                  <a:pt x="7213600" y="101591"/>
                </a:cubicBezTo>
                <a:lnTo>
                  <a:pt x="7213600" y="5981709"/>
                </a:lnTo>
                <a:cubicBezTo>
                  <a:pt x="7213600" y="6037816"/>
                  <a:pt x="7168116" y="6083300"/>
                  <a:pt x="7112009" y="6083300"/>
                </a:cubicBezTo>
                <a:lnTo>
                  <a:pt x="101591" y="6083300"/>
                </a:lnTo>
                <a:cubicBezTo>
                  <a:pt x="45484" y="6083300"/>
                  <a:pt x="0" y="6037816"/>
                  <a:pt x="0" y="59817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5500" y="2328335"/>
            <a:ext cx="5364626" cy="5752836"/>
          </a:xfrm>
          <a:custGeom>
            <a:avLst/>
            <a:gdLst/>
            <a:ahLst/>
            <a:cxnLst/>
            <a:rect l="l" t="t" r="r" b="b"/>
            <a:pathLst>
              <a:path w="5364626" h="5752836">
                <a:moveTo>
                  <a:pt x="50803" y="0"/>
                </a:moveTo>
                <a:lnTo>
                  <a:pt x="5313823" y="0"/>
                </a:lnTo>
                <a:cubicBezTo>
                  <a:pt x="5341880" y="0"/>
                  <a:pt x="5364626" y="22745"/>
                  <a:pt x="5364626" y="50803"/>
                </a:cubicBezTo>
                <a:lnTo>
                  <a:pt x="5364626" y="5702033"/>
                </a:lnTo>
                <a:cubicBezTo>
                  <a:pt x="5364626" y="5730090"/>
                  <a:pt x="5341880" y="5752836"/>
                  <a:pt x="5313823" y="5752836"/>
                </a:cubicBezTo>
                <a:lnTo>
                  <a:pt x="50803" y="5752836"/>
                </a:lnTo>
                <a:cubicBezTo>
                  <a:pt x="22745" y="5752836"/>
                  <a:pt x="0" y="5730090"/>
                  <a:pt x="0" y="5702033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5500" y="2328335"/>
            <a:ext cx="5442350" cy="5752836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 tensorflow as tf from tensorflow import keras from tensorflow.keras import layers # Build model def build_mlp(input_dim, num_classes): model = keras.Sequential([ layers.Input(shape=(input_dim,)), layers.Dense(100, activation='relu'), layers.Dense(num_classes, activation='softmax') ]) return model # Compile model = build_mlp(input_dim=15, num_classes=4) model.compile( optimizer=keras.optimizers.Adam(learning_rate=0.001), loss='sparse_categorical_crossentropy', metrics=['accuracy'] ) model.summary()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3100" y="8336890"/>
            <a:ext cx="7213600" cy="406400"/>
          </a:xfrm>
          <a:custGeom>
            <a:avLst/>
            <a:gdLst/>
            <a:ahLst/>
            <a:cxnLst/>
            <a:rect l="l" t="t" r="r" b="b"/>
            <a:pathLst>
              <a:path w="7213600" h="4064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355600"/>
                </a:lnTo>
                <a:cubicBezTo>
                  <a:pt x="7213600" y="383637"/>
                  <a:pt x="7190837" y="406400"/>
                  <a:pt x="71628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4700" y="8438490"/>
            <a:ext cx="7086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params: 2,104 | Trainable params: 2,104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10550" y="1530350"/>
            <a:ext cx="7531100" cy="11137900"/>
          </a:xfrm>
          <a:custGeom>
            <a:avLst/>
            <a:gdLst/>
            <a:ahLst/>
            <a:cxnLst/>
            <a:rect l="l" t="t" r="r" b="b"/>
            <a:pathLst>
              <a:path w="7531100" h="11137900">
                <a:moveTo>
                  <a:pt x="101595" y="0"/>
                </a:moveTo>
                <a:lnTo>
                  <a:pt x="7429505" y="0"/>
                </a:lnTo>
                <a:cubicBezTo>
                  <a:pt x="7485615" y="0"/>
                  <a:pt x="7531100" y="45485"/>
                  <a:pt x="7531100" y="101595"/>
                </a:cubicBezTo>
                <a:lnTo>
                  <a:pt x="7531100" y="11036305"/>
                </a:lnTo>
                <a:cubicBezTo>
                  <a:pt x="7531100" y="11092415"/>
                  <a:pt x="7485615" y="11137900"/>
                  <a:pt x="7429505" y="11137900"/>
                </a:cubicBezTo>
                <a:lnTo>
                  <a:pt x="101595" y="11137900"/>
                </a:lnTo>
                <a:cubicBezTo>
                  <a:pt x="45485" y="11137900"/>
                  <a:pt x="0" y="11092415"/>
                  <a:pt x="0" y="11036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Entrenamiento con Callbacks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69300" y="2146300"/>
            <a:ext cx="7213600" cy="10363200"/>
          </a:xfrm>
          <a:custGeom>
            <a:avLst/>
            <a:gdLst/>
            <a:ahLst/>
            <a:cxnLst/>
            <a:rect l="l" t="t" r="r" b="b"/>
            <a:pathLst>
              <a:path w="7213600" h="10363200">
                <a:moveTo>
                  <a:pt x="101567" y="0"/>
                </a:moveTo>
                <a:lnTo>
                  <a:pt x="7112033" y="0"/>
                </a:lnTo>
                <a:cubicBezTo>
                  <a:pt x="7168127" y="0"/>
                  <a:pt x="7213600" y="45473"/>
                  <a:pt x="7213600" y="101567"/>
                </a:cubicBezTo>
                <a:lnTo>
                  <a:pt x="7213600" y="10261633"/>
                </a:lnTo>
                <a:cubicBezTo>
                  <a:pt x="7213600" y="10317727"/>
                  <a:pt x="7168127" y="10363200"/>
                  <a:pt x="7112033" y="10363200"/>
                </a:cubicBezTo>
                <a:lnTo>
                  <a:pt x="101567" y="10363200"/>
                </a:lnTo>
                <a:cubicBezTo>
                  <a:pt x="45473" y="10363200"/>
                  <a:pt x="0" y="10317727"/>
                  <a:pt x="0" y="10261633"/>
                </a:cubicBezTo>
                <a:lnTo>
                  <a:pt x="0" y="101567"/>
                </a:lnTo>
                <a:cubicBezTo>
                  <a:pt x="0" y="45511"/>
                  <a:pt x="45511" y="0"/>
                  <a:pt x="101567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21700" y="2328335"/>
            <a:ext cx="5552877" cy="10028106"/>
          </a:xfrm>
          <a:custGeom>
            <a:avLst/>
            <a:gdLst/>
            <a:ahLst/>
            <a:cxnLst/>
            <a:rect l="l" t="t" r="r" b="b"/>
            <a:pathLst>
              <a:path w="5552877" h="10028106">
                <a:moveTo>
                  <a:pt x="50809" y="0"/>
                </a:moveTo>
                <a:lnTo>
                  <a:pt x="5502068" y="0"/>
                </a:lnTo>
                <a:cubicBezTo>
                  <a:pt x="5530129" y="0"/>
                  <a:pt x="5552877" y="22748"/>
                  <a:pt x="5552877" y="50809"/>
                </a:cubicBezTo>
                <a:lnTo>
                  <a:pt x="5552877" y="9977297"/>
                </a:lnTo>
                <a:cubicBezTo>
                  <a:pt x="5552877" y="10005358"/>
                  <a:pt x="5530129" y="10028106"/>
                  <a:pt x="5502068" y="10028106"/>
                </a:cubicBezTo>
                <a:lnTo>
                  <a:pt x="50809" y="10028106"/>
                </a:lnTo>
                <a:cubicBezTo>
                  <a:pt x="22748" y="10028106"/>
                  <a:pt x="0" y="10005358"/>
                  <a:pt x="0" y="9977297"/>
                </a:cubicBezTo>
                <a:lnTo>
                  <a:pt x="0" y="50809"/>
                </a:lnTo>
                <a:cubicBezTo>
                  <a:pt x="0" y="22767"/>
                  <a:pt x="22767" y="0"/>
                  <a:pt x="50809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521700" y="2328335"/>
            <a:ext cx="5630601" cy="10028106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Calculate class weights from sklearn.utils.class_weight import compute_class_weight class_weights = compute_class_weight( 'balanced', classes=np.unique(y_train), y=y_train ) class_weight_dict = dict(enumerate(class_weights)) # Callbacks callbacks = [ keras.callbacks.EarlyStopping( monitor='val_loss', patience=15, restore_best_weights=True ), keras.callbacks.ReduceLROnPlateau( monitor='val_loss', factor=0.5, patience=5, min_lr=1e-6 ), keras.callbacks.ModelCheckpoint( 'best_model.keras', monitor='val_loss', save_best_only=True ) ] # Train history = model.fit( X_train, y_train, validation_split=0.2, epochs=100, batch_size=32, class_weight=class_weight_dict, callbacks=callbacks, verbose=1 )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4350" y="12783610"/>
            <a:ext cx="15227300" cy="8369300"/>
          </a:xfrm>
          <a:custGeom>
            <a:avLst/>
            <a:gdLst/>
            <a:ahLst/>
            <a:cxnLst/>
            <a:rect l="l" t="t" r="r" b="b"/>
            <a:pathLst>
              <a:path w="15227300" h="8369300">
                <a:moveTo>
                  <a:pt x="101603" y="0"/>
                </a:moveTo>
                <a:lnTo>
                  <a:pt x="15125697" y="0"/>
                </a:lnTo>
                <a:cubicBezTo>
                  <a:pt x="15181811" y="0"/>
                  <a:pt x="15227300" y="45489"/>
                  <a:pt x="15227300" y="101603"/>
                </a:cubicBezTo>
                <a:lnTo>
                  <a:pt x="15227300" y="8267697"/>
                </a:lnTo>
                <a:cubicBezTo>
                  <a:pt x="15227300" y="8323811"/>
                  <a:pt x="15181811" y="8369300"/>
                  <a:pt x="15125697" y="8369300"/>
                </a:cubicBezTo>
                <a:lnTo>
                  <a:pt x="101603" y="8369300"/>
                </a:lnTo>
                <a:cubicBezTo>
                  <a:pt x="45489" y="8369300"/>
                  <a:pt x="0" y="8323811"/>
                  <a:pt x="0" y="8267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100" y="12942360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Evaluación y Validación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3100" y="13399560"/>
            <a:ext cx="14909800" cy="7594600"/>
          </a:xfrm>
          <a:custGeom>
            <a:avLst/>
            <a:gdLst/>
            <a:ahLst/>
            <a:cxnLst/>
            <a:rect l="l" t="t" r="r" b="b"/>
            <a:pathLst>
              <a:path w="14909800" h="7594600">
                <a:moveTo>
                  <a:pt x="101616" y="0"/>
                </a:moveTo>
                <a:lnTo>
                  <a:pt x="14808184" y="0"/>
                </a:lnTo>
                <a:cubicBezTo>
                  <a:pt x="14864305" y="0"/>
                  <a:pt x="14909800" y="45495"/>
                  <a:pt x="14909800" y="101616"/>
                </a:cubicBezTo>
                <a:lnTo>
                  <a:pt x="14909800" y="7492984"/>
                </a:lnTo>
                <a:cubicBezTo>
                  <a:pt x="14909800" y="7549105"/>
                  <a:pt x="14864305" y="7594600"/>
                  <a:pt x="14808184" y="7594600"/>
                </a:cubicBezTo>
                <a:lnTo>
                  <a:pt x="101616" y="7594600"/>
                </a:lnTo>
                <a:cubicBezTo>
                  <a:pt x="45495" y="7594600"/>
                  <a:pt x="0" y="7549105"/>
                  <a:pt x="0" y="7492984"/>
                </a:cubicBezTo>
                <a:lnTo>
                  <a:pt x="0" y="101616"/>
                </a:lnTo>
                <a:cubicBezTo>
                  <a:pt x="0" y="45532"/>
                  <a:pt x="45532" y="0"/>
                  <a:pt x="101616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5500" y="13581596"/>
            <a:ext cx="6682251" cy="7261754"/>
          </a:xfrm>
          <a:custGeom>
            <a:avLst/>
            <a:gdLst/>
            <a:ahLst/>
            <a:cxnLst/>
            <a:rect l="l" t="t" r="r" b="b"/>
            <a:pathLst>
              <a:path w="6682251" h="7261754">
                <a:moveTo>
                  <a:pt x="50785" y="0"/>
                </a:moveTo>
                <a:lnTo>
                  <a:pt x="6631466" y="0"/>
                </a:lnTo>
                <a:cubicBezTo>
                  <a:pt x="6659514" y="0"/>
                  <a:pt x="6682251" y="22737"/>
                  <a:pt x="6682251" y="50785"/>
                </a:cubicBezTo>
                <a:lnTo>
                  <a:pt x="6682251" y="7210969"/>
                </a:lnTo>
                <a:cubicBezTo>
                  <a:pt x="6682251" y="7239017"/>
                  <a:pt x="6659514" y="7261754"/>
                  <a:pt x="6631466" y="7261754"/>
                </a:cubicBezTo>
                <a:lnTo>
                  <a:pt x="50785" y="7261754"/>
                </a:lnTo>
                <a:cubicBezTo>
                  <a:pt x="22737" y="7261754"/>
                  <a:pt x="0" y="7239017"/>
                  <a:pt x="0" y="7210969"/>
                </a:cubicBezTo>
                <a:lnTo>
                  <a:pt x="0" y="50785"/>
                </a:lnTo>
                <a:cubicBezTo>
                  <a:pt x="0" y="22737"/>
                  <a:pt x="22737" y="0"/>
                  <a:pt x="50785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25500" y="13581596"/>
            <a:ext cx="6759975" cy="7261754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Evaluate y_pred_proba = model.predict(X_test) y_pred = np.argmax(y_pred_proba, axis=1) # Metrics test_accuracy = accuracy_score(y_test, y_pred) test_f1 = f1_score(y_test, y_pred, average='macro') print(f"Test Accuracy: {test_accuracy:.4f}") print(f"Test F1 Macro: {test_f1:.4f}") # Cross-validation from sklearn.model_selection import StratifiedKFold skf = StratifiedKFold(n_splits=5, shuffle=True, random_state=42) cv_scores = [] for train_idx, val_idx in skf.split(X, y): X_tr, X_val = X[train_idx], X[val_idx] y_tr, y_val = y[train_idx], y[val_idx] model = build_mlp(input_dim=15, num_classes=4) model.fit(X_tr, y_tr, epochs=50, batch_size=32, verbose=0) y_pred = np.argmax(model.predict(X_val), axis=1) cv_scores.append(f1_score(y_val, y_pred, average='macro')) print(f"CV F1: {np.mean(cv_scores):.4f} (+/- {np.std(cv_scores):.4f})") print(f"Train-Test Gap: {abs(train_accuracy - test_accuracy):.4f}")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4350" y="21270516"/>
            <a:ext cx="4965700" cy="977900"/>
          </a:xfrm>
          <a:custGeom>
            <a:avLst/>
            <a:gdLst/>
            <a:ahLst/>
            <a:cxnLst/>
            <a:rect l="l" t="t" r="r" b="b"/>
            <a:pathLst>
              <a:path w="4965700" h="977900">
                <a:moveTo>
                  <a:pt x="101604" y="0"/>
                </a:moveTo>
                <a:lnTo>
                  <a:pt x="4864096" y="0"/>
                </a:lnTo>
                <a:cubicBezTo>
                  <a:pt x="4920210" y="0"/>
                  <a:pt x="4965700" y="45490"/>
                  <a:pt x="4965700" y="101604"/>
                </a:cubicBezTo>
                <a:lnTo>
                  <a:pt x="4965700" y="876296"/>
                </a:lnTo>
                <a:cubicBezTo>
                  <a:pt x="4965700" y="932410"/>
                  <a:pt x="4920210" y="977900"/>
                  <a:pt x="4864096" y="977900"/>
                </a:cubicBezTo>
                <a:lnTo>
                  <a:pt x="101604" y="977900"/>
                </a:lnTo>
                <a:cubicBezTo>
                  <a:pt x="45490" y="977900"/>
                  <a:pt x="0" y="932410"/>
                  <a:pt x="0" y="8762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6900" y="21429266"/>
            <a:ext cx="480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F1=0.992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8650" y="21835666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+10.2% vs Phase 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45150" y="21270516"/>
            <a:ext cx="4965700" cy="977900"/>
          </a:xfrm>
          <a:custGeom>
            <a:avLst/>
            <a:gdLst/>
            <a:ahLst/>
            <a:cxnLst/>
            <a:rect l="l" t="t" r="r" b="b"/>
            <a:pathLst>
              <a:path w="4965700" h="977900">
                <a:moveTo>
                  <a:pt x="101604" y="0"/>
                </a:moveTo>
                <a:lnTo>
                  <a:pt x="4864096" y="0"/>
                </a:lnTo>
                <a:cubicBezTo>
                  <a:pt x="4920210" y="0"/>
                  <a:pt x="4965700" y="45490"/>
                  <a:pt x="4965700" y="101604"/>
                </a:cubicBezTo>
                <a:lnTo>
                  <a:pt x="4965700" y="876296"/>
                </a:lnTo>
                <a:cubicBezTo>
                  <a:pt x="4965700" y="932410"/>
                  <a:pt x="4920210" y="977900"/>
                  <a:pt x="4864096" y="977900"/>
                </a:cubicBezTo>
                <a:lnTo>
                  <a:pt x="101604" y="977900"/>
                </a:lnTo>
                <a:cubicBezTo>
                  <a:pt x="45490" y="977900"/>
                  <a:pt x="0" y="932410"/>
                  <a:pt x="0" y="8762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27700" y="21429266"/>
            <a:ext cx="480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99.8%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59450" y="21835666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775950" y="21270516"/>
            <a:ext cx="4965700" cy="977900"/>
          </a:xfrm>
          <a:custGeom>
            <a:avLst/>
            <a:gdLst/>
            <a:ahLst/>
            <a:cxnLst/>
            <a:rect l="l" t="t" r="r" b="b"/>
            <a:pathLst>
              <a:path w="4965700" h="977900">
                <a:moveTo>
                  <a:pt x="101604" y="0"/>
                </a:moveTo>
                <a:lnTo>
                  <a:pt x="4864096" y="0"/>
                </a:lnTo>
                <a:cubicBezTo>
                  <a:pt x="4920210" y="0"/>
                  <a:pt x="4965700" y="45490"/>
                  <a:pt x="4965700" y="101604"/>
                </a:cubicBezTo>
                <a:lnTo>
                  <a:pt x="4965700" y="876296"/>
                </a:lnTo>
                <a:cubicBezTo>
                  <a:pt x="4965700" y="932410"/>
                  <a:pt x="4920210" y="977900"/>
                  <a:pt x="4864096" y="977900"/>
                </a:cubicBezTo>
                <a:lnTo>
                  <a:pt x="101604" y="977900"/>
                </a:lnTo>
                <a:cubicBezTo>
                  <a:pt x="45490" y="977900"/>
                  <a:pt x="0" y="932410"/>
                  <a:pt x="0" y="8762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58500" y="21429266"/>
            <a:ext cx="480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0.04%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90250" y="21835666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Train-Test Gap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5"/>
            <a:ext cx="239699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3 - Temporal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Features Temporales y LSTM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7366000"/>
          </a:xfrm>
          <a:custGeom>
            <a:avLst/>
            <a:gdLst/>
            <a:ahLst/>
            <a:cxnLst/>
            <a:rect l="l" t="t" r="r" b="b"/>
            <a:pathLst>
              <a:path w="7531100" h="7366000">
                <a:moveTo>
                  <a:pt x="101577" y="0"/>
                </a:moveTo>
                <a:lnTo>
                  <a:pt x="7429523" y="0"/>
                </a:lnTo>
                <a:cubicBezTo>
                  <a:pt x="7485622" y="0"/>
                  <a:pt x="7531100" y="45478"/>
                  <a:pt x="7531100" y="101577"/>
                </a:cubicBezTo>
                <a:lnTo>
                  <a:pt x="7531100" y="7264423"/>
                </a:lnTo>
                <a:cubicBezTo>
                  <a:pt x="7531100" y="7320522"/>
                  <a:pt x="7485622" y="7366000"/>
                  <a:pt x="7429523" y="7366000"/>
                </a:cubicBezTo>
                <a:lnTo>
                  <a:pt x="101577" y="7366000"/>
                </a:lnTo>
                <a:cubicBezTo>
                  <a:pt x="45478" y="7366000"/>
                  <a:pt x="0" y="7320522"/>
                  <a:pt x="0" y="7264423"/>
                </a:cubicBezTo>
                <a:lnTo>
                  <a:pt x="0" y="101577"/>
                </a:lnTo>
                <a:cubicBezTo>
                  <a:pt x="0" y="45515"/>
                  <a:pt x="45515" y="0"/>
                  <a:pt x="10157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Generación de Secuencias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6591300"/>
          </a:xfrm>
          <a:custGeom>
            <a:avLst/>
            <a:gdLst/>
            <a:ahLst/>
            <a:cxnLst/>
            <a:rect l="l" t="t" r="r" b="b"/>
            <a:pathLst>
              <a:path w="7213600" h="6591300">
                <a:moveTo>
                  <a:pt x="101572" y="0"/>
                </a:moveTo>
                <a:lnTo>
                  <a:pt x="7112028" y="0"/>
                </a:lnTo>
                <a:cubicBezTo>
                  <a:pt x="7168125" y="0"/>
                  <a:pt x="7213600" y="45475"/>
                  <a:pt x="7213600" y="101572"/>
                </a:cubicBezTo>
                <a:lnTo>
                  <a:pt x="7213600" y="6489728"/>
                </a:lnTo>
                <a:cubicBezTo>
                  <a:pt x="7213600" y="6545825"/>
                  <a:pt x="7168125" y="6591300"/>
                  <a:pt x="7112028" y="6591300"/>
                </a:cubicBezTo>
                <a:lnTo>
                  <a:pt x="101572" y="6591300"/>
                </a:lnTo>
                <a:cubicBezTo>
                  <a:pt x="45475" y="6591300"/>
                  <a:pt x="0" y="6545825"/>
                  <a:pt x="0" y="6489728"/>
                </a:cubicBezTo>
                <a:lnTo>
                  <a:pt x="0" y="101572"/>
                </a:lnTo>
                <a:cubicBezTo>
                  <a:pt x="0" y="45513"/>
                  <a:pt x="45513" y="0"/>
                  <a:pt x="101572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5500" y="2328335"/>
            <a:ext cx="6870502" cy="6255808"/>
          </a:xfrm>
          <a:custGeom>
            <a:avLst/>
            <a:gdLst/>
            <a:ahLst/>
            <a:cxnLst/>
            <a:rect l="l" t="t" r="r" b="b"/>
            <a:pathLst>
              <a:path w="6870502" h="6255808">
                <a:moveTo>
                  <a:pt x="50797" y="0"/>
                </a:moveTo>
                <a:lnTo>
                  <a:pt x="6819704" y="0"/>
                </a:lnTo>
                <a:cubicBezTo>
                  <a:pt x="6847759" y="0"/>
                  <a:pt x="6870502" y="22743"/>
                  <a:pt x="6870502" y="50797"/>
                </a:cubicBezTo>
                <a:lnTo>
                  <a:pt x="6870502" y="6205011"/>
                </a:lnTo>
                <a:cubicBezTo>
                  <a:pt x="6870502" y="6233066"/>
                  <a:pt x="6847759" y="6255808"/>
                  <a:pt x="6819704" y="6255808"/>
                </a:cubicBezTo>
                <a:lnTo>
                  <a:pt x="50797" y="6255808"/>
                </a:lnTo>
                <a:cubicBezTo>
                  <a:pt x="22743" y="6255808"/>
                  <a:pt x="0" y="6233066"/>
                  <a:pt x="0" y="6205011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5500" y="2328335"/>
            <a:ext cx="6948226" cy="6255808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create_sequences(df, window_size=10): """Create sliding window sequences""" sequences = [] labels = [] for game_id in df['game_id'].unique(): game_df = df[df['game_id'] == game_id].sort_values('move_number') for i in range(len(game_df) - window_size + 1): seq = game_df.iloc[i:i+window_size] # Features for each move seq_features = seq[feature_cols].values # Label is the last move's label label = seq['label'].iloc[-1] sequences.append(seq_features) labels.append(label) return np.array(sequences), np.array(labels) # Create sequences X_seq, y_seq = create_sequences(df, window_size=10) print(f"Sequences: {X_seq.shape}") # (283048, 10, 25)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10550" y="1530350"/>
            <a:ext cx="7531100" cy="7366000"/>
          </a:xfrm>
          <a:custGeom>
            <a:avLst/>
            <a:gdLst/>
            <a:ahLst/>
            <a:cxnLst/>
            <a:rect l="l" t="t" r="r" b="b"/>
            <a:pathLst>
              <a:path w="7531100" h="7366000">
                <a:moveTo>
                  <a:pt x="101577" y="0"/>
                </a:moveTo>
                <a:lnTo>
                  <a:pt x="7429523" y="0"/>
                </a:lnTo>
                <a:cubicBezTo>
                  <a:pt x="7485622" y="0"/>
                  <a:pt x="7531100" y="45478"/>
                  <a:pt x="7531100" y="101577"/>
                </a:cubicBezTo>
                <a:lnTo>
                  <a:pt x="7531100" y="7264423"/>
                </a:lnTo>
                <a:cubicBezTo>
                  <a:pt x="7531100" y="7320522"/>
                  <a:pt x="7485622" y="7366000"/>
                  <a:pt x="7429523" y="7366000"/>
                </a:cubicBezTo>
                <a:lnTo>
                  <a:pt x="101577" y="7366000"/>
                </a:lnTo>
                <a:cubicBezTo>
                  <a:pt x="45478" y="7366000"/>
                  <a:pt x="0" y="7320522"/>
                  <a:pt x="0" y="7264423"/>
                </a:cubicBezTo>
                <a:lnTo>
                  <a:pt x="0" y="101577"/>
                </a:lnTo>
                <a:cubicBezTo>
                  <a:pt x="0" y="45515"/>
                  <a:pt x="45515" y="0"/>
                  <a:pt x="10157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Features Temporales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69300" y="2146300"/>
            <a:ext cx="7213600" cy="6083300"/>
          </a:xfrm>
          <a:custGeom>
            <a:avLst/>
            <a:gdLst/>
            <a:ahLst/>
            <a:cxnLst/>
            <a:rect l="l" t="t" r="r" b="b"/>
            <a:pathLst>
              <a:path w="7213600" h="6083300">
                <a:moveTo>
                  <a:pt x="101591" y="0"/>
                </a:moveTo>
                <a:lnTo>
                  <a:pt x="7112009" y="0"/>
                </a:lnTo>
                <a:cubicBezTo>
                  <a:pt x="7168116" y="0"/>
                  <a:pt x="7213600" y="45484"/>
                  <a:pt x="7213600" y="101591"/>
                </a:cubicBezTo>
                <a:lnTo>
                  <a:pt x="7213600" y="5981709"/>
                </a:lnTo>
                <a:cubicBezTo>
                  <a:pt x="7213600" y="6037816"/>
                  <a:pt x="7168116" y="6083300"/>
                  <a:pt x="7112009" y="6083300"/>
                </a:cubicBezTo>
                <a:lnTo>
                  <a:pt x="101591" y="6083300"/>
                </a:lnTo>
                <a:cubicBezTo>
                  <a:pt x="45484" y="6083300"/>
                  <a:pt x="0" y="6037816"/>
                  <a:pt x="0" y="59817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21700" y="2328335"/>
            <a:ext cx="9599811" cy="5752836"/>
          </a:xfrm>
          <a:custGeom>
            <a:avLst/>
            <a:gdLst/>
            <a:ahLst/>
            <a:cxnLst/>
            <a:rect l="l" t="t" r="r" b="b"/>
            <a:pathLst>
              <a:path w="9599811" h="5752836">
                <a:moveTo>
                  <a:pt x="50798" y="0"/>
                </a:moveTo>
                <a:lnTo>
                  <a:pt x="9549013" y="0"/>
                </a:lnTo>
                <a:cubicBezTo>
                  <a:pt x="9577068" y="0"/>
                  <a:pt x="9599811" y="22743"/>
                  <a:pt x="9599811" y="50798"/>
                </a:cubicBezTo>
                <a:lnTo>
                  <a:pt x="9599811" y="5702038"/>
                </a:lnTo>
                <a:cubicBezTo>
                  <a:pt x="9599811" y="5730093"/>
                  <a:pt x="9577068" y="5752836"/>
                  <a:pt x="9549013" y="5752836"/>
                </a:cubicBezTo>
                <a:lnTo>
                  <a:pt x="50798" y="5752836"/>
                </a:lnTo>
                <a:cubicBezTo>
                  <a:pt x="22743" y="5752836"/>
                  <a:pt x="0" y="5730093"/>
                  <a:pt x="0" y="5702038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521700" y="2328335"/>
            <a:ext cx="9677535" cy="5752836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add_temporal_features(df): """Add temporal features to dataframe""" # Lag features df['score_diff_lag1'] = df.groupby('game_id')['score_diff'].shift(1) df['score_diff_lag2'] = df.groupby('game_id')['score_diff'].shift(2) # Rolling statistics df['errors_last_3'] = df.groupby('game_id')['is_error'].rolling(3).sum().reset_index(0, drop=True) df['errors_last_5'] = df.groupby('game_id')['is_error'].rolling(5).sum().reset_index(0, drop=True) # Acceleration (second derivative) df['score_acceleration'] = df.groupby('game_id')['score_diff'].diff().diff() # Consecutive errors df['consecutive_errors'] = df.groupby('game_id')['is_error'].apply( lambda x: x * (x.groupby((x != x.shift()).cumsum()).cumcount() + 1) ) # Time pressure df['time_pressure'] = df['time_remaining'] &lt; 60 # Less than 1 minute return df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350" y="9011314"/>
            <a:ext cx="15227300" cy="7366000"/>
          </a:xfrm>
          <a:custGeom>
            <a:avLst/>
            <a:gdLst/>
            <a:ahLst/>
            <a:cxnLst/>
            <a:rect l="l" t="t" r="r" b="b"/>
            <a:pathLst>
              <a:path w="15227300" h="7366000">
                <a:moveTo>
                  <a:pt x="101577" y="0"/>
                </a:moveTo>
                <a:lnTo>
                  <a:pt x="15125723" y="0"/>
                </a:lnTo>
                <a:cubicBezTo>
                  <a:pt x="15181822" y="0"/>
                  <a:pt x="15227300" y="45478"/>
                  <a:pt x="15227300" y="101577"/>
                </a:cubicBezTo>
                <a:lnTo>
                  <a:pt x="15227300" y="7264423"/>
                </a:lnTo>
                <a:cubicBezTo>
                  <a:pt x="15227300" y="7320522"/>
                  <a:pt x="15181822" y="7366000"/>
                  <a:pt x="15125723" y="7366000"/>
                </a:cubicBezTo>
                <a:lnTo>
                  <a:pt x="101577" y="7366000"/>
                </a:lnTo>
                <a:cubicBezTo>
                  <a:pt x="45478" y="7366000"/>
                  <a:pt x="0" y="7320522"/>
                  <a:pt x="0" y="7264423"/>
                </a:cubicBezTo>
                <a:lnTo>
                  <a:pt x="0" y="101577"/>
                </a:lnTo>
                <a:cubicBezTo>
                  <a:pt x="0" y="45515"/>
                  <a:pt x="45515" y="0"/>
                  <a:pt x="10157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100" y="9170064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LSTM Architecture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3100" y="9627264"/>
            <a:ext cx="14909800" cy="6591300"/>
          </a:xfrm>
          <a:custGeom>
            <a:avLst/>
            <a:gdLst/>
            <a:ahLst/>
            <a:cxnLst/>
            <a:rect l="l" t="t" r="r" b="b"/>
            <a:pathLst>
              <a:path w="14909800" h="6591300">
                <a:moveTo>
                  <a:pt x="101572" y="0"/>
                </a:moveTo>
                <a:lnTo>
                  <a:pt x="14808228" y="0"/>
                </a:lnTo>
                <a:cubicBezTo>
                  <a:pt x="14864325" y="0"/>
                  <a:pt x="14909800" y="45475"/>
                  <a:pt x="14909800" y="101572"/>
                </a:cubicBezTo>
                <a:lnTo>
                  <a:pt x="14909800" y="6489728"/>
                </a:lnTo>
                <a:cubicBezTo>
                  <a:pt x="14909800" y="6545825"/>
                  <a:pt x="14864325" y="6591300"/>
                  <a:pt x="14808228" y="6591300"/>
                </a:cubicBezTo>
                <a:lnTo>
                  <a:pt x="101572" y="6591300"/>
                </a:lnTo>
                <a:cubicBezTo>
                  <a:pt x="45475" y="6591300"/>
                  <a:pt x="0" y="6545825"/>
                  <a:pt x="0" y="6489728"/>
                </a:cubicBezTo>
                <a:lnTo>
                  <a:pt x="0" y="101572"/>
                </a:lnTo>
                <a:cubicBezTo>
                  <a:pt x="0" y="45513"/>
                  <a:pt x="45513" y="0"/>
                  <a:pt x="101572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5500" y="9809299"/>
            <a:ext cx="9205450" cy="6255808"/>
          </a:xfrm>
          <a:custGeom>
            <a:avLst/>
            <a:gdLst/>
            <a:ahLst/>
            <a:cxnLst/>
            <a:rect l="l" t="t" r="r" b="b"/>
            <a:pathLst>
              <a:path w="9205450" h="6255808">
                <a:moveTo>
                  <a:pt x="50797" y="0"/>
                </a:moveTo>
                <a:lnTo>
                  <a:pt x="9154653" y="0"/>
                </a:lnTo>
                <a:cubicBezTo>
                  <a:pt x="9182707" y="0"/>
                  <a:pt x="9205450" y="22743"/>
                  <a:pt x="9205450" y="50797"/>
                </a:cubicBezTo>
                <a:lnTo>
                  <a:pt x="9205450" y="6205011"/>
                </a:lnTo>
                <a:cubicBezTo>
                  <a:pt x="9205450" y="6233066"/>
                  <a:pt x="9182707" y="6255808"/>
                  <a:pt x="9154653" y="6255808"/>
                </a:cubicBezTo>
                <a:lnTo>
                  <a:pt x="50797" y="6255808"/>
                </a:lnTo>
                <a:cubicBezTo>
                  <a:pt x="22743" y="6255808"/>
                  <a:pt x="0" y="6233066"/>
                  <a:pt x="0" y="6205011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5500" y="9809299"/>
            <a:ext cx="9283174" cy="6255808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build_lstm(sequence_length, n_features, num_classes): model = keras.Sequential([ layers.Input(shape=(sequence_length, n_features)), # LSTM layers layers.LSTM(64, return_sequences=True, dropout=0.2), layers.LSTM(32, dropout=0.2), # Dense layers layers.Dense(50, activation='relu'), layers.Dropout(0.3), layers.Dense(num_classes, activation='softmax') ]) model.compile( optimizer=keras.optimizers.Adam(learning_rate=0.001), loss='sparse_categorical_crossentropy', metrics=['accuracy'] ) return model # Build and train lstm_model = build_lstm(sequence_length=10, n_features=25, num_classes=4) lstm_model.fit(X_seq, y_seq, epochs=50, batch_size=64, validation_split=0.2, callbacks=callbacks)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4350" y="16492277"/>
            <a:ext cx="4965700" cy="977900"/>
          </a:xfrm>
          <a:custGeom>
            <a:avLst/>
            <a:gdLst/>
            <a:ahLst/>
            <a:cxnLst/>
            <a:rect l="l" t="t" r="r" b="b"/>
            <a:pathLst>
              <a:path w="4965700" h="977900">
                <a:moveTo>
                  <a:pt x="101604" y="0"/>
                </a:moveTo>
                <a:lnTo>
                  <a:pt x="4864096" y="0"/>
                </a:lnTo>
                <a:cubicBezTo>
                  <a:pt x="4920210" y="0"/>
                  <a:pt x="4965700" y="45490"/>
                  <a:pt x="4965700" y="101604"/>
                </a:cubicBezTo>
                <a:lnTo>
                  <a:pt x="4965700" y="876296"/>
                </a:lnTo>
                <a:cubicBezTo>
                  <a:pt x="4965700" y="932410"/>
                  <a:pt x="4920210" y="977900"/>
                  <a:pt x="4864096" y="977900"/>
                </a:cubicBezTo>
                <a:lnTo>
                  <a:pt x="101604" y="977900"/>
                </a:lnTo>
                <a:cubicBezTo>
                  <a:pt x="45490" y="977900"/>
                  <a:pt x="0" y="932410"/>
                  <a:pt x="0" y="8762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6900" y="16651027"/>
            <a:ext cx="480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F1=0.9988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8650" y="17057427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RF Temporal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45150" y="16492277"/>
            <a:ext cx="4965700" cy="977900"/>
          </a:xfrm>
          <a:custGeom>
            <a:avLst/>
            <a:gdLst/>
            <a:ahLst/>
            <a:cxnLst/>
            <a:rect l="l" t="t" r="r" b="b"/>
            <a:pathLst>
              <a:path w="4965700" h="977900">
                <a:moveTo>
                  <a:pt x="101604" y="0"/>
                </a:moveTo>
                <a:lnTo>
                  <a:pt x="4864096" y="0"/>
                </a:lnTo>
                <a:cubicBezTo>
                  <a:pt x="4920210" y="0"/>
                  <a:pt x="4965700" y="45490"/>
                  <a:pt x="4965700" y="101604"/>
                </a:cubicBezTo>
                <a:lnTo>
                  <a:pt x="4965700" y="876296"/>
                </a:lnTo>
                <a:cubicBezTo>
                  <a:pt x="4965700" y="932410"/>
                  <a:pt x="4920210" y="977900"/>
                  <a:pt x="4864096" y="977900"/>
                </a:cubicBezTo>
                <a:lnTo>
                  <a:pt x="101604" y="977900"/>
                </a:lnTo>
                <a:cubicBezTo>
                  <a:pt x="45490" y="977900"/>
                  <a:pt x="0" y="932410"/>
                  <a:pt x="0" y="8762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27700" y="16651027"/>
            <a:ext cx="480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283K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59450" y="17057427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Secuencias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75950" y="16492277"/>
            <a:ext cx="4965700" cy="977900"/>
          </a:xfrm>
          <a:custGeom>
            <a:avLst/>
            <a:gdLst/>
            <a:ahLst/>
            <a:cxnLst/>
            <a:rect l="l" t="t" r="r" b="b"/>
            <a:pathLst>
              <a:path w="4965700" h="977900">
                <a:moveTo>
                  <a:pt x="101604" y="0"/>
                </a:moveTo>
                <a:lnTo>
                  <a:pt x="4864096" y="0"/>
                </a:lnTo>
                <a:cubicBezTo>
                  <a:pt x="4920210" y="0"/>
                  <a:pt x="4965700" y="45490"/>
                  <a:pt x="4965700" y="101604"/>
                </a:cubicBezTo>
                <a:lnTo>
                  <a:pt x="4965700" y="876296"/>
                </a:lnTo>
                <a:cubicBezTo>
                  <a:pt x="4965700" y="932410"/>
                  <a:pt x="4920210" y="977900"/>
                  <a:pt x="4864096" y="977900"/>
                </a:cubicBezTo>
                <a:lnTo>
                  <a:pt x="101604" y="977900"/>
                </a:lnTo>
                <a:cubicBezTo>
                  <a:pt x="45490" y="977900"/>
                  <a:pt x="0" y="932410"/>
                  <a:pt x="0" y="8762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58500" y="16651027"/>
            <a:ext cx="480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25×10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890250" y="17057427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Features×Seq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5"/>
            <a:ext cx="2573536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4 - Clustering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K-Means Clustering de Jugadores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8115300"/>
          </a:xfrm>
          <a:custGeom>
            <a:avLst/>
            <a:gdLst/>
            <a:ahLst/>
            <a:cxnLst/>
            <a:rect l="l" t="t" r="r" b="b"/>
            <a:pathLst>
              <a:path w="7531100" h="8115300">
                <a:moveTo>
                  <a:pt x="101595" y="0"/>
                </a:moveTo>
                <a:lnTo>
                  <a:pt x="7429505" y="0"/>
                </a:lnTo>
                <a:cubicBezTo>
                  <a:pt x="7485615" y="0"/>
                  <a:pt x="7531100" y="45485"/>
                  <a:pt x="7531100" y="101595"/>
                </a:cubicBezTo>
                <a:lnTo>
                  <a:pt x="7531100" y="8013705"/>
                </a:lnTo>
                <a:cubicBezTo>
                  <a:pt x="7531100" y="8069815"/>
                  <a:pt x="7485615" y="8115300"/>
                  <a:pt x="7429505" y="8115300"/>
                </a:cubicBezTo>
                <a:lnTo>
                  <a:pt x="101595" y="8115300"/>
                </a:lnTo>
                <a:cubicBezTo>
                  <a:pt x="45485" y="8115300"/>
                  <a:pt x="0" y="8069815"/>
                  <a:pt x="0" y="80137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Preprocesamiento y PCA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6845300"/>
          </a:xfrm>
          <a:custGeom>
            <a:avLst/>
            <a:gdLst/>
            <a:ahLst/>
            <a:cxnLst/>
            <a:rect l="l" t="t" r="r" b="b"/>
            <a:pathLst>
              <a:path w="7213600" h="6845300">
                <a:moveTo>
                  <a:pt x="101584" y="0"/>
                </a:moveTo>
                <a:lnTo>
                  <a:pt x="7112016" y="0"/>
                </a:lnTo>
                <a:cubicBezTo>
                  <a:pt x="7168119" y="0"/>
                  <a:pt x="7213600" y="45481"/>
                  <a:pt x="7213600" y="101584"/>
                </a:cubicBezTo>
                <a:lnTo>
                  <a:pt x="7213600" y="6743716"/>
                </a:lnTo>
                <a:cubicBezTo>
                  <a:pt x="7213600" y="6799819"/>
                  <a:pt x="7168119" y="6845300"/>
                  <a:pt x="7112016" y="6845300"/>
                </a:cubicBezTo>
                <a:lnTo>
                  <a:pt x="101584" y="6845300"/>
                </a:lnTo>
                <a:cubicBezTo>
                  <a:pt x="45481" y="6845300"/>
                  <a:pt x="0" y="6799819"/>
                  <a:pt x="0" y="6743716"/>
                </a:cubicBezTo>
                <a:lnTo>
                  <a:pt x="0" y="101584"/>
                </a:lnTo>
                <a:cubicBezTo>
                  <a:pt x="0" y="45481"/>
                  <a:pt x="45481" y="0"/>
                  <a:pt x="101584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5500" y="2328335"/>
            <a:ext cx="6964628" cy="6507295"/>
          </a:xfrm>
          <a:custGeom>
            <a:avLst/>
            <a:gdLst/>
            <a:ahLst/>
            <a:cxnLst/>
            <a:rect l="l" t="t" r="r" b="b"/>
            <a:pathLst>
              <a:path w="6964628" h="6507295">
                <a:moveTo>
                  <a:pt x="50822" y="0"/>
                </a:moveTo>
                <a:lnTo>
                  <a:pt x="6913806" y="0"/>
                </a:lnTo>
                <a:cubicBezTo>
                  <a:pt x="6941874" y="0"/>
                  <a:pt x="6964628" y="22754"/>
                  <a:pt x="6964628" y="50822"/>
                </a:cubicBezTo>
                <a:lnTo>
                  <a:pt x="6964628" y="6456473"/>
                </a:lnTo>
                <a:cubicBezTo>
                  <a:pt x="6964628" y="6484541"/>
                  <a:pt x="6941874" y="6507295"/>
                  <a:pt x="6913806" y="6507295"/>
                </a:cubicBezTo>
                <a:lnTo>
                  <a:pt x="50822" y="6507295"/>
                </a:lnTo>
                <a:cubicBezTo>
                  <a:pt x="22754" y="6507295"/>
                  <a:pt x="0" y="6484541"/>
                  <a:pt x="0" y="6456473"/>
                </a:cubicBezTo>
                <a:lnTo>
                  <a:pt x="0" y="50822"/>
                </a:lnTo>
                <a:cubicBezTo>
                  <a:pt x="0" y="22773"/>
                  <a:pt x="22773" y="0"/>
                  <a:pt x="5082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5500" y="2328335"/>
            <a:ext cx="7042352" cy="6507295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sklearn.preprocessing import StandardScaler from sklearn.decomposition import PCA from sklearn.cluster import KMeans from sklearn.metrics import silhouette_score # Aggregate player features player_features = df.groupby('player_id').agg({ 'standardized_elo': 'first', 'blunder_rate': 'mean', 'mistake_rate': 'mean', 'inaccuracy_rate': 'mean', 'avg_complexity': 'mean', 'avg_time': 'mean', 'score_volatility': 'std' }).reset_index() # Standardize (CRITICAL for K-Means) scaler = StandardScaler() X_scaled = scaler.fit_transform(player_features.drop('player_id', axis=1)) # PCA for dimensionality reduction pca = PCA(n_components=4) X_pca = pca.fit_transform(X_scaled) print(f"Explained variance: {pca.explained_variance_ratio_.sum():.1%}") # Output: Explained variance: 72.3%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10550" y="1530350"/>
            <a:ext cx="7531100" cy="8115300"/>
          </a:xfrm>
          <a:custGeom>
            <a:avLst/>
            <a:gdLst/>
            <a:ahLst/>
            <a:cxnLst/>
            <a:rect l="l" t="t" r="r" b="b"/>
            <a:pathLst>
              <a:path w="7531100" h="8115300">
                <a:moveTo>
                  <a:pt x="101595" y="0"/>
                </a:moveTo>
                <a:lnTo>
                  <a:pt x="7429505" y="0"/>
                </a:lnTo>
                <a:cubicBezTo>
                  <a:pt x="7485615" y="0"/>
                  <a:pt x="7531100" y="45485"/>
                  <a:pt x="7531100" y="101595"/>
                </a:cubicBezTo>
                <a:lnTo>
                  <a:pt x="7531100" y="8013705"/>
                </a:lnTo>
                <a:cubicBezTo>
                  <a:pt x="7531100" y="8069815"/>
                  <a:pt x="7485615" y="8115300"/>
                  <a:pt x="7429505" y="8115300"/>
                </a:cubicBezTo>
                <a:lnTo>
                  <a:pt x="101595" y="8115300"/>
                </a:lnTo>
                <a:cubicBezTo>
                  <a:pt x="45485" y="8115300"/>
                  <a:pt x="0" y="8069815"/>
                  <a:pt x="0" y="80137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Selección de K y Clustering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69300" y="2146300"/>
            <a:ext cx="7213600" cy="7340600"/>
          </a:xfrm>
          <a:custGeom>
            <a:avLst/>
            <a:gdLst/>
            <a:ahLst/>
            <a:cxnLst/>
            <a:rect l="l" t="t" r="r" b="b"/>
            <a:pathLst>
              <a:path w="7213600" h="7340600">
                <a:moveTo>
                  <a:pt x="101567" y="0"/>
                </a:moveTo>
                <a:lnTo>
                  <a:pt x="7112033" y="0"/>
                </a:lnTo>
                <a:cubicBezTo>
                  <a:pt x="7168127" y="0"/>
                  <a:pt x="7213600" y="45473"/>
                  <a:pt x="7213600" y="101567"/>
                </a:cubicBezTo>
                <a:lnTo>
                  <a:pt x="7213600" y="7239033"/>
                </a:lnTo>
                <a:cubicBezTo>
                  <a:pt x="7213600" y="7295127"/>
                  <a:pt x="7168127" y="7340600"/>
                  <a:pt x="7112033" y="7340600"/>
                </a:cubicBezTo>
                <a:lnTo>
                  <a:pt x="101567" y="7340600"/>
                </a:lnTo>
                <a:cubicBezTo>
                  <a:pt x="45473" y="7340600"/>
                  <a:pt x="0" y="7295127"/>
                  <a:pt x="0" y="7239033"/>
                </a:cubicBezTo>
                <a:lnTo>
                  <a:pt x="0" y="101567"/>
                </a:lnTo>
                <a:cubicBezTo>
                  <a:pt x="0" y="45511"/>
                  <a:pt x="45511" y="0"/>
                  <a:pt x="101567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21700" y="2328335"/>
            <a:ext cx="5929313" cy="7010268"/>
          </a:xfrm>
          <a:custGeom>
            <a:avLst/>
            <a:gdLst/>
            <a:ahLst/>
            <a:cxnLst/>
            <a:rect l="l" t="t" r="r" b="b"/>
            <a:pathLst>
              <a:path w="5929313" h="7010268">
                <a:moveTo>
                  <a:pt x="50814" y="0"/>
                </a:moveTo>
                <a:lnTo>
                  <a:pt x="5878498" y="0"/>
                </a:lnTo>
                <a:cubicBezTo>
                  <a:pt x="5906562" y="0"/>
                  <a:pt x="5929313" y="22750"/>
                  <a:pt x="5929313" y="50814"/>
                </a:cubicBezTo>
                <a:lnTo>
                  <a:pt x="5929313" y="6959454"/>
                </a:lnTo>
                <a:cubicBezTo>
                  <a:pt x="5929313" y="6987518"/>
                  <a:pt x="5906562" y="7010268"/>
                  <a:pt x="5878498" y="7010268"/>
                </a:cubicBezTo>
                <a:lnTo>
                  <a:pt x="50814" y="7010268"/>
                </a:lnTo>
                <a:cubicBezTo>
                  <a:pt x="22750" y="7010268"/>
                  <a:pt x="0" y="6987518"/>
                  <a:pt x="0" y="6959454"/>
                </a:cubicBezTo>
                <a:lnTo>
                  <a:pt x="0" y="50814"/>
                </a:lnTo>
                <a:cubicBezTo>
                  <a:pt x="0" y="22769"/>
                  <a:pt x="22769" y="0"/>
                  <a:pt x="50814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521700" y="2328335"/>
            <a:ext cx="6007037" cy="7010268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Elbow method inertias = [] silhouettes = [] K_range = range(2, 11) for k in K_range: kmeans = KMeans(n_clusters=k, random_state=42, n_init=10) kmeans.fit(X_pca) inertias.append(kmeans.inertia_) silhouettes.append(silhouette_score(X_pca, kmeans.labels_)) # Plot elbow curve plt.figure(figsize=(10, 4)) plt.subplot(1, 2, 1) plt.plot(K_range, inertias, 'bo-') plt.xlabel('K') plt.ylabel('Inertia') plt.title('Elbow Method') plt.subplot(1, 2, 2) plt.plot(K_range, silhouettes, 'ro-') plt.xlabel('K') plt.ylabel('Silhouette Score') plt.title('Silhouette Analysis') # K=2 optimal kmeans = KMeans(n_clusters=2, random_state=42, n_init=10) clusters = kmeans.fit_predict(X_pca)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350" y="9765773"/>
            <a:ext cx="15227300" cy="6858000"/>
          </a:xfrm>
          <a:custGeom>
            <a:avLst/>
            <a:gdLst/>
            <a:ahLst/>
            <a:cxnLst/>
            <a:rect l="l" t="t" r="r" b="b"/>
            <a:pathLst>
              <a:path w="15227300" h="6858000">
                <a:moveTo>
                  <a:pt x="101567" y="0"/>
                </a:moveTo>
                <a:lnTo>
                  <a:pt x="15125733" y="0"/>
                </a:lnTo>
                <a:cubicBezTo>
                  <a:pt x="15181827" y="0"/>
                  <a:pt x="15227300" y="45473"/>
                  <a:pt x="15227300" y="101567"/>
                </a:cubicBezTo>
                <a:lnTo>
                  <a:pt x="15227300" y="6756433"/>
                </a:lnTo>
                <a:cubicBezTo>
                  <a:pt x="15227300" y="6812527"/>
                  <a:pt x="15181827" y="6858000"/>
                  <a:pt x="15125733" y="6858000"/>
                </a:cubicBezTo>
                <a:lnTo>
                  <a:pt x="101567" y="6858000"/>
                </a:lnTo>
                <a:cubicBezTo>
                  <a:pt x="45473" y="6858000"/>
                  <a:pt x="0" y="6812527"/>
                  <a:pt x="0" y="6756433"/>
                </a:cubicBezTo>
                <a:lnTo>
                  <a:pt x="0" y="101567"/>
                </a:lnTo>
                <a:cubicBezTo>
                  <a:pt x="0" y="45473"/>
                  <a:pt x="45473" y="0"/>
                  <a:pt x="10156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100" y="9924523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Interpretación de Clusters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3100" y="10381723"/>
            <a:ext cx="14909800" cy="6083300"/>
          </a:xfrm>
          <a:custGeom>
            <a:avLst/>
            <a:gdLst/>
            <a:ahLst/>
            <a:cxnLst/>
            <a:rect l="l" t="t" r="r" b="b"/>
            <a:pathLst>
              <a:path w="14909800" h="6083300">
                <a:moveTo>
                  <a:pt x="101591" y="0"/>
                </a:moveTo>
                <a:lnTo>
                  <a:pt x="14808209" y="0"/>
                </a:lnTo>
                <a:cubicBezTo>
                  <a:pt x="14864316" y="0"/>
                  <a:pt x="14909800" y="45484"/>
                  <a:pt x="14909800" y="101591"/>
                </a:cubicBezTo>
                <a:lnTo>
                  <a:pt x="14909800" y="5981709"/>
                </a:lnTo>
                <a:cubicBezTo>
                  <a:pt x="14909800" y="6037816"/>
                  <a:pt x="14864316" y="6083300"/>
                  <a:pt x="14808209" y="6083300"/>
                </a:cubicBezTo>
                <a:lnTo>
                  <a:pt x="101591" y="6083300"/>
                </a:lnTo>
                <a:cubicBezTo>
                  <a:pt x="45484" y="6083300"/>
                  <a:pt x="0" y="6037816"/>
                  <a:pt x="0" y="59817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5500" y="10563758"/>
            <a:ext cx="9882188" cy="5752836"/>
          </a:xfrm>
          <a:custGeom>
            <a:avLst/>
            <a:gdLst/>
            <a:ahLst/>
            <a:cxnLst/>
            <a:rect l="l" t="t" r="r" b="b"/>
            <a:pathLst>
              <a:path w="9882188" h="5752836">
                <a:moveTo>
                  <a:pt x="50798" y="0"/>
                </a:moveTo>
                <a:lnTo>
                  <a:pt x="9831390" y="0"/>
                </a:lnTo>
                <a:cubicBezTo>
                  <a:pt x="9859445" y="0"/>
                  <a:pt x="9882188" y="22743"/>
                  <a:pt x="9882188" y="50798"/>
                </a:cubicBezTo>
                <a:lnTo>
                  <a:pt x="9882188" y="5702038"/>
                </a:lnTo>
                <a:cubicBezTo>
                  <a:pt x="9882188" y="5730093"/>
                  <a:pt x="9859445" y="5752836"/>
                  <a:pt x="9831390" y="5752836"/>
                </a:cubicBezTo>
                <a:lnTo>
                  <a:pt x="50798" y="5752836"/>
                </a:lnTo>
                <a:cubicBezTo>
                  <a:pt x="22743" y="5752836"/>
                  <a:pt x="0" y="5730093"/>
                  <a:pt x="0" y="5702038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5500" y="10563758"/>
            <a:ext cx="9959912" cy="5752836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Analyze clusters player_features['cluster'] = clusters cluster_analysis = player_features.groupby('cluster').agg({ 'blunder_rate': ['mean', 'std'], 'mistake_rate': ['mean', 'std'], 'good_rate': ['mean', 'std'], 'score_volatility': ['mean', 'std'], 'avg_complexity': ['mean', 'std'] }).round(3) print(cluster_analysis) # Assign labels based on characteristics if cluster_analysis.loc[0, ('blunder_rate', 'mean')] &lt; cluster_analysis.loc[1, ('blunder_rate', 'mean')]: cluster_names = {0: 'Safe &amp; Solid', 1: 'Aggressive &amp; Volatile'} else: cluster_names = {0: 'Aggressive &amp; Volatile', 1: 'Safe &amp; Solid'} player_features['cluster_name'] = player_features['cluster'].map(cluster_names) print(f"\nCluster distribution:") print(player_features['cluster_name'].value_counts(normalize=True).round(3))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4350" y="16743759"/>
            <a:ext cx="7531100" cy="876300"/>
          </a:xfrm>
          <a:custGeom>
            <a:avLst/>
            <a:gdLst/>
            <a:ahLst/>
            <a:cxnLst/>
            <a:rect l="l" t="t" r="r" b="b"/>
            <a:pathLst>
              <a:path w="7531100" h="876300">
                <a:moveTo>
                  <a:pt x="101598" y="0"/>
                </a:moveTo>
                <a:lnTo>
                  <a:pt x="7429502" y="0"/>
                </a:lnTo>
                <a:cubicBezTo>
                  <a:pt x="7485613" y="0"/>
                  <a:pt x="7531100" y="45487"/>
                  <a:pt x="7531100" y="101598"/>
                </a:cubicBezTo>
                <a:lnTo>
                  <a:pt x="7531100" y="774702"/>
                </a:lnTo>
                <a:cubicBezTo>
                  <a:pt x="7531100" y="830813"/>
                  <a:pt x="7485613" y="876300"/>
                  <a:pt x="7429502" y="876300"/>
                </a:cubicBezTo>
                <a:lnTo>
                  <a:pt x="101598" y="876300"/>
                </a:lnTo>
                <a:cubicBezTo>
                  <a:pt x="45487" y="876300"/>
                  <a:pt x="0" y="830813"/>
                  <a:pt x="0" y="7747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1200" y="1702950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1206500" y="16902509"/>
            <a:ext cx="471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 0: Safe &amp; Solid (42.7%)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06500" y="17207309"/>
            <a:ext cx="469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Blunder rate: 5.0% • Good rate: 75.5% • Volatility: 31.4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10550" y="16743759"/>
            <a:ext cx="7531100" cy="876300"/>
          </a:xfrm>
          <a:custGeom>
            <a:avLst/>
            <a:gdLst/>
            <a:ahLst/>
            <a:cxnLst/>
            <a:rect l="l" t="t" r="r" b="b"/>
            <a:pathLst>
              <a:path w="7531100" h="876300">
                <a:moveTo>
                  <a:pt x="101598" y="0"/>
                </a:moveTo>
                <a:lnTo>
                  <a:pt x="7429502" y="0"/>
                </a:lnTo>
                <a:cubicBezTo>
                  <a:pt x="7485613" y="0"/>
                  <a:pt x="7531100" y="45487"/>
                  <a:pt x="7531100" y="101598"/>
                </a:cubicBezTo>
                <a:lnTo>
                  <a:pt x="7531100" y="774702"/>
                </a:lnTo>
                <a:cubicBezTo>
                  <a:pt x="7531100" y="830813"/>
                  <a:pt x="7485613" y="876300"/>
                  <a:pt x="7429502" y="876300"/>
                </a:cubicBezTo>
                <a:lnTo>
                  <a:pt x="101598" y="876300"/>
                </a:lnTo>
                <a:cubicBezTo>
                  <a:pt x="45487" y="876300"/>
                  <a:pt x="0" y="830813"/>
                  <a:pt x="0" y="7747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26450" y="17029509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8902700" y="16902509"/>
            <a:ext cx="478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 1: Aggressive &amp; Volatile (57.3%)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02700" y="17207309"/>
            <a:ext cx="477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Blunder rate: 14.3% • Good rate: 65.3% • Volatility: 81.5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5"/>
            <a:ext cx="218320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5 - Perfect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Ensemble Multi-Componente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10629900"/>
          </a:xfrm>
          <a:custGeom>
            <a:avLst/>
            <a:gdLst/>
            <a:ahLst/>
            <a:cxnLst/>
            <a:rect l="l" t="t" r="r" b="b"/>
            <a:pathLst>
              <a:path w="7531100" h="10629900">
                <a:moveTo>
                  <a:pt x="101595" y="0"/>
                </a:moveTo>
                <a:lnTo>
                  <a:pt x="7429505" y="0"/>
                </a:lnTo>
                <a:cubicBezTo>
                  <a:pt x="7485615" y="0"/>
                  <a:pt x="7531100" y="45485"/>
                  <a:pt x="7531100" y="101595"/>
                </a:cubicBezTo>
                <a:lnTo>
                  <a:pt x="7531100" y="10528305"/>
                </a:lnTo>
                <a:cubicBezTo>
                  <a:pt x="7531100" y="10584415"/>
                  <a:pt x="7485615" y="10629900"/>
                  <a:pt x="7429505" y="10629900"/>
                </a:cubicBezTo>
                <a:lnTo>
                  <a:pt x="101595" y="10629900"/>
                </a:lnTo>
                <a:cubicBezTo>
                  <a:pt x="45485" y="10629900"/>
                  <a:pt x="0" y="10584415"/>
                  <a:pt x="0" y="10528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Arquitectura Ensemble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9855200"/>
          </a:xfrm>
          <a:custGeom>
            <a:avLst/>
            <a:gdLst/>
            <a:ahLst/>
            <a:cxnLst/>
            <a:rect l="l" t="t" r="r" b="b"/>
            <a:pathLst>
              <a:path w="7213600" h="9855200">
                <a:moveTo>
                  <a:pt x="101567" y="0"/>
                </a:moveTo>
                <a:lnTo>
                  <a:pt x="7112033" y="0"/>
                </a:lnTo>
                <a:cubicBezTo>
                  <a:pt x="7168127" y="0"/>
                  <a:pt x="7213600" y="45473"/>
                  <a:pt x="7213600" y="101567"/>
                </a:cubicBezTo>
                <a:lnTo>
                  <a:pt x="7213600" y="9753633"/>
                </a:lnTo>
                <a:cubicBezTo>
                  <a:pt x="7213600" y="9809727"/>
                  <a:pt x="7168127" y="9855200"/>
                  <a:pt x="7112033" y="9855200"/>
                </a:cubicBezTo>
                <a:lnTo>
                  <a:pt x="101567" y="9855200"/>
                </a:lnTo>
                <a:cubicBezTo>
                  <a:pt x="45473" y="9855200"/>
                  <a:pt x="0" y="9809727"/>
                  <a:pt x="0" y="9753633"/>
                </a:cubicBezTo>
                <a:lnTo>
                  <a:pt x="0" y="101567"/>
                </a:lnTo>
                <a:cubicBezTo>
                  <a:pt x="0" y="45511"/>
                  <a:pt x="45511" y="0"/>
                  <a:pt x="101567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5500" y="2328335"/>
            <a:ext cx="5176375" cy="9525133"/>
          </a:xfrm>
          <a:custGeom>
            <a:avLst/>
            <a:gdLst/>
            <a:ahLst/>
            <a:cxnLst/>
            <a:rect l="l" t="t" r="r" b="b"/>
            <a:pathLst>
              <a:path w="5176375" h="9525133">
                <a:moveTo>
                  <a:pt x="50780" y="0"/>
                </a:moveTo>
                <a:lnTo>
                  <a:pt x="5125595" y="0"/>
                </a:lnTo>
                <a:cubicBezTo>
                  <a:pt x="5153640" y="0"/>
                  <a:pt x="5176375" y="22735"/>
                  <a:pt x="5176375" y="50780"/>
                </a:cubicBezTo>
                <a:lnTo>
                  <a:pt x="5176375" y="9474352"/>
                </a:lnTo>
                <a:cubicBezTo>
                  <a:pt x="5176375" y="9502397"/>
                  <a:pt x="5153640" y="9525133"/>
                  <a:pt x="5125595" y="9525133"/>
                </a:cubicBezTo>
                <a:lnTo>
                  <a:pt x="50780" y="9525133"/>
                </a:lnTo>
                <a:cubicBezTo>
                  <a:pt x="22735" y="9525133"/>
                  <a:pt x="0" y="9502397"/>
                  <a:pt x="0" y="9474352"/>
                </a:cubicBezTo>
                <a:lnTo>
                  <a:pt x="0" y="50780"/>
                </a:lnTo>
                <a:cubicBezTo>
                  <a:pt x="0" y="22754"/>
                  <a:pt x="22754" y="0"/>
                  <a:pt x="5078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5500" y="2328335"/>
            <a:ext cx="5254099" cy="9525133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build_early_mlp(input_dim, num_classes): """MLP for early game (first 5 moves)""" model = keras.Sequential([ layers.Input(shape=(input_dim,)), layers.Dense(300, activation='relu'), layers.Dropout(0.3), layers.Dense(200, activation='relu'), layers.Dropout(0.3), layers.Dense(100, activation='relu'), layers.Dense(num_classes, activation='softmax') ]) return model def build_late_mlp(input_dim, num_classes): """MLP for late game (last 5 moves)""" model = keras.Sequential([ layers.Input(shape=(input_dim,)), layers.Dense(250, activation='relu'), layers.Dropout(0.3), layers.Dense(150, activation='relu'), layers.Dropout(0.3), layers.Dense(75, activation='relu'), layers.Dense(num_classes, activation='softmax') ]) return model def build_full_mlp(input_dim, num_classes): """MLP for full sequence""" model = keras.Sequential([ layers.Input(shape=(input_dim,)), layers.Dense(400, activation='relu'), layers.Dropout(0.3), layers.Dense(250, activation='relu'), layers.Dropout(0.3), layers.Dense(125, activation='relu'), layers.Dense(num_classes, activation='softmax') ]) return model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10550" y="1530350"/>
            <a:ext cx="7531100" cy="10629900"/>
          </a:xfrm>
          <a:custGeom>
            <a:avLst/>
            <a:gdLst/>
            <a:ahLst/>
            <a:cxnLst/>
            <a:rect l="l" t="t" r="r" b="b"/>
            <a:pathLst>
              <a:path w="7531100" h="10629900">
                <a:moveTo>
                  <a:pt x="101595" y="0"/>
                </a:moveTo>
                <a:lnTo>
                  <a:pt x="7429505" y="0"/>
                </a:lnTo>
                <a:cubicBezTo>
                  <a:pt x="7485615" y="0"/>
                  <a:pt x="7531100" y="45485"/>
                  <a:pt x="7531100" y="101595"/>
                </a:cubicBezTo>
                <a:lnTo>
                  <a:pt x="7531100" y="10528305"/>
                </a:lnTo>
                <a:cubicBezTo>
                  <a:pt x="7531100" y="10584415"/>
                  <a:pt x="7485615" y="10629900"/>
                  <a:pt x="7429505" y="10629900"/>
                </a:cubicBezTo>
                <a:lnTo>
                  <a:pt x="101595" y="10629900"/>
                </a:lnTo>
                <a:cubicBezTo>
                  <a:pt x="45485" y="10629900"/>
                  <a:pt x="0" y="10584415"/>
                  <a:pt x="0" y="10528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Voting Ensemble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69300" y="2146300"/>
            <a:ext cx="7213600" cy="7594600"/>
          </a:xfrm>
          <a:custGeom>
            <a:avLst/>
            <a:gdLst/>
            <a:ahLst/>
            <a:cxnLst/>
            <a:rect l="l" t="t" r="r" b="b"/>
            <a:pathLst>
              <a:path w="7213600" h="7594600">
                <a:moveTo>
                  <a:pt x="101567" y="0"/>
                </a:moveTo>
                <a:lnTo>
                  <a:pt x="7112033" y="0"/>
                </a:lnTo>
                <a:cubicBezTo>
                  <a:pt x="7168127" y="0"/>
                  <a:pt x="7213600" y="45473"/>
                  <a:pt x="7213600" y="101567"/>
                </a:cubicBezTo>
                <a:lnTo>
                  <a:pt x="7213600" y="7493033"/>
                </a:lnTo>
                <a:cubicBezTo>
                  <a:pt x="7213600" y="7549127"/>
                  <a:pt x="7168127" y="7594600"/>
                  <a:pt x="7112033" y="7594600"/>
                </a:cubicBezTo>
                <a:lnTo>
                  <a:pt x="101567" y="7594600"/>
                </a:lnTo>
                <a:cubicBezTo>
                  <a:pt x="45473" y="7594600"/>
                  <a:pt x="0" y="7549127"/>
                  <a:pt x="0" y="7493033"/>
                </a:cubicBezTo>
                <a:lnTo>
                  <a:pt x="0" y="101567"/>
                </a:lnTo>
                <a:cubicBezTo>
                  <a:pt x="0" y="45511"/>
                  <a:pt x="45511" y="0"/>
                  <a:pt x="101567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21700" y="2328335"/>
            <a:ext cx="5929313" cy="7261754"/>
          </a:xfrm>
          <a:custGeom>
            <a:avLst/>
            <a:gdLst/>
            <a:ahLst/>
            <a:cxnLst/>
            <a:rect l="l" t="t" r="r" b="b"/>
            <a:pathLst>
              <a:path w="5929313" h="7261754">
                <a:moveTo>
                  <a:pt x="50814" y="0"/>
                </a:moveTo>
                <a:lnTo>
                  <a:pt x="5878498" y="0"/>
                </a:lnTo>
                <a:cubicBezTo>
                  <a:pt x="5906562" y="0"/>
                  <a:pt x="5929313" y="22750"/>
                  <a:pt x="5929313" y="50814"/>
                </a:cubicBezTo>
                <a:lnTo>
                  <a:pt x="5929313" y="7210940"/>
                </a:lnTo>
                <a:cubicBezTo>
                  <a:pt x="5929313" y="7239004"/>
                  <a:pt x="5906562" y="7261754"/>
                  <a:pt x="5878498" y="7261754"/>
                </a:cubicBezTo>
                <a:lnTo>
                  <a:pt x="50814" y="7261754"/>
                </a:lnTo>
                <a:cubicBezTo>
                  <a:pt x="22750" y="7261754"/>
                  <a:pt x="0" y="7239004"/>
                  <a:pt x="0" y="7210940"/>
                </a:cubicBezTo>
                <a:lnTo>
                  <a:pt x="0" y="50814"/>
                </a:lnTo>
                <a:cubicBezTo>
                  <a:pt x="0" y="22769"/>
                  <a:pt x="22769" y="0"/>
                  <a:pt x="50814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521700" y="2328335"/>
            <a:ext cx="6007037" cy="7261754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sklearn.ensemble import VotingClassifier # Train individual models early_model = build_early_mlp(25*5, 4) # 5 moves late_model = build_late_mlp(25*5, 4) # 5 moves full_model = build_full_mlp(25*10, 4) # 10 moves # Soft voting ensemble class SoftVotingEnsemble: def __init__(self, models, weights=None): self.models = models self.weights = weights or [1/len(models)] * len(models) def predict_proba(self, X): probabilities = [] for model, weight in zip(self.models, self.weights): proba = model.predict(X) * weight probabilities.append(proba) return np.sum(probabilities, axis=0) def predict(self, X): proba = self.predict_proba(X) return np.argmax(proba, axis=1) # Create ensemble ensemble = SoftVotingEnsemble( [early_model, late_model, full_model], weights=[0.25, 0.25, 0.50] 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350" y="12280640"/>
            <a:ext cx="15227300" cy="9626600"/>
          </a:xfrm>
          <a:custGeom>
            <a:avLst/>
            <a:gdLst/>
            <a:ahLst/>
            <a:cxnLst/>
            <a:rect l="l" t="t" r="r" b="b"/>
            <a:pathLst>
              <a:path w="15227300" h="9626600">
                <a:moveTo>
                  <a:pt x="101561" y="0"/>
                </a:moveTo>
                <a:lnTo>
                  <a:pt x="15125739" y="0"/>
                </a:lnTo>
                <a:cubicBezTo>
                  <a:pt x="15181830" y="0"/>
                  <a:pt x="15227300" y="45470"/>
                  <a:pt x="15227300" y="101561"/>
                </a:cubicBezTo>
                <a:lnTo>
                  <a:pt x="15227300" y="9525039"/>
                </a:lnTo>
                <a:cubicBezTo>
                  <a:pt x="15227300" y="9581130"/>
                  <a:pt x="15181830" y="9626600"/>
                  <a:pt x="15125739" y="9626600"/>
                </a:cubicBezTo>
                <a:lnTo>
                  <a:pt x="101561" y="9626600"/>
                </a:lnTo>
                <a:cubicBezTo>
                  <a:pt x="45470" y="9626600"/>
                  <a:pt x="0" y="9581130"/>
                  <a:pt x="0" y="9525039"/>
                </a:cubicBezTo>
                <a:lnTo>
                  <a:pt x="0" y="101561"/>
                </a:lnTo>
                <a:cubicBezTo>
                  <a:pt x="0" y="45508"/>
                  <a:pt x="45508" y="0"/>
                  <a:pt x="10156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100" y="12439390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Error Evolution Modeling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3100" y="12896590"/>
            <a:ext cx="14909800" cy="8851900"/>
          </a:xfrm>
          <a:custGeom>
            <a:avLst/>
            <a:gdLst/>
            <a:ahLst/>
            <a:cxnLst/>
            <a:rect l="l" t="t" r="r" b="b"/>
            <a:pathLst>
              <a:path w="14909800" h="8851900">
                <a:moveTo>
                  <a:pt x="101620" y="0"/>
                </a:moveTo>
                <a:lnTo>
                  <a:pt x="14808180" y="0"/>
                </a:lnTo>
                <a:cubicBezTo>
                  <a:pt x="14864303" y="0"/>
                  <a:pt x="14909800" y="45497"/>
                  <a:pt x="14909800" y="101620"/>
                </a:cubicBezTo>
                <a:lnTo>
                  <a:pt x="14909800" y="8750280"/>
                </a:lnTo>
                <a:cubicBezTo>
                  <a:pt x="14909800" y="8806403"/>
                  <a:pt x="14864303" y="8851900"/>
                  <a:pt x="14808180" y="8851900"/>
                </a:cubicBezTo>
                <a:lnTo>
                  <a:pt x="101620" y="8851900"/>
                </a:lnTo>
                <a:cubicBezTo>
                  <a:pt x="45497" y="8851900"/>
                  <a:pt x="0" y="8806403"/>
                  <a:pt x="0" y="8750280"/>
                </a:cubicBezTo>
                <a:lnTo>
                  <a:pt x="0" y="101620"/>
                </a:lnTo>
                <a:cubicBezTo>
                  <a:pt x="0" y="45534"/>
                  <a:pt x="45534" y="0"/>
                  <a:pt x="101620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5500" y="13078619"/>
            <a:ext cx="7717499" cy="8519187"/>
          </a:xfrm>
          <a:custGeom>
            <a:avLst/>
            <a:gdLst/>
            <a:ahLst/>
            <a:cxnLst/>
            <a:rect l="l" t="t" r="r" b="b"/>
            <a:pathLst>
              <a:path w="7717499" h="8519187">
                <a:moveTo>
                  <a:pt x="50781" y="0"/>
                </a:moveTo>
                <a:lnTo>
                  <a:pt x="7666718" y="0"/>
                </a:lnTo>
                <a:cubicBezTo>
                  <a:pt x="7694764" y="0"/>
                  <a:pt x="7717499" y="22735"/>
                  <a:pt x="7717499" y="50781"/>
                </a:cubicBezTo>
                <a:lnTo>
                  <a:pt x="7717499" y="8468406"/>
                </a:lnTo>
                <a:cubicBezTo>
                  <a:pt x="7717499" y="8496451"/>
                  <a:pt x="7694764" y="8519187"/>
                  <a:pt x="7666718" y="8519187"/>
                </a:cubicBezTo>
                <a:lnTo>
                  <a:pt x="50781" y="8519187"/>
                </a:lnTo>
                <a:cubicBezTo>
                  <a:pt x="22735" y="8519187"/>
                  <a:pt x="0" y="8496451"/>
                  <a:pt x="0" y="8468406"/>
                </a:cubicBezTo>
                <a:lnTo>
                  <a:pt x="0" y="50781"/>
                </a:lnTo>
                <a:cubicBezTo>
                  <a:pt x="0" y="22754"/>
                  <a:pt x="22754" y="0"/>
                  <a:pt x="5078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5500" y="13078619"/>
            <a:ext cx="7795223" cy="8519187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 ErrorEvolutionModel: """Model that tracks how errors evolve over time""" def __init__(self): self.early_model = build_early_mlp(25*5, 4) self.late_model = build_late_mlp(25*5, 4) self.full_model = build_full_mlp(25*10, 4) self.stability_threshold = 0.1 def extract_evolution_features(self, sequence): """Extract features about error evolution""" features = {} # Position stability score_changes = np.diff(sequence[:, 0]) # score_diff changes features['position_stability'] = np.std(score_changes) # Error momentum error_pattern = sequence[:, -1] # error labels features['error_momentum'] = np.sum(error_pattern[-3:]) # Recovery ability if len(error_pattern) &gt;= 5: features['recovery_ability'] = self._calculate_recovery(error_pattern) return features def _calculate_recovery(self, error_pattern): """Calculate how often player recovers from errors""" recoveries = 0 for i in range(len(error_pattern) - 1): if error_pattern[i] &gt; 0 and error_pattern[i+1] == 0: recoveries += 1 return recoveries / max(1, np.sum(error_pattern &gt; 0))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0700" y="22031325"/>
            <a:ext cx="4953000" cy="990600"/>
          </a:xfrm>
          <a:custGeom>
            <a:avLst/>
            <a:gdLst/>
            <a:ahLst/>
            <a:cxnLst/>
            <a:rect l="l" t="t" r="r" b="b"/>
            <a:pathLst>
              <a:path w="4953000" h="990600">
                <a:moveTo>
                  <a:pt x="101596" y="0"/>
                </a:moveTo>
                <a:lnTo>
                  <a:pt x="4851404" y="0"/>
                </a:lnTo>
                <a:cubicBezTo>
                  <a:pt x="4907514" y="0"/>
                  <a:pt x="4953000" y="45486"/>
                  <a:pt x="4953000" y="101596"/>
                </a:cubicBezTo>
                <a:lnTo>
                  <a:pt x="4953000" y="889004"/>
                </a:lnTo>
                <a:cubicBezTo>
                  <a:pt x="4953000" y="945114"/>
                  <a:pt x="4907514" y="990600"/>
                  <a:pt x="4851404" y="990600"/>
                </a:cubicBezTo>
                <a:lnTo>
                  <a:pt x="101596" y="990600"/>
                </a:lnTo>
                <a:cubicBezTo>
                  <a:pt x="45486" y="990600"/>
                  <a:pt x="0" y="945114"/>
                  <a:pt x="0" y="8890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600" y="22196425"/>
            <a:ext cx="4775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F1=1.0000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1350" y="22602825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Perfección absoluta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45150" y="22024975"/>
            <a:ext cx="4965700" cy="1003300"/>
          </a:xfrm>
          <a:custGeom>
            <a:avLst/>
            <a:gdLst/>
            <a:ahLst/>
            <a:cxnLst/>
            <a:rect l="l" t="t" r="r" b="b"/>
            <a:pathLst>
              <a:path w="4965700" h="1003300">
                <a:moveTo>
                  <a:pt x="101604" y="0"/>
                </a:moveTo>
                <a:lnTo>
                  <a:pt x="4864096" y="0"/>
                </a:lnTo>
                <a:cubicBezTo>
                  <a:pt x="4920210" y="0"/>
                  <a:pt x="4965700" y="45490"/>
                  <a:pt x="4965700" y="101604"/>
                </a:cubicBezTo>
                <a:lnTo>
                  <a:pt x="4965700" y="901696"/>
                </a:lnTo>
                <a:cubicBezTo>
                  <a:pt x="4965700" y="957810"/>
                  <a:pt x="4920210" y="1003300"/>
                  <a:pt x="4864096" y="1003300"/>
                </a:cubicBezTo>
                <a:lnTo>
                  <a:pt x="101604" y="1003300"/>
                </a:lnTo>
                <a:cubicBezTo>
                  <a:pt x="45490" y="1003300"/>
                  <a:pt x="0" y="957810"/>
                  <a:pt x="0" y="9016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27700" y="22183725"/>
            <a:ext cx="480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59450" y="22590125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 Positives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75950" y="22024975"/>
            <a:ext cx="4965700" cy="1003300"/>
          </a:xfrm>
          <a:custGeom>
            <a:avLst/>
            <a:gdLst/>
            <a:ahLst/>
            <a:cxnLst/>
            <a:rect l="l" t="t" r="r" b="b"/>
            <a:pathLst>
              <a:path w="4965700" h="1003300">
                <a:moveTo>
                  <a:pt x="101604" y="0"/>
                </a:moveTo>
                <a:lnTo>
                  <a:pt x="4864096" y="0"/>
                </a:lnTo>
                <a:cubicBezTo>
                  <a:pt x="4920210" y="0"/>
                  <a:pt x="4965700" y="45490"/>
                  <a:pt x="4965700" y="101604"/>
                </a:cubicBezTo>
                <a:lnTo>
                  <a:pt x="4965700" y="901696"/>
                </a:lnTo>
                <a:cubicBezTo>
                  <a:pt x="4965700" y="957810"/>
                  <a:pt x="4920210" y="1003300"/>
                  <a:pt x="4864096" y="1003300"/>
                </a:cubicBezTo>
                <a:lnTo>
                  <a:pt x="101604" y="1003300"/>
                </a:lnTo>
                <a:cubicBezTo>
                  <a:pt x="45490" y="1003300"/>
                  <a:pt x="0" y="957810"/>
                  <a:pt x="0" y="9016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58500" y="22183725"/>
            <a:ext cx="480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890250" y="22590125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 Negatives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5"/>
            <a:ext cx="296287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Hyperparameter Tuning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Optimización de Hiperparámetros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8877300"/>
          </a:xfrm>
          <a:custGeom>
            <a:avLst/>
            <a:gdLst/>
            <a:ahLst/>
            <a:cxnLst/>
            <a:rect l="l" t="t" r="r" b="b"/>
            <a:pathLst>
              <a:path w="7531100" h="8877300">
                <a:moveTo>
                  <a:pt x="101595" y="0"/>
                </a:moveTo>
                <a:lnTo>
                  <a:pt x="7429505" y="0"/>
                </a:lnTo>
                <a:cubicBezTo>
                  <a:pt x="7485615" y="0"/>
                  <a:pt x="7531100" y="45485"/>
                  <a:pt x="7531100" y="101595"/>
                </a:cubicBezTo>
                <a:lnTo>
                  <a:pt x="7531100" y="8775705"/>
                </a:lnTo>
                <a:cubicBezTo>
                  <a:pt x="7531100" y="8831815"/>
                  <a:pt x="7485615" y="8877300"/>
                  <a:pt x="7429505" y="8877300"/>
                </a:cubicBezTo>
                <a:lnTo>
                  <a:pt x="101595" y="8877300"/>
                </a:lnTo>
                <a:cubicBezTo>
                  <a:pt x="45485" y="8877300"/>
                  <a:pt x="0" y="8831815"/>
                  <a:pt x="0" y="87757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Grid Search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7099300"/>
          </a:xfrm>
          <a:custGeom>
            <a:avLst/>
            <a:gdLst/>
            <a:ahLst/>
            <a:cxnLst/>
            <a:rect l="l" t="t" r="r" b="b"/>
            <a:pathLst>
              <a:path w="7213600" h="7099300">
                <a:moveTo>
                  <a:pt x="101591" y="0"/>
                </a:moveTo>
                <a:lnTo>
                  <a:pt x="7112009" y="0"/>
                </a:lnTo>
                <a:cubicBezTo>
                  <a:pt x="7168116" y="0"/>
                  <a:pt x="7213600" y="45484"/>
                  <a:pt x="7213600" y="101591"/>
                </a:cubicBezTo>
                <a:lnTo>
                  <a:pt x="7213600" y="6997709"/>
                </a:lnTo>
                <a:cubicBezTo>
                  <a:pt x="7213600" y="7053816"/>
                  <a:pt x="7168116" y="7099300"/>
                  <a:pt x="7112009" y="7099300"/>
                </a:cubicBezTo>
                <a:lnTo>
                  <a:pt x="101591" y="7099300"/>
                </a:lnTo>
                <a:cubicBezTo>
                  <a:pt x="45484" y="7099300"/>
                  <a:pt x="0" y="7053816"/>
                  <a:pt x="0" y="69977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5500" y="2328335"/>
            <a:ext cx="4687888" cy="6758781"/>
          </a:xfrm>
          <a:custGeom>
            <a:avLst/>
            <a:gdLst/>
            <a:ahLst/>
            <a:cxnLst/>
            <a:rect l="l" t="t" r="r" b="b"/>
            <a:pathLst>
              <a:path w="4687888" h="6758781">
                <a:moveTo>
                  <a:pt x="50817" y="0"/>
                </a:moveTo>
                <a:lnTo>
                  <a:pt x="4637071" y="0"/>
                </a:lnTo>
                <a:cubicBezTo>
                  <a:pt x="4665136" y="0"/>
                  <a:pt x="4687888" y="22751"/>
                  <a:pt x="4687888" y="50817"/>
                </a:cubicBezTo>
                <a:lnTo>
                  <a:pt x="4687888" y="6707965"/>
                </a:lnTo>
                <a:cubicBezTo>
                  <a:pt x="4687888" y="6736030"/>
                  <a:pt x="4665136" y="6758781"/>
                  <a:pt x="4637071" y="6758781"/>
                </a:cubicBezTo>
                <a:lnTo>
                  <a:pt x="50817" y="6758781"/>
                </a:lnTo>
                <a:cubicBezTo>
                  <a:pt x="22751" y="6758781"/>
                  <a:pt x="0" y="6736030"/>
                  <a:pt x="0" y="6707965"/>
                </a:cubicBezTo>
                <a:lnTo>
                  <a:pt x="0" y="50817"/>
                </a:lnTo>
                <a:cubicBezTo>
                  <a:pt x="0" y="22770"/>
                  <a:pt x="22770" y="0"/>
                  <a:pt x="50817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5500" y="2328335"/>
            <a:ext cx="4765612" cy="6758781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sklearn.model_selection import GridSearchCV # Define parameter grid param_grid = { 'n_estimators': [100, 200, 300], 'max_depth': [10, 20, None], 'min_samples_split': [2, 5, 10], 'min_samples_leaf': [1, 2, 4], 'class_weight': ['balanced', None] } # Grid Search with CV rf = RandomForestClassifier(random_state=42) grid_search = GridSearchCV( rf, param_grid, cv=StratifiedKFold(n_splits=5), scoring='f1_macro', n_jobs=-1, verbose=2 ) grid_search.fit(X_train, y_train) print(f"Best F1: {grid_search.best_score_:.4f}") print(f"Best params: {grid_search.best_params_}")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10550" y="1530350"/>
            <a:ext cx="7531100" cy="8877300"/>
          </a:xfrm>
          <a:custGeom>
            <a:avLst/>
            <a:gdLst/>
            <a:ahLst/>
            <a:cxnLst/>
            <a:rect l="l" t="t" r="r" b="b"/>
            <a:pathLst>
              <a:path w="7531100" h="8877300">
                <a:moveTo>
                  <a:pt x="101595" y="0"/>
                </a:moveTo>
                <a:lnTo>
                  <a:pt x="7429505" y="0"/>
                </a:lnTo>
                <a:cubicBezTo>
                  <a:pt x="7485615" y="0"/>
                  <a:pt x="7531100" y="45485"/>
                  <a:pt x="7531100" y="101595"/>
                </a:cubicBezTo>
                <a:lnTo>
                  <a:pt x="7531100" y="8775705"/>
                </a:lnTo>
                <a:cubicBezTo>
                  <a:pt x="7531100" y="8831815"/>
                  <a:pt x="7485615" y="8877300"/>
                  <a:pt x="7429505" y="8877300"/>
                </a:cubicBezTo>
                <a:lnTo>
                  <a:pt x="101595" y="8877300"/>
                </a:lnTo>
                <a:cubicBezTo>
                  <a:pt x="45485" y="8877300"/>
                  <a:pt x="0" y="8831815"/>
                  <a:pt x="0" y="87757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Bayesian Optimization (Optuna)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69300" y="2146300"/>
            <a:ext cx="7213600" cy="8102600"/>
          </a:xfrm>
          <a:custGeom>
            <a:avLst/>
            <a:gdLst/>
            <a:ahLst/>
            <a:cxnLst/>
            <a:rect l="l" t="t" r="r" b="b"/>
            <a:pathLst>
              <a:path w="7213600" h="8102600">
                <a:moveTo>
                  <a:pt x="101567" y="0"/>
                </a:moveTo>
                <a:lnTo>
                  <a:pt x="7112033" y="0"/>
                </a:lnTo>
                <a:cubicBezTo>
                  <a:pt x="7168127" y="0"/>
                  <a:pt x="7213600" y="45473"/>
                  <a:pt x="7213600" y="101567"/>
                </a:cubicBezTo>
                <a:lnTo>
                  <a:pt x="7213600" y="8001033"/>
                </a:lnTo>
                <a:cubicBezTo>
                  <a:pt x="7213600" y="8057127"/>
                  <a:pt x="7168127" y="8102600"/>
                  <a:pt x="7112033" y="8102600"/>
                </a:cubicBezTo>
                <a:lnTo>
                  <a:pt x="101567" y="8102600"/>
                </a:lnTo>
                <a:cubicBezTo>
                  <a:pt x="45473" y="8102600"/>
                  <a:pt x="0" y="8057127"/>
                  <a:pt x="0" y="8001033"/>
                </a:cubicBezTo>
                <a:lnTo>
                  <a:pt x="0" y="101567"/>
                </a:lnTo>
                <a:cubicBezTo>
                  <a:pt x="0" y="45511"/>
                  <a:pt x="45511" y="0"/>
                  <a:pt x="101567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21700" y="2328335"/>
            <a:ext cx="8376312" cy="7764728"/>
          </a:xfrm>
          <a:custGeom>
            <a:avLst/>
            <a:gdLst/>
            <a:ahLst/>
            <a:cxnLst/>
            <a:rect l="l" t="t" r="r" b="b"/>
            <a:pathLst>
              <a:path w="8376312" h="7764728">
                <a:moveTo>
                  <a:pt x="50781" y="0"/>
                </a:moveTo>
                <a:lnTo>
                  <a:pt x="8325531" y="0"/>
                </a:lnTo>
                <a:cubicBezTo>
                  <a:pt x="8353576" y="0"/>
                  <a:pt x="8376312" y="22736"/>
                  <a:pt x="8376312" y="50781"/>
                </a:cubicBezTo>
                <a:lnTo>
                  <a:pt x="8376312" y="7713946"/>
                </a:lnTo>
                <a:cubicBezTo>
                  <a:pt x="8376312" y="7741992"/>
                  <a:pt x="8353576" y="7764728"/>
                  <a:pt x="8325531" y="7764728"/>
                </a:cubicBezTo>
                <a:lnTo>
                  <a:pt x="50781" y="7764728"/>
                </a:lnTo>
                <a:cubicBezTo>
                  <a:pt x="22736" y="7764728"/>
                  <a:pt x="0" y="7741992"/>
                  <a:pt x="0" y="7713946"/>
                </a:cubicBezTo>
                <a:lnTo>
                  <a:pt x="0" y="50781"/>
                </a:lnTo>
                <a:cubicBezTo>
                  <a:pt x="0" y="22736"/>
                  <a:pt x="22736" y="0"/>
                  <a:pt x="5078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521700" y="2328335"/>
            <a:ext cx="8454036" cy="7764728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 optuna def objective(trial): # Define search space params = { 'n_estimators': trial.suggest_int('n_estimators', 100, 500), 'max_depth': trial.suggest_int('max_depth', 5, 30), 'min_samples_split': trial.suggest_int('min_samples_split', 2, 20), 'min_samples_leaf': trial.suggest_int('min_samples_leaf', 1, 10), 'max_features': trial.suggest_categorical('max_features', ['sqrt', 'log2', None]) } # Train model model = RandomForestClassifier(**params, random_state=42) # Cross-validation scores = cross_val_score( model, X_train, y_train, cv=StratifiedKFold(n_splits=5), scoring='f1_macro', n_jobs=-1 ) return scores.mean() # Run optimization study = optuna.create_study(direction='maximize') study.optimize(objective, n_trials=100, show_progress_bar=True) print(f"Best F1: {study.best_value:.4f}") print(f"Best params: {study.best_params}")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350" y="10520232"/>
            <a:ext cx="15227300" cy="9880600"/>
          </a:xfrm>
          <a:custGeom>
            <a:avLst/>
            <a:gdLst/>
            <a:ahLst/>
            <a:cxnLst/>
            <a:rect l="l" t="t" r="r" b="b"/>
            <a:pathLst>
              <a:path w="15227300" h="9880600">
                <a:moveTo>
                  <a:pt x="101573" y="0"/>
                </a:moveTo>
                <a:lnTo>
                  <a:pt x="15125727" y="0"/>
                </a:lnTo>
                <a:cubicBezTo>
                  <a:pt x="15181824" y="0"/>
                  <a:pt x="15227300" y="45476"/>
                  <a:pt x="15227300" y="101573"/>
                </a:cubicBezTo>
                <a:lnTo>
                  <a:pt x="15227300" y="9779027"/>
                </a:lnTo>
                <a:cubicBezTo>
                  <a:pt x="15227300" y="9835124"/>
                  <a:pt x="15181824" y="9880600"/>
                  <a:pt x="15125727" y="9880600"/>
                </a:cubicBezTo>
                <a:lnTo>
                  <a:pt x="101573" y="9880600"/>
                </a:lnTo>
                <a:cubicBezTo>
                  <a:pt x="45476" y="9880600"/>
                  <a:pt x="0" y="9835124"/>
                  <a:pt x="0" y="9779027"/>
                </a:cubicBezTo>
                <a:lnTo>
                  <a:pt x="0" y="101573"/>
                </a:lnTo>
                <a:cubicBezTo>
                  <a:pt x="0" y="45513"/>
                  <a:pt x="45513" y="0"/>
                  <a:pt x="10157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100" y="10678982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Keras Tuner para Deep Learning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3100" y="11136182"/>
            <a:ext cx="14909800" cy="9105900"/>
          </a:xfrm>
          <a:custGeom>
            <a:avLst/>
            <a:gdLst/>
            <a:ahLst/>
            <a:cxnLst/>
            <a:rect l="l" t="t" r="r" b="b"/>
            <a:pathLst>
              <a:path w="14909800" h="9105900">
                <a:moveTo>
                  <a:pt x="101622" y="0"/>
                </a:moveTo>
                <a:lnTo>
                  <a:pt x="14808178" y="0"/>
                </a:lnTo>
                <a:cubicBezTo>
                  <a:pt x="14864302" y="0"/>
                  <a:pt x="14909800" y="45498"/>
                  <a:pt x="14909800" y="101622"/>
                </a:cubicBezTo>
                <a:lnTo>
                  <a:pt x="14909800" y="9004278"/>
                </a:lnTo>
                <a:cubicBezTo>
                  <a:pt x="14909800" y="9060402"/>
                  <a:pt x="14864302" y="9105900"/>
                  <a:pt x="14808178" y="9105900"/>
                </a:cubicBezTo>
                <a:lnTo>
                  <a:pt x="101622" y="9105900"/>
                </a:lnTo>
                <a:cubicBezTo>
                  <a:pt x="45498" y="9105900"/>
                  <a:pt x="0" y="9060402"/>
                  <a:pt x="0" y="9004278"/>
                </a:cubicBezTo>
                <a:lnTo>
                  <a:pt x="0" y="101622"/>
                </a:lnTo>
                <a:cubicBezTo>
                  <a:pt x="0" y="45535"/>
                  <a:pt x="45535" y="0"/>
                  <a:pt x="101622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5500" y="11318218"/>
            <a:ext cx="7435189" cy="8770673"/>
          </a:xfrm>
          <a:custGeom>
            <a:avLst/>
            <a:gdLst/>
            <a:ahLst/>
            <a:cxnLst/>
            <a:rect l="l" t="t" r="r" b="b"/>
            <a:pathLst>
              <a:path w="7435189" h="8770673">
                <a:moveTo>
                  <a:pt x="50782" y="0"/>
                </a:moveTo>
                <a:lnTo>
                  <a:pt x="7384406" y="0"/>
                </a:lnTo>
                <a:cubicBezTo>
                  <a:pt x="7412453" y="0"/>
                  <a:pt x="7435189" y="22736"/>
                  <a:pt x="7435189" y="50782"/>
                </a:cubicBezTo>
                <a:lnTo>
                  <a:pt x="7435189" y="8719891"/>
                </a:lnTo>
                <a:cubicBezTo>
                  <a:pt x="7435189" y="8747937"/>
                  <a:pt x="7412453" y="8770673"/>
                  <a:pt x="7384406" y="8770673"/>
                </a:cubicBezTo>
                <a:lnTo>
                  <a:pt x="50782" y="8770673"/>
                </a:lnTo>
                <a:cubicBezTo>
                  <a:pt x="22736" y="8770673"/>
                  <a:pt x="0" y="8747937"/>
                  <a:pt x="0" y="8719891"/>
                </a:cubicBezTo>
                <a:lnTo>
                  <a:pt x="0" y="50782"/>
                </a:lnTo>
                <a:cubicBezTo>
                  <a:pt x="0" y="22755"/>
                  <a:pt x="22755" y="0"/>
                  <a:pt x="5078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5500" y="11318218"/>
            <a:ext cx="7512913" cy="8770673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 keras_tuner as kt def build_model(hp): model = keras.Sequential() # Tune number of layers for i in range(hp.Int('num_layers', 1, 3)): model.add(layers.Dense( units=hp.Int(f'units_{i}', 32, 512, step=32), activation=hp.Choice('activation', ['relu', 'tanh']) )) model.add(layers.Dropout(hp.Float(f'dropout_{i}', 0.1, 0.5, step=0.1))) model.add(layers.Dense(4, activation='softmax')) model.compile( optimizer=keras.optimizers.Adam( hp.Float('learning_rate', 1e-4, 1e-2, sampling='log') ), loss='sparse_categorical_crossentropy', metrics=['accuracy'] ) return model # Bayesian Optimization tuner tuner = kt.BayesianOptimization( build_model, objective='val_accuracy', max_trials=50, directory='keras_tuner', project_name='chess_trainer' ) tuner.search(X_train, y_train, epochs=50, validation_split=0.2)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4350" y="20516056"/>
            <a:ext cx="4965700" cy="952500"/>
          </a:xfrm>
          <a:custGeom>
            <a:avLst/>
            <a:gdLst/>
            <a:ahLst/>
            <a:cxnLst/>
            <a:rect l="l" t="t" r="r" b="b"/>
            <a:pathLst>
              <a:path w="4965700" h="952500">
                <a:moveTo>
                  <a:pt x="101603" y="0"/>
                </a:moveTo>
                <a:lnTo>
                  <a:pt x="4864097" y="0"/>
                </a:lnTo>
                <a:cubicBezTo>
                  <a:pt x="4920211" y="0"/>
                  <a:pt x="4965700" y="45489"/>
                  <a:pt x="4965700" y="101603"/>
                </a:cubicBezTo>
                <a:lnTo>
                  <a:pt x="4965700" y="850897"/>
                </a:lnTo>
                <a:cubicBezTo>
                  <a:pt x="4965700" y="907011"/>
                  <a:pt x="4920211" y="952500"/>
                  <a:pt x="4864097" y="952500"/>
                </a:cubicBezTo>
                <a:lnTo>
                  <a:pt x="101603" y="952500"/>
                </a:lnTo>
                <a:cubicBezTo>
                  <a:pt x="45489" y="952500"/>
                  <a:pt x="0" y="907011"/>
                  <a:pt x="0" y="850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600" y="20674806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GridSearch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8650" y="21030406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Exhaustivo, lento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45150" y="20516056"/>
            <a:ext cx="4965700" cy="952500"/>
          </a:xfrm>
          <a:custGeom>
            <a:avLst/>
            <a:gdLst/>
            <a:ahLst/>
            <a:cxnLst/>
            <a:rect l="l" t="t" r="r" b="b"/>
            <a:pathLst>
              <a:path w="4965700" h="952500">
                <a:moveTo>
                  <a:pt x="101603" y="0"/>
                </a:moveTo>
                <a:lnTo>
                  <a:pt x="4864097" y="0"/>
                </a:lnTo>
                <a:cubicBezTo>
                  <a:pt x="4920211" y="0"/>
                  <a:pt x="4965700" y="45489"/>
                  <a:pt x="4965700" y="101603"/>
                </a:cubicBezTo>
                <a:lnTo>
                  <a:pt x="4965700" y="850897"/>
                </a:lnTo>
                <a:cubicBezTo>
                  <a:pt x="4965700" y="907011"/>
                  <a:pt x="4920211" y="952500"/>
                  <a:pt x="4864097" y="952500"/>
                </a:cubicBezTo>
                <a:lnTo>
                  <a:pt x="101603" y="952500"/>
                </a:lnTo>
                <a:cubicBezTo>
                  <a:pt x="45489" y="952500"/>
                  <a:pt x="0" y="907011"/>
                  <a:pt x="0" y="850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0400" y="20674806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Randomized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59450" y="21030406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Eficiente, amplio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82300" y="20522406"/>
            <a:ext cx="4953000" cy="939800"/>
          </a:xfrm>
          <a:custGeom>
            <a:avLst/>
            <a:gdLst/>
            <a:ahLst/>
            <a:cxnLst/>
            <a:rect l="l" t="t" r="r" b="b"/>
            <a:pathLst>
              <a:path w="4953000" h="939800">
                <a:moveTo>
                  <a:pt x="101602" y="0"/>
                </a:moveTo>
                <a:lnTo>
                  <a:pt x="4851398" y="0"/>
                </a:lnTo>
                <a:cubicBezTo>
                  <a:pt x="4907511" y="0"/>
                  <a:pt x="4953000" y="45489"/>
                  <a:pt x="4953000" y="101602"/>
                </a:cubicBezTo>
                <a:lnTo>
                  <a:pt x="4953000" y="838198"/>
                </a:lnTo>
                <a:cubicBezTo>
                  <a:pt x="4953000" y="894311"/>
                  <a:pt x="4907511" y="939800"/>
                  <a:pt x="4851398" y="939800"/>
                </a:cubicBezTo>
                <a:lnTo>
                  <a:pt x="101602" y="939800"/>
                </a:lnTo>
                <a:cubicBezTo>
                  <a:pt x="45489" y="939800"/>
                  <a:pt x="0" y="894311"/>
                  <a:pt x="0" y="838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83900" y="20687506"/>
            <a:ext cx="474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Bayesian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02950" y="21043106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Inteligente, óptimo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5"/>
            <a:ext cx="292940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Overfitting Prevention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Manejo de Desbalanceo y Regularización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7620000"/>
          </a:xfrm>
          <a:custGeom>
            <a:avLst/>
            <a:gdLst/>
            <a:ahLst/>
            <a:cxnLst/>
            <a:rect l="l" t="t" r="r" b="b"/>
            <a:pathLst>
              <a:path w="7531100" h="7620000">
                <a:moveTo>
                  <a:pt x="101595" y="0"/>
                </a:moveTo>
                <a:lnTo>
                  <a:pt x="7429505" y="0"/>
                </a:lnTo>
                <a:cubicBezTo>
                  <a:pt x="7485615" y="0"/>
                  <a:pt x="7531100" y="45485"/>
                  <a:pt x="7531100" y="101595"/>
                </a:cubicBezTo>
                <a:lnTo>
                  <a:pt x="7531100" y="7518405"/>
                </a:lnTo>
                <a:cubicBezTo>
                  <a:pt x="7531100" y="7574515"/>
                  <a:pt x="7485615" y="7620000"/>
                  <a:pt x="7429505" y="7620000"/>
                </a:cubicBezTo>
                <a:lnTo>
                  <a:pt x="101595" y="7620000"/>
                </a:lnTo>
                <a:cubicBezTo>
                  <a:pt x="45485" y="7620000"/>
                  <a:pt x="0" y="7574515"/>
                  <a:pt x="0" y="7518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Técnicas de Balanceo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6083300"/>
          </a:xfrm>
          <a:custGeom>
            <a:avLst/>
            <a:gdLst/>
            <a:ahLst/>
            <a:cxnLst/>
            <a:rect l="l" t="t" r="r" b="b"/>
            <a:pathLst>
              <a:path w="7213600" h="6083300">
                <a:moveTo>
                  <a:pt x="101591" y="0"/>
                </a:moveTo>
                <a:lnTo>
                  <a:pt x="7112009" y="0"/>
                </a:lnTo>
                <a:cubicBezTo>
                  <a:pt x="7168116" y="0"/>
                  <a:pt x="7213600" y="45484"/>
                  <a:pt x="7213600" y="101591"/>
                </a:cubicBezTo>
                <a:lnTo>
                  <a:pt x="7213600" y="5981709"/>
                </a:lnTo>
                <a:cubicBezTo>
                  <a:pt x="7213600" y="6037816"/>
                  <a:pt x="7168116" y="6083300"/>
                  <a:pt x="7112009" y="6083300"/>
                </a:cubicBezTo>
                <a:lnTo>
                  <a:pt x="101591" y="6083300"/>
                </a:lnTo>
                <a:cubicBezTo>
                  <a:pt x="45484" y="6083300"/>
                  <a:pt x="0" y="6037816"/>
                  <a:pt x="0" y="59817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5500" y="2328335"/>
            <a:ext cx="5929313" cy="5752836"/>
          </a:xfrm>
          <a:custGeom>
            <a:avLst/>
            <a:gdLst/>
            <a:ahLst/>
            <a:cxnLst/>
            <a:rect l="l" t="t" r="r" b="b"/>
            <a:pathLst>
              <a:path w="5929313" h="5752836">
                <a:moveTo>
                  <a:pt x="50798" y="0"/>
                </a:moveTo>
                <a:lnTo>
                  <a:pt x="5878515" y="0"/>
                </a:lnTo>
                <a:cubicBezTo>
                  <a:pt x="5906570" y="0"/>
                  <a:pt x="5929312" y="22743"/>
                  <a:pt x="5929312" y="50798"/>
                </a:cubicBezTo>
                <a:lnTo>
                  <a:pt x="5929313" y="5702038"/>
                </a:lnTo>
                <a:cubicBezTo>
                  <a:pt x="5929312" y="5730093"/>
                  <a:pt x="5906570" y="5752836"/>
                  <a:pt x="5878515" y="5752836"/>
                </a:cubicBezTo>
                <a:lnTo>
                  <a:pt x="50798" y="5752836"/>
                </a:lnTo>
                <a:cubicBezTo>
                  <a:pt x="22743" y="5752836"/>
                  <a:pt x="0" y="5730093"/>
                  <a:pt x="0" y="5702038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5500" y="2328335"/>
            <a:ext cx="6007037" cy="5752836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1. Class weights (RECOMMENDED) from sklearn.utils.class_weight import compute_class_weight class_weights = compute_class_weight( 'balanced', classes=np.unique(y_train), y=y_train ) class_weight_dict = dict(enumerate(class_weights)) model.fit(X_train, y_train, class_weight=class_weight_dict) # 2. SMOTE (Synthetic Minority Oversampling) from imblearn.over_sampling import SMOTE smote = SMOTE(random_state=42) X_resampled, y_resampled = smote.fit_resample(X_train, y_train) # 3. RandomUnderSampler from imblearn.under_sampling import RandomUnderSampler undersampler = RandomUnderSampler(random_state=42) X_under, y_under = undersampler.fit_resample(X_train, y_train)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10550" y="1530350"/>
            <a:ext cx="7531100" cy="7620000"/>
          </a:xfrm>
          <a:custGeom>
            <a:avLst/>
            <a:gdLst/>
            <a:ahLst/>
            <a:cxnLst/>
            <a:rect l="l" t="t" r="r" b="b"/>
            <a:pathLst>
              <a:path w="7531100" h="7620000">
                <a:moveTo>
                  <a:pt x="101595" y="0"/>
                </a:moveTo>
                <a:lnTo>
                  <a:pt x="7429505" y="0"/>
                </a:lnTo>
                <a:cubicBezTo>
                  <a:pt x="7485615" y="0"/>
                  <a:pt x="7531100" y="45485"/>
                  <a:pt x="7531100" y="101595"/>
                </a:cubicBezTo>
                <a:lnTo>
                  <a:pt x="7531100" y="7518405"/>
                </a:lnTo>
                <a:cubicBezTo>
                  <a:pt x="7531100" y="7574515"/>
                  <a:pt x="7485615" y="7620000"/>
                  <a:pt x="7429505" y="7620000"/>
                </a:cubicBezTo>
                <a:lnTo>
                  <a:pt x="101595" y="7620000"/>
                </a:lnTo>
                <a:cubicBezTo>
                  <a:pt x="45485" y="7620000"/>
                  <a:pt x="0" y="7574515"/>
                  <a:pt x="0" y="7518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Regularización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69300" y="2146300"/>
            <a:ext cx="7213600" cy="6845300"/>
          </a:xfrm>
          <a:custGeom>
            <a:avLst/>
            <a:gdLst/>
            <a:ahLst/>
            <a:cxnLst/>
            <a:rect l="l" t="t" r="r" b="b"/>
            <a:pathLst>
              <a:path w="7213600" h="6845300">
                <a:moveTo>
                  <a:pt x="101584" y="0"/>
                </a:moveTo>
                <a:lnTo>
                  <a:pt x="7112016" y="0"/>
                </a:lnTo>
                <a:cubicBezTo>
                  <a:pt x="7168119" y="0"/>
                  <a:pt x="7213600" y="45481"/>
                  <a:pt x="7213600" y="101584"/>
                </a:cubicBezTo>
                <a:lnTo>
                  <a:pt x="7213600" y="6743716"/>
                </a:lnTo>
                <a:cubicBezTo>
                  <a:pt x="7213600" y="6799819"/>
                  <a:pt x="7168119" y="6845300"/>
                  <a:pt x="7112016" y="6845300"/>
                </a:cubicBezTo>
                <a:lnTo>
                  <a:pt x="101584" y="6845300"/>
                </a:lnTo>
                <a:cubicBezTo>
                  <a:pt x="45481" y="6845300"/>
                  <a:pt x="0" y="6799819"/>
                  <a:pt x="0" y="6743716"/>
                </a:cubicBezTo>
                <a:lnTo>
                  <a:pt x="0" y="101584"/>
                </a:lnTo>
                <a:cubicBezTo>
                  <a:pt x="0" y="45481"/>
                  <a:pt x="45481" y="0"/>
                  <a:pt x="101584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21700" y="2328335"/>
            <a:ext cx="4799939" cy="6507295"/>
          </a:xfrm>
          <a:custGeom>
            <a:avLst/>
            <a:gdLst/>
            <a:ahLst/>
            <a:cxnLst/>
            <a:rect l="l" t="t" r="r" b="b"/>
            <a:pathLst>
              <a:path w="4799939" h="6507295">
                <a:moveTo>
                  <a:pt x="50783" y="0"/>
                </a:moveTo>
                <a:lnTo>
                  <a:pt x="4749155" y="0"/>
                </a:lnTo>
                <a:cubicBezTo>
                  <a:pt x="4777202" y="0"/>
                  <a:pt x="4799939" y="22736"/>
                  <a:pt x="4799939" y="50783"/>
                </a:cubicBezTo>
                <a:lnTo>
                  <a:pt x="4799939" y="6456512"/>
                </a:lnTo>
                <a:cubicBezTo>
                  <a:pt x="4799939" y="6484559"/>
                  <a:pt x="4777202" y="6507295"/>
                  <a:pt x="4749155" y="6507295"/>
                </a:cubicBezTo>
                <a:lnTo>
                  <a:pt x="50783" y="6507295"/>
                </a:lnTo>
                <a:cubicBezTo>
                  <a:pt x="22736" y="6507295"/>
                  <a:pt x="0" y="6484559"/>
                  <a:pt x="0" y="6456512"/>
                </a:cubicBezTo>
                <a:lnTo>
                  <a:pt x="0" y="50783"/>
                </a:lnTo>
                <a:cubicBezTo>
                  <a:pt x="0" y="22755"/>
                  <a:pt x="22755" y="0"/>
                  <a:pt x="50783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521700" y="2328335"/>
            <a:ext cx="4877663" cy="6507295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L1/L2 Regularization from sklearn.linear_model import LogisticRegression # L1 (Lasso) - Feature selection l1_model = LogisticRegression( penalty='l1', C=0.5, solver='saga' ) # L2 (Ridge) - Shrinkage l2_model = LogisticRegression( penalty='l2', C=1.0, solver='lbfgs' ) # Dropout (Neural Networks) model = keras.Sequential([ layers.Dense(100, activation='relu'), layers.Dropout(0.3), layers.Dense(50, activation='relu'), layers.Dropout(0.2), layers.Dense(4, activation='softmax') ]) # XGBoost regularization model = xgb.XGBClassifier( reg_alpha=0.1, reg_lambda=1.0 )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350" y="9262802"/>
            <a:ext cx="15227300" cy="7366000"/>
          </a:xfrm>
          <a:custGeom>
            <a:avLst/>
            <a:gdLst/>
            <a:ahLst/>
            <a:cxnLst/>
            <a:rect l="l" t="t" r="r" b="b"/>
            <a:pathLst>
              <a:path w="15227300" h="7366000">
                <a:moveTo>
                  <a:pt x="101577" y="0"/>
                </a:moveTo>
                <a:lnTo>
                  <a:pt x="15125723" y="0"/>
                </a:lnTo>
                <a:cubicBezTo>
                  <a:pt x="15181822" y="0"/>
                  <a:pt x="15227300" y="45478"/>
                  <a:pt x="15227300" y="101577"/>
                </a:cubicBezTo>
                <a:lnTo>
                  <a:pt x="15227300" y="7264423"/>
                </a:lnTo>
                <a:cubicBezTo>
                  <a:pt x="15227300" y="7320522"/>
                  <a:pt x="15181822" y="7366000"/>
                  <a:pt x="15125723" y="7366000"/>
                </a:cubicBezTo>
                <a:lnTo>
                  <a:pt x="101577" y="7366000"/>
                </a:lnTo>
                <a:cubicBezTo>
                  <a:pt x="45478" y="7366000"/>
                  <a:pt x="0" y="7320522"/>
                  <a:pt x="0" y="7264423"/>
                </a:cubicBezTo>
                <a:lnTo>
                  <a:pt x="0" y="101577"/>
                </a:lnTo>
                <a:cubicBezTo>
                  <a:pt x="0" y="45515"/>
                  <a:pt x="45515" y="0"/>
                  <a:pt x="10157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100" y="9421552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Early Stopping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3100" y="9878752"/>
            <a:ext cx="14909800" cy="6591300"/>
          </a:xfrm>
          <a:custGeom>
            <a:avLst/>
            <a:gdLst/>
            <a:ahLst/>
            <a:cxnLst/>
            <a:rect l="l" t="t" r="r" b="b"/>
            <a:pathLst>
              <a:path w="14909800" h="6591300">
                <a:moveTo>
                  <a:pt x="101572" y="0"/>
                </a:moveTo>
                <a:lnTo>
                  <a:pt x="14808228" y="0"/>
                </a:lnTo>
                <a:cubicBezTo>
                  <a:pt x="14864325" y="0"/>
                  <a:pt x="14909800" y="45475"/>
                  <a:pt x="14909800" y="101572"/>
                </a:cubicBezTo>
                <a:lnTo>
                  <a:pt x="14909800" y="6489728"/>
                </a:lnTo>
                <a:cubicBezTo>
                  <a:pt x="14909800" y="6545825"/>
                  <a:pt x="14864325" y="6591300"/>
                  <a:pt x="14808228" y="6591300"/>
                </a:cubicBezTo>
                <a:lnTo>
                  <a:pt x="101572" y="6591300"/>
                </a:lnTo>
                <a:cubicBezTo>
                  <a:pt x="45475" y="6591300"/>
                  <a:pt x="0" y="6545825"/>
                  <a:pt x="0" y="6489728"/>
                </a:cubicBezTo>
                <a:lnTo>
                  <a:pt x="0" y="101572"/>
                </a:lnTo>
                <a:cubicBezTo>
                  <a:pt x="0" y="45513"/>
                  <a:pt x="45513" y="0"/>
                  <a:pt x="101572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5500" y="10060781"/>
            <a:ext cx="4423503" cy="6255808"/>
          </a:xfrm>
          <a:custGeom>
            <a:avLst/>
            <a:gdLst/>
            <a:ahLst/>
            <a:cxnLst/>
            <a:rect l="l" t="t" r="r" b="b"/>
            <a:pathLst>
              <a:path w="4423503" h="6255808">
                <a:moveTo>
                  <a:pt x="50782" y="0"/>
                </a:moveTo>
                <a:lnTo>
                  <a:pt x="4372721" y="0"/>
                </a:lnTo>
                <a:cubicBezTo>
                  <a:pt x="4400767" y="0"/>
                  <a:pt x="4423503" y="22736"/>
                  <a:pt x="4423503" y="50782"/>
                </a:cubicBezTo>
                <a:lnTo>
                  <a:pt x="4423503" y="6205027"/>
                </a:lnTo>
                <a:cubicBezTo>
                  <a:pt x="4423503" y="6233073"/>
                  <a:pt x="4400767" y="6255808"/>
                  <a:pt x="4372721" y="6255808"/>
                </a:cubicBezTo>
                <a:lnTo>
                  <a:pt x="50782" y="6255808"/>
                </a:lnTo>
                <a:cubicBezTo>
                  <a:pt x="22736" y="6255808"/>
                  <a:pt x="0" y="6233073"/>
                  <a:pt x="0" y="6205027"/>
                </a:cubicBezTo>
                <a:lnTo>
                  <a:pt x="0" y="50782"/>
                </a:lnTo>
                <a:cubicBezTo>
                  <a:pt x="0" y="22755"/>
                  <a:pt x="22755" y="0"/>
                  <a:pt x="5078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5500" y="10060781"/>
            <a:ext cx="4501227" cy="6255808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callbacks = [ keras.callbacks.EarlyStopping( monitor='val_loss', patience=15, restore_best_weights=True ) ] history = model.fit( X_train, y_train, validation_split=0.2, epochs=100, callbacks=callbacks ) # Check for overfitting train_acc = model.evaluate(X_train, y_train)[1] test_acc = model.evaluate(X_test, y_test)[1] gap = train_acc - test_acc print(f"Gap: {gap:.4f}") if gap &gt; 0.05: print("⚠️ Overfitting detected") else: print("✓ Good generalization")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4350" y="16743759"/>
            <a:ext cx="4965700" cy="952500"/>
          </a:xfrm>
          <a:custGeom>
            <a:avLst/>
            <a:gdLst/>
            <a:ahLst/>
            <a:cxnLst/>
            <a:rect l="l" t="t" r="r" b="b"/>
            <a:pathLst>
              <a:path w="4965700" h="952500">
                <a:moveTo>
                  <a:pt x="101603" y="0"/>
                </a:moveTo>
                <a:lnTo>
                  <a:pt x="4864097" y="0"/>
                </a:lnTo>
                <a:cubicBezTo>
                  <a:pt x="4920211" y="0"/>
                  <a:pt x="4965700" y="45489"/>
                  <a:pt x="4965700" y="101603"/>
                </a:cubicBezTo>
                <a:lnTo>
                  <a:pt x="4965700" y="850897"/>
                </a:lnTo>
                <a:cubicBezTo>
                  <a:pt x="4965700" y="907011"/>
                  <a:pt x="4920211" y="952500"/>
                  <a:pt x="4864097" y="952500"/>
                </a:cubicBezTo>
                <a:lnTo>
                  <a:pt x="101603" y="952500"/>
                </a:lnTo>
                <a:cubicBezTo>
                  <a:pt x="45489" y="952500"/>
                  <a:pt x="0" y="907011"/>
                  <a:pt x="0" y="850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600" y="16902509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59:1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8650" y="17258109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Desbalanceo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51500" y="16750109"/>
            <a:ext cx="4953000" cy="939800"/>
          </a:xfrm>
          <a:custGeom>
            <a:avLst/>
            <a:gdLst/>
            <a:ahLst/>
            <a:cxnLst/>
            <a:rect l="l" t="t" r="r" b="b"/>
            <a:pathLst>
              <a:path w="4953000" h="939800">
                <a:moveTo>
                  <a:pt x="101602" y="0"/>
                </a:moveTo>
                <a:lnTo>
                  <a:pt x="4851398" y="0"/>
                </a:lnTo>
                <a:cubicBezTo>
                  <a:pt x="4907511" y="0"/>
                  <a:pt x="4953000" y="45489"/>
                  <a:pt x="4953000" y="101602"/>
                </a:cubicBezTo>
                <a:lnTo>
                  <a:pt x="4953000" y="838198"/>
                </a:lnTo>
                <a:cubicBezTo>
                  <a:pt x="4953000" y="894311"/>
                  <a:pt x="4907511" y="939800"/>
                  <a:pt x="4851398" y="939800"/>
                </a:cubicBezTo>
                <a:lnTo>
                  <a:pt x="101602" y="939800"/>
                </a:lnTo>
                <a:cubicBezTo>
                  <a:pt x="45489" y="939800"/>
                  <a:pt x="0" y="894311"/>
                  <a:pt x="0" y="838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53100" y="16915209"/>
            <a:ext cx="474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class_weight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72150" y="17270809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 técnica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75950" y="16743759"/>
            <a:ext cx="4965700" cy="952500"/>
          </a:xfrm>
          <a:custGeom>
            <a:avLst/>
            <a:gdLst/>
            <a:ahLst/>
            <a:cxnLst/>
            <a:rect l="l" t="t" r="r" b="b"/>
            <a:pathLst>
              <a:path w="4965700" h="952500">
                <a:moveTo>
                  <a:pt x="101603" y="0"/>
                </a:moveTo>
                <a:lnTo>
                  <a:pt x="4864097" y="0"/>
                </a:lnTo>
                <a:cubicBezTo>
                  <a:pt x="4920211" y="0"/>
                  <a:pt x="4965700" y="45489"/>
                  <a:pt x="4965700" y="101603"/>
                </a:cubicBezTo>
                <a:lnTo>
                  <a:pt x="4965700" y="850897"/>
                </a:lnTo>
                <a:cubicBezTo>
                  <a:pt x="4965700" y="907011"/>
                  <a:pt x="4920211" y="952500"/>
                  <a:pt x="4864097" y="952500"/>
                </a:cubicBezTo>
                <a:lnTo>
                  <a:pt x="101603" y="952500"/>
                </a:lnTo>
                <a:cubicBezTo>
                  <a:pt x="45489" y="952500"/>
                  <a:pt x="0" y="907011"/>
                  <a:pt x="0" y="850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71200" y="16902509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Gap &lt; 0.05%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890250" y="17258109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overfitting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5"/>
            <a:ext cx="152585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Deployment: API y Servicio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7366000"/>
          </a:xfrm>
          <a:custGeom>
            <a:avLst/>
            <a:gdLst/>
            <a:ahLst/>
            <a:cxnLst/>
            <a:rect l="l" t="t" r="r" b="b"/>
            <a:pathLst>
              <a:path w="7531100" h="7366000">
                <a:moveTo>
                  <a:pt x="101577" y="0"/>
                </a:moveTo>
                <a:lnTo>
                  <a:pt x="7429523" y="0"/>
                </a:lnTo>
                <a:cubicBezTo>
                  <a:pt x="7485622" y="0"/>
                  <a:pt x="7531100" y="45478"/>
                  <a:pt x="7531100" y="101577"/>
                </a:cubicBezTo>
                <a:lnTo>
                  <a:pt x="7531100" y="7264423"/>
                </a:lnTo>
                <a:cubicBezTo>
                  <a:pt x="7531100" y="7320522"/>
                  <a:pt x="7485622" y="7366000"/>
                  <a:pt x="7429523" y="7366000"/>
                </a:cubicBezTo>
                <a:lnTo>
                  <a:pt x="101577" y="7366000"/>
                </a:lnTo>
                <a:cubicBezTo>
                  <a:pt x="45478" y="7366000"/>
                  <a:pt x="0" y="7320522"/>
                  <a:pt x="0" y="7264423"/>
                </a:cubicBezTo>
                <a:lnTo>
                  <a:pt x="0" y="101577"/>
                </a:lnTo>
                <a:cubicBezTo>
                  <a:pt x="0" y="45515"/>
                  <a:pt x="45515" y="0"/>
                  <a:pt x="10157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FastAPI Application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6591300"/>
          </a:xfrm>
          <a:custGeom>
            <a:avLst/>
            <a:gdLst/>
            <a:ahLst/>
            <a:cxnLst/>
            <a:rect l="l" t="t" r="r" b="b"/>
            <a:pathLst>
              <a:path w="7213600" h="6591300">
                <a:moveTo>
                  <a:pt x="101572" y="0"/>
                </a:moveTo>
                <a:lnTo>
                  <a:pt x="7112028" y="0"/>
                </a:lnTo>
                <a:cubicBezTo>
                  <a:pt x="7168125" y="0"/>
                  <a:pt x="7213600" y="45475"/>
                  <a:pt x="7213600" y="101572"/>
                </a:cubicBezTo>
                <a:lnTo>
                  <a:pt x="7213600" y="6489728"/>
                </a:lnTo>
                <a:cubicBezTo>
                  <a:pt x="7213600" y="6545825"/>
                  <a:pt x="7168125" y="6591300"/>
                  <a:pt x="7112028" y="6591300"/>
                </a:cubicBezTo>
                <a:lnTo>
                  <a:pt x="101572" y="6591300"/>
                </a:lnTo>
                <a:cubicBezTo>
                  <a:pt x="45475" y="6591300"/>
                  <a:pt x="0" y="6545825"/>
                  <a:pt x="0" y="6489728"/>
                </a:cubicBezTo>
                <a:lnTo>
                  <a:pt x="0" y="101572"/>
                </a:lnTo>
                <a:cubicBezTo>
                  <a:pt x="0" y="45513"/>
                  <a:pt x="45513" y="0"/>
                  <a:pt x="101572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5500" y="2328335"/>
            <a:ext cx="5552877" cy="6255808"/>
          </a:xfrm>
          <a:custGeom>
            <a:avLst/>
            <a:gdLst/>
            <a:ahLst/>
            <a:cxnLst/>
            <a:rect l="l" t="t" r="r" b="b"/>
            <a:pathLst>
              <a:path w="5552877" h="6255808">
                <a:moveTo>
                  <a:pt x="50809" y="0"/>
                </a:moveTo>
                <a:lnTo>
                  <a:pt x="5502068" y="0"/>
                </a:lnTo>
                <a:cubicBezTo>
                  <a:pt x="5530129" y="0"/>
                  <a:pt x="5552877" y="22748"/>
                  <a:pt x="5552877" y="50809"/>
                </a:cubicBezTo>
                <a:lnTo>
                  <a:pt x="5552877" y="6205000"/>
                </a:lnTo>
                <a:cubicBezTo>
                  <a:pt x="5552877" y="6233061"/>
                  <a:pt x="5530129" y="6255808"/>
                  <a:pt x="5502068" y="6255808"/>
                </a:cubicBezTo>
                <a:lnTo>
                  <a:pt x="50809" y="6255808"/>
                </a:lnTo>
                <a:cubicBezTo>
                  <a:pt x="22748" y="6255808"/>
                  <a:pt x="0" y="6233061"/>
                  <a:pt x="0" y="6205000"/>
                </a:cubicBezTo>
                <a:lnTo>
                  <a:pt x="0" y="50809"/>
                </a:lnTo>
                <a:cubicBezTo>
                  <a:pt x="0" y="22767"/>
                  <a:pt x="22767" y="0"/>
                  <a:pt x="50809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5500" y="2328335"/>
            <a:ext cx="5630601" cy="6255808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fastapi import FastAPI from pydantic import BaseModel import joblib app = FastAPI(title="Chess Trainer ML API") # Load models model = joblib.load('models/best_model.pkl') scaler = joblib.load('models/scaler.pkl') class PredictionRequest(BaseModel): features: list[float] @app.post("/predict") async def predict(request: PredictionRequest): features = np.array(request.features).reshape(1, -1) features_scaled = scaler.transform(features) prediction = model.predict(features_scaled)[0] probabilities = model.predict_proba(features_scaled)[0] return { "prediction": int(prediction), "probabilities": probabilities.tolist() 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10550" y="1530350"/>
            <a:ext cx="7531100" cy="7366000"/>
          </a:xfrm>
          <a:custGeom>
            <a:avLst/>
            <a:gdLst/>
            <a:ahLst/>
            <a:cxnLst/>
            <a:rect l="l" t="t" r="r" b="b"/>
            <a:pathLst>
              <a:path w="7531100" h="7366000">
                <a:moveTo>
                  <a:pt x="101577" y="0"/>
                </a:moveTo>
                <a:lnTo>
                  <a:pt x="7429523" y="0"/>
                </a:lnTo>
                <a:cubicBezTo>
                  <a:pt x="7485622" y="0"/>
                  <a:pt x="7531100" y="45478"/>
                  <a:pt x="7531100" y="101577"/>
                </a:cubicBezTo>
                <a:lnTo>
                  <a:pt x="7531100" y="7264423"/>
                </a:lnTo>
                <a:cubicBezTo>
                  <a:pt x="7531100" y="7320522"/>
                  <a:pt x="7485622" y="7366000"/>
                  <a:pt x="7429523" y="7366000"/>
                </a:cubicBezTo>
                <a:lnTo>
                  <a:pt x="101577" y="7366000"/>
                </a:lnTo>
                <a:cubicBezTo>
                  <a:pt x="45478" y="7366000"/>
                  <a:pt x="0" y="7320522"/>
                  <a:pt x="0" y="7264423"/>
                </a:cubicBezTo>
                <a:lnTo>
                  <a:pt x="0" y="101577"/>
                </a:lnTo>
                <a:cubicBezTo>
                  <a:pt x="0" y="45515"/>
                  <a:pt x="45515" y="0"/>
                  <a:pt x="10157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Docker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69300" y="2146300"/>
            <a:ext cx="7213600" cy="3568700"/>
          </a:xfrm>
          <a:custGeom>
            <a:avLst/>
            <a:gdLst/>
            <a:ahLst/>
            <a:cxnLst/>
            <a:rect l="l" t="t" r="r" b="b"/>
            <a:pathLst>
              <a:path w="7213600" h="3568700">
                <a:moveTo>
                  <a:pt x="101601" y="0"/>
                </a:moveTo>
                <a:lnTo>
                  <a:pt x="7111999" y="0"/>
                </a:lnTo>
                <a:cubicBezTo>
                  <a:pt x="7168112" y="0"/>
                  <a:pt x="7213600" y="45488"/>
                  <a:pt x="7213600" y="101601"/>
                </a:cubicBezTo>
                <a:lnTo>
                  <a:pt x="7213600" y="3467099"/>
                </a:lnTo>
                <a:cubicBezTo>
                  <a:pt x="7213600" y="3523212"/>
                  <a:pt x="7168112" y="3568700"/>
                  <a:pt x="7111999" y="3568700"/>
                </a:cubicBezTo>
                <a:lnTo>
                  <a:pt x="101601" y="3568700"/>
                </a:lnTo>
                <a:cubicBezTo>
                  <a:pt x="45488" y="3568700"/>
                  <a:pt x="0" y="3523212"/>
                  <a:pt x="0" y="34670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21700" y="2328335"/>
            <a:ext cx="6287889" cy="3237971"/>
          </a:xfrm>
          <a:custGeom>
            <a:avLst/>
            <a:gdLst/>
            <a:ahLst/>
            <a:cxnLst/>
            <a:rect l="l" t="t" r="r" b="b"/>
            <a:pathLst>
              <a:path w="6287889" h="3237971">
                <a:moveTo>
                  <a:pt x="50804" y="0"/>
                </a:moveTo>
                <a:lnTo>
                  <a:pt x="6237085" y="0"/>
                </a:lnTo>
                <a:cubicBezTo>
                  <a:pt x="6265143" y="0"/>
                  <a:pt x="6287889" y="22746"/>
                  <a:pt x="6287889" y="50804"/>
                </a:cubicBezTo>
                <a:lnTo>
                  <a:pt x="6287889" y="3187167"/>
                </a:lnTo>
                <a:cubicBezTo>
                  <a:pt x="6287889" y="3215225"/>
                  <a:pt x="6265143" y="3237971"/>
                  <a:pt x="6237085" y="3237971"/>
                </a:cubicBezTo>
                <a:lnTo>
                  <a:pt x="50804" y="3237971"/>
                </a:lnTo>
                <a:cubicBezTo>
                  <a:pt x="22746" y="3237971"/>
                  <a:pt x="0" y="3215225"/>
                  <a:pt x="0" y="3187167"/>
                </a:cubicBezTo>
                <a:lnTo>
                  <a:pt x="0" y="50804"/>
                </a:lnTo>
                <a:cubicBezTo>
                  <a:pt x="0" y="22764"/>
                  <a:pt x="22764" y="0"/>
                  <a:pt x="50804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521700" y="2328335"/>
            <a:ext cx="6365613" cy="3237971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Dockerfile FROM python:3.9-slim WORKDIR /app COPY requirements.txt . RUN pip install -r requirements.txt COPY . . EXPOSE 8000 CMD ["uvicorn", "main:app", "--host", "0.0.0.0", "--port", "8000"]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69300" y="5822026"/>
            <a:ext cx="7213600" cy="609600"/>
          </a:xfrm>
          <a:custGeom>
            <a:avLst/>
            <a:gdLst/>
            <a:ahLst/>
            <a:cxnLst/>
            <a:rect l="l" t="t" r="r" b="b"/>
            <a:pathLst>
              <a:path w="7213600" h="609600">
                <a:moveTo>
                  <a:pt x="50798" y="0"/>
                </a:moveTo>
                <a:lnTo>
                  <a:pt x="7162802" y="0"/>
                </a:lnTo>
                <a:cubicBezTo>
                  <a:pt x="7190857" y="0"/>
                  <a:pt x="7213600" y="22743"/>
                  <a:pt x="7213600" y="50798"/>
                </a:cubicBezTo>
                <a:lnTo>
                  <a:pt x="7213600" y="558802"/>
                </a:lnTo>
                <a:cubicBezTo>
                  <a:pt x="7213600" y="586857"/>
                  <a:pt x="7190857" y="609600"/>
                  <a:pt x="7162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470900" y="5923626"/>
            <a:ext cx="7086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build -t chess-trainer .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run -p 8000:8000 chess-trainer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4350" y="9011320"/>
            <a:ext cx="15227300" cy="6362700"/>
          </a:xfrm>
          <a:custGeom>
            <a:avLst/>
            <a:gdLst/>
            <a:ahLst/>
            <a:cxnLst/>
            <a:rect l="l" t="t" r="r" b="b"/>
            <a:pathLst>
              <a:path w="15227300" h="6362700">
                <a:moveTo>
                  <a:pt x="101612" y="0"/>
                </a:moveTo>
                <a:lnTo>
                  <a:pt x="15125688" y="0"/>
                </a:lnTo>
                <a:cubicBezTo>
                  <a:pt x="15181807" y="0"/>
                  <a:pt x="15227300" y="45493"/>
                  <a:pt x="15227300" y="101612"/>
                </a:cubicBezTo>
                <a:lnTo>
                  <a:pt x="15227300" y="6261088"/>
                </a:lnTo>
                <a:cubicBezTo>
                  <a:pt x="15227300" y="6317207"/>
                  <a:pt x="15181807" y="6362700"/>
                  <a:pt x="15125688" y="6362700"/>
                </a:cubicBezTo>
                <a:lnTo>
                  <a:pt x="101612" y="6362700"/>
                </a:lnTo>
                <a:cubicBezTo>
                  <a:pt x="45493" y="6362700"/>
                  <a:pt x="0" y="6317207"/>
                  <a:pt x="0" y="6261088"/>
                </a:cubicBezTo>
                <a:lnTo>
                  <a:pt x="0" y="101612"/>
                </a:lnTo>
                <a:cubicBezTo>
                  <a:pt x="0" y="45531"/>
                  <a:pt x="45531" y="0"/>
                  <a:pt x="101612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100" y="9170070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CI/CD GitHub Actions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3100" y="9627270"/>
            <a:ext cx="14909800" cy="5588000"/>
          </a:xfrm>
          <a:custGeom>
            <a:avLst/>
            <a:gdLst/>
            <a:ahLst/>
            <a:cxnLst/>
            <a:rect l="l" t="t" r="r" b="b"/>
            <a:pathLst>
              <a:path w="14909800" h="5588000">
                <a:moveTo>
                  <a:pt x="101590" y="0"/>
                </a:moveTo>
                <a:lnTo>
                  <a:pt x="14808210" y="0"/>
                </a:lnTo>
                <a:cubicBezTo>
                  <a:pt x="14864317" y="0"/>
                  <a:pt x="14909800" y="45483"/>
                  <a:pt x="14909800" y="101590"/>
                </a:cubicBezTo>
                <a:lnTo>
                  <a:pt x="14909800" y="5486410"/>
                </a:lnTo>
                <a:cubicBezTo>
                  <a:pt x="14909800" y="5542517"/>
                  <a:pt x="14864317" y="5588000"/>
                  <a:pt x="14808210" y="5588000"/>
                </a:cubicBezTo>
                <a:lnTo>
                  <a:pt x="101590" y="5588000"/>
                </a:lnTo>
                <a:cubicBezTo>
                  <a:pt x="45483" y="5588000"/>
                  <a:pt x="0" y="5542517"/>
                  <a:pt x="0" y="548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5500" y="9809299"/>
            <a:ext cx="3952875" cy="5249863"/>
          </a:xfrm>
          <a:custGeom>
            <a:avLst/>
            <a:gdLst/>
            <a:ahLst/>
            <a:cxnLst/>
            <a:rect l="l" t="t" r="r" b="b"/>
            <a:pathLst>
              <a:path w="3952875" h="5249863">
                <a:moveTo>
                  <a:pt x="50794" y="0"/>
                </a:moveTo>
                <a:lnTo>
                  <a:pt x="3902081" y="0"/>
                </a:lnTo>
                <a:cubicBezTo>
                  <a:pt x="3930134" y="0"/>
                  <a:pt x="3952875" y="22741"/>
                  <a:pt x="3952875" y="50794"/>
                </a:cubicBezTo>
                <a:lnTo>
                  <a:pt x="3952875" y="5199068"/>
                </a:lnTo>
                <a:cubicBezTo>
                  <a:pt x="3952875" y="5227121"/>
                  <a:pt x="3930134" y="5249863"/>
                  <a:pt x="3902081" y="5249863"/>
                </a:cubicBezTo>
                <a:lnTo>
                  <a:pt x="50794" y="5249863"/>
                </a:lnTo>
                <a:cubicBezTo>
                  <a:pt x="22741" y="5249863"/>
                  <a:pt x="0" y="5227121"/>
                  <a:pt x="0" y="5199068"/>
                </a:cubicBezTo>
                <a:lnTo>
                  <a:pt x="0" y="50794"/>
                </a:lnTo>
                <a:cubicBezTo>
                  <a:pt x="0" y="22741"/>
                  <a:pt x="22741" y="0"/>
                  <a:pt x="50794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25500" y="9809299"/>
            <a:ext cx="4030599" cy="5249863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name: CI/CD on: [push, pull_request] jobs: test: runs-on: ubuntu-latest steps: - uses: actions/checkout@v2 - uses: actions/setup-python@v2 with: python-version: 3.9 - run: pip install -r requirements.txt - run: pytest tests/ --cov=src deploy: needs: test runs-on: ubuntu-latest if: github.ref == 'refs/heads/main' steps: - name: Deploy run: echo "Deploying..."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4350" y="15486335"/>
            <a:ext cx="4965700" cy="927100"/>
          </a:xfrm>
          <a:custGeom>
            <a:avLst/>
            <a:gdLst/>
            <a:ahLst/>
            <a:cxnLst/>
            <a:rect l="l" t="t" r="r" b="b"/>
            <a:pathLst>
              <a:path w="4965700" h="927100">
                <a:moveTo>
                  <a:pt x="101601" y="0"/>
                </a:moveTo>
                <a:lnTo>
                  <a:pt x="4864099" y="0"/>
                </a:lnTo>
                <a:cubicBezTo>
                  <a:pt x="4920212" y="0"/>
                  <a:pt x="4965700" y="45488"/>
                  <a:pt x="4965700" y="101601"/>
                </a:cubicBezTo>
                <a:lnTo>
                  <a:pt x="4965700" y="825499"/>
                </a:lnTo>
                <a:cubicBezTo>
                  <a:pt x="4965700" y="881612"/>
                  <a:pt x="4920212" y="927100"/>
                  <a:pt x="48640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600" y="15645085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 50ms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8650" y="16000685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Latency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45150" y="15486335"/>
            <a:ext cx="4965700" cy="927100"/>
          </a:xfrm>
          <a:custGeom>
            <a:avLst/>
            <a:gdLst/>
            <a:ahLst/>
            <a:cxnLst/>
            <a:rect l="l" t="t" r="r" b="b"/>
            <a:pathLst>
              <a:path w="4965700" h="927100">
                <a:moveTo>
                  <a:pt x="101601" y="0"/>
                </a:moveTo>
                <a:lnTo>
                  <a:pt x="4864099" y="0"/>
                </a:lnTo>
                <a:cubicBezTo>
                  <a:pt x="4920212" y="0"/>
                  <a:pt x="4965700" y="45488"/>
                  <a:pt x="4965700" y="101601"/>
                </a:cubicBezTo>
                <a:lnTo>
                  <a:pt x="4965700" y="825499"/>
                </a:lnTo>
                <a:cubicBezTo>
                  <a:pt x="4965700" y="881612"/>
                  <a:pt x="4920212" y="927100"/>
                  <a:pt x="48640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0400" y="15645085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59450" y="16000685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Containerized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775950" y="15486335"/>
            <a:ext cx="4965700" cy="927100"/>
          </a:xfrm>
          <a:custGeom>
            <a:avLst/>
            <a:gdLst/>
            <a:ahLst/>
            <a:cxnLst/>
            <a:rect l="l" t="t" r="r" b="b"/>
            <a:pathLst>
              <a:path w="4965700" h="927100">
                <a:moveTo>
                  <a:pt x="101601" y="0"/>
                </a:moveTo>
                <a:lnTo>
                  <a:pt x="4864099" y="0"/>
                </a:lnTo>
                <a:cubicBezTo>
                  <a:pt x="4920212" y="0"/>
                  <a:pt x="4965700" y="45488"/>
                  <a:pt x="4965700" y="101601"/>
                </a:cubicBezTo>
                <a:lnTo>
                  <a:pt x="4965700" y="825499"/>
                </a:lnTo>
                <a:cubicBezTo>
                  <a:pt x="4965700" y="881612"/>
                  <a:pt x="4920212" y="927100"/>
                  <a:pt x="48640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71200" y="15645085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CI/CD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90250" y="16000685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42"/>
            <a:ext cx="1843484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Transferencia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Aplicaciones: Finanzas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6858000"/>
          </a:xfrm>
          <a:custGeom>
            <a:avLst/>
            <a:gdLst/>
            <a:ahLst/>
            <a:cxnLst/>
            <a:rect l="l" t="t" r="r" b="b"/>
            <a:pathLst>
              <a:path w="7531100" h="6858000">
                <a:moveTo>
                  <a:pt x="101567" y="0"/>
                </a:moveTo>
                <a:lnTo>
                  <a:pt x="7429533" y="0"/>
                </a:lnTo>
                <a:cubicBezTo>
                  <a:pt x="7485627" y="0"/>
                  <a:pt x="7531100" y="45473"/>
                  <a:pt x="7531100" y="101567"/>
                </a:cubicBezTo>
                <a:lnTo>
                  <a:pt x="7531100" y="6756433"/>
                </a:lnTo>
                <a:cubicBezTo>
                  <a:pt x="7531100" y="6812527"/>
                  <a:pt x="7485627" y="6858000"/>
                  <a:pt x="7429533" y="6858000"/>
                </a:cubicBezTo>
                <a:lnTo>
                  <a:pt x="101567" y="6858000"/>
                </a:lnTo>
                <a:cubicBezTo>
                  <a:pt x="45473" y="6858000"/>
                  <a:pt x="0" y="6812527"/>
                  <a:pt x="0" y="6756433"/>
                </a:cubicBezTo>
                <a:lnTo>
                  <a:pt x="0" y="101567"/>
                </a:lnTo>
                <a:cubicBezTo>
                  <a:pt x="0" y="45473"/>
                  <a:pt x="45473" y="0"/>
                  <a:pt x="10156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Credit Scoring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6083300"/>
          </a:xfrm>
          <a:custGeom>
            <a:avLst/>
            <a:gdLst/>
            <a:ahLst/>
            <a:cxnLst/>
            <a:rect l="l" t="t" r="r" b="b"/>
            <a:pathLst>
              <a:path w="7213600" h="6083300">
                <a:moveTo>
                  <a:pt x="101591" y="0"/>
                </a:moveTo>
                <a:lnTo>
                  <a:pt x="7112009" y="0"/>
                </a:lnTo>
                <a:cubicBezTo>
                  <a:pt x="7168116" y="0"/>
                  <a:pt x="7213600" y="45484"/>
                  <a:pt x="7213600" y="101591"/>
                </a:cubicBezTo>
                <a:lnTo>
                  <a:pt x="7213600" y="5981709"/>
                </a:lnTo>
                <a:cubicBezTo>
                  <a:pt x="7213600" y="6037816"/>
                  <a:pt x="7168116" y="6083300"/>
                  <a:pt x="7112009" y="6083300"/>
                </a:cubicBezTo>
                <a:lnTo>
                  <a:pt x="101591" y="6083300"/>
                </a:lnTo>
                <a:cubicBezTo>
                  <a:pt x="45484" y="6083300"/>
                  <a:pt x="0" y="6037816"/>
                  <a:pt x="0" y="59817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5500" y="2328342"/>
            <a:ext cx="4047001" cy="5752836"/>
          </a:xfrm>
          <a:custGeom>
            <a:avLst/>
            <a:gdLst/>
            <a:ahLst/>
            <a:cxnLst/>
            <a:rect l="l" t="t" r="r" b="b"/>
            <a:pathLst>
              <a:path w="4047001" h="5752836">
                <a:moveTo>
                  <a:pt x="50790" y="0"/>
                </a:moveTo>
                <a:lnTo>
                  <a:pt x="3996211" y="0"/>
                </a:lnTo>
                <a:cubicBezTo>
                  <a:pt x="4024261" y="0"/>
                  <a:pt x="4047001" y="22739"/>
                  <a:pt x="4047001" y="50790"/>
                </a:cubicBezTo>
                <a:lnTo>
                  <a:pt x="4047001" y="5702046"/>
                </a:lnTo>
                <a:cubicBezTo>
                  <a:pt x="4047001" y="5730096"/>
                  <a:pt x="4024261" y="5752836"/>
                  <a:pt x="3996211" y="5752836"/>
                </a:cubicBezTo>
                <a:lnTo>
                  <a:pt x="50790" y="5752836"/>
                </a:lnTo>
                <a:cubicBezTo>
                  <a:pt x="22739" y="5752836"/>
                  <a:pt x="0" y="5730096"/>
                  <a:pt x="0" y="5702046"/>
                </a:cubicBezTo>
                <a:lnTo>
                  <a:pt x="0" y="50790"/>
                </a:lnTo>
                <a:cubicBezTo>
                  <a:pt x="0" y="22739"/>
                  <a:pt x="22739" y="0"/>
                  <a:pt x="5079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5500" y="2328342"/>
            <a:ext cx="4124725" cy="5752836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 xgboost as xgb # Same as Chess Trainer credit_features = [ 'credit_history_length', 'debt_to_income_ratio', 'payment_history', 'credit_utilization' ] model = xgb.XGBClassifier( n_estimators=300, max_depth=6, scale_pos_weight=9, # 90:10 imbalance random_state=42 ) model.fit(X_train, y_train) # Evaluate y_proba = model.predict_proba(X_test)[:, 1] auc = roc_auc_score(y_test, y_proba) print(f"AUC-ROC: {auc:.4f}")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10550" y="1530350"/>
            <a:ext cx="7531100" cy="6858000"/>
          </a:xfrm>
          <a:custGeom>
            <a:avLst/>
            <a:gdLst/>
            <a:ahLst/>
            <a:cxnLst/>
            <a:rect l="l" t="t" r="r" b="b"/>
            <a:pathLst>
              <a:path w="7531100" h="6858000">
                <a:moveTo>
                  <a:pt x="101567" y="0"/>
                </a:moveTo>
                <a:lnTo>
                  <a:pt x="7429533" y="0"/>
                </a:lnTo>
                <a:cubicBezTo>
                  <a:pt x="7485627" y="0"/>
                  <a:pt x="7531100" y="45473"/>
                  <a:pt x="7531100" y="101567"/>
                </a:cubicBezTo>
                <a:lnTo>
                  <a:pt x="7531100" y="6756433"/>
                </a:lnTo>
                <a:cubicBezTo>
                  <a:pt x="7531100" y="6812527"/>
                  <a:pt x="7485627" y="6858000"/>
                  <a:pt x="7429533" y="6858000"/>
                </a:cubicBezTo>
                <a:lnTo>
                  <a:pt x="101567" y="6858000"/>
                </a:lnTo>
                <a:cubicBezTo>
                  <a:pt x="45473" y="6858000"/>
                  <a:pt x="0" y="6812527"/>
                  <a:pt x="0" y="6756433"/>
                </a:cubicBezTo>
                <a:lnTo>
                  <a:pt x="0" y="101567"/>
                </a:lnTo>
                <a:cubicBezTo>
                  <a:pt x="0" y="45473"/>
                  <a:pt x="45473" y="0"/>
                  <a:pt x="10156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Explicabilidad (SHAP)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69300" y="2146300"/>
            <a:ext cx="7213600" cy="4076700"/>
          </a:xfrm>
          <a:custGeom>
            <a:avLst/>
            <a:gdLst/>
            <a:ahLst/>
            <a:cxnLst/>
            <a:rect l="l" t="t" r="r" b="b"/>
            <a:pathLst>
              <a:path w="7213600" h="4076700">
                <a:moveTo>
                  <a:pt x="101591" y="0"/>
                </a:moveTo>
                <a:lnTo>
                  <a:pt x="7112009" y="0"/>
                </a:lnTo>
                <a:cubicBezTo>
                  <a:pt x="7168116" y="0"/>
                  <a:pt x="7213600" y="45484"/>
                  <a:pt x="7213600" y="101591"/>
                </a:cubicBezTo>
                <a:lnTo>
                  <a:pt x="7213600" y="3975109"/>
                </a:lnTo>
                <a:cubicBezTo>
                  <a:pt x="7213600" y="4031216"/>
                  <a:pt x="7168116" y="4076700"/>
                  <a:pt x="7112009" y="4076700"/>
                </a:cubicBezTo>
                <a:lnTo>
                  <a:pt x="101591" y="4076700"/>
                </a:lnTo>
                <a:cubicBezTo>
                  <a:pt x="45484" y="4076700"/>
                  <a:pt x="0" y="4031216"/>
                  <a:pt x="0" y="39751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21700" y="2328342"/>
            <a:ext cx="4047001" cy="3740944"/>
          </a:xfrm>
          <a:custGeom>
            <a:avLst/>
            <a:gdLst/>
            <a:ahLst/>
            <a:cxnLst/>
            <a:rect l="l" t="t" r="r" b="b"/>
            <a:pathLst>
              <a:path w="4047001" h="3740944">
                <a:moveTo>
                  <a:pt x="50802" y="0"/>
                </a:moveTo>
                <a:lnTo>
                  <a:pt x="3996199" y="0"/>
                </a:lnTo>
                <a:cubicBezTo>
                  <a:pt x="4024256" y="0"/>
                  <a:pt x="4047001" y="22745"/>
                  <a:pt x="4047001" y="50802"/>
                </a:cubicBezTo>
                <a:lnTo>
                  <a:pt x="4047001" y="3690142"/>
                </a:lnTo>
                <a:cubicBezTo>
                  <a:pt x="4047001" y="3718199"/>
                  <a:pt x="4024256" y="3740944"/>
                  <a:pt x="3996199" y="3740944"/>
                </a:cubicBezTo>
                <a:lnTo>
                  <a:pt x="50802" y="3740944"/>
                </a:lnTo>
                <a:cubicBezTo>
                  <a:pt x="22745" y="3740944"/>
                  <a:pt x="0" y="3718199"/>
                  <a:pt x="0" y="3690142"/>
                </a:cubicBezTo>
                <a:lnTo>
                  <a:pt x="0" y="50802"/>
                </a:lnTo>
                <a:cubicBezTo>
                  <a:pt x="0" y="22764"/>
                  <a:pt x="22764" y="0"/>
                  <a:pt x="5080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521700" y="2328342"/>
            <a:ext cx="4124725" cy="3740944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 shap explainer = shap.TreeExplainer(model) shap_values = explainer.shap_values(X_test) # Summary plot shap.summary_plot(shap_values, X_test) # Individual explanation shap.waterfall_plot(shap.Explanation( values=shap_values[0], base_values=explainer.expected_value, data=X_test.iloc[0], feature_names=credit_features ))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350" y="8508343"/>
            <a:ext cx="15227300" cy="2654300"/>
          </a:xfrm>
          <a:custGeom>
            <a:avLst/>
            <a:gdLst/>
            <a:ahLst/>
            <a:cxnLst/>
            <a:rect l="l" t="t" r="r" b="b"/>
            <a:pathLst>
              <a:path w="15227300" h="2654300">
                <a:moveTo>
                  <a:pt x="101607" y="0"/>
                </a:moveTo>
                <a:lnTo>
                  <a:pt x="15125693" y="0"/>
                </a:lnTo>
                <a:cubicBezTo>
                  <a:pt x="15181809" y="0"/>
                  <a:pt x="15227300" y="45491"/>
                  <a:pt x="15227300" y="101607"/>
                </a:cubicBezTo>
                <a:lnTo>
                  <a:pt x="15227300" y="2552693"/>
                </a:lnTo>
                <a:cubicBezTo>
                  <a:pt x="15227300" y="2608809"/>
                  <a:pt x="15181809" y="2654300"/>
                  <a:pt x="15125693" y="2654300"/>
                </a:cubicBezTo>
                <a:lnTo>
                  <a:pt x="101607" y="2654300"/>
                </a:lnTo>
                <a:cubicBezTo>
                  <a:pt x="45491" y="2654300"/>
                  <a:pt x="0" y="2608809"/>
                  <a:pt x="0" y="25526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100" y="8667093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Comparación: Ajedrez vs Finanzas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3100" y="9124293"/>
            <a:ext cx="7378700" cy="1879600"/>
          </a:xfrm>
          <a:custGeom>
            <a:avLst/>
            <a:gdLst/>
            <a:ahLst/>
            <a:cxnLst/>
            <a:rect l="l" t="t" r="r" b="b"/>
            <a:pathLst>
              <a:path w="7378700" h="1879600">
                <a:moveTo>
                  <a:pt x="50806" y="0"/>
                </a:moveTo>
                <a:lnTo>
                  <a:pt x="7327894" y="0"/>
                </a:lnTo>
                <a:cubicBezTo>
                  <a:pt x="7355954" y="0"/>
                  <a:pt x="7378700" y="22746"/>
                  <a:pt x="7378700" y="50806"/>
                </a:cubicBezTo>
                <a:lnTo>
                  <a:pt x="7378700" y="1828794"/>
                </a:lnTo>
                <a:cubicBezTo>
                  <a:pt x="7378700" y="1856854"/>
                  <a:pt x="7355954" y="1879600"/>
                  <a:pt x="7327894" y="1879600"/>
                </a:cubicBezTo>
                <a:lnTo>
                  <a:pt x="50806" y="1879600"/>
                </a:lnTo>
                <a:cubicBezTo>
                  <a:pt x="22746" y="1879600"/>
                  <a:pt x="0" y="1856854"/>
                  <a:pt x="0" y="1828794"/>
                </a:cubicBezTo>
                <a:lnTo>
                  <a:pt x="0" y="50806"/>
                </a:lnTo>
                <a:cubicBezTo>
                  <a:pt x="0" y="22765"/>
                  <a:pt x="22765" y="0"/>
                  <a:pt x="5080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25500" y="9276693"/>
            <a:ext cx="717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Ajedrez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5500" y="9683093"/>
            <a:ext cx="716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Predecir calidad de jugada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5500" y="9987893"/>
            <a:ext cx="716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Features: material, posición, tiempo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5500" y="10292693"/>
            <a:ext cx="716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Clases: good, inaccuracy, mistake, blunder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5500" y="10597493"/>
            <a:ext cx="716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Desbalanceo: 59:1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04200" y="9124293"/>
            <a:ext cx="7378700" cy="1879600"/>
          </a:xfrm>
          <a:custGeom>
            <a:avLst/>
            <a:gdLst/>
            <a:ahLst/>
            <a:cxnLst/>
            <a:rect l="l" t="t" r="r" b="b"/>
            <a:pathLst>
              <a:path w="7378700" h="1879600">
                <a:moveTo>
                  <a:pt x="50806" y="0"/>
                </a:moveTo>
                <a:lnTo>
                  <a:pt x="7327894" y="0"/>
                </a:lnTo>
                <a:cubicBezTo>
                  <a:pt x="7355954" y="0"/>
                  <a:pt x="7378700" y="22746"/>
                  <a:pt x="7378700" y="50806"/>
                </a:cubicBezTo>
                <a:lnTo>
                  <a:pt x="7378700" y="1828794"/>
                </a:lnTo>
                <a:cubicBezTo>
                  <a:pt x="7378700" y="1856854"/>
                  <a:pt x="7355954" y="1879600"/>
                  <a:pt x="7327894" y="1879600"/>
                </a:cubicBezTo>
                <a:lnTo>
                  <a:pt x="50806" y="1879600"/>
                </a:lnTo>
                <a:cubicBezTo>
                  <a:pt x="22746" y="1879600"/>
                  <a:pt x="0" y="1856854"/>
                  <a:pt x="0" y="1828794"/>
                </a:cubicBezTo>
                <a:lnTo>
                  <a:pt x="0" y="50806"/>
                </a:lnTo>
                <a:cubicBezTo>
                  <a:pt x="0" y="22765"/>
                  <a:pt x="22765" y="0"/>
                  <a:pt x="5080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356600" y="9276693"/>
            <a:ext cx="717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Credit Scoring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56600" y="9683093"/>
            <a:ext cx="716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Predecir probabilidad de default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56600" y="9987893"/>
            <a:ext cx="716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Features: historial, ratios, comportamiento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56600" y="10292693"/>
            <a:ext cx="716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Clases: paga, default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56600" y="10597493"/>
            <a:ext cx="716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Desbalanceo: 9:1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4350" y="11276943"/>
            <a:ext cx="4965700" cy="927100"/>
          </a:xfrm>
          <a:custGeom>
            <a:avLst/>
            <a:gdLst/>
            <a:ahLst/>
            <a:cxnLst/>
            <a:rect l="l" t="t" r="r" b="b"/>
            <a:pathLst>
              <a:path w="4965700" h="927100">
                <a:moveTo>
                  <a:pt x="101601" y="0"/>
                </a:moveTo>
                <a:lnTo>
                  <a:pt x="4864099" y="0"/>
                </a:lnTo>
                <a:cubicBezTo>
                  <a:pt x="4920212" y="0"/>
                  <a:pt x="4965700" y="45488"/>
                  <a:pt x="4965700" y="101601"/>
                </a:cubicBezTo>
                <a:lnTo>
                  <a:pt x="4965700" y="825499"/>
                </a:lnTo>
                <a:cubicBezTo>
                  <a:pt x="4965700" y="881612"/>
                  <a:pt x="4920212" y="927100"/>
                  <a:pt x="48640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600" y="11435693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8650" y="11791293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Mismo algoritmo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45150" y="11276943"/>
            <a:ext cx="4965700" cy="927100"/>
          </a:xfrm>
          <a:custGeom>
            <a:avLst/>
            <a:gdLst/>
            <a:ahLst/>
            <a:cxnLst/>
            <a:rect l="l" t="t" r="r" b="b"/>
            <a:pathLst>
              <a:path w="4965700" h="927100">
                <a:moveTo>
                  <a:pt x="101601" y="0"/>
                </a:moveTo>
                <a:lnTo>
                  <a:pt x="4864099" y="0"/>
                </a:lnTo>
                <a:cubicBezTo>
                  <a:pt x="4920212" y="0"/>
                  <a:pt x="4965700" y="45488"/>
                  <a:pt x="4965700" y="101601"/>
                </a:cubicBezTo>
                <a:lnTo>
                  <a:pt x="4965700" y="825499"/>
                </a:lnTo>
                <a:cubicBezTo>
                  <a:pt x="4965700" y="881612"/>
                  <a:pt x="4920212" y="927100"/>
                  <a:pt x="48640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0400" y="11435693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scale_pos_weight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59450" y="11791293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Manejo de desbalanceo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775950" y="11276943"/>
            <a:ext cx="4965700" cy="927100"/>
          </a:xfrm>
          <a:custGeom>
            <a:avLst/>
            <a:gdLst/>
            <a:ahLst/>
            <a:cxnLst/>
            <a:rect l="l" t="t" r="r" b="b"/>
            <a:pathLst>
              <a:path w="4965700" h="927100">
                <a:moveTo>
                  <a:pt x="101601" y="0"/>
                </a:moveTo>
                <a:lnTo>
                  <a:pt x="4864099" y="0"/>
                </a:lnTo>
                <a:cubicBezTo>
                  <a:pt x="4920212" y="0"/>
                  <a:pt x="4965700" y="45488"/>
                  <a:pt x="4965700" y="101601"/>
                </a:cubicBezTo>
                <a:lnTo>
                  <a:pt x="4965700" y="825499"/>
                </a:lnTo>
                <a:cubicBezTo>
                  <a:pt x="4965700" y="881612"/>
                  <a:pt x="4920212" y="927100"/>
                  <a:pt x="48640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71200" y="11435693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SHAP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890250" y="11791293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Explicabilidad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42"/>
            <a:ext cx="1843484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Transferencia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Aplicaciones: Salud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7112000"/>
          </a:xfrm>
          <a:custGeom>
            <a:avLst/>
            <a:gdLst/>
            <a:ahLst/>
            <a:cxnLst/>
            <a:rect l="l" t="t" r="r" b="b"/>
            <a:pathLst>
              <a:path w="7531100" h="7112000">
                <a:moveTo>
                  <a:pt x="101630" y="0"/>
                </a:moveTo>
                <a:lnTo>
                  <a:pt x="7429470" y="0"/>
                </a:lnTo>
                <a:cubicBezTo>
                  <a:pt x="7485598" y="0"/>
                  <a:pt x="7531100" y="45502"/>
                  <a:pt x="7531100" y="101630"/>
                </a:cubicBezTo>
                <a:lnTo>
                  <a:pt x="7531100" y="7010370"/>
                </a:lnTo>
                <a:cubicBezTo>
                  <a:pt x="7531100" y="7066498"/>
                  <a:pt x="7485598" y="7112000"/>
                  <a:pt x="7429470" y="7112000"/>
                </a:cubicBezTo>
                <a:lnTo>
                  <a:pt x="101630" y="7112000"/>
                </a:lnTo>
                <a:cubicBezTo>
                  <a:pt x="45502" y="7112000"/>
                  <a:pt x="0" y="7066498"/>
                  <a:pt x="0" y="7010370"/>
                </a:cubicBezTo>
                <a:lnTo>
                  <a:pt x="0" y="101630"/>
                </a:lnTo>
                <a:cubicBezTo>
                  <a:pt x="0" y="45502"/>
                  <a:pt x="45502" y="0"/>
                  <a:pt x="10163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CNN para Imágenes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5588000"/>
          </a:xfrm>
          <a:custGeom>
            <a:avLst/>
            <a:gdLst/>
            <a:ahLst/>
            <a:cxnLst/>
            <a:rect l="l" t="t" r="r" b="b"/>
            <a:pathLst>
              <a:path w="7213600" h="5588000">
                <a:moveTo>
                  <a:pt x="101590" y="0"/>
                </a:moveTo>
                <a:lnTo>
                  <a:pt x="7112010" y="0"/>
                </a:lnTo>
                <a:cubicBezTo>
                  <a:pt x="7168117" y="0"/>
                  <a:pt x="7213600" y="45483"/>
                  <a:pt x="7213600" y="101590"/>
                </a:cubicBezTo>
                <a:lnTo>
                  <a:pt x="7213600" y="5486410"/>
                </a:lnTo>
                <a:cubicBezTo>
                  <a:pt x="7213600" y="5542517"/>
                  <a:pt x="7168117" y="5588000"/>
                  <a:pt x="7112010" y="5588000"/>
                </a:cubicBezTo>
                <a:lnTo>
                  <a:pt x="101590" y="5588000"/>
                </a:lnTo>
                <a:cubicBezTo>
                  <a:pt x="45483" y="5588000"/>
                  <a:pt x="0" y="5542517"/>
                  <a:pt x="0" y="548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5500" y="2328342"/>
            <a:ext cx="5629077" cy="5249863"/>
          </a:xfrm>
          <a:custGeom>
            <a:avLst/>
            <a:gdLst/>
            <a:ahLst/>
            <a:cxnLst/>
            <a:rect l="l" t="t" r="r" b="b"/>
            <a:pathLst>
              <a:path w="5629077" h="5249863">
                <a:moveTo>
                  <a:pt x="50819" y="0"/>
                </a:moveTo>
                <a:lnTo>
                  <a:pt x="5578258" y="0"/>
                </a:lnTo>
                <a:cubicBezTo>
                  <a:pt x="5606324" y="0"/>
                  <a:pt x="5629077" y="22752"/>
                  <a:pt x="5629077" y="50819"/>
                </a:cubicBezTo>
                <a:lnTo>
                  <a:pt x="5629077" y="5199044"/>
                </a:lnTo>
                <a:cubicBezTo>
                  <a:pt x="5629077" y="5227110"/>
                  <a:pt x="5606324" y="5249863"/>
                  <a:pt x="5578258" y="5249863"/>
                </a:cubicBezTo>
                <a:lnTo>
                  <a:pt x="50819" y="5249863"/>
                </a:lnTo>
                <a:cubicBezTo>
                  <a:pt x="22752" y="5249863"/>
                  <a:pt x="0" y="5227110"/>
                  <a:pt x="0" y="5199044"/>
                </a:cubicBezTo>
                <a:lnTo>
                  <a:pt x="0" y="50819"/>
                </a:lnTo>
                <a:cubicBezTo>
                  <a:pt x="0" y="22771"/>
                  <a:pt x="22771" y="0"/>
                  <a:pt x="50819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5500" y="2328342"/>
            <a:ext cx="5706801" cy="5249863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tensorflow.keras.applications import ResNet50 # Transfer learning base_model = ResNet50( weights='imagenet', include_top=False, input_shape=(224, 224, 3) ) # Freeze base layers for layer in base_model.layers: layer.trainable = False # Add custom layers x = base_model.output x = layers.GlobalAveragePooling2D()(x) x = layers.Dense(256, activation='relu')(x) x = layers.Dropout(0.5)(x) predictions = layers.Dense(1, activation='sigmoid')(x) model = Model(inputs=base_model.input, outputs=predictions)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10550" y="1530350"/>
            <a:ext cx="7531100" cy="7112000"/>
          </a:xfrm>
          <a:custGeom>
            <a:avLst/>
            <a:gdLst/>
            <a:ahLst/>
            <a:cxnLst/>
            <a:rect l="l" t="t" r="r" b="b"/>
            <a:pathLst>
              <a:path w="7531100" h="7112000">
                <a:moveTo>
                  <a:pt x="101630" y="0"/>
                </a:moveTo>
                <a:lnTo>
                  <a:pt x="7429470" y="0"/>
                </a:lnTo>
                <a:cubicBezTo>
                  <a:pt x="7485598" y="0"/>
                  <a:pt x="7531100" y="45502"/>
                  <a:pt x="7531100" y="101630"/>
                </a:cubicBezTo>
                <a:lnTo>
                  <a:pt x="7531100" y="7010370"/>
                </a:lnTo>
                <a:cubicBezTo>
                  <a:pt x="7531100" y="7066498"/>
                  <a:pt x="7485598" y="7112000"/>
                  <a:pt x="7429470" y="7112000"/>
                </a:cubicBezTo>
                <a:lnTo>
                  <a:pt x="101630" y="7112000"/>
                </a:lnTo>
                <a:cubicBezTo>
                  <a:pt x="45502" y="7112000"/>
                  <a:pt x="0" y="7066498"/>
                  <a:pt x="0" y="7010370"/>
                </a:cubicBezTo>
                <a:lnTo>
                  <a:pt x="0" y="101630"/>
                </a:lnTo>
                <a:cubicBezTo>
                  <a:pt x="0" y="45502"/>
                  <a:pt x="45502" y="0"/>
                  <a:pt x="10163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MLP para Datos Tabulares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69300" y="2146300"/>
            <a:ext cx="7213600" cy="6337300"/>
          </a:xfrm>
          <a:custGeom>
            <a:avLst/>
            <a:gdLst/>
            <a:ahLst/>
            <a:cxnLst/>
            <a:rect l="l" t="t" r="r" b="b"/>
            <a:pathLst>
              <a:path w="7213600" h="6337300">
                <a:moveTo>
                  <a:pt x="101587" y="0"/>
                </a:moveTo>
                <a:lnTo>
                  <a:pt x="7112013" y="0"/>
                </a:lnTo>
                <a:cubicBezTo>
                  <a:pt x="7168118" y="0"/>
                  <a:pt x="7213600" y="45482"/>
                  <a:pt x="7213600" y="101587"/>
                </a:cubicBezTo>
                <a:lnTo>
                  <a:pt x="7213600" y="6235713"/>
                </a:lnTo>
                <a:cubicBezTo>
                  <a:pt x="7213600" y="6291818"/>
                  <a:pt x="7168118" y="6337300"/>
                  <a:pt x="7112013" y="6337300"/>
                </a:cubicBezTo>
                <a:lnTo>
                  <a:pt x="101587" y="6337300"/>
                </a:lnTo>
                <a:cubicBezTo>
                  <a:pt x="45482" y="6337300"/>
                  <a:pt x="0" y="6291818"/>
                  <a:pt x="0" y="6235713"/>
                </a:cubicBezTo>
                <a:lnTo>
                  <a:pt x="0" y="101587"/>
                </a:lnTo>
                <a:cubicBezTo>
                  <a:pt x="0" y="45520"/>
                  <a:pt x="45520" y="0"/>
                  <a:pt x="101587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21700" y="2328342"/>
            <a:ext cx="4593762" cy="6004322"/>
          </a:xfrm>
          <a:custGeom>
            <a:avLst/>
            <a:gdLst/>
            <a:ahLst/>
            <a:cxnLst/>
            <a:rect l="l" t="t" r="r" b="b"/>
            <a:pathLst>
              <a:path w="4593762" h="6004322">
                <a:moveTo>
                  <a:pt x="50807" y="0"/>
                </a:moveTo>
                <a:lnTo>
                  <a:pt x="4542955" y="0"/>
                </a:lnTo>
                <a:cubicBezTo>
                  <a:pt x="4571015" y="0"/>
                  <a:pt x="4593762" y="22747"/>
                  <a:pt x="4593762" y="50807"/>
                </a:cubicBezTo>
                <a:lnTo>
                  <a:pt x="4593762" y="5953515"/>
                </a:lnTo>
                <a:cubicBezTo>
                  <a:pt x="4593762" y="5981575"/>
                  <a:pt x="4571015" y="6004322"/>
                  <a:pt x="4542955" y="6004322"/>
                </a:cubicBezTo>
                <a:lnTo>
                  <a:pt x="50807" y="6004322"/>
                </a:lnTo>
                <a:cubicBezTo>
                  <a:pt x="22747" y="6004322"/>
                  <a:pt x="0" y="5981575"/>
                  <a:pt x="0" y="5953515"/>
                </a:cubicBezTo>
                <a:lnTo>
                  <a:pt x="0" y="50807"/>
                </a:lnTo>
                <a:cubicBezTo>
                  <a:pt x="0" y="22766"/>
                  <a:pt x="22766" y="0"/>
                  <a:pt x="50807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521700" y="2328342"/>
            <a:ext cx="4671486" cy="6004322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Same as Chess Trainer Phase 2 def build_medical_mlp(input_dim): model = keras.Sequential([ layers.Input(shape=(input_dim,)), layers.Dense(100, activation='relu'), layers.Dropout(0.3), layers.Dense(50, activation='relu'), layers.Dropout(0.2), layers.Dense(1, activation='sigmoid') ]) model.compile( optimizer='adam', loss='binary_crossentropy' ) return model medical_features = [ 'age', 'blood_pressure', 'cholesterol', 'glucose_level', 'bmi' ] model = build_medical_mlp(len(medical_features))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350" y="8759825"/>
            <a:ext cx="15227300" cy="6362700"/>
          </a:xfrm>
          <a:custGeom>
            <a:avLst/>
            <a:gdLst/>
            <a:ahLst/>
            <a:cxnLst/>
            <a:rect l="l" t="t" r="r" b="b"/>
            <a:pathLst>
              <a:path w="15227300" h="6362700">
                <a:moveTo>
                  <a:pt x="101612" y="0"/>
                </a:moveTo>
                <a:lnTo>
                  <a:pt x="15125688" y="0"/>
                </a:lnTo>
                <a:cubicBezTo>
                  <a:pt x="15181807" y="0"/>
                  <a:pt x="15227300" y="45493"/>
                  <a:pt x="15227300" y="101612"/>
                </a:cubicBezTo>
                <a:lnTo>
                  <a:pt x="15227300" y="6261088"/>
                </a:lnTo>
                <a:cubicBezTo>
                  <a:pt x="15227300" y="6317207"/>
                  <a:pt x="15181807" y="6362700"/>
                  <a:pt x="15125688" y="6362700"/>
                </a:cubicBezTo>
                <a:lnTo>
                  <a:pt x="101612" y="6362700"/>
                </a:lnTo>
                <a:cubicBezTo>
                  <a:pt x="45493" y="6362700"/>
                  <a:pt x="0" y="6317207"/>
                  <a:pt x="0" y="6261088"/>
                </a:cubicBezTo>
                <a:lnTo>
                  <a:pt x="0" y="101612"/>
                </a:lnTo>
                <a:cubicBezTo>
                  <a:pt x="0" y="45531"/>
                  <a:pt x="45531" y="0"/>
                  <a:pt x="101612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100" y="8918575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LSTM para Series Temporales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3100" y="9375775"/>
            <a:ext cx="14909800" cy="5588000"/>
          </a:xfrm>
          <a:custGeom>
            <a:avLst/>
            <a:gdLst/>
            <a:ahLst/>
            <a:cxnLst/>
            <a:rect l="l" t="t" r="r" b="b"/>
            <a:pathLst>
              <a:path w="14909800" h="5588000">
                <a:moveTo>
                  <a:pt x="101590" y="0"/>
                </a:moveTo>
                <a:lnTo>
                  <a:pt x="14808210" y="0"/>
                </a:lnTo>
                <a:cubicBezTo>
                  <a:pt x="14864317" y="0"/>
                  <a:pt x="14909800" y="45483"/>
                  <a:pt x="14909800" y="101590"/>
                </a:cubicBezTo>
                <a:lnTo>
                  <a:pt x="14909800" y="5486410"/>
                </a:lnTo>
                <a:cubicBezTo>
                  <a:pt x="14909800" y="5542517"/>
                  <a:pt x="14864317" y="5588000"/>
                  <a:pt x="14808210" y="5588000"/>
                </a:cubicBezTo>
                <a:lnTo>
                  <a:pt x="101590" y="5588000"/>
                </a:lnTo>
                <a:cubicBezTo>
                  <a:pt x="45483" y="5588000"/>
                  <a:pt x="0" y="5542517"/>
                  <a:pt x="0" y="548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5500" y="9557817"/>
            <a:ext cx="5835187" cy="5249863"/>
          </a:xfrm>
          <a:custGeom>
            <a:avLst/>
            <a:gdLst/>
            <a:ahLst/>
            <a:cxnLst/>
            <a:rect l="l" t="t" r="r" b="b"/>
            <a:pathLst>
              <a:path w="5835187" h="5249863">
                <a:moveTo>
                  <a:pt x="50819" y="0"/>
                </a:moveTo>
                <a:lnTo>
                  <a:pt x="5784369" y="0"/>
                </a:lnTo>
                <a:cubicBezTo>
                  <a:pt x="5812435" y="0"/>
                  <a:pt x="5835187" y="22752"/>
                  <a:pt x="5835187" y="50819"/>
                </a:cubicBezTo>
                <a:lnTo>
                  <a:pt x="5835187" y="5199044"/>
                </a:lnTo>
                <a:cubicBezTo>
                  <a:pt x="5835187" y="5227110"/>
                  <a:pt x="5812435" y="5249863"/>
                  <a:pt x="5784369" y="5249863"/>
                </a:cubicBezTo>
                <a:lnTo>
                  <a:pt x="50819" y="5249863"/>
                </a:lnTo>
                <a:cubicBezTo>
                  <a:pt x="22752" y="5249863"/>
                  <a:pt x="0" y="5227110"/>
                  <a:pt x="0" y="5199044"/>
                </a:cubicBezTo>
                <a:lnTo>
                  <a:pt x="0" y="50819"/>
                </a:lnTo>
                <a:cubicBezTo>
                  <a:pt x="0" y="22771"/>
                  <a:pt x="22771" y="0"/>
                  <a:pt x="50819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5500" y="9557817"/>
            <a:ext cx="5912911" cy="5249863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Predict disease progression def build_medical_lstm(sequence_length, n_features): model = keras.Sequential([ layers.LSTM(64, return_sequences=True, input_shape=(sequence_length, n_features)), layers.Dropout(0.3), layers.LSTM(32), layers.Dropout(0.3), layers.Dense(16, activation='relu'), layers.Dense(1, activation='sigmoid') ]) model.compile( optimizer='adam', loss='binary_crossentropy' ) return model # Biomarkers over time model = build_medical_lstm(sequence_length=30, n_features=10)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4350" y="15234841"/>
            <a:ext cx="4965700" cy="927100"/>
          </a:xfrm>
          <a:custGeom>
            <a:avLst/>
            <a:gdLst/>
            <a:ahLst/>
            <a:cxnLst/>
            <a:rect l="l" t="t" r="r" b="b"/>
            <a:pathLst>
              <a:path w="4965700" h="927100">
                <a:moveTo>
                  <a:pt x="101601" y="0"/>
                </a:moveTo>
                <a:lnTo>
                  <a:pt x="4864099" y="0"/>
                </a:lnTo>
                <a:cubicBezTo>
                  <a:pt x="4920212" y="0"/>
                  <a:pt x="4965700" y="45488"/>
                  <a:pt x="4965700" y="101601"/>
                </a:cubicBezTo>
                <a:lnTo>
                  <a:pt x="4965700" y="825499"/>
                </a:lnTo>
                <a:cubicBezTo>
                  <a:pt x="4965700" y="881612"/>
                  <a:pt x="4920212" y="927100"/>
                  <a:pt x="48640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600" y="15393591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8650" y="15749191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Imágenes médicas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45150" y="15234841"/>
            <a:ext cx="4965700" cy="927100"/>
          </a:xfrm>
          <a:custGeom>
            <a:avLst/>
            <a:gdLst/>
            <a:ahLst/>
            <a:cxnLst/>
            <a:rect l="l" t="t" r="r" b="b"/>
            <a:pathLst>
              <a:path w="4965700" h="927100">
                <a:moveTo>
                  <a:pt x="101601" y="0"/>
                </a:moveTo>
                <a:lnTo>
                  <a:pt x="4864099" y="0"/>
                </a:lnTo>
                <a:cubicBezTo>
                  <a:pt x="4920212" y="0"/>
                  <a:pt x="4965700" y="45488"/>
                  <a:pt x="4965700" y="101601"/>
                </a:cubicBezTo>
                <a:lnTo>
                  <a:pt x="4965700" y="825499"/>
                </a:lnTo>
                <a:cubicBezTo>
                  <a:pt x="4965700" y="881612"/>
                  <a:pt x="4920212" y="927100"/>
                  <a:pt x="48640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0400" y="15393591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59450" y="15749191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Datos tabulares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75950" y="15234841"/>
            <a:ext cx="4965700" cy="927100"/>
          </a:xfrm>
          <a:custGeom>
            <a:avLst/>
            <a:gdLst/>
            <a:ahLst/>
            <a:cxnLst/>
            <a:rect l="l" t="t" r="r" b="b"/>
            <a:pathLst>
              <a:path w="4965700" h="927100">
                <a:moveTo>
                  <a:pt x="101601" y="0"/>
                </a:moveTo>
                <a:lnTo>
                  <a:pt x="4864099" y="0"/>
                </a:lnTo>
                <a:cubicBezTo>
                  <a:pt x="4920212" y="0"/>
                  <a:pt x="4965700" y="45488"/>
                  <a:pt x="4965700" y="101601"/>
                </a:cubicBezTo>
                <a:lnTo>
                  <a:pt x="4965700" y="825499"/>
                </a:lnTo>
                <a:cubicBezTo>
                  <a:pt x="4965700" y="881612"/>
                  <a:pt x="4920212" y="927100"/>
                  <a:pt x="48640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71200" y="15393591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890250" y="15749191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Series temporales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42"/>
            <a:ext cx="1843484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Transferencia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Aplicaciones: Marketing e Industria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6858000"/>
          </a:xfrm>
          <a:custGeom>
            <a:avLst/>
            <a:gdLst/>
            <a:ahLst/>
            <a:cxnLst/>
            <a:rect l="l" t="t" r="r" b="b"/>
            <a:pathLst>
              <a:path w="7531100" h="6858000">
                <a:moveTo>
                  <a:pt x="101567" y="0"/>
                </a:moveTo>
                <a:lnTo>
                  <a:pt x="7429533" y="0"/>
                </a:lnTo>
                <a:cubicBezTo>
                  <a:pt x="7485627" y="0"/>
                  <a:pt x="7531100" y="45473"/>
                  <a:pt x="7531100" y="101567"/>
                </a:cubicBezTo>
                <a:lnTo>
                  <a:pt x="7531100" y="6756433"/>
                </a:lnTo>
                <a:cubicBezTo>
                  <a:pt x="7531100" y="6812527"/>
                  <a:pt x="7485627" y="6858000"/>
                  <a:pt x="7429533" y="6858000"/>
                </a:cubicBezTo>
                <a:lnTo>
                  <a:pt x="101567" y="6858000"/>
                </a:lnTo>
                <a:cubicBezTo>
                  <a:pt x="45473" y="6858000"/>
                  <a:pt x="0" y="6812527"/>
                  <a:pt x="0" y="6756433"/>
                </a:cubicBezTo>
                <a:lnTo>
                  <a:pt x="0" y="101567"/>
                </a:lnTo>
                <a:cubicBezTo>
                  <a:pt x="0" y="45473"/>
                  <a:pt x="45473" y="0"/>
                  <a:pt x="10156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Segmentación de Clientes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5842000"/>
          </a:xfrm>
          <a:custGeom>
            <a:avLst/>
            <a:gdLst/>
            <a:ahLst/>
            <a:cxnLst/>
            <a:rect l="l" t="t" r="r" b="b"/>
            <a:pathLst>
              <a:path w="7213600" h="5842000">
                <a:moveTo>
                  <a:pt x="101592" y="0"/>
                </a:moveTo>
                <a:lnTo>
                  <a:pt x="7112008" y="0"/>
                </a:lnTo>
                <a:cubicBezTo>
                  <a:pt x="7168116" y="0"/>
                  <a:pt x="7213600" y="45484"/>
                  <a:pt x="7213600" y="101592"/>
                </a:cubicBezTo>
                <a:lnTo>
                  <a:pt x="7213600" y="5740408"/>
                </a:lnTo>
                <a:cubicBezTo>
                  <a:pt x="7213600" y="5796516"/>
                  <a:pt x="7168116" y="5842000"/>
                  <a:pt x="7112008" y="5842000"/>
                </a:cubicBezTo>
                <a:lnTo>
                  <a:pt x="101592" y="5842000"/>
                </a:lnTo>
                <a:cubicBezTo>
                  <a:pt x="45484" y="5842000"/>
                  <a:pt x="0" y="5796516"/>
                  <a:pt x="0" y="57404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5500" y="2328342"/>
            <a:ext cx="5364626" cy="5501349"/>
          </a:xfrm>
          <a:custGeom>
            <a:avLst/>
            <a:gdLst/>
            <a:ahLst/>
            <a:cxnLst/>
            <a:rect l="l" t="t" r="r" b="b"/>
            <a:pathLst>
              <a:path w="5364626" h="5501349">
                <a:moveTo>
                  <a:pt x="50803" y="0"/>
                </a:moveTo>
                <a:lnTo>
                  <a:pt x="5313823" y="0"/>
                </a:lnTo>
                <a:cubicBezTo>
                  <a:pt x="5341880" y="0"/>
                  <a:pt x="5364626" y="22745"/>
                  <a:pt x="5364626" y="50803"/>
                </a:cubicBezTo>
                <a:lnTo>
                  <a:pt x="5364626" y="5450546"/>
                </a:lnTo>
                <a:cubicBezTo>
                  <a:pt x="5364626" y="5478604"/>
                  <a:pt x="5341880" y="5501349"/>
                  <a:pt x="5313823" y="5501349"/>
                </a:cubicBezTo>
                <a:lnTo>
                  <a:pt x="50803" y="5501349"/>
                </a:lnTo>
                <a:cubicBezTo>
                  <a:pt x="22745" y="5501349"/>
                  <a:pt x="0" y="5478604"/>
                  <a:pt x="0" y="5450546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5500" y="2328342"/>
            <a:ext cx="5442350" cy="5501349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sklearn.cluster import KMeans # Same as Chess Trainer Phase 4 customer_features = df.groupby('customer_id').agg({ 'total_spent': 'sum', 'purchase_frequency': 'mean', 'avg_order_value': 'mean', 'days_since_last_purchase': 'first' }).reset_index() # Standardize scaler = StandardScaler() X_scaled = scaler.fit_transform( customer_features.drop('customer_id', axis=1) ) # K-Means clustering kmeans = KMeans(n_clusters=4, random_state=42, n_init=10) clusters = kmeans.fit_predict(X_scaled) customer_features['cluster'] = clusters print(customer_features.groupby('cluster').mean())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10550" y="1530350"/>
            <a:ext cx="7531100" cy="6858000"/>
          </a:xfrm>
          <a:custGeom>
            <a:avLst/>
            <a:gdLst/>
            <a:ahLst/>
            <a:cxnLst/>
            <a:rect l="l" t="t" r="r" b="b"/>
            <a:pathLst>
              <a:path w="7531100" h="6858000">
                <a:moveTo>
                  <a:pt x="101567" y="0"/>
                </a:moveTo>
                <a:lnTo>
                  <a:pt x="7429533" y="0"/>
                </a:lnTo>
                <a:cubicBezTo>
                  <a:pt x="7485627" y="0"/>
                  <a:pt x="7531100" y="45473"/>
                  <a:pt x="7531100" y="101567"/>
                </a:cubicBezTo>
                <a:lnTo>
                  <a:pt x="7531100" y="6756433"/>
                </a:lnTo>
                <a:cubicBezTo>
                  <a:pt x="7531100" y="6812527"/>
                  <a:pt x="7485627" y="6858000"/>
                  <a:pt x="7429533" y="6858000"/>
                </a:cubicBezTo>
                <a:lnTo>
                  <a:pt x="101567" y="6858000"/>
                </a:lnTo>
                <a:cubicBezTo>
                  <a:pt x="45473" y="6858000"/>
                  <a:pt x="0" y="6812527"/>
                  <a:pt x="0" y="6756433"/>
                </a:cubicBezTo>
                <a:lnTo>
                  <a:pt x="0" y="101567"/>
                </a:lnTo>
                <a:cubicBezTo>
                  <a:pt x="0" y="45473"/>
                  <a:pt x="45473" y="0"/>
                  <a:pt x="10156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Predicción de Churn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69300" y="2146300"/>
            <a:ext cx="7213600" cy="6083300"/>
          </a:xfrm>
          <a:custGeom>
            <a:avLst/>
            <a:gdLst/>
            <a:ahLst/>
            <a:cxnLst/>
            <a:rect l="l" t="t" r="r" b="b"/>
            <a:pathLst>
              <a:path w="7213600" h="6083300">
                <a:moveTo>
                  <a:pt x="101591" y="0"/>
                </a:moveTo>
                <a:lnTo>
                  <a:pt x="7112009" y="0"/>
                </a:lnTo>
                <a:cubicBezTo>
                  <a:pt x="7168116" y="0"/>
                  <a:pt x="7213600" y="45484"/>
                  <a:pt x="7213600" y="101591"/>
                </a:cubicBezTo>
                <a:lnTo>
                  <a:pt x="7213600" y="5981709"/>
                </a:lnTo>
                <a:cubicBezTo>
                  <a:pt x="7213600" y="6037816"/>
                  <a:pt x="7168116" y="6083300"/>
                  <a:pt x="7112009" y="6083300"/>
                </a:cubicBezTo>
                <a:lnTo>
                  <a:pt x="101591" y="6083300"/>
                </a:lnTo>
                <a:cubicBezTo>
                  <a:pt x="45484" y="6083300"/>
                  <a:pt x="0" y="6037816"/>
                  <a:pt x="0" y="59817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21700" y="2328342"/>
            <a:ext cx="4611688" cy="5752836"/>
          </a:xfrm>
          <a:custGeom>
            <a:avLst/>
            <a:gdLst/>
            <a:ahLst/>
            <a:cxnLst/>
            <a:rect l="l" t="t" r="r" b="b"/>
            <a:pathLst>
              <a:path w="4611688" h="5752836">
                <a:moveTo>
                  <a:pt x="50821" y="0"/>
                </a:moveTo>
                <a:lnTo>
                  <a:pt x="4560867" y="0"/>
                </a:lnTo>
                <a:cubicBezTo>
                  <a:pt x="4588934" y="0"/>
                  <a:pt x="4611688" y="22753"/>
                  <a:pt x="4611688" y="50821"/>
                </a:cubicBezTo>
                <a:lnTo>
                  <a:pt x="4611688" y="5702015"/>
                </a:lnTo>
                <a:cubicBezTo>
                  <a:pt x="4611688" y="5730082"/>
                  <a:pt x="4588934" y="5752836"/>
                  <a:pt x="4560867" y="5752836"/>
                </a:cubicBezTo>
                <a:lnTo>
                  <a:pt x="50821" y="5752836"/>
                </a:lnTo>
                <a:cubicBezTo>
                  <a:pt x="22753" y="5752836"/>
                  <a:pt x="0" y="5730082"/>
                  <a:pt x="0" y="5702015"/>
                </a:cubicBezTo>
                <a:lnTo>
                  <a:pt x="0" y="50821"/>
                </a:lnTo>
                <a:cubicBezTo>
                  <a:pt x="0" y="22753"/>
                  <a:pt x="22753" y="0"/>
                  <a:pt x="5082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521700" y="2328342"/>
            <a:ext cx="4689412" cy="5752836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 xgboost as xgb # Same algorithms as Chess Trainer churn_features = [ 'tenure', 'monthly_charges', 'total_charges', 'num_support_tickets', 'contract_length' ] model = xgb.XGBClassifier( n_estimators=200, max_depth=5, learning_rate=0.1, random_state=42 ) model.fit(X_train, y_train) # Predict probability of churn churn_proba = model.predict_proba(X_test)[:, 1] # Take action for high-risk high_risk = X_test[churn_proba &gt; 0.7] print(f"High-risk customers: {len(high_risk)}")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350" y="8508343"/>
            <a:ext cx="15227300" cy="8115300"/>
          </a:xfrm>
          <a:custGeom>
            <a:avLst/>
            <a:gdLst/>
            <a:ahLst/>
            <a:cxnLst/>
            <a:rect l="l" t="t" r="r" b="b"/>
            <a:pathLst>
              <a:path w="15227300" h="8115300">
                <a:moveTo>
                  <a:pt x="101604" y="0"/>
                </a:moveTo>
                <a:lnTo>
                  <a:pt x="15125696" y="0"/>
                </a:lnTo>
                <a:cubicBezTo>
                  <a:pt x="15181811" y="0"/>
                  <a:pt x="15227300" y="45489"/>
                  <a:pt x="15227300" y="101604"/>
                </a:cubicBezTo>
                <a:lnTo>
                  <a:pt x="15227300" y="8013696"/>
                </a:lnTo>
                <a:cubicBezTo>
                  <a:pt x="15227300" y="8069811"/>
                  <a:pt x="15181811" y="8115300"/>
                  <a:pt x="15125696" y="8115300"/>
                </a:cubicBezTo>
                <a:lnTo>
                  <a:pt x="101604" y="8115300"/>
                </a:lnTo>
                <a:cubicBezTo>
                  <a:pt x="45489" y="8115300"/>
                  <a:pt x="0" y="8069811"/>
                  <a:pt x="0" y="80136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100" y="8667093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Mantenimiento Predictivo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3100" y="9124293"/>
            <a:ext cx="14909800" cy="7340600"/>
          </a:xfrm>
          <a:custGeom>
            <a:avLst/>
            <a:gdLst/>
            <a:ahLst/>
            <a:cxnLst/>
            <a:rect l="l" t="t" r="r" b="b"/>
            <a:pathLst>
              <a:path w="14909800" h="7340600">
                <a:moveTo>
                  <a:pt x="101594" y="0"/>
                </a:moveTo>
                <a:lnTo>
                  <a:pt x="14808206" y="0"/>
                </a:lnTo>
                <a:cubicBezTo>
                  <a:pt x="14864315" y="0"/>
                  <a:pt x="14909800" y="45485"/>
                  <a:pt x="14909800" y="101594"/>
                </a:cubicBezTo>
                <a:lnTo>
                  <a:pt x="14909800" y="7239006"/>
                </a:lnTo>
                <a:cubicBezTo>
                  <a:pt x="14909800" y="7295115"/>
                  <a:pt x="14864315" y="7340600"/>
                  <a:pt x="14808206" y="7340600"/>
                </a:cubicBezTo>
                <a:lnTo>
                  <a:pt x="101594" y="7340600"/>
                </a:lnTo>
                <a:cubicBezTo>
                  <a:pt x="45485" y="7340600"/>
                  <a:pt x="0" y="7295115"/>
                  <a:pt x="0" y="7239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5500" y="9306322"/>
            <a:ext cx="6023438" cy="7010268"/>
          </a:xfrm>
          <a:custGeom>
            <a:avLst/>
            <a:gdLst/>
            <a:ahLst/>
            <a:cxnLst/>
            <a:rect l="l" t="t" r="r" b="b"/>
            <a:pathLst>
              <a:path w="6023438" h="7010268">
                <a:moveTo>
                  <a:pt x="50778" y="0"/>
                </a:moveTo>
                <a:lnTo>
                  <a:pt x="5972661" y="0"/>
                </a:lnTo>
                <a:cubicBezTo>
                  <a:pt x="6000704" y="0"/>
                  <a:pt x="6023438" y="22734"/>
                  <a:pt x="6023438" y="50778"/>
                </a:cubicBezTo>
                <a:lnTo>
                  <a:pt x="6023438" y="6959491"/>
                </a:lnTo>
                <a:cubicBezTo>
                  <a:pt x="6023438" y="6987534"/>
                  <a:pt x="6000704" y="7010268"/>
                  <a:pt x="5972661" y="7010268"/>
                </a:cubicBezTo>
                <a:lnTo>
                  <a:pt x="50778" y="7010268"/>
                </a:lnTo>
                <a:cubicBezTo>
                  <a:pt x="22734" y="7010268"/>
                  <a:pt x="0" y="6987534"/>
                  <a:pt x="0" y="6959491"/>
                </a:cubicBezTo>
                <a:lnTo>
                  <a:pt x="0" y="50778"/>
                </a:lnTo>
                <a:cubicBezTo>
                  <a:pt x="0" y="22753"/>
                  <a:pt x="22753" y="0"/>
                  <a:pt x="50778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5500" y="9306322"/>
            <a:ext cx="6101162" cy="7010268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ctr"/>
          <a:lstStyle/>
          <a:p>
            <a:pPr>
              <a:lnSpc>
                <a:spcPct val="120000"/>
              </a:lnSpc>
            </a:pPr>
            <a:r>
              <a:rPr lang="en-US" sz="122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LSTM for predictive maintenance # Similar to Chess Trainer temporal analysis def build_maintenance_lstm(sequence_length, n_sensors): model = keras.Sequential([ layers.LSTM(64, return_sequences=True, input_shape=(sequence_length, n_sensors)), layers.Dropout(0.3), layers.LSTM(32), layers.Dropout(0.3), layers.Dense(16, activation='relu'), layers.Dense(1, activation='sigmoid') ]) model.compile( optimizer='adam', loss='binary_crossentropy' ) return model # Sensor data over time model = build_maintenance_lstm(sequence_length=50, n_sensors=10) # Predict failure probability failure_proba = model.predict(sensor_sequence) if failure_proba &gt; 0.8: print("⚠️ Maintenance required!")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4350" y="16743759"/>
            <a:ext cx="4965700" cy="927100"/>
          </a:xfrm>
          <a:custGeom>
            <a:avLst/>
            <a:gdLst/>
            <a:ahLst/>
            <a:cxnLst/>
            <a:rect l="l" t="t" r="r" b="b"/>
            <a:pathLst>
              <a:path w="4965700" h="927100">
                <a:moveTo>
                  <a:pt x="101601" y="0"/>
                </a:moveTo>
                <a:lnTo>
                  <a:pt x="4864099" y="0"/>
                </a:lnTo>
                <a:cubicBezTo>
                  <a:pt x="4920212" y="0"/>
                  <a:pt x="4965700" y="45488"/>
                  <a:pt x="4965700" y="101601"/>
                </a:cubicBezTo>
                <a:lnTo>
                  <a:pt x="4965700" y="825499"/>
                </a:lnTo>
                <a:cubicBezTo>
                  <a:pt x="4965700" y="881612"/>
                  <a:pt x="4920212" y="927100"/>
                  <a:pt x="48640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600" y="16902509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K-Means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8650" y="17258109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Segmentación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45150" y="16743759"/>
            <a:ext cx="4965700" cy="927100"/>
          </a:xfrm>
          <a:custGeom>
            <a:avLst/>
            <a:gdLst/>
            <a:ahLst/>
            <a:cxnLst/>
            <a:rect l="l" t="t" r="r" b="b"/>
            <a:pathLst>
              <a:path w="4965700" h="927100">
                <a:moveTo>
                  <a:pt x="101601" y="0"/>
                </a:moveTo>
                <a:lnTo>
                  <a:pt x="4864099" y="0"/>
                </a:lnTo>
                <a:cubicBezTo>
                  <a:pt x="4920212" y="0"/>
                  <a:pt x="4965700" y="45488"/>
                  <a:pt x="4965700" y="101601"/>
                </a:cubicBezTo>
                <a:lnTo>
                  <a:pt x="4965700" y="825499"/>
                </a:lnTo>
                <a:cubicBezTo>
                  <a:pt x="4965700" y="881612"/>
                  <a:pt x="4920212" y="927100"/>
                  <a:pt x="48640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0400" y="16902509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59450" y="17258109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Churn prediction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75950" y="16743759"/>
            <a:ext cx="4965700" cy="927100"/>
          </a:xfrm>
          <a:custGeom>
            <a:avLst/>
            <a:gdLst/>
            <a:ahLst/>
            <a:cxnLst/>
            <a:rect l="l" t="t" r="r" b="b"/>
            <a:pathLst>
              <a:path w="4965700" h="927100">
                <a:moveTo>
                  <a:pt x="101601" y="0"/>
                </a:moveTo>
                <a:lnTo>
                  <a:pt x="4864099" y="0"/>
                </a:lnTo>
                <a:cubicBezTo>
                  <a:pt x="4920212" y="0"/>
                  <a:pt x="4965700" y="45488"/>
                  <a:pt x="4965700" y="101601"/>
                </a:cubicBezTo>
                <a:lnTo>
                  <a:pt x="4965700" y="825499"/>
                </a:lnTo>
                <a:cubicBezTo>
                  <a:pt x="4965700" y="881612"/>
                  <a:pt x="4920212" y="927100"/>
                  <a:pt x="48640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71200" y="16902509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890250" y="17258109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Mantenimiento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64cd9ab5b963ec27e4ba6a1d7c6591d534f0337a.jpe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508000" y="969442"/>
            <a:ext cx="178944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13589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Lecciones y Repositorio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14350" y="2279650"/>
            <a:ext cx="15227300" cy="2552700"/>
          </a:xfrm>
          <a:custGeom>
            <a:avLst/>
            <a:gdLst/>
            <a:ahLst/>
            <a:cxnLst/>
            <a:rect l="l" t="t" r="r" b="b"/>
            <a:pathLst>
              <a:path w="15227300" h="2552700">
                <a:moveTo>
                  <a:pt x="101597" y="0"/>
                </a:moveTo>
                <a:lnTo>
                  <a:pt x="15125703" y="0"/>
                </a:lnTo>
                <a:cubicBezTo>
                  <a:pt x="15181813" y="0"/>
                  <a:pt x="15227300" y="45487"/>
                  <a:pt x="15227300" y="101597"/>
                </a:cubicBezTo>
                <a:lnTo>
                  <a:pt x="15227300" y="2451103"/>
                </a:lnTo>
                <a:cubicBezTo>
                  <a:pt x="15227300" y="2507213"/>
                  <a:pt x="15181813" y="2552700"/>
                  <a:pt x="15125703" y="2552700"/>
                </a:cubicBezTo>
                <a:lnTo>
                  <a:pt x="101597" y="2552700"/>
                </a:lnTo>
                <a:cubicBezTo>
                  <a:pt x="45487" y="2552700"/>
                  <a:pt x="0" y="2507213"/>
                  <a:pt x="0" y="24511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2B2D42">
              <a:alpha val="70196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4700" y="2540000"/>
            <a:ext cx="737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Lecciones Clave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4700" y="3048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50801" y="0"/>
                </a:moveTo>
                <a:lnTo>
                  <a:pt x="215899" y="0"/>
                </a:lnTo>
                <a:cubicBezTo>
                  <a:pt x="243956" y="0"/>
                  <a:pt x="266700" y="22744"/>
                  <a:pt x="266700" y="50801"/>
                </a:cubicBezTo>
                <a:lnTo>
                  <a:pt x="266700" y="253999"/>
                </a:lnTo>
                <a:cubicBezTo>
                  <a:pt x="266700" y="282056"/>
                  <a:pt x="243956" y="304800"/>
                  <a:pt x="2158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774700" y="3048000"/>
            <a:ext cx="3429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39428" y="3056471"/>
            <a:ext cx="3387659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engineering &gt; model complexity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74700" y="3454400"/>
            <a:ext cx="292100" cy="304800"/>
          </a:xfrm>
          <a:custGeom>
            <a:avLst/>
            <a:gdLst/>
            <a:ahLst/>
            <a:cxnLst/>
            <a:rect l="l" t="t" r="r" b="b"/>
            <a:pathLst>
              <a:path w="292100" h="304800">
                <a:moveTo>
                  <a:pt x="50799" y="0"/>
                </a:moveTo>
                <a:lnTo>
                  <a:pt x="241301" y="0"/>
                </a:lnTo>
                <a:cubicBezTo>
                  <a:pt x="269356" y="0"/>
                  <a:pt x="292100" y="22744"/>
                  <a:pt x="292100" y="50799"/>
                </a:cubicBezTo>
                <a:lnTo>
                  <a:pt x="292100" y="254001"/>
                </a:lnTo>
                <a:cubicBezTo>
                  <a:pt x="292100" y="282056"/>
                  <a:pt x="269356" y="304800"/>
                  <a:pt x="241301" y="304800"/>
                </a:cubicBezTo>
                <a:lnTo>
                  <a:pt x="50799" y="304800"/>
                </a:lnTo>
                <a:cubicBezTo>
                  <a:pt x="22744" y="304800"/>
                  <a:pt x="0" y="282056"/>
                  <a:pt x="0" y="2540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2" name="Text 9"/>
          <p:cNvSpPr/>
          <p:nvPr/>
        </p:nvSpPr>
        <p:spPr>
          <a:xfrm>
            <a:off x="774700" y="3454400"/>
            <a:ext cx="3683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65159" y="3462871"/>
            <a:ext cx="2427552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Validación rigurosa es crítica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74700" y="3860800"/>
            <a:ext cx="292100" cy="304800"/>
          </a:xfrm>
          <a:custGeom>
            <a:avLst/>
            <a:gdLst/>
            <a:ahLst/>
            <a:cxnLst/>
            <a:rect l="l" t="t" r="r" b="b"/>
            <a:pathLst>
              <a:path w="292100" h="304800">
                <a:moveTo>
                  <a:pt x="50799" y="0"/>
                </a:moveTo>
                <a:lnTo>
                  <a:pt x="241301" y="0"/>
                </a:lnTo>
                <a:cubicBezTo>
                  <a:pt x="269356" y="0"/>
                  <a:pt x="292100" y="22744"/>
                  <a:pt x="292100" y="50799"/>
                </a:cubicBezTo>
                <a:lnTo>
                  <a:pt x="292100" y="254001"/>
                </a:lnTo>
                <a:cubicBezTo>
                  <a:pt x="292100" y="282056"/>
                  <a:pt x="269356" y="304800"/>
                  <a:pt x="241301" y="304800"/>
                </a:cubicBezTo>
                <a:lnTo>
                  <a:pt x="50799" y="304800"/>
                </a:lnTo>
                <a:cubicBezTo>
                  <a:pt x="22744" y="304800"/>
                  <a:pt x="0" y="282056"/>
                  <a:pt x="0" y="2540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2"/>
          <p:cNvSpPr/>
          <p:nvPr/>
        </p:nvSpPr>
        <p:spPr>
          <a:xfrm>
            <a:off x="774700" y="3860800"/>
            <a:ext cx="3683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69128" y="3869271"/>
            <a:ext cx="3339306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Ensembles especializados &gt; monolíticos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74700" y="4267200"/>
            <a:ext cx="292100" cy="304800"/>
          </a:xfrm>
          <a:custGeom>
            <a:avLst/>
            <a:gdLst/>
            <a:ahLst/>
            <a:cxnLst/>
            <a:rect l="l" t="t" r="r" b="b"/>
            <a:pathLst>
              <a:path w="292100" h="304800">
                <a:moveTo>
                  <a:pt x="50799" y="0"/>
                </a:moveTo>
                <a:lnTo>
                  <a:pt x="241301" y="0"/>
                </a:lnTo>
                <a:cubicBezTo>
                  <a:pt x="269356" y="0"/>
                  <a:pt x="292100" y="22744"/>
                  <a:pt x="292100" y="50799"/>
                </a:cubicBezTo>
                <a:lnTo>
                  <a:pt x="292100" y="254001"/>
                </a:lnTo>
                <a:cubicBezTo>
                  <a:pt x="292100" y="282056"/>
                  <a:pt x="269356" y="304800"/>
                  <a:pt x="241301" y="304800"/>
                </a:cubicBezTo>
                <a:lnTo>
                  <a:pt x="50799" y="304800"/>
                </a:lnTo>
                <a:cubicBezTo>
                  <a:pt x="22744" y="304800"/>
                  <a:pt x="0" y="282056"/>
                  <a:pt x="0" y="2540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8" name="Text 15"/>
          <p:cNvSpPr/>
          <p:nvPr/>
        </p:nvSpPr>
        <p:spPr>
          <a:xfrm>
            <a:off x="774700" y="4267200"/>
            <a:ext cx="3683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68863" y="4275671"/>
            <a:ext cx="248410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MLflow para reproducibilidad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229600" y="2540000"/>
            <a:ext cx="737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Repositorio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255000" y="3086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60389" y="138003"/>
                </a:moveTo>
                <a:cubicBezTo>
                  <a:pt x="60389" y="138698"/>
                  <a:pt x="59591" y="139254"/>
                  <a:pt x="58584" y="139254"/>
                </a:cubicBezTo>
                <a:cubicBezTo>
                  <a:pt x="57438" y="139358"/>
                  <a:pt x="56639" y="138802"/>
                  <a:pt x="56639" y="138003"/>
                </a:cubicBezTo>
                <a:cubicBezTo>
                  <a:pt x="56639" y="137309"/>
                  <a:pt x="57438" y="136753"/>
                  <a:pt x="58445" y="136753"/>
                </a:cubicBezTo>
                <a:cubicBezTo>
                  <a:pt x="59487" y="136649"/>
                  <a:pt x="60389" y="137205"/>
                  <a:pt x="60389" y="138003"/>
                </a:cubicBezTo>
                <a:close/>
                <a:moveTo>
                  <a:pt x="49590" y="136441"/>
                </a:moveTo>
                <a:cubicBezTo>
                  <a:pt x="49346" y="137135"/>
                  <a:pt x="50041" y="137934"/>
                  <a:pt x="51083" y="138142"/>
                </a:cubicBezTo>
                <a:cubicBezTo>
                  <a:pt x="51986" y="138490"/>
                  <a:pt x="53027" y="138142"/>
                  <a:pt x="53236" y="137448"/>
                </a:cubicBezTo>
                <a:cubicBezTo>
                  <a:pt x="53444" y="136753"/>
                  <a:pt x="52784" y="135954"/>
                  <a:pt x="51743" y="135642"/>
                </a:cubicBezTo>
                <a:cubicBezTo>
                  <a:pt x="50840" y="135399"/>
                  <a:pt x="49833" y="135746"/>
                  <a:pt x="49590" y="136441"/>
                </a:cubicBezTo>
                <a:close/>
                <a:moveTo>
                  <a:pt x="64939" y="135850"/>
                </a:moveTo>
                <a:cubicBezTo>
                  <a:pt x="63932" y="136093"/>
                  <a:pt x="63237" y="136753"/>
                  <a:pt x="63341" y="137552"/>
                </a:cubicBezTo>
                <a:cubicBezTo>
                  <a:pt x="63445" y="138246"/>
                  <a:pt x="64348" y="138698"/>
                  <a:pt x="65390" y="138455"/>
                </a:cubicBezTo>
                <a:cubicBezTo>
                  <a:pt x="66397" y="138212"/>
                  <a:pt x="67092" y="137552"/>
                  <a:pt x="66988" y="136857"/>
                </a:cubicBezTo>
                <a:cubicBezTo>
                  <a:pt x="66883" y="136198"/>
                  <a:pt x="65946" y="135746"/>
                  <a:pt x="64939" y="135850"/>
                </a:cubicBezTo>
                <a:close/>
                <a:moveTo>
                  <a:pt x="87789" y="2778"/>
                </a:moveTo>
                <a:cubicBezTo>
                  <a:pt x="39623" y="2778"/>
                  <a:pt x="2778" y="39345"/>
                  <a:pt x="2778" y="87511"/>
                </a:cubicBezTo>
                <a:cubicBezTo>
                  <a:pt x="2778" y="126023"/>
                  <a:pt x="27017" y="158978"/>
                  <a:pt x="61640" y="170577"/>
                </a:cubicBezTo>
                <a:cubicBezTo>
                  <a:pt x="66085" y="171376"/>
                  <a:pt x="67647" y="168632"/>
                  <a:pt x="67647" y="166375"/>
                </a:cubicBezTo>
                <a:cubicBezTo>
                  <a:pt x="67647" y="164222"/>
                  <a:pt x="67543" y="152345"/>
                  <a:pt x="67543" y="145053"/>
                </a:cubicBezTo>
                <a:cubicBezTo>
                  <a:pt x="67543" y="145053"/>
                  <a:pt x="43235" y="150262"/>
                  <a:pt x="38130" y="134704"/>
                </a:cubicBezTo>
                <a:cubicBezTo>
                  <a:pt x="38130" y="134704"/>
                  <a:pt x="34171" y="124599"/>
                  <a:pt x="28476" y="121994"/>
                </a:cubicBezTo>
                <a:cubicBezTo>
                  <a:pt x="28476" y="121994"/>
                  <a:pt x="20523" y="116542"/>
                  <a:pt x="29031" y="116647"/>
                </a:cubicBezTo>
                <a:cubicBezTo>
                  <a:pt x="29031" y="116647"/>
                  <a:pt x="37678" y="117341"/>
                  <a:pt x="42436" y="125606"/>
                </a:cubicBezTo>
                <a:cubicBezTo>
                  <a:pt x="50041" y="139010"/>
                  <a:pt x="62786" y="135156"/>
                  <a:pt x="67752" y="132864"/>
                </a:cubicBezTo>
                <a:cubicBezTo>
                  <a:pt x="68550" y="127308"/>
                  <a:pt x="70807" y="123453"/>
                  <a:pt x="73308" y="121161"/>
                </a:cubicBezTo>
                <a:cubicBezTo>
                  <a:pt x="53896" y="119008"/>
                  <a:pt x="34310" y="116195"/>
                  <a:pt x="34310" y="82788"/>
                </a:cubicBezTo>
                <a:cubicBezTo>
                  <a:pt x="34310" y="73238"/>
                  <a:pt x="36949" y="68446"/>
                  <a:pt x="42505" y="62334"/>
                </a:cubicBezTo>
                <a:cubicBezTo>
                  <a:pt x="41602" y="60077"/>
                  <a:pt x="38651" y="50770"/>
                  <a:pt x="43408" y="38755"/>
                </a:cubicBezTo>
                <a:cubicBezTo>
                  <a:pt x="50666" y="36498"/>
                  <a:pt x="67370" y="48131"/>
                  <a:pt x="67370" y="48131"/>
                </a:cubicBezTo>
                <a:cubicBezTo>
                  <a:pt x="74315" y="46186"/>
                  <a:pt x="81781" y="45179"/>
                  <a:pt x="89178" y="45179"/>
                </a:cubicBezTo>
                <a:cubicBezTo>
                  <a:pt x="96575" y="45179"/>
                  <a:pt x="104041" y="46186"/>
                  <a:pt x="110986" y="48131"/>
                </a:cubicBezTo>
                <a:cubicBezTo>
                  <a:pt x="110986" y="48131"/>
                  <a:pt x="127690" y="36463"/>
                  <a:pt x="134947" y="38755"/>
                </a:cubicBezTo>
                <a:cubicBezTo>
                  <a:pt x="139705" y="50805"/>
                  <a:pt x="136753" y="60077"/>
                  <a:pt x="135850" y="62334"/>
                </a:cubicBezTo>
                <a:cubicBezTo>
                  <a:pt x="141407" y="68481"/>
                  <a:pt x="144810" y="73273"/>
                  <a:pt x="144810" y="82788"/>
                </a:cubicBezTo>
                <a:cubicBezTo>
                  <a:pt x="144810" y="116299"/>
                  <a:pt x="124356" y="118973"/>
                  <a:pt x="104944" y="121161"/>
                </a:cubicBezTo>
                <a:cubicBezTo>
                  <a:pt x="108139" y="123904"/>
                  <a:pt x="110847" y="129113"/>
                  <a:pt x="110847" y="137274"/>
                </a:cubicBezTo>
                <a:cubicBezTo>
                  <a:pt x="110847" y="148977"/>
                  <a:pt x="110743" y="163458"/>
                  <a:pt x="110743" y="166306"/>
                </a:cubicBezTo>
                <a:cubicBezTo>
                  <a:pt x="110743" y="168563"/>
                  <a:pt x="112340" y="171306"/>
                  <a:pt x="116751" y="170507"/>
                </a:cubicBezTo>
                <a:cubicBezTo>
                  <a:pt x="151477" y="158978"/>
                  <a:pt x="175022" y="126023"/>
                  <a:pt x="175022" y="87511"/>
                </a:cubicBezTo>
                <a:cubicBezTo>
                  <a:pt x="175022" y="39345"/>
                  <a:pt x="135954" y="2778"/>
                  <a:pt x="87789" y="2778"/>
                </a:cubicBezTo>
                <a:close/>
                <a:moveTo>
                  <a:pt x="36532" y="122550"/>
                </a:moveTo>
                <a:cubicBezTo>
                  <a:pt x="36081" y="122897"/>
                  <a:pt x="36185" y="123696"/>
                  <a:pt x="36775" y="124356"/>
                </a:cubicBezTo>
                <a:cubicBezTo>
                  <a:pt x="37331" y="124911"/>
                  <a:pt x="38130" y="125155"/>
                  <a:pt x="38581" y="124703"/>
                </a:cubicBezTo>
                <a:cubicBezTo>
                  <a:pt x="39033" y="124356"/>
                  <a:pt x="38928" y="123557"/>
                  <a:pt x="38338" y="122897"/>
                </a:cubicBezTo>
                <a:cubicBezTo>
                  <a:pt x="37783" y="122342"/>
                  <a:pt x="36984" y="122099"/>
                  <a:pt x="36532" y="122550"/>
                </a:cubicBezTo>
                <a:close/>
                <a:moveTo>
                  <a:pt x="32782" y="119737"/>
                </a:moveTo>
                <a:cubicBezTo>
                  <a:pt x="32539" y="120189"/>
                  <a:pt x="32886" y="120744"/>
                  <a:pt x="33581" y="121092"/>
                </a:cubicBezTo>
                <a:cubicBezTo>
                  <a:pt x="34136" y="121439"/>
                  <a:pt x="34831" y="121335"/>
                  <a:pt x="35074" y="120848"/>
                </a:cubicBezTo>
                <a:cubicBezTo>
                  <a:pt x="35317" y="120397"/>
                  <a:pt x="34970" y="119841"/>
                  <a:pt x="34275" y="119494"/>
                </a:cubicBezTo>
                <a:cubicBezTo>
                  <a:pt x="33581" y="119286"/>
                  <a:pt x="33025" y="119390"/>
                  <a:pt x="32782" y="119737"/>
                </a:cubicBezTo>
                <a:close/>
                <a:moveTo>
                  <a:pt x="44033" y="132100"/>
                </a:moveTo>
                <a:cubicBezTo>
                  <a:pt x="43478" y="132551"/>
                  <a:pt x="43686" y="133593"/>
                  <a:pt x="44485" y="134253"/>
                </a:cubicBezTo>
                <a:cubicBezTo>
                  <a:pt x="45283" y="135052"/>
                  <a:pt x="46291" y="135156"/>
                  <a:pt x="46742" y="134600"/>
                </a:cubicBezTo>
                <a:cubicBezTo>
                  <a:pt x="47193" y="134149"/>
                  <a:pt x="46985" y="133107"/>
                  <a:pt x="46291" y="132447"/>
                </a:cubicBezTo>
                <a:cubicBezTo>
                  <a:pt x="45527" y="131648"/>
                  <a:pt x="44485" y="131544"/>
                  <a:pt x="44033" y="132100"/>
                </a:cubicBezTo>
                <a:close/>
                <a:moveTo>
                  <a:pt x="40074" y="126995"/>
                </a:moveTo>
                <a:cubicBezTo>
                  <a:pt x="39519" y="127342"/>
                  <a:pt x="39519" y="128245"/>
                  <a:pt x="40074" y="129044"/>
                </a:cubicBezTo>
                <a:cubicBezTo>
                  <a:pt x="40630" y="129843"/>
                  <a:pt x="41568" y="130190"/>
                  <a:pt x="42019" y="129843"/>
                </a:cubicBezTo>
                <a:cubicBezTo>
                  <a:pt x="42575" y="129391"/>
                  <a:pt x="42575" y="128488"/>
                  <a:pt x="42019" y="127690"/>
                </a:cubicBezTo>
                <a:cubicBezTo>
                  <a:pt x="41533" y="126891"/>
                  <a:pt x="40630" y="126544"/>
                  <a:pt x="40074" y="12699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2" name="Text 19"/>
          <p:cNvSpPr/>
          <p:nvPr/>
        </p:nvSpPr>
        <p:spPr>
          <a:xfrm>
            <a:off x="8553450" y="3048000"/>
            <a:ext cx="210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chess-trainer-ml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266113" y="34417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00013" y="0"/>
                </a:moveTo>
                <a:lnTo>
                  <a:pt x="44450" y="0"/>
                </a:lnTo>
                <a:cubicBezTo>
                  <a:pt x="38303" y="0"/>
                  <a:pt x="33337" y="4966"/>
                  <a:pt x="33337" y="11112"/>
                </a:cubicBezTo>
                <a:cubicBezTo>
                  <a:pt x="33337" y="17259"/>
                  <a:pt x="38303" y="22225"/>
                  <a:pt x="44450" y="22225"/>
                </a:cubicBezTo>
                <a:lnTo>
                  <a:pt x="44450" y="74836"/>
                </a:lnTo>
                <a:lnTo>
                  <a:pt x="2604" y="148039"/>
                </a:lnTo>
                <a:cubicBezTo>
                  <a:pt x="903" y="151061"/>
                  <a:pt x="0" y="154429"/>
                  <a:pt x="0" y="157902"/>
                </a:cubicBezTo>
                <a:cubicBezTo>
                  <a:pt x="0" y="168910"/>
                  <a:pt x="8890" y="177800"/>
                  <a:pt x="19898" y="177800"/>
                </a:cubicBezTo>
                <a:lnTo>
                  <a:pt x="135677" y="177800"/>
                </a:lnTo>
                <a:cubicBezTo>
                  <a:pt x="146650" y="177800"/>
                  <a:pt x="155575" y="168910"/>
                  <a:pt x="155575" y="157902"/>
                </a:cubicBezTo>
                <a:cubicBezTo>
                  <a:pt x="155575" y="154429"/>
                  <a:pt x="154672" y="151026"/>
                  <a:pt x="152971" y="148039"/>
                </a:cubicBezTo>
                <a:lnTo>
                  <a:pt x="111125" y="74836"/>
                </a:lnTo>
                <a:lnTo>
                  <a:pt x="111125" y="22225"/>
                </a:lnTo>
                <a:cubicBezTo>
                  <a:pt x="117272" y="22225"/>
                  <a:pt x="122238" y="17259"/>
                  <a:pt x="122238" y="11112"/>
                </a:cubicBezTo>
                <a:cubicBezTo>
                  <a:pt x="122238" y="4966"/>
                  <a:pt x="117272" y="0"/>
                  <a:pt x="111125" y="0"/>
                </a:cubicBezTo>
                <a:lnTo>
                  <a:pt x="100013" y="0"/>
                </a:lnTo>
                <a:close/>
                <a:moveTo>
                  <a:pt x="66675" y="74836"/>
                </a:moveTo>
                <a:lnTo>
                  <a:pt x="66675" y="22225"/>
                </a:lnTo>
                <a:lnTo>
                  <a:pt x="88900" y="22225"/>
                </a:lnTo>
                <a:lnTo>
                  <a:pt x="88900" y="74836"/>
                </a:lnTo>
                <a:cubicBezTo>
                  <a:pt x="88900" y="78690"/>
                  <a:pt x="89907" y="82510"/>
                  <a:pt x="91817" y="85879"/>
                </a:cubicBezTo>
                <a:lnTo>
                  <a:pt x="106263" y="111125"/>
                </a:lnTo>
                <a:lnTo>
                  <a:pt x="49312" y="111125"/>
                </a:lnTo>
                <a:lnTo>
                  <a:pt x="63758" y="85879"/>
                </a:lnTo>
                <a:cubicBezTo>
                  <a:pt x="65668" y="82510"/>
                  <a:pt x="66675" y="78725"/>
                  <a:pt x="66675" y="74836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4" name="Text 21"/>
          <p:cNvSpPr/>
          <p:nvPr/>
        </p:nvSpPr>
        <p:spPr>
          <a:xfrm>
            <a:off x="8553450" y="3403600"/>
            <a:ext cx="242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MLflow: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Experiment tracking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266113" y="37973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33350" y="177800"/>
                </a:moveTo>
                <a:lnTo>
                  <a:pt x="33337" y="177800"/>
                </a:lnTo>
                <a:cubicBezTo>
                  <a:pt x="14932" y="177800"/>
                  <a:pt x="0" y="162868"/>
                  <a:pt x="0" y="144463"/>
                </a:cubicBezTo>
                <a:lnTo>
                  <a:pt x="0" y="33337"/>
                </a:lnTo>
                <a:cubicBezTo>
                  <a:pt x="0" y="14932"/>
                  <a:pt x="14932" y="0"/>
                  <a:pt x="33337" y="0"/>
                </a:cubicBezTo>
                <a:lnTo>
                  <a:pt x="138906" y="0"/>
                </a:lnTo>
                <a:cubicBezTo>
                  <a:pt x="148109" y="0"/>
                  <a:pt x="155575" y="7466"/>
                  <a:pt x="155575" y="16669"/>
                </a:cubicBezTo>
                <a:lnTo>
                  <a:pt x="155575" y="116681"/>
                </a:lnTo>
                <a:cubicBezTo>
                  <a:pt x="155575" y="123939"/>
                  <a:pt x="150922" y="130120"/>
                  <a:pt x="144463" y="132412"/>
                </a:cubicBezTo>
                <a:lnTo>
                  <a:pt x="144463" y="155575"/>
                </a:lnTo>
                <a:cubicBezTo>
                  <a:pt x="150609" y="155575"/>
                  <a:pt x="155575" y="160541"/>
                  <a:pt x="155575" y="166688"/>
                </a:cubicBezTo>
                <a:cubicBezTo>
                  <a:pt x="155575" y="172834"/>
                  <a:pt x="150609" y="177800"/>
                  <a:pt x="144463" y="177800"/>
                </a:cubicBezTo>
                <a:lnTo>
                  <a:pt x="133350" y="177800"/>
                </a:lnTo>
                <a:close/>
                <a:moveTo>
                  <a:pt x="33337" y="133350"/>
                </a:moveTo>
                <a:cubicBezTo>
                  <a:pt x="27191" y="133350"/>
                  <a:pt x="22225" y="138316"/>
                  <a:pt x="22225" y="144463"/>
                </a:cubicBezTo>
                <a:cubicBezTo>
                  <a:pt x="22225" y="150609"/>
                  <a:pt x="27191" y="155575"/>
                  <a:pt x="33337" y="155575"/>
                </a:cubicBezTo>
                <a:lnTo>
                  <a:pt x="122238" y="155575"/>
                </a:lnTo>
                <a:lnTo>
                  <a:pt x="122238" y="133350"/>
                </a:lnTo>
                <a:lnTo>
                  <a:pt x="33337" y="133350"/>
                </a:lnTo>
                <a:close/>
                <a:moveTo>
                  <a:pt x="44450" y="52784"/>
                </a:moveTo>
                <a:cubicBezTo>
                  <a:pt x="44450" y="57403"/>
                  <a:pt x="48166" y="61119"/>
                  <a:pt x="52784" y="61119"/>
                </a:cubicBezTo>
                <a:lnTo>
                  <a:pt x="113903" y="61119"/>
                </a:lnTo>
                <a:cubicBezTo>
                  <a:pt x="118522" y="61119"/>
                  <a:pt x="122238" y="57403"/>
                  <a:pt x="122238" y="52784"/>
                </a:cubicBezTo>
                <a:cubicBezTo>
                  <a:pt x="122238" y="48166"/>
                  <a:pt x="118522" y="44450"/>
                  <a:pt x="113903" y="44450"/>
                </a:cubicBezTo>
                <a:lnTo>
                  <a:pt x="52784" y="44450"/>
                </a:lnTo>
                <a:cubicBezTo>
                  <a:pt x="48166" y="44450"/>
                  <a:pt x="44450" y="48166"/>
                  <a:pt x="44450" y="52784"/>
                </a:cubicBezTo>
                <a:close/>
                <a:moveTo>
                  <a:pt x="52784" y="77788"/>
                </a:moveTo>
                <a:cubicBezTo>
                  <a:pt x="48166" y="77788"/>
                  <a:pt x="44450" y="81503"/>
                  <a:pt x="44450" y="86122"/>
                </a:cubicBezTo>
                <a:cubicBezTo>
                  <a:pt x="44450" y="90741"/>
                  <a:pt x="48166" y="94456"/>
                  <a:pt x="52784" y="94456"/>
                </a:cubicBezTo>
                <a:lnTo>
                  <a:pt x="113903" y="94456"/>
                </a:lnTo>
                <a:cubicBezTo>
                  <a:pt x="118522" y="94456"/>
                  <a:pt x="122238" y="90741"/>
                  <a:pt x="122238" y="86122"/>
                </a:cubicBezTo>
                <a:cubicBezTo>
                  <a:pt x="122238" y="81503"/>
                  <a:pt x="118522" y="77788"/>
                  <a:pt x="113903" y="77788"/>
                </a:cubicBezTo>
                <a:lnTo>
                  <a:pt x="52784" y="77788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6" name="Text 23"/>
          <p:cNvSpPr/>
          <p:nvPr/>
        </p:nvSpPr>
        <p:spPr>
          <a:xfrm>
            <a:off x="8553450" y="3759200"/>
            <a:ext cx="170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Docs: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API reference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255000" y="41529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22885" y="79350"/>
                </a:moveTo>
                <a:cubicBezTo>
                  <a:pt x="27503" y="47054"/>
                  <a:pt x="55319" y="22225"/>
                  <a:pt x="88900" y="22225"/>
                </a:cubicBezTo>
                <a:cubicBezTo>
                  <a:pt x="107305" y="22225"/>
                  <a:pt x="123974" y="29691"/>
                  <a:pt x="136059" y="41741"/>
                </a:cubicBezTo>
                <a:cubicBezTo>
                  <a:pt x="136128" y="41811"/>
                  <a:pt x="136198" y="41880"/>
                  <a:pt x="136267" y="41950"/>
                </a:cubicBezTo>
                <a:lnTo>
                  <a:pt x="138906" y="44450"/>
                </a:lnTo>
                <a:lnTo>
                  <a:pt x="122272" y="44450"/>
                </a:lnTo>
                <a:cubicBezTo>
                  <a:pt x="116126" y="44450"/>
                  <a:pt x="111160" y="49416"/>
                  <a:pt x="111160" y="55563"/>
                </a:cubicBezTo>
                <a:cubicBezTo>
                  <a:pt x="111160" y="61709"/>
                  <a:pt x="116126" y="66675"/>
                  <a:pt x="122272" y="66675"/>
                </a:cubicBezTo>
                <a:lnTo>
                  <a:pt x="166722" y="66675"/>
                </a:lnTo>
                <a:cubicBezTo>
                  <a:pt x="172869" y="66675"/>
                  <a:pt x="177835" y="61709"/>
                  <a:pt x="177835" y="55563"/>
                </a:cubicBezTo>
                <a:lnTo>
                  <a:pt x="177835" y="11112"/>
                </a:lnTo>
                <a:cubicBezTo>
                  <a:pt x="177835" y="4966"/>
                  <a:pt x="172869" y="0"/>
                  <a:pt x="166722" y="0"/>
                </a:cubicBezTo>
                <a:cubicBezTo>
                  <a:pt x="160576" y="0"/>
                  <a:pt x="155610" y="4966"/>
                  <a:pt x="155610" y="11112"/>
                </a:cubicBezTo>
                <a:lnTo>
                  <a:pt x="155610" y="29656"/>
                </a:lnTo>
                <a:lnTo>
                  <a:pt x="151686" y="25941"/>
                </a:lnTo>
                <a:cubicBezTo>
                  <a:pt x="135607" y="9932"/>
                  <a:pt x="113382" y="0"/>
                  <a:pt x="88900" y="0"/>
                </a:cubicBezTo>
                <a:cubicBezTo>
                  <a:pt x="44103" y="0"/>
                  <a:pt x="7049" y="33129"/>
                  <a:pt x="903" y="76225"/>
                </a:cubicBezTo>
                <a:cubicBezTo>
                  <a:pt x="35" y="82302"/>
                  <a:pt x="4237" y="87928"/>
                  <a:pt x="10314" y="88796"/>
                </a:cubicBezTo>
                <a:cubicBezTo>
                  <a:pt x="16391" y="89664"/>
                  <a:pt x="22017" y="85427"/>
                  <a:pt x="22885" y="79385"/>
                </a:cubicBezTo>
                <a:close/>
                <a:moveTo>
                  <a:pt x="176897" y="101575"/>
                </a:moveTo>
                <a:cubicBezTo>
                  <a:pt x="177765" y="95498"/>
                  <a:pt x="173529" y="89872"/>
                  <a:pt x="167486" y="89004"/>
                </a:cubicBezTo>
                <a:cubicBezTo>
                  <a:pt x="161444" y="88136"/>
                  <a:pt x="155783" y="92373"/>
                  <a:pt x="154915" y="98415"/>
                </a:cubicBezTo>
                <a:cubicBezTo>
                  <a:pt x="150297" y="130711"/>
                  <a:pt x="122481" y="155540"/>
                  <a:pt x="88900" y="155540"/>
                </a:cubicBezTo>
                <a:cubicBezTo>
                  <a:pt x="70495" y="155540"/>
                  <a:pt x="53826" y="148074"/>
                  <a:pt x="41741" y="136024"/>
                </a:cubicBezTo>
                <a:cubicBezTo>
                  <a:pt x="41672" y="135954"/>
                  <a:pt x="41602" y="135885"/>
                  <a:pt x="41533" y="135816"/>
                </a:cubicBezTo>
                <a:lnTo>
                  <a:pt x="38894" y="133315"/>
                </a:lnTo>
                <a:lnTo>
                  <a:pt x="55528" y="133315"/>
                </a:lnTo>
                <a:cubicBezTo>
                  <a:pt x="61674" y="133315"/>
                  <a:pt x="66640" y="128349"/>
                  <a:pt x="66640" y="122203"/>
                </a:cubicBezTo>
                <a:cubicBezTo>
                  <a:pt x="66640" y="116056"/>
                  <a:pt x="61674" y="111090"/>
                  <a:pt x="55528" y="111090"/>
                </a:cubicBezTo>
                <a:lnTo>
                  <a:pt x="11112" y="111125"/>
                </a:lnTo>
                <a:cubicBezTo>
                  <a:pt x="8161" y="111125"/>
                  <a:pt x="5313" y="112306"/>
                  <a:pt x="3230" y="114424"/>
                </a:cubicBezTo>
                <a:cubicBezTo>
                  <a:pt x="1146" y="116542"/>
                  <a:pt x="-35" y="119355"/>
                  <a:pt x="0" y="122342"/>
                </a:cubicBezTo>
                <a:lnTo>
                  <a:pt x="347" y="166444"/>
                </a:lnTo>
                <a:cubicBezTo>
                  <a:pt x="382" y="172591"/>
                  <a:pt x="5417" y="177522"/>
                  <a:pt x="11564" y="177453"/>
                </a:cubicBezTo>
                <a:cubicBezTo>
                  <a:pt x="17711" y="177383"/>
                  <a:pt x="22642" y="172383"/>
                  <a:pt x="22572" y="166236"/>
                </a:cubicBezTo>
                <a:lnTo>
                  <a:pt x="22433" y="148352"/>
                </a:lnTo>
                <a:lnTo>
                  <a:pt x="26149" y="151859"/>
                </a:lnTo>
                <a:cubicBezTo>
                  <a:pt x="42228" y="167868"/>
                  <a:pt x="64418" y="177800"/>
                  <a:pt x="88900" y="177800"/>
                </a:cubicBezTo>
                <a:cubicBezTo>
                  <a:pt x="133697" y="177800"/>
                  <a:pt x="170751" y="144671"/>
                  <a:pt x="176897" y="10157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8" name="Text 25"/>
          <p:cNvSpPr/>
          <p:nvPr/>
        </p:nvSpPr>
        <p:spPr>
          <a:xfrm>
            <a:off x="8553450" y="4114800"/>
            <a:ext cx="219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Production-ready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14350" y="5149850"/>
            <a:ext cx="4927600" cy="1511300"/>
          </a:xfrm>
          <a:custGeom>
            <a:avLst/>
            <a:gdLst/>
            <a:ahLst/>
            <a:cxnLst/>
            <a:rect l="l" t="t" r="r" b="b"/>
            <a:pathLst>
              <a:path w="4927600" h="1511300">
                <a:moveTo>
                  <a:pt x="101605" y="0"/>
                </a:moveTo>
                <a:lnTo>
                  <a:pt x="4825995" y="0"/>
                </a:lnTo>
                <a:cubicBezTo>
                  <a:pt x="4882110" y="0"/>
                  <a:pt x="4927600" y="45490"/>
                  <a:pt x="4927600" y="101605"/>
                </a:cubicBezTo>
                <a:lnTo>
                  <a:pt x="4927600" y="1409695"/>
                </a:lnTo>
                <a:cubicBezTo>
                  <a:pt x="4927600" y="1465810"/>
                  <a:pt x="4882110" y="1511300"/>
                  <a:pt x="4825995" y="1511300"/>
                </a:cubicBezTo>
                <a:lnTo>
                  <a:pt x="101605" y="1511300"/>
                </a:lnTo>
                <a:cubicBezTo>
                  <a:pt x="45490" y="1511300"/>
                  <a:pt x="0" y="1465810"/>
                  <a:pt x="0" y="14096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69129" y="53594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68486" y="893"/>
                </a:moveTo>
                <a:cubicBezTo>
                  <a:pt x="255836" y="-2753"/>
                  <a:pt x="242664" y="4614"/>
                  <a:pt x="239018" y="17264"/>
                </a:cubicBezTo>
                <a:lnTo>
                  <a:pt x="143768" y="350639"/>
                </a:lnTo>
                <a:cubicBezTo>
                  <a:pt x="140122" y="363289"/>
                  <a:pt x="147489" y="376461"/>
                  <a:pt x="160139" y="380107"/>
                </a:cubicBezTo>
                <a:cubicBezTo>
                  <a:pt x="172789" y="383753"/>
                  <a:pt x="185961" y="376386"/>
                  <a:pt x="189607" y="363736"/>
                </a:cubicBezTo>
                <a:lnTo>
                  <a:pt x="284857" y="30361"/>
                </a:lnTo>
                <a:cubicBezTo>
                  <a:pt x="288503" y="17711"/>
                  <a:pt x="281136" y="4539"/>
                  <a:pt x="268486" y="893"/>
                </a:cubicBezTo>
                <a:close/>
                <a:moveTo>
                  <a:pt x="316557" y="102171"/>
                </a:moveTo>
                <a:cubicBezTo>
                  <a:pt x="307256" y="111472"/>
                  <a:pt x="307256" y="126578"/>
                  <a:pt x="316557" y="135880"/>
                </a:cubicBezTo>
                <a:lnTo>
                  <a:pt x="371177" y="190500"/>
                </a:lnTo>
                <a:lnTo>
                  <a:pt x="316557" y="245120"/>
                </a:lnTo>
                <a:cubicBezTo>
                  <a:pt x="307256" y="254422"/>
                  <a:pt x="307256" y="269528"/>
                  <a:pt x="316557" y="278829"/>
                </a:cubicBezTo>
                <a:cubicBezTo>
                  <a:pt x="325859" y="288131"/>
                  <a:pt x="340965" y="288131"/>
                  <a:pt x="350267" y="278829"/>
                </a:cubicBezTo>
                <a:lnTo>
                  <a:pt x="421704" y="207392"/>
                </a:lnTo>
                <a:cubicBezTo>
                  <a:pt x="431006" y="198090"/>
                  <a:pt x="431006" y="182984"/>
                  <a:pt x="421704" y="173682"/>
                </a:cubicBezTo>
                <a:lnTo>
                  <a:pt x="350267" y="102245"/>
                </a:lnTo>
                <a:cubicBezTo>
                  <a:pt x="340965" y="92943"/>
                  <a:pt x="325859" y="92943"/>
                  <a:pt x="316557" y="102245"/>
                </a:cubicBezTo>
                <a:close/>
                <a:moveTo>
                  <a:pt x="112142" y="102171"/>
                </a:moveTo>
                <a:cubicBezTo>
                  <a:pt x="102840" y="92869"/>
                  <a:pt x="87734" y="92869"/>
                  <a:pt x="78432" y="102171"/>
                </a:cubicBezTo>
                <a:lnTo>
                  <a:pt x="6995" y="173608"/>
                </a:lnTo>
                <a:cubicBezTo>
                  <a:pt x="-2307" y="182910"/>
                  <a:pt x="-2307" y="198016"/>
                  <a:pt x="6995" y="207318"/>
                </a:cubicBezTo>
                <a:lnTo>
                  <a:pt x="78432" y="278755"/>
                </a:lnTo>
                <a:cubicBezTo>
                  <a:pt x="87734" y="288057"/>
                  <a:pt x="102840" y="288057"/>
                  <a:pt x="112142" y="278755"/>
                </a:cubicBezTo>
                <a:cubicBezTo>
                  <a:pt x="121444" y="269453"/>
                  <a:pt x="121444" y="254347"/>
                  <a:pt x="112142" y="245046"/>
                </a:cubicBezTo>
                <a:lnTo>
                  <a:pt x="57522" y="190500"/>
                </a:lnTo>
                <a:lnTo>
                  <a:pt x="112068" y="135880"/>
                </a:lnTo>
                <a:cubicBezTo>
                  <a:pt x="121369" y="126578"/>
                  <a:pt x="121369" y="111472"/>
                  <a:pt x="112068" y="10217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1" name="Text 28"/>
          <p:cNvSpPr/>
          <p:nvPr/>
        </p:nvSpPr>
        <p:spPr>
          <a:xfrm>
            <a:off x="666750" y="5842000"/>
            <a:ext cx="462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Código Limpio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79450" y="6197600"/>
            <a:ext cx="459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PEP8, type hints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662083" y="5149850"/>
            <a:ext cx="4927600" cy="1511300"/>
          </a:xfrm>
          <a:custGeom>
            <a:avLst/>
            <a:gdLst/>
            <a:ahLst/>
            <a:cxnLst/>
            <a:rect l="l" t="t" r="r" b="b"/>
            <a:pathLst>
              <a:path w="4927600" h="1511300">
                <a:moveTo>
                  <a:pt x="101605" y="0"/>
                </a:moveTo>
                <a:lnTo>
                  <a:pt x="4825995" y="0"/>
                </a:lnTo>
                <a:cubicBezTo>
                  <a:pt x="4882110" y="0"/>
                  <a:pt x="4927600" y="45490"/>
                  <a:pt x="4927600" y="101605"/>
                </a:cubicBezTo>
                <a:lnTo>
                  <a:pt x="4927600" y="1409695"/>
                </a:lnTo>
                <a:cubicBezTo>
                  <a:pt x="4927600" y="1465810"/>
                  <a:pt x="4882110" y="1511300"/>
                  <a:pt x="4825995" y="1511300"/>
                </a:cubicBezTo>
                <a:lnTo>
                  <a:pt x="101605" y="1511300"/>
                </a:lnTo>
                <a:cubicBezTo>
                  <a:pt x="45490" y="1511300"/>
                  <a:pt x="0" y="1465810"/>
                  <a:pt x="0" y="14096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940675" y="5359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54943" y="6995"/>
                </a:moveTo>
                <a:cubicBezTo>
                  <a:pt x="245641" y="-2307"/>
                  <a:pt x="230535" y="-2307"/>
                  <a:pt x="221233" y="6995"/>
                </a:cubicBezTo>
                <a:cubicBezTo>
                  <a:pt x="211931" y="16297"/>
                  <a:pt x="211931" y="31403"/>
                  <a:pt x="221233" y="40704"/>
                </a:cubicBezTo>
                <a:lnTo>
                  <a:pt x="228228" y="47625"/>
                </a:lnTo>
                <a:lnTo>
                  <a:pt x="20910" y="254943"/>
                </a:lnTo>
                <a:cubicBezTo>
                  <a:pt x="7516" y="268337"/>
                  <a:pt x="0" y="286494"/>
                  <a:pt x="0" y="305470"/>
                </a:cubicBezTo>
                <a:lnTo>
                  <a:pt x="0" y="309563"/>
                </a:lnTo>
                <a:cubicBezTo>
                  <a:pt x="0" y="349002"/>
                  <a:pt x="31998" y="381000"/>
                  <a:pt x="71438" y="381000"/>
                </a:cubicBezTo>
                <a:lnTo>
                  <a:pt x="75530" y="381000"/>
                </a:lnTo>
                <a:cubicBezTo>
                  <a:pt x="94506" y="381000"/>
                  <a:pt x="112663" y="373484"/>
                  <a:pt x="126057" y="360090"/>
                </a:cubicBezTo>
                <a:lnTo>
                  <a:pt x="333375" y="152772"/>
                </a:lnTo>
                <a:lnTo>
                  <a:pt x="340370" y="159767"/>
                </a:lnTo>
                <a:cubicBezTo>
                  <a:pt x="349672" y="169069"/>
                  <a:pt x="364778" y="169069"/>
                  <a:pt x="374079" y="159767"/>
                </a:cubicBezTo>
                <a:cubicBezTo>
                  <a:pt x="383381" y="150465"/>
                  <a:pt x="383381" y="135359"/>
                  <a:pt x="374079" y="126057"/>
                </a:cubicBezTo>
                <a:lnTo>
                  <a:pt x="255017" y="6995"/>
                </a:lnTo>
                <a:close/>
                <a:moveTo>
                  <a:pt x="152772" y="190500"/>
                </a:moveTo>
                <a:lnTo>
                  <a:pt x="261938" y="81335"/>
                </a:lnTo>
                <a:lnTo>
                  <a:pt x="299665" y="119063"/>
                </a:lnTo>
                <a:lnTo>
                  <a:pt x="228228" y="190500"/>
                </a:lnTo>
                <a:lnTo>
                  <a:pt x="152698" y="19050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5" name="Text 32"/>
          <p:cNvSpPr/>
          <p:nvPr/>
        </p:nvSpPr>
        <p:spPr>
          <a:xfrm>
            <a:off x="5814483" y="5842000"/>
            <a:ext cx="462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827183" y="6197600"/>
            <a:ext cx="459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pytest, coverage &gt; 90%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0809817" y="5149850"/>
            <a:ext cx="4927600" cy="1511300"/>
          </a:xfrm>
          <a:custGeom>
            <a:avLst/>
            <a:gdLst/>
            <a:ahLst/>
            <a:cxnLst/>
            <a:rect l="l" t="t" r="r" b="b"/>
            <a:pathLst>
              <a:path w="4927600" h="1511300">
                <a:moveTo>
                  <a:pt x="101605" y="0"/>
                </a:moveTo>
                <a:lnTo>
                  <a:pt x="4825995" y="0"/>
                </a:lnTo>
                <a:cubicBezTo>
                  <a:pt x="4882110" y="0"/>
                  <a:pt x="4927600" y="45490"/>
                  <a:pt x="4927600" y="101605"/>
                </a:cubicBezTo>
                <a:lnTo>
                  <a:pt x="4927600" y="1409695"/>
                </a:lnTo>
                <a:cubicBezTo>
                  <a:pt x="4927600" y="1465810"/>
                  <a:pt x="4882110" y="1511300"/>
                  <a:pt x="4825995" y="1511300"/>
                </a:cubicBezTo>
                <a:lnTo>
                  <a:pt x="101605" y="1511300"/>
                </a:lnTo>
                <a:cubicBezTo>
                  <a:pt x="45490" y="1511300"/>
                  <a:pt x="0" y="1465810"/>
                  <a:pt x="0" y="14096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3088409" y="5359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9" name="Text 36"/>
          <p:cNvSpPr/>
          <p:nvPr/>
        </p:nvSpPr>
        <p:spPr>
          <a:xfrm>
            <a:off x="10962217" y="5842000"/>
            <a:ext cx="462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0974917" y="6197600"/>
            <a:ext cx="459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Docker, API, CI/CD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520700" y="6985000"/>
            <a:ext cx="15214600" cy="1193800"/>
          </a:xfrm>
          <a:custGeom>
            <a:avLst/>
            <a:gdLst/>
            <a:ahLst/>
            <a:cxnLst/>
            <a:rect l="l" t="t" r="r" b="b"/>
            <a:pathLst>
              <a:path w="15214600" h="1193800">
                <a:moveTo>
                  <a:pt x="101604" y="0"/>
                </a:moveTo>
                <a:lnTo>
                  <a:pt x="15112996" y="0"/>
                </a:lnTo>
                <a:cubicBezTo>
                  <a:pt x="15169110" y="0"/>
                  <a:pt x="15214600" y="45490"/>
                  <a:pt x="15214600" y="101604"/>
                </a:cubicBezTo>
                <a:lnTo>
                  <a:pt x="15214600" y="1092196"/>
                </a:lnTo>
                <a:cubicBezTo>
                  <a:pt x="15214600" y="1148310"/>
                  <a:pt x="15169110" y="1193800"/>
                  <a:pt x="15112996" y="1193800"/>
                </a:cubicBezTo>
                <a:lnTo>
                  <a:pt x="101604" y="1193800"/>
                </a:lnTo>
                <a:cubicBezTo>
                  <a:pt x="45490" y="1193800"/>
                  <a:pt x="0" y="1148310"/>
                  <a:pt x="0" y="1092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93750" y="7353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63" y="57150"/>
                </a:moveTo>
                <a:cubicBezTo>
                  <a:pt x="19199" y="57150"/>
                  <a:pt x="0" y="76349"/>
                  <a:pt x="0" y="100013"/>
                </a:cubicBezTo>
                <a:cubicBezTo>
                  <a:pt x="0" y="113496"/>
                  <a:pt x="6340" y="126176"/>
                  <a:pt x="17145" y="134303"/>
                </a:cubicBezTo>
                <a:lnTo>
                  <a:pt x="202883" y="273606"/>
                </a:lnTo>
                <a:cubicBezTo>
                  <a:pt x="218152" y="285036"/>
                  <a:pt x="239048" y="285036"/>
                  <a:pt x="254318" y="273606"/>
                </a:cubicBezTo>
                <a:lnTo>
                  <a:pt x="440055" y="134302"/>
                </a:lnTo>
                <a:cubicBezTo>
                  <a:pt x="450860" y="126176"/>
                  <a:pt x="457200" y="113496"/>
                  <a:pt x="457200" y="100012"/>
                </a:cubicBezTo>
                <a:cubicBezTo>
                  <a:pt x="457200" y="76349"/>
                  <a:pt x="438001" y="57150"/>
                  <a:pt x="414338" y="57150"/>
                </a:cubicBezTo>
                <a:lnTo>
                  <a:pt x="42863" y="57150"/>
                </a:lnTo>
                <a:close/>
                <a:moveTo>
                  <a:pt x="0" y="175022"/>
                </a:moveTo>
                <a:lnTo>
                  <a:pt x="0" y="342900"/>
                </a:lnTo>
                <a:cubicBezTo>
                  <a:pt x="0" y="374422"/>
                  <a:pt x="25628" y="400050"/>
                  <a:pt x="57150" y="400050"/>
                </a:cubicBezTo>
                <a:lnTo>
                  <a:pt x="400050" y="400050"/>
                </a:lnTo>
                <a:cubicBezTo>
                  <a:pt x="431572" y="400050"/>
                  <a:pt x="457200" y="374422"/>
                  <a:pt x="457200" y="342900"/>
                </a:cubicBezTo>
                <a:lnTo>
                  <a:pt x="457200" y="175022"/>
                </a:lnTo>
                <a:lnTo>
                  <a:pt x="280035" y="307896"/>
                </a:lnTo>
                <a:cubicBezTo>
                  <a:pt x="249585" y="330756"/>
                  <a:pt x="207615" y="330756"/>
                  <a:pt x="177165" y="307896"/>
                </a:cubicBezTo>
                <a:lnTo>
                  <a:pt x="0" y="175022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3" name="Text 40"/>
          <p:cNvSpPr/>
          <p:nvPr/>
        </p:nvSpPr>
        <p:spPr>
          <a:xfrm>
            <a:off x="1511300" y="7200900"/>
            <a:ext cx="7924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Contacto para Colaboraciones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511300" y="7658100"/>
            <a:ext cx="787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Interesado en usar esta tecnología? Contacta para licenciamiento o colaboraciones.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Chess Trainer ML - Technical Implementation</dc:title>
  <dc:subject>Chess Trainer ML - Technical Implementation</dc:subject>
  <dc:creator>Kimi</dc:creator>
  <cp:lastModifiedBy>Kimi</cp:lastModifiedBy>
  <cp:revision>1</cp:revision>
  <dcterms:created xsi:type="dcterms:W3CDTF">2026-02-15T01:00:14Z</dcterms:created>
  <dcterms:modified xsi:type="dcterms:W3CDTF">2026-02-15T01:00:14Z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{"Label":"Chess Trainer ML - Technical Implementation","ContentProducer":"001191110108MACG2KBH8F10000","ProduceID":"19c5d687-2d72-8aab-8000-0000d5faf075","ReservedCode1":"","ContentPropagator":"001191110108MACG2KBH8F20000","PropagateID":"19c5d687-2d72-8aab-8000-0000d5faf075","ReservedCode2":""}</vt:lpwstr>
  </property>
</Properties>
</file>