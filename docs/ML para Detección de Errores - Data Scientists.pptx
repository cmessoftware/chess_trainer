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MiSans" charset="-122" pitchFamily="34"/>
      <p:regular r:id="rId22"/>
    </p:embeddedFont>
    <p:embeddedFont>
      <p:font typeface="Alimama ShuHeiTi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4cd9ab5b963ec27e4ba6a1d7c6591d534f0337a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0910" y="1191185"/>
            <a:ext cx="1546913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 de Estudio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0910" y="156493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Machine Learning para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Detección de Errores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910" y="3221961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de ML en Análisis de Decisiones Estratégicas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0910" y="398378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1447549" y="3869531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F1=0.890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F1=1.0000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5 Fases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491" y="4749072"/>
            <a:ext cx="2007412" cy="921562"/>
          </a:xfrm>
          <a:custGeom>
            <a:avLst/>
            <a:gdLst/>
            <a:ahLst/>
            <a:cxnLst/>
            <a:rect l="l" t="t" r="r" b="b"/>
            <a:pathLst>
              <a:path w="2007412" h="921562">
                <a:moveTo>
                  <a:pt x="76204" y="0"/>
                </a:moveTo>
                <a:lnTo>
                  <a:pt x="1931208" y="0"/>
                </a:lnTo>
                <a:cubicBezTo>
                  <a:pt x="1973294" y="0"/>
                  <a:pt x="2007412" y="34118"/>
                  <a:pt x="2007412" y="76204"/>
                </a:cubicBezTo>
                <a:lnTo>
                  <a:pt x="2007412" y="845358"/>
                </a:lnTo>
                <a:cubicBezTo>
                  <a:pt x="2007412" y="887444"/>
                  <a:pt x="1973294" y="921562"/>
                  <a:pt x="1931208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574" y="4904950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328K+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6574" y="528586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Decisiones Analizadas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27432" y="4749072"/>
            <a:ext cx="1969312" cy="921562"/>
          </a:xfrm>
          <a:custGeom>
            <a:avLst/>
            <a:gdLst/>
            <a:ahLst/>
            <a:cxnLst/>
            <a:rect l="l" t="t" r="r" b="b"/>
            <a:pathLst>
              <a:path w="1969312" h="921562">
                <a:moveTo>
                  <a:pt x="76204" y="0"/>
                </a:moveTo>
                <a:lnTo>
                  <a:pt x="1893108" y="0"/>
                </a:lnTo>
                <a:cubicBezTo>
                  <a:pt x="1935194" y="0"/>
                  <a:pt x="1969312" y="34118"/>
                  <a:pt x="1969312" y="76204"/>
                </a:cubicBezTo>
                <a:lnTo>
                  <a:pt x="1969312" y="845358"/>
                </a:lnTo>
                <a:cubicBezTo>
                  <a:pt x="1969312" y="887444"/>
                  <a:pt x="1935194" y="921562"/>
                  <a:pt x="1893108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9514" y="4904950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59514" y="528586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Evaluados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32885" y="4749072"/>
            <a:ext cx="1474012" cy="921562"/>
          </a:xfrm>
          <a:custGeom>
            <a:avLst/>
            <a:gdLst/>
            <a:ahLst/>
            <a:cxnLst/>
            <a:rect l="l" t="t" r="r" b="b"/>
            <a:pathLst>
              <a:path w="1474012" h="921562">
                <a:moveTo>
                  <a:pt x="76204" y="0"/>
                </a:moveTo>
                <a:lnTo>
                  <a:pt x="1397808" y="0"/>
                </a:lnTo>
                <a:cubicBezTo>
                  <a:pt x="1439894" y="0"/>
                  <a:pt x="1474012" y="34118"/>
                  <a:pt x="1474012" y="76204"/>
                </a:cubicBezTo>
                <a:lnTo>
                  <a:pt x="1474012" y="845358"/>
                </a:lnTo>
                <a:cubicBezTo>
                  <a:pt x="1474012" y="887444"/>
                  <a:pt x="1439894" y="921562"/>
                  <a:pt x="1397808" y="921562"/>
                </a:cubicBezTo>
                <a:lnTo>
                  <a:pt x="76204" y="921562"/>
                </a:lnTo>
                <a:cubicBezTo>
                  <a:pt x="34118" y="921562"/>
                  <a:pt x="0" y="887444"/>
                  <a:pt x="0" y="845358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64968" y="4904950"/>
            <a:ext cx="118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64968" y="528586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Final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510" y="355063"/>
            <a:ext cx="1851788" cy="183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spc="55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 de Negocio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510" y="627298"/>
            <a:ext cx="11651683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Clasificación de Decisiones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786" y="1048704"/>
            <a:ext cx="5688600" cy="3039302"/>
          </a:xfrm>
          <a:custGeom>
            <a:avLst/>
            <a:gdLst/>
            <a:ahLst/>
            <a:cxnLst/>
            <a:rect l="l" t="t" r="r" b="b"/>
            <a:pathLst>
              <a:path w="5688600" h="3039302">
                <a:moveTo>
                  <a:pt x="69722" y="0"/>
                </a:moveTo>
                <a:lnTo>
                  <a:pt x="5618878" y="0"/>
                </a:lnTo>
                <a:cubicBezTo>
                  <a:pt x="5657384" y="0"/>
                  <a:pt x="5688600" y="31215"/>
                  <a:pt x="5688600" y="69722"/>
                </a:cubicBezTo>
                <a:lnTo>
                  <a:pt x="5688600" y="2969580"/>
                </a:lnTo>
                <a:cubicBezTo>
                  <a:pt x="5688600" y="3008086"/>
                  <a:pt x="5657384" y="3039302"/>
                  <a:pt x="5618878" y="3039302"/>
                </a:cubicBezTo>
                <a:lnTo>
                  <a:pt x="69722" y="3039302"/>
                </a:lnTo>
                <a:cubicBezTo>
                  <a:pt x="31215" y="3039302"/>
                  <a:pt x="0" y="3008086"/>
                  <a:pt x="0" y="2969580"/>
                </a:cubicBezTo>
                <a:lnTo>
                  <a:pt x="0" y="69722"/>
                </a:lnTo>
                <a:cubicBezTo>
                  <a:pt x="0" y="31215"/>
                  <a:pt x="31215" y="0"/>
                  <a:pt x="6972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595" y="1156513"/>
            <a:ext cx="5551325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Problema de Clasificación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595" y="1470110"/>
            <a:ext cx="5472892" cy="906339"/>
          </a:xfrm>
          <a:custGeom>
            <a:avLst/>
            <a:gdLst/>
            <a:ahLst/>
            <a:cxnLst/>
            <a:rect l="l" t="t" r="r" b="b"/>
            <a:pathLst>
              <a:path w="5472892" h="906339">
                <a:moveTo>
                  <a:pt x="34858" y="0"/>
                </a:moveTo>
                <a:lnTo>
                  <a:pt x="5438034" y="0"/>
                </a:lnTo>
                <a:cubicBezTo>
                  <a:pt x="5457286" y="0"/>
                  <a:pt x="5472892" y="15606"/>
                  <a:pt x="5472892" y="34858"/>
                </a:cubicBezTo>
                <a:lnTo>
                  <a:pt x="5472892" y="871481"/>
                </a:lnTo>
                <a:cubicBezTo>
                  <a:pt x="5472892" y="890732"/>
                  <a:pt x="5457286" y="906339"/>
                  <a:pt x="5438034" y="906339"/>
                </a:cubicBezTo>
                <a:lnTo>
                  <a:pt x="34858" y="906339"/>
                </a:lnTo>
                <a:cubicBezTo>
                  <a:pt x="15606" y="906339"/>
                  <a:pt x="0" y="890732"/>
                  <a:pt x="0" y="871481"/>
                </a:cubicBezTo>
                <a:lnTo>
                  <a:pt x="0" y="34858"/>
                </a:lnTo>
                <a:cubicBezTo>
                  <a:pt x="0" y="15619"/>
                  <a:pt x="15619" y="0"/>
                  <a:pt x="3485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9215" y="1539730"/>
            <a:ext cx="540317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9215" y="1783708"/>
            <a:ext cx="5394459" cy="52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la calidad de una decisión en un juego de </a:t>
            </a:r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perfecta</a:t>
            </a:r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(todos los datos son conocidos). Similar a decisiones estratégicas en negocios donde se dispone de toda la información relevante.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9595" y="2445713"/>
            <a:ext cx="5472892" cy="732043"/>
          </a:xfrm>
          <a:custGeom>
            <a:avLst/>
            <a:gdLst/>
            <a:ahLst/>
            <a:cxnLst/>
            <a:rect l="l" t="t" r="r" b="b"/>
            <a:pathLst>
              <a:path w="5472892" h="732043">
                <a:moveTo>
                  <a:pt x="34860" y="0"/>
                </a:moveTo>
                <a:lnTo>
                  <a:pt x="5438032" y="0"/>
                </a:lnTo>
                <a:cubicBezTo>
                  <a:pt x="5457285" y="0"/>
                  <a:pt x="5472892" y="15607"/>
                  <a:pt x="5472892" y="34860"/>
                </a:cubicBezTo>
                <a:lnTo>
                  <a:pt x="5472892" y="697183"/>
                </a:lnTo>
                <a:cubicBezTo>
                  <a:pt x="5472892" y="716436"/>
                  <a:pt x="5457285" y="732043"/>
                  <a:pt x="5438032" y="732043"/>
                </a:cubicBezTo>
                <a:lnTo>
                  <a:pt x="34860" y="732043"/>
                </a:lnTo>
                <a:cubicBezTo>
                  <a:pt x="15607" y="732043"/>
                  <a:pt x="0" y="716436"/>
                  <a:pt x="0" y="697183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9215" y="2515333"/>
            <a:ext cx="540317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9215" y="2759310"/>
            <a:ext cx="5394459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328,283 registros</a:t>
            </a:r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decisiones etiquetadas por expertos en </a:t>
            </a:r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clases</a:t>
            </a:r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ordenadas de mejor a peor calidad.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9595" y="3247060"/>
            <a:ext cx="5472892" cy="732043"/>
          </a:xfrm>
          <a:custGeom>
            <a:avLst/>
            <a:gdLst/>
            <a:ahLst/>
            <a:cxnLst/>
            <a:rect l="l" t="t" r="r" b="b"/>
            <a:pathLst>
              <a:path w="5472892" h="732043">
                <a:moveTo>
                  <a:pt x="34860" y="0"/>
                </a:moveTo>
                <a:lnTo>
                  <a:pt x="5438032" y="0"/>
                </a:lnTo>
                <a:cubicBezTo>
                  <a:pt x="5457285" y="0"/>
                  <a:pt x="5472892" y="15607"/>
                  <a:pt x="5472892" y="34860"/>
                </a:cubicBezTo>
                <a:lnTo>
                  <a:pt x="5472892" y="697183"/>
                </a:lnTo>
                <a:cubicBezTo>
                  <a:pt x="5472892" y="716436"/>
                  <a:pt x="5457285" y="732043"/>
                  <a:pt x="5438032" y="732043"/>
                </a:cubicBezTo>
                <a:lnTo>
                  <a:pt x="34860" y="732043"/>
                </a:lnTo>
                <a:cubicBezTo>
                  <a:pt x="15607" y="732043"/>
                  <a:pt x="0" y="716436"/>
                  <a:pt x="0" y="697183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9215" y="3316681"/>
            <a:ext cx="540317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 Principal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9215" y="3560658"/>
            <a:ext cx="5394459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Desbalanceo extremo:</a:t>
            </a:r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59:1 ratio entre la clase mayoritaria y la minoritaria. Requiere técnicas especiales de balanceo.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51958" y="1048704"/>
            <a:ext cx="5688600" cy="3039302"/>
          </a:xfrm>
          <a:custGeom>
            <a:avLst/>
            <a:gdLst/>
            <a:ahLst/>
            <a:cxnLst/>
            <a:rect l="l" t="t" r="r" b="b"/>
            <a:pathLst>
              <a:path w="5688600" h="3039302">
                <a:moveTo>
                  <a:pt x="69722" y="0"/>
                </a:moveTo>
                <a:lnTo>
                  <a:pt x="5618878" y="0"/>
                </a:lnTo>
                <a:cubicBezTo>
                  <a:pt x="5657384" y="0"/>
                  <a:pt x="5688600" y="31215"/>
                  <a:pt x="5688600" y="69722"/>
                </a:cubicBezTo>
                <a:lnTo>
                  <a:pt x="5688600" y="2969580"/>
                </a:lnTo>
                <a:cubicBezTo>
                  <a:pt x="5688600" y="3008086"/>
                  <a:pt x="5657384" y="3039302"/>
                  <a:pt x="5618878" y="3039302"/>
                </a:cubicBezTo>
                <a:lnTo>
                  <a:pt x="69722" y="3039302"/>
                </a:lnTo>
                <a:cubicBezTo>
                  <a:pt x="31215" y="3039302"/>
                  <a:pt x="0" y="3008086"/>
                  <a:pt x="0" y="2969580"/>
                </a:cubicBezTo>
                <a:lnTo>
                  <a:pt x="0" y="69722"/>
                </a:lnTo>
                <a:cubicBezTo>
                  <a:pt x="0" y="31215"/>
                  <a:pt x="31215" y="0"/>
                  <a:pt x="69722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9767" y="1156513"/>
            <a:ext cx="5551325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Analogías con Otros Dominios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9767" y="1470110"/>
            <a:ext cx="5472892" cy="732043"/>
          </a:xfrm>
          <a:custGeom>
            <a:avLst/>
            <a:gdLst/>
            <a:ahLst/>
            <a:cxnLst/>
            <a:rect l="l" t="t" r="r" b="b"/>
            <a:pathLst>
              <a:path w="5472892" h="732043">
                <a:moveTo>
                  <a:pt x="34860" y="0"/>
                </a:moveTo>
                <a:lnTo>
                  <a:pt x="5438032" y="0"/>
                </a:lnTo>
                <a:cubicBezTo>
                  <a:pt x="5457285" y="0"/>
                  <a:pt x="5472892" y="15607"/>
                  <a:pt x="5472892" y="34860"/>
                </a:cubicBezTo>
                <a:lnTo>
                  <a:pt x="5472892" y="697183"/>
                </a:lnTo>
                <a:cubicBezTo>
                  <a:pt x="5472892" y="716436"/>
                  <a:pt x="5457285" y="732043"/>
                  <a:pt x="5438032" y="732043"/>
                </a:cubicBezTo>
                <a:lnTo>
                  <a:pt x="34860" y="732043"/>
                </a:lnTo>
                <a:cubicBezTo>
                  <a:pt x="15607" y="732043"/>
                  <a:pt x="0" y="716436"/>
                  <a:pt x="0" y="697183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46816" y="1574540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0" y="34859"/>
                </a:moveTo>
                <a:lnTo>
                  <a:pt x="0" y="43574"/>
                </a:lnTo>
                <a:lnTo>
                  <a:pt x="139437" y="43574"/>
                </a:lnTo>
                <a:lnTo>
                  <a:pt x="139437" y="34859"/>
                </a:lnTo>
                <a:cubicBezTo>
                  <a:pt x="139437" y="25246"/>
                  <a:pt x="131621" y="17430"/>
                  <a:pt x="122007" y="17430"/>
                </a:cubicBezTo>
                <a:lnTo>
                  <a:pt x="17430" y="17430"/>
                </a:lnTo>
                <a:cubicBezTo>
                  <a:pt x="7816" y="17430"/>
                  <a:pt x="0" y="25246"/>
                  <a:pt x="0" y="34859"/>
                </a:cubicBezTo>
                <a:close/>
                <a:moveTo>
                  <a:pt x="0" y="56646"/>
                </a:moveTo>
                <a:lnTo>
                  <a:pt x="0" y="104578"/>
                </a:lnTo>
                <a:cubicBezTo>
                  <a:pt x="0" y="114191"/>
                  <a:pt x="7816" y="122007"/>
                  <a:pt x="17430" y="122007"/>
                </a:cubicBezTo>
                <a:lnTo>
                  <a:pt x="122007" y="122007"/>
                </a:lnTo>
                <a:cubicBezTo>
                  <a:pt x="131621" y="122007"/>
                  <a:pt x="139437" y="114191"/>
                  <a:pt x="139437" y="104578"/>
                </a:cubicBezTo>
                <a:lnTo>
                  <a:pt x="139437" y="56646"/>
                </a:lnTo>
                <a:lnTo>
                  <a:pt x="0" y="56646"/>
                </a:lnTo>
                <a:close/>
                <a:moveTo>
                  <a:pt x="17430" y="98041"/>
                </a:moveTo>
                <a:cubicBezTo>
                  <a:pt x="17430" y="94419"/>
                  <a:pt x="20344" y="91505"/>
                  <a:pt x="23966" y="91505"/>
                </a:cubicBezTo>
                <a:lnTo>
                  <a:pt x="37038" y="91505"/>
                </a:lnTo>
                <a:cubicBezTo>
                  <a:pt x="40660" y="91505"/>
                  <a:pt x="43574" y="94419"/>
                  <a:pt x="43574" y="98041"/>
                </a:cubicBezTo>
                <a:cubicBezTo>
                  <a:pt x="43574" y="101664"/>
                  <a:pt x="40660" y="104578"/>
                  <a:pt x="37038" y="104578"/>
                </a:cubicBezTo>
                <a:lnTo>
                  <a:pt x="23966" y="104578"/>
                </a:lnTo>
                <a:cubicBezTo>
                  <a:pt x="20344" y="104578"/>
                  <a:pt x="17430" y="101664"/>
                  <a:pt x="17430" y="98041"/>
                </a:cubicBezTo>
                <a:close/>
                <a:moveTo>
                  <a:pt x="56646" y="98041"/>
                </a:moveTo>
                <a:cubicBezTo>
                  <a:pt x="56646" y="94419"/>
                  <a:pt x="59560" y="91505"/>
                  <a:pt x="63182" y="91505"/>
                </a:cubicBezTo>
                <a:lnTo>
                  <a:pt x="80612" y="91505"/>
                </a:lnTo>
                <a:cubicBezTo>
                  <a:pt x="84234" y="91505"/>
                  <a:pt x="87148" y="94419"/>
                  <a:pt x="87148" y="98041"/>
                </a:cubicBezTo>
                <a:cubicBezTo>
                  <a:pt x="87148" y="101664"/>
                  <a:pt x="84234" y="104578"/>
                  <a:pt x="80612" y="104578"/>
                </a:cubicBezTo>
                <a:lnTo>
                  <a:pt x="63182" y="104578"/>
                </a:lnTo>
                <a:cubicBezTo>
                  <a:pt x="59560" y="104578"/>
                  <a:pt x="56646" y="101664"/>
                  <a:pt x="56646" y="9804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573262" y="1539730"/>
            <a:ext cx="2196129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Riesgo Crediticio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9387" y="1783708"/>
            <a:ext cx="5394459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si un préstamo será pagado (good) o resultará en default (blunder). Mismo desbalanceo: ~90% pagan, ~10% no.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9767" y="2271458"/>
            <a:ext cx="5472892" cy="732043"/>
          </a:xfrm>
          <a:custGeom>
            <a:avLst/>
            <a:gdLst/>
            <a:ahLst/>
            <a:cxnLst/>
            <a:rect l="l" t="t" r="r" b="b"/>
            <a:pathLst>
              <a:path w="5472892" h="732043">
                <a:moveTo>
                  <a:pt x="34860" y="0"/>
                </a:moveTo>
                <a:lnTo>
                  <a:pt x="5438032" y="0"/>
                </a:lnTo>
                <a:cubicBezTo>
                  <a:pt x="5457285" y="0"/>
                  <a:pt x="5472892" y="15607"/>
                  <a:pt x="5472892" y="34860"/>
                </a:cubicBezTo>
                <a:lnTo>
                  <a:pt x="5472892" y="697183"/>
                </a:lnTo>
                <a:cubicBezTo>
                  <a:pt x="5472892" y="716436"/>
                  <a:pt x="5457285" y="732043"/>
                  <a:pt x="5438032" y="732043"/>
                </a:cubicBezTo>
                <a:lnTo>
                  <a:pt x="34860" y="732043"/>
                </a:lnTo>
                <a:cubicBezTo>
                  <a:pt x="15607" y="732043"/>
                  <a:pt x="0" y="716436"/>
                  <a:pt x="0" y="697183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46816" y="2375888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69718" y="29385"/>
                </a:moveTo>
                <a:lnTo>
                  <a:pt x="65633" y="23721"/>
                </a:lnTo>
                <a:cubicBezTo>
                  <a:pt x="58825" y="14298"/>
                  <a:pt x="47904" y="8715"/>
                  <a:pt x="36248" y="8715"/>
                </a:cubicBezTo>
                <a:cubicBezTo>
                  <a:pt x="16231" y="8715"/>
                  <a:pt x="0" y="24946"/>
                  <a:pt x="0" y="44963"/>
                </a:cubicBezTo>
                <a:lnTo>
                  <a:pt x="0" y="45671"/>
                </a:lnTo>
                <a:cubicBezTo>
                  <a:pt x="0" y="52098"/>
                  <a:pt x="1688" y="58743"/>
                  <a:pt x="4521" y="65361"/>
                </a:cubicBezTo>
                <a:lnTo>
                  <a:pt x="33389" y="65361"/>
                </a:lnTo>
                <a:cubicBezTo>
                  <a:pt x="34260" y="65361"/>
                  <a:pt x="35050" y="64844"/>
                  <a:pt x="35404" y="64027"/>
                </a:cubicBezTo>
                <a:lnTo>
                  <a:pt x="44064" y="43247"/>
                </a:lnTo>
                <a:cubicBezTo>
                  <a:pt x="45072" y="40851"/>
                  <a:pt x="47414" y="39271"/>
                  <a:pt x="50001" y="39217"/>
                </a:cubicBezTo>
                <a:cubicBezTo>
                  <a:pt x="52588" y="39162"/>
                  <a:pt x="54985" y="40687"/>
                  <a:pt x="56047" y="43057"/>
                </a:cubicBezTo>
                <a:lnTo>
                  <a:pt x="70018" y="74076"/>
                </a:lnTo>
                <a:lnTo>
                  <a:pt x="81293" y="51526"/>
                </a:lnTo>
                <a:cubicBezTo>
                  <a:pt x="82409" y="49320"/>
                  <a:pt x="84670" y="47904"/>
                  <a:pt x="87148" y="47904"/>
                </a:cubicBezTo>
                <a:cubicBezTo>
                  <a:pt x="89626" y="47904"/>
                  <a:pt x="91887" y="49293"/>
                  <a:pt x="93003" y="51526"/>
                </a:cubicBezTo>
                <a:lnTo>
                  <a:pt x="99321" y="64135"/>
                </a:lnTo>
                <a:cubicBezTo>
                  <a:pt x="99703" y="64871"/>
                  <a:pt x="100438" y="65334"/>
                  <a:pt x="101282" y="65334"/>
                </a:cubicBezTo>
                <a:lnTo>
                  <a:pt x="134943" y="65334"/>
                </a:lnTo>
                <a:cubicBezTo>
                  <a:pt x="137803" y="58716"/>
                  <a:pt x="139464" y="52071"/>
                  <a:pt x="139464" y="45644"/>
                </a:cubicBezTo>
                <a:lnTo>
                  <a:pt x="139464" y="44936"/>
                </a:lnTo>
                <a:cubicBezTo>
                  <a:pt x="139437" y="24946"/>
                  <a:pt x="123205" y="8715"/>
                  <a:pt x="103189" y="8715"/>
                </a:cubicBezTo>
                <a:cubicBezTo>
                  <a:pt x="91560" y="8715"/>
                  <a:pt x="80612" y="14298"/>
                  <a:pt x="73803" y="23721"/>
                </a:cubicBezTo>
                <a:lnTo>
                  <a:pt x="69718" y="29358"/>
                </a:lnTo>
                <a:close/>
                <a:moveTo>
                  <a:pt x="127890" y="78433"/>
                </a:moveTo>
                <a:lnTo>
                  <a:pt x="101255" y="78433"/>
                </a:lnTo>
                <a:cubicBezTo>
                  <a:pt x="95481" y="78433"/>
                  <a:pt x="90198" y="75165"/>
                  <a:pt x="87611" y="69991"/>
                </a:cubicBezTo>
                <a:lnTo>
                  <a:pt x="87148" y="69065"/>
                </a:lnTo>
                <a:lnTo>
                  <a:pt x="75574" y="92241"/>
                </a:lnTo>
                <a:cubicBezTo>
                  <a:pt x="74457" y="94501"/>
                  <a:pt x="72115" y="95917"/>
                  <a:pt x="69582" y="95863"/>
                </a:cubicBezTo>
                <a:cubicBezTo>
                  <a:pt x="67049" y="95808"/>
                  <a:pt x="64789" y="94310"/>
                  <a:pt x="63754" y="92023"/>
                </a:cubicBezTo>
                <a:lnTo>
                  <a:pt x="50328" y="62202"/>
                </a:lnTo>
                <a:lnTo>
                  <a:pt x="47468" y="69065"/>
                </a:lnTo>
                <a:cubicBezTo>
                  <a:pt x="45099" y="74757"/>
                  <a:pt x="39543" y="78460"/>
                  <a:pt x="33389" y="78460"/>
                </a:cubicBezTo>
                <a:lnTo>
                  <a:pt x="11547" y="78460"/>
                </a:lnTo>
                <a:cubicBezTo>
                  <a:pt x="24401" y="98559"/>
                  <a:pt x="45045" y="117051"/>
                  <a:pt x="57953" y="126909"/>
                </a:cubicBezTo>
                <a:cubicBezTo>
                  <a:pt x="61330" y="129469"/>
                  <a:pt x="65470" y="130749"/>
                  <a:pt x="69691" y="130749"/>
                </a:cubicBezTo>
                <a:cubicBezTo>
                  <a:pt x="73912" y="130749"/>
                  <a:pt x="78079" y="129496"/>
                  <a:pt x="81429" y="126909"/>
                </a:cubicBezTo>
                <a:cubicBezTo>
                  <a:pt x="94392" y="117023"/>
                  <a:pt x="115035" y="98532"/>
                  <a:pt x="127890" y="7843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573262" y="2341078"/>
            <a:ext cx="1342079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9387" y="2585056"/>
            <a:ext cx="5394459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Clasificar estudios como normales (good) vs patológicos (mistake/blunder). Requiere alta precisión en clase minoritaria.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9767" y="3072806"/>
            <a:ext cx="5472892" cy="732043"/>
          </a:xfrm>
          <a:custGeom>
            <a:avLst/>
            <a:gdLst/>
            <a:ahLst/>
            <a:cxnLst/>
            <a:rect l="l" t="t" r="r" b="b"/>
            <a:pathLst>
              <a:path w="5472892" h="732043">
                <a:moveTo>
                  <a:pt x="34860" y="0"/>
                </a:moveTo>
                <a:lnTo>
                  <a:pt x="5438032" y="0"/>
                </a:lnTo>
                <a:cubicBezTo>
                  <a:pt x="5457285" y="0"/>
                  <a:pt x="5472892" y="15607"/>
                  <a:pt x="5472892" y="34860"/>
                </a:cubicBezTo>
                <a:lnTo>
                  <a:pt x="5472892" y="697183"/>
                </a:lnTo>
                <a:cubicBezTo>
                  <a:pt x="5472892" y="716436"/>
                  <a:pt x="5457285" y="732043"/>
                  <a:pt x="5438032" y="732043"/>
                </a:cubicBezTo>
                <a:lnTo>
                  <a:pt x="34860" y="732043"/>
                </a:lnTo>
                <a:cubicBezTo>
                  <a:pt x="15607" y="732043"/>
                  <a:pt x="0" y="716436"/>
                  <a:pt x="0" y="697183"/>
                </a:cubicBezTo>
                <a:lnTo>
                  <a:pt x="0" y="34860"/>
                </a:lnTo>
                <a:cubicBezTo>
                  <a:pt x="0" y="15607"/>
                  <a:pt x="15607" y="0"/>
                  <a:pt x="348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46816" y="3177235"/>
            <a:ext cx="139437" cy="139437"/>
          </a:xfrm>
          <a:custGeom>
            <a:avLst/>
            <a:gdLst/>
            <a:ahLst/>
            <a:cxnLst/>
            <a:rect l="l" t="t" r="r" b="b"/>
            <a:pathLst>
              <a:path w="139437" h="139437">
                <a:moveTo>
                  <a:pt x="17430" y="17430"/>
                </a:moveTo>
                <a:cubicBezTo>
                  <a:pt x="17430" y="12609"/>
                  <a:pt x="13535" y="8715"/>
                  <a:pt x="8715" y="8715"/>
                </a:cubicBezTo>
                <a:cubicBezTo>
                  <a:pt x="3894" y="8715"/>
                  <a:pt x="0" y="12609"/>
                  <a:pt x="0" y="17430"/>
                </a:cubicBezTo>
                <a:lnTo>
                  <a:pt x="0" y="108935"/>
                </a:lnTo>
                <a:cubicBezTo>
                  <a:pt x="0" y="120972"/>
                  <a:pt x="9750" y="130722"/>
                  <a:pt x="21787" y="130722"/>
                </a:cubicBezTo>
                <a:lnTo>
                  <a:pt x="130722" y="130722"/>
                </a:lnTo>
                <a:cubicBezTo>
                  <a:pt x="135542" y="130722"/>
                  <a:pt x="139437" y="126828"/>
                  <a:pt x="139437" y="122007"/>
                </a:cubicBezTo>
                <a:cubicBezTo>
                  <a:pt x="139437" y="117187"/>
                  <a:pt x="135542" y="113292"/>
                  <a:pt x="130722" y="113292"/>
                </a:cubicBezTo>
                <a:lnTo>
                  <a:pt x="21787" y="113292"/>
                </a:lnTo>
                <a:cubicBezTo>
                  <a:pt x="19390" y="113292"/>
                  <a:pt x="17430" y="111332"/>
                  <a:pt x="17430" y="108935"/>
                </a:cubicBezTo>
                <a:lnTo>
                  <a:pt x="17430" y="17430"/>
                </a:lnTo>
                <a:close/>
                <a:moveTo>
                  <a:pt x="128162" y="41014"/>
                </a:moveTo>
                <a:cubicBezTo>
                  <a:pt x="131566" y="37610"/>
                  <a:pt x="131566" y="32081"/>
                  <a:pt x="128162" y="28677"/>
                </a:cubicBezTo>
                <a:cubicBezTo>
                  <a:pt x="124758" y="25273"/>
                  <a:pt x="119229" y="25273"/>
                  <a:pt x="115825" y="28677"/>
                </a:cubicBezTo>
                <a:lnTo>
                  <a:pt x="87148" y="57381"/>
                </a:lnTo>
                <a:lnTo>
                  <a:pt x="71516" y="41777"/>
                </a:lnTo>
                <a:cubicBezTo>
                  <a:pt x="68112" y="38372"/>
                  <a:pt x="62583" y="38372"/>
                  <a:pt x="59179" y="41777"/>
                </a:cubicBezTo>
                <a:lnTo>
                  <a:pt x="33035" y="67921"/>
                </a:lnTo>
                <a:cubicBezTo>
                  <a:pt x="29630" y="71325"/>
                  <a:pt x="29630" y="76854"/>
                  <a:pt x="33035" y="80258"/>
                </a:cubicBezTo>
                <a:cubicBezTo>
                  <a:pt x="36439" y="83662"/>
                  <a:pt x="41967" y="83662"/>
                  <a:pt x="45371" y="80258"/>
                </a:cubicBezTo>
                <a:lnTo>
                  <a:pt x="65361" y="60268"/>
                </a:lnTo>
                <a:lnTo>
                  <a:pt x="80993" y="75900"/>
                </a:lnTo>
                <a:cubicBezTo>
                  <a:pt x="84397" y="79305"/>
                  <a:pt x="89926" y="79305"/>
                  <a:pt x="93330" y="75900"/>
                </a:cubicBezTo>
                <a:lnTo>
                  <a:pt x="128189" y="410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573262" y="3142425"/>
            <a:ext cx="1472801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 de Crédito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9387" y="3386403"/>
            <a:ext cx="5394459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niveles de riesgo: excelente, bueno, regular, malo. Mismo tipo de problema ordinal de clasificación.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1786" y="4162769"/>
            <a:ext cx="11492654" cy="1496783"/>
          </a:xfrm>
          <a:custGeom>
            <a:avLst/>
            <a:gdLst/>
            <a:ahLst/>
            <a:cxnLst/>
            <a:rect l="l" t="t" r="r" b="b"/>
            <a:pathLst>
              <a:path w="11492654" h="1496783">
                <a:moveTo>
                  <a:pt x="69720" y="0"/>
                </a:moveTo>
                <a:lnTo>
                  <a:pt x="11422934" y="0"/>
                </a:lnTo>
                <a:cubicBezTo>
                  <a:pt x="11461439" y="0"/>
                  <a:pt x="11492654" y="31215"/>
                  <a:pt x="11492654" y="69720"/>
                </a:cubicBezTo>
                <a:lnTo>
                  <a:pt x="11492654" y="1427063"/>
                </a:lnTo>
                <a:cubicBezTo>
                  <a:pt x="11492654" y="1465568"/>
                  <a:pt x="11461439" y="1496783"/>
                  <a:pt x="11422934" y="1496783"/>
                </a:cubicBezTo>
                <a:lnTo>
                  <a:pt x="69720" y="1496783"/>
                </a:lnTo>
                <a:cubicBezTo>
                  <a:pt x="31215" y="1496783"/>
                  <a:pt x="0" y="1465568"/>
                  <a:pt x="0" y="1427063"/>
                </a:cubicBezTo>
                <a:lnTo>
                  <a:pt x="0" y="69720"/>
                </a:lnTo>
                <a:cubicBezTo>
                  <a:pt x="0" y="31215"/>
                  <a:pt x="31215" y="0"/>
                  <a:pt x="6972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595" y="4270578"/>
            <a:ext cx="11355380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Distribución de Clases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2871" y="4587451"/>
            <a:ext cx="2734284" cy="956465"/>
          </a:xfrm>
          <a:custGeom>
            <a:avLst/>
            <a:gdLst/>
            <a:ahLst/>
            <a:cxnLst/>
            <a:rect l="l" t="t" r="r" b="b"/>
            <a:pathLst>
              <a:path w="2734284" h="956465">
                <a:moveTo>
                  <a:pt x="69717" y="0"/>
                </a:moveTo>
                <a:lnTo>
                  <a:pt x="2664567" y="0"/>
                </a:lnTo>
                <a:cubicBezTo>
                  <a:pt x="2703045" y="0"/>
                  <a:pt x="2734284" y="31239"/>
                  <a:pt x="2734284" y="69717"/>
                </a:cubicBezTo>
                <a:lnTo>
                  <a:pt x="2734284" y="886749"/>
                </a:lnTo>
                <a:cubicBezTo>
                  <a:pt x="2734284" y="925226"/>
                  <a:pt x="2703045" y="956465"/>
                  <a:pt x="2664567" y="956465"/>
                </a:cubicBezTo>
                <a:lnTo>
                  <a:pt x="69717" y="956465"/>
                </a:lnTo>
                <a:cubicBezTo>
                  <a:pt x="31239" y="956465"/>
                  <a:pt x="0" y="925226"/>
                  <a:pt x="0" y="886749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319" y="4695261"/>
            <a:ext cx="2649298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9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84.7%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5821" y="5043771"/>
            <a:ext cx="258829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0178" y="5252938"/>
            <a:ext cx="257958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278,096 registros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07364" y="4587451"/>
            <a:ext cx="2734284" cy="956465"/>
          </a:xfrm>
          <a:custGeom>
            <a:avLst/>
            <a:gdLst/>
            <a:ahLst/>
            <a:cxnLst/>
            <a:rect l="l" t="t" r="r" b="b"/>
            <a:pathLst>
              <a:path w="2734284" h="956465">
                <a:moveTo>
                  <a:pt x="69717" y="0"/>
                </a:moveTo>
                <a:lnTo>
                  <a:pt x="2664567" y="0"/>
                </a:lnTo>
                <a:cubicBezTo>
                  <a:pt x="2703045" y="0"/>
                  <a:pt x="2734284" y="31239"/>
                  <a:pt x="2734284" y="69717"/>
                </a:cubicBezTo>
                <a:lnTo>
                  <a:pt x="2734284" y="886749"/>
                </a:lnTo>
                <a:cubicBezTo>
                  <a:pt x="2734284" y="925226"/>
                  <a:pt x="2703045" y="956465"/>
                  <a:pt x="2664567" y="956465"/>
                </a:cubicBezTo>
                <a:lnTo>
                  <a:pt x="69717" y="956465"/>
                </a:lnTo>
                <a:cubicBezTo>
                  <a:pt x="31239" y="956465"/>
                  <a:pt x="0" y="925226"/>
                  <a:pt x="0" y="886749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9549">
            <a:solidFill>
              <a:srgbClr val="8D99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9811" y="4695261"/>
            <a:ext cx="2649298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9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7.6%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80313" y="5043771"/>
            <a:ext cx="258829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84670" y="5252938"/>
            <a:ext cx="257958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24,949 registros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1958" y="4587451"/>
            <a:ext cx="2734284" cy="956465"/>
          </a:xfrm>
          <a:custGeom>
            <a:avLst/>
            <a:gdLst/>
            <a:ahLst/>
            <a:cxnLst/>
            <a:rect l="l" t="t" r="r" b="b"/>
            <a:pathLst>
              <a:path w="2734284" h="956465">
                <a:moveTo>
                  <a:pt x="69717" y="0"/>
                </a:moveTo>
                <a:lnTo>
                  <a:pt x="2664567" y="0"/>
                </a:lnTo>
                <a:cubicBezTo>
                  <a:pt x="2703045" y="0"/>
                  <a:pt x="2734284" y="31239"/>
                  <a:pt x="2734284" y="69717"/>
                </a:cubicBezTo>
                <a:lnTo>
                  <a:pt x="2734284" y="886749"/>
                </a:lnTo>
                <a:cubicBezTo>
                  <a:pt x="2734284" y="925226"/>
                  <a:pt x="2703045" y="956465"/>
                  <a:pt x="2664567" y="956465"/>
                </a:cubicBezTo>
                <a:lnTo>
                  <a:pt x="69717" y="956465"/>
                </a:lnTo>
                <a:cubicBezTo>
                  <a:pt x="31239" y="956465"/>
                  <a:pt x="0" y="925226"/>
                  <a:pt x="0" y="886749"/>
                </a:cubicBezTo>
                <a:lnTo>
                  <a:pt x="0" y="69717"/>
                </a:lnTo>
                <a:cubicBezTo>
                  <a:pt x="0" y="31239"/>
                  <a:pt x="31239" y="0"/>
                  <a:pt x="69717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9549">
            <a:solidFill>
              <a:srgbClr val="8D99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4406" y="4695261"/>
            <a:ext cx="2649298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9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6.2%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24908" y="5043771"/>
            <a:ext cx="2588294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29265" y="5252938"/>
            <a:ext cx="257958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20,353 registros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99829" y="4590727"/>
            <a:ext cx="2723407" cy="954303"/>
          </a:xfrm>
          <a:custGeom>
            <a:avLst/>
            <a:gdLst/>
            <a:ahLst/>
            <a:cxnLst/>
            <a:rect l="l" t="t" r="r" b="b"/>
            <a:pathLst>
              <a:path w="2723407" h="954303">
                <a:moveTo>
                  <a:pt x="69721" y="0"/>
                </a:moveTo>
                <a:lnTo>
                  <a:pt x="2653685" y="0"/>
                </a:lnTo>
                <a:cubicBezTo>
                  <a:pt x="2692191" y="0"/>
                  <a:pt x="2723407" y="31215"/>
                  <a:pt x="2723407" y="69721"/>
                </a:cubicBezTo>
                <a:lnTo>
                  <a:pt x="2723407" y="884582"/>
                </a:lnTo>
                <a:cubicBezTo>
                  <a:pt x="2723407" y="923088"/>
                  <a:pt x="2692191" y="954303"/>
                  <a:pt x="2653685" y="954303"/>
                </a:cubicBezTo>
                <a:lnTo>
                  <a:pt x="69721" y="954303"/>
                </a:lnTo>
                <a:cubicBezTo>
                  <a:pt x="31215" y="954303"/>
                  <a:pt x="0" y="923088"/>
                  <a:pt x="0" y="884582"/>
                </a:cubicBezTo>
                <a:lnTo>
                  <a:pt x="0" y="69721"/>
                </a:lnTo>
                <a:cubicBezTo>
                  <a:pt x="0" y="31215"/>
                  <a:pt x="31215" y="0"/>
                  <a:pt x="69721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45553" y="4701813"/>
            <a:ext cx="2631868" cy="31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9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1.4%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76055" y="5050323"/>
            <a:ext cx="2570865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80412" y="5259491"/>
            <a:ext cx="2562150" cy="17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4,595 registros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1786" y="5735364"/>
            <a:ext cx="11492654" cy="773455"/>
          </a:xfrm>
          <a:custGeom>
            <a:avLst/>
            <a:gdLst/>
            <a:ahLst/>
            <a:cxnLst/>
            <a:rect l="l" t="t" r="r" b="b"/>
            <a:pathLst>
              <a:path w="11492654" h="773455">
                <a:moveTo>
                  <a:pt x="69719" y="0"/>
                </a:moveTo>
                <a:lnTo>
                  <a:pt x="11422935" y="0"/>
                </a:lnTo>
                <a:cubicBezTo>
                  <a:pt x="11461440" y="0"/>
                  <a:pt x="11492654" y="31214"/>
                  <a:pt x="11492654" y="69719"/>
                </a:cubicBezTo>
                <a:lnTo>
                  <a:pt x="11492654" y="703735"/>
                </a:lnTo>
                <a:cubicBezTo>
                  <a:pt x="11492654" y="742240"/>
                  <a:pt x="11461440" y="773455"/>
                  <a:pt x="11422935" y="773455"/>
                </a:cubicBezTo>
                <a:lnTo>
                  <a:pt x="69719" y="773455"/>
                </a:lnTo>
                <a:cubicBezTo>
                  <a:pt x="31214" y="773455"/>
                  <a:pt x="0" y="742240"/>
                  <a:pt x="0" y="703735"/>
                </a:cubicBezTo>
                <a:lnTo>
                  <a:pt x="0" y="69719"/>
                </a:lnTo>
                <a:cubicBezTo>
                  <a:pt x="0" y="31240"/>
                  <a:pt x="31240" y="0"/>
                  <a:pt x="6971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3169" y="6017428"/>
            <a:ext cx="156866" cy="209155"/>
          </a:xfrm>
          <a:custGeom>
            <a:avLst/>
            <a:gdLst/>
            <a:ahLst/>
            <a:cxnLst/>
            <a:rect l="l" t="t" r="r" b="b"/>
            <a:pathLst>
              <a:path w="156866" h="209155">
                <a:moveTo>
                  <a:pt x="119651" y="156866"/>
                </a:moveTo>
                <a:cubicBezTo>
                  <a:pt x="122634" y="147757"/>
                  <a:pt x="128598" y="139505"/>
                  <a:pt x="135338" y="132397"/>
                </a:cubicBezTo>
                <a:cubicBezTo>
                  <a:pt x="148696" y="118344"/>
                  <a:pt x="156866" y="99349"/>
                  <a:pt x="156866" y="78433"/>
                </a:cubicBezTo>
                <a:cubicBezTo>
                  <a:pt x="156866" y="35132"/>
                  <a:pt x="121735" y="0"/>
                  <a:pt x="78433" y="0"/>
                </a:cubicBezTo>
                <a:cubicBezTo>
                  <a:pt x="35132" y="0"/>
                  <a:pt x="0" y="35132"/>
                  <a:pt x="0" y="78433"/>
                </a:cubicBezTo>
                <a:cubicBezTo>
                  <a:pt x="0" y="99349"/>
                  <a:pt x="8170" y="118344"/>
                  <a:pt x="21528" y="132397"/>
                </a:cubicBezTo>
                <a:cubicBezTo>
                  <a:pt x="28269" y="139505"/>
                  <a:pt x="34274" y="147757"/>
                  <a:pt x="37215" y="156866"/>
                </a:cubicBezTo>
                <a:lnTo>
                  <a:pt x="119611" y="156866"/>
                </a:lnTo>
                <a:close/>
                <a:moveTo>
                  <a:pt x="117650" y="176475"/>
                </a:moveTo>
                <a:lnTo>
                  <a:pt x="39217" y="176475"/>
                </a:lnTo>
                <a:lnTo>
                  <a:pt x="39217" y="183011"/>
                </a:lnTo>
                <a:cubicBezTo>
                  <a:pt x="39217" y="201067"/>
                  <a:pt x="53841" y="215691"/>
                  <a:pt x="71897" y="215691"/>
                </a:cubicBezTo>
                <a:lnTo>
                  <a:pt x="84969" y="215691"/>
                </a:lnTo>
                <a:cubicBezTo>
                  <a:pt x="103025" y="215691"/>
                  <a:pt x="117650" y="201067"/>
                  <a:pt x="117650" y="183011"/>
                </a:cubicBezTo>
                <a:lnTo>
                  <a:pt x="117650" y="176475"/>
                </a:lnTo>
                <a:close/>
                <a:moveTo>
                  <a:pt x="75165" y="45753"/>
                </a:moveTo>
                <a:cubicBezTo>
                  <a:pt x="58907" y="45753"/>
                  <a:pt x="45753" y="58907"/>
                  <a:pt x="45753" y="75165"/>
                </a:cubicBezTo>
                <a:cubicBezTo>
                  <a:pt x="45753" y="80598"/>
                  <a:pt x="41382" y="84969"/>
                  <a:pt x="35949" y="84969"/>
                </a:cubicBezTo>
                <a:cubicBezTo>
                  <a:pt x="30515" y="84969"/>
                  <a:pt x="26144" y="80598"/>
                  <a:pt x="26144" y="75165"/>
                </a:cubicBezTo>
                <a:cubicBezTo>
                  <a:pt x="26144" y="48081"/>
                  <a:pt x="48081" y="26144"/>
                  <a:pt x="75165" y="26144"/>
                </a:cubicBezTo>
                <a:cubicBezTo>
                  <a:pt x="80598" y="26144"/>
                  <a:pt x="84969" y="30515"/>
                  <a:pt x="84969" y="35949"/>
                </a:cubicBezTo>
                <a:cubicBezTo>
                  <a:pt x="84969" y="41382"/>
                  <a:pt x="80598" y="45753"/>
                  <a:pt x="75165" y="4575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804726" y="5843173"/>
            <a:ext cx="10998073" cy="20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Qué Este Problema es Relevante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4726" y="6052340"/>
            <a:ext cx="10989358" cy="34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problemas de clasificación ordinal con desbalanceo son comunes en la industria. Las lecciones aprendidas aquí son directamente transferibles a credit scoring, diagnóstico médico, detección de fraude, y más.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530" y="345914"/>
            <a:ext cx="1713307" cy="178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spc="53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530" y="611134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Del Dominio al Modelo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722" y="1021683"/>
            <a:ext cx="5703342" cy="3198718"/>
          </a:xfrm>
          <a:custGeom>
            <a:avLst/>
            <a:gdLst/>
            <a:ahLst/>
            <a:cxnLst/>
            <a:rect l="l" t="t" r="r" b="b"/>
            <a:pathLst>
              <a:path w="5703342" h="3198718">
                <a:moveTo>
                  <a:pt x="67909" y="0"/>
                </a:moveTo>
                <a:lnTo>
                  <a:pt x="5635433" y="0"/>
                </a:lnTo>
                <a:cubicBezTo>
                  <a:pt x="5672938" y="0"/>
                  <a:pt x="5703342" y="30404"/>
                  <a:pt x="5703342" y="67909"/>
                </a:cubicBezTo>
                <a:lnTo>
                  <a:pt x="5703342" y="3130809"/>
                </a:lnTo>
                <a:cubicBezTo>
                  <a:pt x="5703342" y="3168314"/>
                  <a:pt x="5672938" y="3198718"/>
                  <a:pt x="5635433" y="3198718"/>
                </a:cubicBezTo>
                <a:lnTo>
                  <a:pt x="67909" y="3198718"/>
                </a:lnTo>
                <a:cubicBezTo>
                  <a:pt x="30404" y="3198718"/>
                  <a:pt x="0" y="3168314"/>
                  <a:pt x="0" y="3130809"/>
                </a:cubicBezTo>
                <a:lnTo>
                  <a:pt x="0" y="67909"/>
                </a:lnTo>
                <a:cubicBezTo>
                  <a:pt x="0" y="30404"/>
                  <a:pt x="30404" y="0"/>
                  <a:pt x="6790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7753" y="1126714"/>
            <a:ext cx="556960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Numéricas (15+)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7753" y="1432231"/>
            <a:ext cx="5493192" cy="543376"/>
          </a:xfrm>
          <a:custGeom>
            <a:avLst/>
            <a:gdLst/>
            <a:ahLst/>
            <a:cxnLst/>
            <a:rect l="l" t="t" r="r" b="b"/>
            <a:pathLst>
              <a:path w="5493192" h="543376">
                <a:moveTo>
                  <a:pt x="33961" y="0"/>
                </a:moveTo>
                <a:lnTo>
                  <a:pt x="5459231" y="0"/>
                </a:lnTo>
                <a:cubicBezTo>
                  <a:pt x="5477987" y="0"/>
                  <a:pt x="5493192" y="15205"/>
                  <a:pt x="5493192" y="33961"/>
                </a:cubicBezTo>
                <a:lnTo>
                  <a:pt x="5493192" y="509415"/>
                </a:lnTo>
                <a:cubicBezTo>
                  <a:pt x="5493192" y="528171"/>
                  <a:pt x="5477987" y="543376"/>
                  <a:pt x="5459231" y="543376"/>
                </a:cubicBezTo>
                <a:lnTo>
                  <a:pt x="33961" y="543376"/>
                </a:lnTo>
                <a:cubicBezTo>
                  <a:pt x="15205" y="543376"/>
                  <a:pt x="0" y="528171"/>
                  <a:pt x="0" y="50941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5579" y="1500058"/>
            <a:ext cx="67922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74868" y="1517014"/>
            <a:ext cx="1154674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0.2845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579" y="1737749"/>
            <a:ext cx="541678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Diferencia de evaluación posicional. </a:t>
            </a:r>
            <a:pPr>
              <a:lnSpc>
                <a:spcPct val="120000"/>
              </a:lnSpc>
            </a:pPr>
            <a:r>
              <a:rPr lang="en-US" sz="936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ROI esperado de una inversión.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7753" y="2009253"/>
            <a:ext cx="5493192" cy="543376"/>
          </a:xfrm>
          <a:custGeom>
            <a:avLst/>
            <a:gdLst/>
            <a:ahLst/>
            <a:cxnLst/>
            <a:rect l="l" t="t" r="r" b="b"/>
            <a:pathLst>
              <a:path w="5493192" h="543376">
                <a:moveTo>
                  <a:pt x="33961" y="0"/>
                </a:moveTo>
                <a:lnTo>
                  <a:pt x="5459231" y="0"/>
                </a:lnTo>
                <a:cubicBezTo>
                  <a:pt x="5477987" y="0"/>
                  <a:pt x="5493192" y="15205"/>
                  <a:pt x="5493192" y="33961"/>
                </a:cubicBezTo>
                <a:lnTo>
                  <a:pt x="5493192" y="509415"/>
                </a:lnTo>
                <a:cubicBezTo>
                  <a:pt x="5493192" y="528171"/>
                  <a:pt x="5477987" y="543376"/>
                  <a:pt x="5459231" y="543376"/>
                </a:cubicBezTo>
                <a:lnTo>
                  <a:pt x="33961" y="543376"/>
                </a:lnTo>
                <a:cubicBezTo>
                  <a:pt x="15205" y="543376"/>
                  <a:pt x="0" y="528171"/>
                  <a:pt x="0" y="50941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5579" y="2077079"/>
            <a:ext cx="112071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1500" y="2094036"/>
            <a:ext cx="112920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0.1623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579" y="2314771"/>
            <a:ext cx="541678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recursos. </a:t>
            </a:r>
            <a:pPr>
              <a:lnSpc>
                <a:spcPct val="120000"/>
              </a:lnSpc>
            </a:pPr>
            <a:r>
              <a:rPr lang="en-US" sz="936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Ratio de liquidez en finanzas.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7753" y="2586275"/>
            <a:ext cx="5493192" cy="543376"/>
          </a:xfrm>
          <a:custGeom>
            <a:avLst/>
            <a:gdLst/>
            <a:ahLst/>
            <a:cxnLst/>
            <a:rect l="l" t="t" r="r" b="b"/>
            <a:pathLst>
              <a:path w="5493192" h="543376">
                <a:moveTo>
                  <a:pt x="33961" y="0"/>
                </a:moveTo>
                <a:lnTo>
                  <a:pt x="5459231" y="0"/>
                </a:lnTo>
                <a:cubicBezTo>
                  <a:pt x="5477987" y="0"/>
                  <a:pt x="5493192" y="15205"/>
                  <a:pt x="5493192" y="33961"/>
                </a:cubicBezTo>
                <a:lnTo>
                  <a:pt x="5493192" y="509415"/>
                </a:lnTo>
                <a:cubicBezTo>
                  <a:pt x="5493192" y="528171"/>
                  <a:pt x="5477987" y="543376"/>
                  <a:pt x="5459231" y="543376"/>
                </a:cubicBezTo>
                <a:lnTo>
                  <a:pt x="33961" y="543376"/>
                </a:lnTo>
                <a:cubicBezTo>
                  <a:pt x="15205" y="543376"/>
                  <a:pt x="0" y="528171"/>
                  <a:pt x="0" y="50941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5579" y="2654101"/>
            <a:ext cx="112071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2198" y="2671058"/>
            <a:ext cx="112920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0.1245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579" y="2891793"/>
            <a:ext cx="541678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opciones disponibles. </a:t>
            </a:r>
            <a:pPr>
              <a:lnSpc>
                <a:spcPct val="120000"/>
              </a:lnSpc>
            </a:pPr>
            <a:r>
              <a:rPr lang="en-US" sz="936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Complejidad de decisiones estratégicas.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7753" y="3163297"/>
            <a:ext cx="5493192" cy="543376"/>
          </a:xfrm>
          <a:custGeom>
            <a:avLst/>
            <a:gdLst/>
            <a:ahLst/>
            <a:cxnLst/>
            <a:rect l="l" t="t" r="r" b="b"/>
            <a:pathLst>
              <a:path w="5493192" h="543376">
                <a:moveTo>
                  <a:pt x="33961" y="0"/>
                </a:moveTo>
                <a:lnTo>
                  <a:pt x="5459231" y="0"/>
                </a:lnTo>
                <a:cubicBezTo>
                  <a:pt x="5477987" y="0"/>
                  <a:pt x="5493192" y="15205"/>
                  <a:pt x="5493192" y="33961"/>
                </a:cubicBezTo>
                <a:lnTo>
                  <a:pt x="5493192" y="509415"/>
                </a:lnTo>
                <a:cubicBezTo>
                  <a:pt x="5493192" y="528171"/>
                  <a:pt x="5477987" y="543376"/>
                  <a:pt x="5459231" y="543376"/>
                </a:cubicBezTo>
                <a:lnTo>
                  <a:pt x="33961" y="543376"/>
                </a:lnTo>
                <a:cubicBezTo>
                  <a:pt x="15205" y="543376"/>
                  <a:pt x="0" y="528171"/>
                  <a:pt x="0" y="509415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5579" y="3231123"/>
            <a:ext cx="106128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mobility 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75466" y="3248080"/>
            <a:ext cx="1154674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0.0987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579" y="3468815"/>
            <a:ext cx="541678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operativa. </a:t>
            </a:r>
            <a:pPr>
              <a:lnSpc>
                <a:spcPct val="120000"/>
              </a:lnSpc>
            </a:pPr>
            <a:r>
              <a:rPr lang="en-US" sz="936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Analogía: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Capacidad de respuesta organizacional.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1941" y="1021683"/>
            <a:ext cx="5703342" cy="3198718"/>
          </a:xfrm>
          <a:custGeom>
            <a:avLst/>
            <a:gdLst/>
            <a:ahLst/>
            <a:cxnLst/>
            <a:rect l="l" t="t" r="r" b="b"/>
            <a:pathLst>
              <a:path w="5703342" h="3198718">
                <a:moveTo>
                  <a:pt x="67909" y="0"/>
                </a:moveTo>
                <a:lnTo>
                  <a:pt x="5635433" y="0"/>
                </a:lnTo>
                <a:cubicBezTo>
                  <a:pt x="5672938" y="0"/>
                  <a:pt x="5703342" y="30404"/>
                  <a:pt x="5703342" y="67909"/>
                </a:cubicBezTo>
                <a:lnTo>
                  <a:pt x="5703342" y="3130809"/>
                </a:lnTo>
                <a:cubicBezTo>
                  <a:pt x="5703342" y="3168314"/>
                  <a:pt x="5672938" y="3198718"/>
                  <a:pt x="5635433" y="3198718"/>
                </a:cubicBezTo>
                <a:lnTo>
                  <a:pt x="67909" y="3198718"/>
                </a:lnTo>
                <a:cubicBezTo>
                  <a:pt x="30404" y="3198718"/>
                  <a:pt x="0" y="3168314"/>
                  <a:pt x="0" y="3130809"/>
                </a:cubicBezTo>
                <a:lnTo>
                  <a:pt x="0" y="67909"/>
                </a:lnTo>
                <a:cubicBezTo>
                  <a:pt x="0" y="30404"/>
                  <a:pt x="30404" y="0"/>
                  <a:pt x="6790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6972" y="1126714"/>
            <a:ext cx="5569604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Binarias (10+)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6972" y="1432231"/>
            <a:ext cx="5493192" cy="509415"/>
          </a:xfrm>
          <a:custGeom>
            <a:avLst/>
            <a:gdLst/>
            <a:ahLst/>
            <a:cxnLst/>
            <a:rect l="l" t="t" r="r" b="b"/>
            <a:pathLst>
              <a:path w="5493192" h="509415">
                <a:moveTo>
                  <a:pt x="33963" y="0"/>
                </a:moveTo>
                <a:lnTo>
                  <a:pt x="5459229" y="0"/>
                </a:lnTo>
                <a:cubicBezTo>
                  <a:pt x="5477987" y="0"/>
                  <a:pt x="5493192" y="15206"/>
                  <a:pt x="5493192" y="33963"/>
                </a:cubicBezTo>
                <a:lnTo>
                  <a:pt x="5493192" y="475452"/>
                </a:lnTo>
                <a:cubicBezTo>
                  <a:pt x="5493192" y="494209"/>
                  <a:pt x="5477987" y="509415"/>
                  <a:pt x="5459230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24798" y="1500058"/>
            <a:ext cx="16046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threatens_mate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4798" y="1703835"/>
            <a:ext cx="159616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Amenaza crítica identificada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527394" y="161885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0"/>
                </a:moveTo>
                <a:cubicBezTo>
                  <a:pt x="71822" y="0"/>
                  <a:pt x="75404" y="2149"/>
                  <a:pt x="77261" y="5572"/>
                </a:cubicBezTo>
                <a:lnTo>
                  <a:pt x="134570" y="111700"/>
                </a:lnTo>
                <a:cubicBezTo>
                  <a:pt x="136348" y="114990"/>
                  <a:pt x="136269" y="118970"/>
                  <a:pt x="134358" y="122180"/>
                </a:cubicBezTo>
                <a:cubicBezTo>
                  <a:pt x="132448" y="125390"/>
                  <a:pt x="128972" y="127354"/>
                  <a:pt x="125231" y="127354"/>
                </a:cubicBezTo>
                <a:lnTo>
                  <a:pt x="10613" y="127354"/>
                </a:lnTo>
                <a:cubicBezTo>
                  <a:pt x="6872" y="127354"/>
                  <a:pt x="3423" y="125390"/>
                  <a:pt x="1486" y="122180"/>
                </a:cubicBezTo>
                <a:cubicBezTo>
                  <a:pt x="-451" y="118970"/>
                  <a:pt x="-504" y="114990"/>
                  <a:pt x="1274" y="111700"/>
                </a:cubicBezTo>
                <a:lnTo>
                  <a:pt x="58583" y="5572"/>
                </a:lnTo>
                <a:cubicBezTo>
                  <a:pt x="60440" y="2149"/>
                  <a:pt x="64022" y="0"/>
                  <a:pt x="67922" y="0"/>
                </a:cubicBezTo>
                <a:close/>
                <a:moveTo>
                  <a:pt x="67922" y="44574"/>
                </a:moveTo>
                <a:cubicBezTo>
                  <a:pt x="64393" y="44574"/>
                  <a:pt x="61554" y="47413"/>
                  <a:pt x="61554" y="50942"/>
                </a:cubicBezTo>
                <a:lnTo>
                  <a:pt x="61554" y="80657"/>
                </a:lnTo>
                <a:cubicBezTo>
                  <a:pt x="61554" y="84186"/>
                  <a:pt x="64393" y="87025"/>
                  <a:pt x="67922" y="87025"/>
                </a:cubicBezTo>
                <a:cubicBezTo>
                  <a:pt x="71451" y="87025"/>
                  <a:pt x="74290" y="84186"/>
                  <a:pt x="74290" y="80657"/>
                </a:cubicBezTo>
                <a:lnTo>
                  <a:pt x="74290" y="50942"/>
                </a:lnTo>
                <a:cubicBezTo>
                  <a:pt x="74290" y="47413"/>
                  <a:pt x="71451" y="44574"/>
                  <a:pt x="67922" y="44574"/>
                </a:cubicBezTo>
                <a:close/>
                <a:moveTo>
                  <a:pt x="75006" y="101883"/>
                </a:moveTo>
                <a:cubicBezTo>
                  <a:pt x="75167" y="99253"/>
                  <a:pt x="73856" y="96752"/>
                  <a:pt x="71602" y="95388"/>
                </a:cubicBezTo>
                <a:cubicBezTo>
                  <a:pt x="69348" y="94025"/>
                  <a:pt x="66523" y="94025"/>
                  <a:pt x="64269" y="95388"/>
                </a:cubicBezTo>
                <a:cubicBezTo>
                  <a:pt x="62015" y="96752"/>
                  <a:pt x="60703" y="99253"/>
                  <a:pt x="60864" y="101883"/>
                </a:cubicBezTo>
                <a:cubicBezTo>
                  <a:pt x="60703" y="104513"/>
                  <a:pt x="62015" y="107014"/>
                  <a:pt x="64269" y="108378"/>
                </a:cubicBezTo>
                <a:cubicBezTo>
                  <a:pt x="66523" y="109741"/>
                  <a:pt x="69348" y="109741"/>
                  <a:pt x="71602" y="108378"/>
                </a:cubicBezTo>
                <a:cubicBezTo>
                  <a:pt x="73856" y="107014"/>
                  <a:pt x="75167" y="104513"/>
                  <a:pt x="75006" y="10188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6972" y="1975340"/>
            <a:ext cx="5493192" cy="509415"/>
          </a:xfrm>
          <a:custGeom>
            <a:avLst/>
            <a:gdLst/>
            <a:ahLst/>
            <a:cxnLst/>
            <a:rect l="l" t="t" r="r" b="b"/>
            <a:pathLst>
              <a:path w="5493192" h="509415">
                <a:moveTo>
                  <a:pt x="33963" y="0"/>
                </a:moveTo>
                <a:lnTo>
                  <a:pt x="5459229" y="0"/>
                </a:lnTo>
                <a:cubicBezTo>
                  <a:pt x="5477987" y="0"/>
                  <a:pt x="5493192" y="15206"/>
                  <a:pt x="5493192" y="33963"/>
                </a:cubicBezTo>
                <a:lnTo>
                  <a:pt x="5493192" y="475452"/>
                </a:lnTo>
                <a:cubicBezTo>
                  <a:pt x="5493192" y="494209"/>
                  <a:pt x="5477987" y="509415"/>
                  <a:pt x="5459230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24798" y="2043167"/>
            <a:ext cx="146032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is_center_controlled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4798" y="2246944"/>
            <a:ext cx="145183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recursos clave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527394" y="2161962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18864" y="67922"/>
                </a:moveTo>
                <a:cubicBezTo>
                  <a:pt x="118864" y="39807"/>
                  <a:pt x="96037" y="16981"/>
                  <a:pt x="67922" y="16981"/>
                </a:cubicBezTo>
                <a:cubicBezTo>
                  <a:pt x="39807" y="16981"/>
                  <a:pt x="16981" y="39807"/>
                  <a:pt x="16981" y="67922"/>
                </a:cubicBezTo>
                <a:cubicBezTo>
                  <a:pt x="16981" y="96037"/>
                  <a:pt x="39807" y="118864"/>
                  <a:pt x="67922" y="118864"/>
                </a:cubicBezTo>
                <a:cubicBezTo>
                  <a:pt x="96037" y="118864"/>
                  <a:pt x="118864" y="96037"/>
                  <a:pt x="118864" y="67922"/>
                </a:cubicBezTo>
                <a:close/>
                <a:moveTo>
                  <a:pt x="0" y="67922"/>
                </a:moveTo>
                <a:cubicBezTo>
                  <a:pt x="0" y="30435"/>
                  <a:pt x="30435" y="0"/>
                  <a:pt x="67922" y="0"/>
                </a:cubicBezTo>
                <a:cubicBezTo>
                  <a:pt x="105409" y="0"/>
                  <a:pt x="135844" y="30435"/>
                  <a:pt x="135844" y="67922"/>
                </a:cubicBezTo>
                <a:cubicBezTo>
                  <a:pt x="135844" y="105409"/>
                  <a:pt x="105409" y="135844"/>
                  <a:pt x="67922" y="135844"/>
                </a:cubicBezTo>
                <a:cubicBezTo>
                  <a:pt x="30435" y="135844"/>
                  <a:pt x="0" y="105409"/>
                  <a:pt x="0" y="67922"/>
                </a:cubicBezTo>
                <a:close/>
                <a:moveTo>
                  <a:pt x="67922" y="89148"/>
                </a:moveTo>
                <a:cubicBezTo>
                  <a:pt x="79637" y="89148"/>
                  <a:pt x="89148" y="79637"/>
                  <a:pt x="89148" y="67922"/>
                </a:cubicBezTo>
                <a:cubicBezTo>
                  <a:pt x="89148" y="56207"/>
                  <a:pt x="79637" y="46696"/>
                  <a:pt x="67922" y="46696"/>
                </a:cubicBezTo>
                <a:cubicBezTo>
                  <a:pt x="56207" y="46696"/>
                  <a:pt x="46696" y="56207"/>
                  <a:pt x="46696" y="67922"/>
                </a:cubicBezTo>
                <a:cubicBezTo>
                  <a:pt x="46696" y="79637"/>
                  <a:pt x="56207" y="89148"/>
                  <a:pt x="67922" y="89148"/>
                </a:cubicBezTo>
                <a:close/>
                <a:moveTo>
                  <a:pt x="67922" y="29716"/>
                </a:moveTo>
                <a:cubicBezTo>
                  <a:pt x="89009" y="29716"/>
                  <a:pt x="106128" y="46835"/>
                  <a:pt x="106128" y="67922"/>
                </a:cubicBezTo>
                <a:cubicBezTo>
                  <a:pt x="106128" y="89009"/>
                  <a:pt x="89009" y="106128"/>
                  <a:pt x="67922" y="106128"/>
                </a:cubicBezTo>
                <a:cubicBezTo>
                  <a:pt x="46835" y="106128"/>
                  <a:pt x="29716" y="89009"/>
                  <a:pt x="29716" y="67922"/>
                </a:cubicBezTo>
                <a:cubicBezTo>
                  <a:pt x="29716" y="46835"/>
                  <a:pt x="46835" y="29716"/>
                  <a:pt x="67922" y="29716"/>
                </a:cubicBezTo>
                <a:close/>
                <a:moveTo>
                  <a:pt x="59432" y="67922"/>
                </a:moveTo>
                <a:cubicBezTo>
                  <a:pt x="59432" y="63236"/>
                  <a:pt x="63236" y="59432"/>
                  <a:pt x="67922" y="59432"/>
                </a:cubicBezTo>
                <a:cubicBezTo>
                  <a:pt x="72608" y="59432"/>
                  <a:pt x="76412" y="63236"/>
                  <a:pt x="76412" y="67922"/>
                </a:cubicBezTo>
                <a:cubicBezTo>
                  <a:pt x="76412" y="72608"/>
                  <a:pt x="72608" y="76412"/>
                  <a:pt x="67922" y="76412"/>
                </a:cubicBezTo>
                <a:cubicBezTo>
                  <a:pt x="63236" y="76412"/>
                  <a:pt x="59432" y="72608"/>
                  <a:pt x="59432" y="6792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Shape 30"/>
          <p:cNvSpPr/>
          <p:nvPr/>
        </p:nvSpPr>
        <p:spPr>
          <a:xfrm>
            <a:off x="6256972" y="2518449"/>
            <a:ext cx="5493192" cy="509415"/>
          </a:xfrm>
          <a:custGeom>
            <a:avLst/>
            <a:gdLst/>
            <a:ahLst/>
            <a:cxnLst/>
            <a:rect l="l" t="t" r="r" b="b"/>
            <a:pathLst>
              <a:path w="5493192" h="509415">
                <a:moveTo>
                  <a:pt x="33963" y="0"/>
                </a:moveTo>
                <a:lnTo>
                  <a:pt x="5459229" y="0"/>
                </a:lnTo>
                <a:cubicBezTo>
                  <a:pt x="5477987" y="0"/>
                  <a:pt x="5493192" y="15206"/>
                  <a:pt x="5493192" y="33963"/>
                </a:cubicBezTo>
                <a:lnTo>
                  <a:pt x="5493192" y="475452"/>
                </a:lnTo>
                <a:cubicBezTo>
                  <a:pt x="5493192" y="494209"/>
                  <a:pt x="5477987" y="509415"/>
                  <a:pt x="5459230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24798" y="2586275"/>
            <a:ext cx="12565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is_pawn_endgame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798" y="2790053"/>
            <a:ext cx="124806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final del proceso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535885" y="2705070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8490" y="0"/>
                </a:moveTo>
                <a:cubicBezTo>
                  <a:pt x="13186" y="0"/>
                  <a:pt x="16981" y="3794"/>
                  <a:pt x="16981" y="8490"/>
                </a:cubicBezTo>
                <a:lnTo>
                  <a:pt x="16981" y="12735"/>
                </a:lnTo>
                <a:lnTo>
                  <a:pt x="35288" y="8172"/>
                </a:lnTo>
                <a:cubicBezTo>
                  <a:pt x="45396" y="5651"/>
                  <a:pt x="56062" y="6819"/>
                  <a:pt x="65401" y="11488"/>
                </a:cubicBezTo>
                <a:cubicBezTo>
                  <a:pt x="77686" y="17644"/>
                  <a:pt x="92146" y="17644"/>
                  <a:pt x="104430" y="11488"/>
                </a:cubicBezTo>
                <a:lnTo>
                  <a:pt x="106977" y="10215"/>
                </a:lnTo>
                <a:cubicBezTo>
                  <a:pt x="112443" y="7456"/>
                  <a:pt x="118864" y="11435"/>
                  <a:pt x="118864" y="17538"/>
                </a:cubicBezTo>
                <a:lnTo>
                  <a:pt x="118864" y="91748"/>
                </a:lnTo>
                <a:cubicBezTo>
                  <a:pt x="118864" y="95277"/>
                  <a:pt x="116661" y="98460"/>
                  <a:pt x="113345" y="99707"/>
                </a:cubicBezTo>
                <a:lnTo>
                  <a:pt x="104138" y="103157"/>
                </a:lnTo>
                <a:cubicBezTo>
                  <a:pt x="91880" y="107747"/>
                  <a:pt x="78243" y="107030"/>
                  <a:pt x="66542" y="101193"/>
                </a:cubicBezTo>
                <a:cubicBezTo>
                  <a:pt x="56487" y="96152"/>
                  <a:pt x="44945" y="94905"/>
                  <a:pt x="34041" y="97638"/>
                </a:cubicBezTo>
                <a:lnTo>
                  <a:pt x="16981" y="101883"/>
                </a:lnTo>
                <a:lnTo>
                  <a:pt x="16981" y="127354"/>
                </a:lnTo>
                <a:cubicBezTo>
                  <a:pt x="16981" y="132050"/>
                  <a:pt x="13186" y="135844"/>
                  <a:pt x="8490" y="135844"/>
                </a:cubicBezTo>
                <a:cubicBezTo>
                  <a:pt x="3794" y="135844"/>
                  <a:pt x="0" y="132050"/>
                  <a:pt x="0" y="127354"/>
                </a:cubicBezTo>
                <a:lnTo>
                  <a:pt x="0" y="8490"/>
                </a:lnTo>
                <a:cubicBezTo>
                  <a:pt x="0" y="3794"/>
                  <a:pt x="3794" y="0"/>
                  <a:pt x="8490" y="0"/>
                </a:cubicBezTo>
                <a:close/>
                <a:moveTo>
                  <a:pt x="16981" y="49641"/>
                </a:moveTo>
                <a:lnTo>
                  <a:pt x="33961" y="45953"/>
                </a:lnTo>
                <a:lnTo>
                  <a:pt x="33961" y="63332"/>
                </a:lnTo>
                <a:lnTo>
                  <a:pt x="16981" y="67020"/>
                </a:lnTo>
                <a:lnTo>
                  <a:pt x="16981" y="84398"/>
                </a:lnTo>
                <a:lnTo>
                  <a:pt x="29928" y="81161"/>
                </a:lnTo>
                <a:cubicBezTo>
                  <a:pt x="31281" y="80817"/>
                  <a:pt x="32608" y="80525"/>
                  <a:pt x="33961" y="80286"/>
                </a:cubicBezTo>
                <a:lnTo>
                  <a:pt x="33961" y="63332"/>
                </a:lnTo>
                <a:lnTo>
                  <a:pt x="44282" y="61103"/>
                </a:lnTo>
                <a:cubicBezTo>
                  <a:pt x="46484" y="60626"/>
                  <a:pt x="48713" y="60440"/>
                  <a:pt x="50942" y="60546"/>
                </a:cubicBezTo>
                <a:lnTo>
                  <a:pt x="50942" y="43566"/>
                </a:lnTo>
                <a:cubicBezTo>
                  <a:pt x="54550" y="43672"/>
                  <a:pt x="58158" y="44255"/>
                  <a:pt x="61660" y="45264"/>
                </a:cubicBezTo>
                <a:lnTo>
                  <a:pt x="67922" y="47094"/>
                </a:lnTo>
                <a:lnTo>
                  <a:pt x="67922" y="64791"/>
                </a:lnTo>
                <a:lnTo>
                  <a:pt x="56858" y="61528"/>
                </a:lnTo>
                <a:cubicBezTo>
                  <a:pt x="54921" y="60971"/>
                  <a:pt x="52931" y="60626"/>
                  <a:pt x="50942" y="60520"/>
                </a:cubicBezTo>
                <a:lnTo>
                  <a:pt x="50942" y="79463"/>
                </a:lnTo>
                <a:cubicBezTo>
                  <a:pt x="56725" y="79968"/>
                  <a:pt x="62430" y="81241"/>
                  <a:pt x="67922" y="83284"/>
                </a:cubicBezTo>
                <a:lnTo>
                  <a:pt x="67922" y="64765"/>
                </a:lnTo>
                <a:lnTo>
                  <a:pt x="73945" y="66542"/>
                </a:lnTo>
                <a:cubicBezTo>
                  <a:pt x="77527" y="67604"/>
                  <a:pt x="81188" y="68240"/>
                  <a:pt x="84903" y="68506"/>
                </a:cubicBezTo>
                <a:lnTo>
                  <a:pt x="84903" y="51472"/>
                </a:lnTo>
                <a:cubicBezTo>
                  <a:pt x="82833" y="51260"/>
                  <a:pt x="80764" y="50862"/>
                  <a:pt x="78747" y="50278"/>
                </a:cubicBezTo>
                <a:lnTo>
                  <a:pt x="67922" y="47094"/>
                </a:lnTo>
                <a:lnTo>
                  <a:pt x="67922" y="30644"/>
                </a:lnTo>
                <a:cubicBezTo>
                  <a:pt x="64473" y="29636"/>
                  <a:pt x="61077" y="28310"/>
                  <a:pt x="57787" y="26665"/>
                </a:cubicBezTo>
                <a:cubicBezTo>
                  <a:pt x="55611" y="25577"/>
                  <a:pt x="53303" y="24807"/>
                  <a:pt x="50942" y="24330"/>
                </a:cubicBezTo>
                <a:lnTo>
                  <a:pt x="50942" y="43539"/>
                </a:lnTo>
                <a:cubicBezTo>
                  <a:pt x="47492" y="43433"/>
                  <a:pt x="44043" y="43751"/>
                  <a:pt x="40674" y="44494"/>
                </a:cubicBezTo>
                <a:lnTo>
                  <a:pt x="33961" y="45953"/>
                </a:lnTo>
                <a:lnTo>
                  <a:pt x="33961" y="26001"/>
                </a:lnTo>
                <a:lnTo>
                  <a:pt x="16981" y="30247"/>
                </a:lnTo>
                <a:lnTo>
                  <a:pt x="16981" y="49641"/>
                </a:lnTo>
                <a:close/>
                <a:moveTo>
                  <a:pt x="84903" y="89068"/>
                </a:moveTo>
                <a:cubicBezTo>
                  <a:pt x="89360" y="89466"/>
                  <a:pt x="93897" y="88882"/>
                  <a:pt x="98169" y="87264"/>
                </a:cubicBezTo>
                <a:lnTo>
                  <a:pt x="101883" y="85884"/>
                </a:lnTo>
                <a:lnTo>
                  <a:pt x="101883" y="66861"/>
                </a:lnTo>
                <a:lnTo>
                  <a:pt x="99787" y="67338"/>
                </a:lnTo>
                <a:cubicBezTo>
                  <a:pt x="94905" y="68479"/>
                  <a:pt x="89891" y="68851"/>
                  <a:pt x="84903" y="68532"/>
                </a:cubicBezTo>
                <a:lnTo>
                  <a:pt x="84903" y="89068"/>
                </a:lnTo>
                <a:close/>
                <a:moveTo>
                  <a:pt x="101883" y="49429"/>
                </a:moveTo>
                <a:lnTo>
                  <a:pt x="101883" y="30644"/>
                </a:lnTo>
                <a:cubicBezTo>
                  <a:pt x="96338" y="32263"/>
                  <a:pt x="90633" y="33059"/>
                  <a:pt x="84903" y="33059"/>
                </a:cubicBezTo>
                <a:lnTo>
                  <a:pt x="84903" y="51472"/>
                </a:lnTo>
                <a:cubicBezTo>
                  <a:pt x="88590" y="51844"/>
                  <a:pt x="92331" y="51605"/>
                  <a:pt x="95966" y="50782"/>
                </a:cubicBezTo>
                <a:lnTo>
                  <a:pt x="101883" y="4940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6256972" y="3061557"/>
            <a:ext cx="5493192" cy="509415"/>
          </a:xfrm>
          <a:custGeom>
            <a:avLst/>
            <a:gdLst/>
            <a:ahLst/>
            <a:cxnLst/>
            <a:rect l="l" t="t" r="r" b="b"/>
            <a:pathLst>
              <a:path w="5493192" h="509415">
                <a:moveTo>
                  <a:pt x="33963" y="0"/>
                </a:moveTo>
                <a:lnTo>
                  <a:pt x="5459229" y="0"/>
                </a:lnTo>
                <a:cubicBezTo>
                  <a:pt x="5477987" y="0"/>
                  <a:pt x="5493192" y="15206"/>
                  <a:pt x="5493192" y="33963"/>
                </a:cubicBezTo>
                <a:lnTo>
                  <a:pt x="5493192" y="475452"/>
                </a:lnTo>
                <a:cubicBezTo>
                  <a:pt x="5493192" y="494209"/>
                  <a:pt x="5477987" y="509415"/>
                  <a:pt x="5459230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24798" y="3129384"/>
            <a:ext cx="202068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has_castling_rights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4798" y="3333161"/>
            <a:ext cx="201218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Opciones de protección disponibles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527394" y="3248179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0"/>
                </a:moveTo>
                <a:cubicBezTo>
                  <a:pt x="69142" y="0"/>
                  <a:pt x="70363" y="265"/>
                  <a:pt x="71477" y="769"/>
                </a:cubicBezTo>
                <a:lnTo>
                  <a:pt x="121464" y="21969"/>
                </a:lnTo>
                <a:cubicBezTo>
                  <a:pt x="127301" y="24436"/>
                  <a:pt x="131652" y="30193"/>
                  <a:pt x="131625" y="37145"/>
                </a:cubicBezTo>
                <a:cubicBezTo>
                  <a:pt x="131493" y="63465"/>
                  <a:pt x="120668" y="111620"/>
                  <a:pt x="74953" y="133509"/>
                </a:cubicBezTo>
                <a:cubicBezTo>
                  <a:pt x="70522" y="135632"/>
                  <a:pt x="65375" y="135632"/>
                  <a:pt x="60944" y="133509"/>
                </a:cubicBezTo>
                <a:cubicBezTo>
                  <a:pt x="15203" y="111620"/>
                  <a:pt x="4404" y="63465"/>
                  <a:pt x="4272" y="37145"/>
                </a:cubicBezTo>
                <a:cubicBezTo>
                  <a:pt x="4245" y="30193"/>
                  <a:pt x="8596" y="24436"/>
                  <a:pt x="14433" y="21969"/>
                </a:cubicBezTo>
                <a:lnTo>
                  <a:pt x="64393" y="769"/>
                </a:lnTo>
                <a:cubicBezTo>
                  <a:pt x="65508" y="265"/>
                  <a:pt x="66702" y="0"/>
                  <a:pt x="67922" y="0"/>
                </a:cubicBezTo>
                <a:close/>
                <a:moveTo>
                  <a:pt x="67922" y="17723"/>
                </a:moveTo>
                <a:lnTo>
                  <a:pt x="67922" y="118041"/>
                </a:lnTo>
                <a:cubicBezTo>
                  <a:pt x="104536" y="100318"/>
                  <a:pt x="114380" y="61050"/>
                  <a:pt x="114618" y="37543"/>
                </a:cubicBezTo>
                <a:lnTo>
                  <a:pt x="67922" y="17750"/>
                </a:lnTo>
                <a:lnTo>
                  <a:pt x="67922" y="1775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6972" y="3604666"/>
            <a:ext cx="5493192" cy="509415"/>
          </a:xfrm>
          <a:custGeom>
            <a:avLst/>
            <a:gdLst/>
            <a:ahLst/>
            <a:cxnLst/>
            <a:rect l="l" t="t" r="r" b="b"/>
            <a:pathLst>
              <a:path w="5493192" h="509415">
                <a:moveTo>
                  <a:pt x="33963" y="0"/>
                </a:moveTo>
                <a:lnTo>
                  <a:pt x="5459229" y="0"/>
                </a:lnTo>
                <a:cubicBezTo>
                  <a:pt x="5477987" y="0"/>
                  <a:pt x="5493192" y="15206"/>
                  <a:pt x="5493192" y="33963"/>
                </a:cubicBezTo>
                <a:lnTo>
                  <a:pt x="5493192" y="475452"/>
                </a:lnTo>
                <a:cubicBezTo>
                  <a:pt x="5493192" y="494209"/>
                  <a:pt x="5477987" y="509415"/>
                  <a:pt x="5459230" y="509415"/>
                </a:cubicBezTo>
                <a:lnTo>
                  <a:pt x="33963" y="509415"/>
                </a:lnTo>
                <a:cubicBezTo>
                  <a:pt x="15206" y="509415"/>
                  <a:pt x="0" y="494209"/>
                  <a:pt x="0" y="475452"/>
                </a:cubicBezTo>
                <a:lnTo>
                  <a:pt x="0" y="33963"/>
                </a:lnTo>
                <a:cubicBezTo>
                  <a:pt x="0" y="15206"/>
                  <a:pt x="15206" y="0"/>
                  <a:pt x="339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24798" y="3672492"/>
            <a:ext cx="18848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discovered_attack / pin / fork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24798" y="3876270"/>
            <a:ext cx="187634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Patrones tácticos específicos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527394" y="3791289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44574" y="14858"/>
                </a:moveTo>
                <a:lnTo>
                  <a:pt x="44574" y="25471"/>
                </a:lnTo>
                <a:lnTo>
                  <a:pt x="23852" y="25471"/>
                </a:lnTo>
                <a:cubicBezTo>
                  <a:pt x="20058" y="25471"/>
                  <a:pt x="16981" y="28548"/>
                  <a:pt x="16981" y="32343"/>
                </a:cubicBezTo>
                <a:cubicBezTo>
                  <a:pt x="16981" y="33404"/>
                  <a:pt x="17219" y="34465"/>
                  <a:pt x="17697" y="35420"/>
                </a:cubicBezTo>
                <a:lnTo>
                  <a:pt x="26559" y="53144"/>
                </a:lnTo>
                <a:cubicBezTo>
                  <a:pt x="23534" y="53621"/>
                  <a:pt x="21199" y="56248"/>
                  <a:pt x="21199" y="59432"/>
                </a:cubicBezTo>
                <a:cubicBezTo>
                  <a:pt x="21199" y="62961"/>
                  <a:pt x="24038" y="65799"/>
                  <a:pt x="27567" y="65799"/>
                </a:cubicBezTo>
                <a:lnTo>
                  <a:pt x="29053" y="65799"/>
                </a:lnTo>
                <a:lnTo>
                  <a:pt x="25444" y="101883"/>
                </a:lnTo>
                <a:lnTo>
                  <a:pt x="10533" y="120535"/>
                </a:lnTo>
                <a:cubicBezTo>
                  <a:pt x="9207" y="122207"/>
                  <a:pt x="8464" y="124276"/>
                  <a:pt x="8464" y="126425"/>
                </a:cubicBezTo>
                <a:cubicBezTo>
                  <a:pt x="8464" y="131625"/>
                  <a:pt x="12682" y="135844"/>
                  <a:pt x="17883" y="135844"/>
                </a:cubicBezTo>
                <a:lnTo>
                  <a:pt x="83921" y="135844"/>
                </a:lnTo>
                <a:cubicBezTo>
                  <a:pt x="89121" y="135844"/>
                  <a:pt x="93340" y="131625"/>
                  <a:pt x="93340" y="126425"/>
                </a:cubicBezTo>
                <a:cubicBezTo>
                  <a:pt x="93340" y="124276"/>
                  <a:pt x="92623" y="122207"/>
                  <a:pt x="91270" y="120535"/>
                </a:cubicBezTo>
                <a:lnTo>
                  <a:pt x="76412" y="101883"/>
                </a:lnTo>
                <a:lnTo>
                  <a:pt x="72804" y="65799"/>
                </a:lnTo>
                <a:lnTo>
                  <a:pt x="74290" y="65799"/>
                </a:lnTo>
                <a:cubicBezTo>
                  <a:pt x="77818" y="65799"/>
                  <a:pt x="80657" y="62961"/>
                  <a:pt x="80657" y="59432"/>
                </a:cubicBezTo>
                <a:cubicBezTo>
                  <a:pt x="80657" y="56274"/>
                  <a:pt x="78349" y="53621"/>
                  <a:pt x="75298" y="53144"/>
                </a:cubicBezTo>
                <a:lnTo>
                  <a:pt x="84160" y="35420"/>
                </a:lnTo>
                <a:cubicBezTo>
                  <a:pt x="84637" y="34465"/>
                  <a:pt x="84876" y="33404"/>
                  <a:pt x="84876" y="32343"/>
                </a:cubicBezTo>
                <a:cubicBezTo>
                  <a:pt x="84876" y="28548"/>
                  <a:pt x="81798" y="25471"/>
                  <a:pt x="78004" y="25471"/>
                </a:cubicBezTo>
                <a:lnTo>
                  <a:pt x="57283" y="25471"/>
                </a:lnTo>
                <a:lnTo>
                  <a:pt x="57283" y="14858"/>
                </a:lnTo>
                <a:lnTo>
                  <a:pt x="61528" y="14858"/>
                </a:lnTo>
                <a:cubicBezTo>
                  <a:pt x="65057" y="14858"/>
                  <a:pt x="67895" y="12019"/>
                  <a:pt x="67895" y="8490"/>
                </a:cubicBezTo>
                <a:cubicBezTo>
                  <a:pt x="67895" y="4961"/>
                  <a:pt x="65083" y="2123"/>
                  <a:pt x="61554" y="2123"/>
                </a:cubicBezTo>
                <a:lnTo>
                  <a:pt x="57309" y="2123"/>
                </a:lnTo>
                <a:lnTo>
                  <a:pt x="57309" y="-2123"/>
                </a:lnTo>
                <a:cubicBezTo>
                  <a:pt x="57309" y="-5651"/>
                  <a:pt x="54470" y="-8490"/>
                  <a:pt x="50942" y="-8490"/>
                </a:cubicBezTo>
                <a:cubicBezTo>
                  <a:pt x="47413" y="-8490"/>
                  <a:pt x="44574" y="-5651"/>
                  <a:pt x="44574" y="-2123"/>
                </a:cubicBezTo>
                <a:lnTo>
                  <a:pt x="44574" y="2123"/>
                </a:lnTo>
                <a:lnTo>
                  <a:pt x="40329" y="2123"/>
                </a:lnTo>
                <a:cubicBezTo>
                  <a:pt x="36800" y="2123"/>
                  <a:pt x="33961" y="4961"/>
                  <a:pt x="33961" y="8490"/>
                </a:cubicBezTo>
                <a:cubicBezTo>
                  <a:pt x="33961" y="12019"/>
                  <a:pt x="36800" y="14858"/>
                  <a:pt x="40329" y="14858"/>
                </a:cubicBezTo>
                <a:lnTo>
                  <a:pt x="44574" y="14858"/>
                </a:lnTo>
                <a:close/>
                <a:moveTo>
                  <a:pt x="86441" y="74184"/>
                </a:moveTo>
                <a:lnTo>
                  <a:pt x="88697" y="96868"/>
                </a:lnTo>
                <a:lnTo>
                  <a:pt x="101273" y="112575"/>
                </a:lnTo>
                <a:lnTo>
                  <a:pt x="102387" y="114088"/>
                </a:lnTo>
                <a:cubicBezTo>
                  <a:pt x="104828" y="117723"/>
                  <a:pt x="106128" y="122021"/>
                  <a:pt x="106128" y="126425"/>
                </a:cubicBezTo>
                <a:cubicBezTo>
                  <a:pt x="106128" y="129795"/>
                  <a:pt x="105385" y="133005"/>
                  <a:pt x="104032" y="135844"/>
                </a:cubicBezTo>
                <a:lnTo>
                  <a:pt x="126080" y="135844"/>
                </a:lnTo>
                <a:cubicBezTo>
                  <a:pt x="131466" y="135844"/>
                  <a:pt x="135844" y="131466"/>
                  <a:pt x="135844" y="126080"/>
                </a:cubicBezTo>
                <a:cubicBezTo>
                  <a:pt x="135844" y="124143"/>
                  <a:pt x="135260" y="122260"/>
                  <a:pt x="134199" y="120668"/>
                </a:cubicBezTo>
                <a:lnTo>
                  <a:pt x="127354" y="110400"/>
                </a:lnTo>
                <a:lnTo>
                  <a:pt x="127354" y="93419"/>
                </a:lnTo>
                <a:lnTo>
                  <a:pt x="130883" y="89891"/>
                </a:lnTo>
                <a:cubicBezTo>
                  <a:pt x="134066" y="86707"/>
                  <a:pt x="135844" y="82382"/>
                  <a:pt x="135844" y="77872"/>
                </a:cubicBezTo>
                <a:lnTo>
                  <a:pt x="135844" y="50942"/>
                </a:lnTo>
                <a:cubicBezTo>
                  <a:pt x="135844" y="46245"/>
                  <a:pt x="132050" y="42451"/>
                  <a:pt x="127354" y="42451"/>
                </a:cubicBezTo>
                <a:cubicBezTo>
                  <a:pt x="122658" y="42451"/>
                  <a:pt x="118864" y="46245"/>
                  <a:pt x="118864" y="50942"/>
                </a:cubicBezTo>
                <a:lnTo>
                  <a:pt x="118864" y="55187"/>
                </a:lnTo>
                <a:lnTo>
                  <a:pt x="110373" y="55187"/>
                </a:lnTo>
                <a:lnTo>
                  <a:pt x="110373" y="50942"/>
                </a:lnTo>
                <a:cubicBezTo>
                  <a:pt x="110373" y="46245"/>
                  <a:pt x="106579" y="42451"/>
                  <a:pt x="101883" y="42451"/>
                </a:cubicBezTo>
                <a:cubicBezTo>
                  <a:pt x="97187" y="42451"/>
                  <a:pt x="93393" y="46245"/>
                  <a:pt x="93393" y="50942"/>
                </a:cubicBezTo>
                <a:lnTo>
                  <a:pt x="93393" y="59432"/>
                </a:lnTo>
                <a:cubicBezTo>
                  <a:pt x="93393" y="65375"/>
                  <a:pt x="90686" y="70681"/>
                  <a:pt x="86441" y="7418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342722" y="4293102"/>
            <a:ext cx="11510673" cy="1398785"/>
          </a:xfrm>
          <a:custGeom>
            <a:avLst/>
            <a:gdLst/>
            <a:ahLst/>
            <a:cxnLst/>
            <a:rect l="l" t="t" r="r" b="b"/>
            <a:pathLst>
              <a:path w="11510673" h="1398785">
                <a:moveTo>
                  <a:pt x="67925" y="0"/>
                </a:moveTo>
                <a:lnTo>
                  <a:pt x="11442748" y="0"/>
                </a:lnTo>
                <a:cubicBezTo>
                  <a:pt x="11480262" y="0"/>
                  <a:pt x="11510673" y="30411"/>
                  <a:pt x="11510673" y="67925"/>
                </a:cubicBezTo>
                <a:lnTo>
                  <a:pt x="11510673" y="1330860"/>
                </a:lnTo>
                <a:cubicBezTo>
                  <a:pt x="11510673" y="1368374"/>
                  <a:pt x="11480262" y="1398785"/>
                  <a:pt x="11442748" y="1398785"/>
                </a:cubicBezTo>
                <a:lnTo>
                  <a:pt x="67925" y="1398785"/>
                </a:lnTo>
                <a:cubicBezTo>
                  <a:pt x="30411" y="1398785"/>
                  <a:pt x="0" y="1368374"/>
                  <a:pt x="0" y="1330860"/>
                </a:cubicBezTo>
                <a:lnTo>
                  <a:pt x="0" y="67925"/>
                </a:lnTo>
                <a:cubicBezTo>
                  <a:pt x="0" y="30411"/>
                  <a:pt x="30411" y="0"/>
                  <a:pt x="6792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7753" y="4398134"/>
            <a:ext cx="1137693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en Otros Dominios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7753" y="4703651"/>
            <a:ext cx="3701749" cy="882986"/>
          </a:xfrm>
          <a:custGeom>
            <a:avLst/>
            <a:gdLst/>
            <a:ahLst/>
            <a:cxnLst/>
            <a:rect l="l" t="t" r="r" b="b"/>
            <a:pathLst>
              <a:path w="3701749" h="882986">
                <a:moveTo>
                  <a:pt x="33960" y="0"/>
                </a:moveTo>
                <a:lnTo>
                  <a:pt x="3667790" y="0"/>
                </a:lnTo>
                <a:cubicBezTo>
                  <a:pt x="3686545" y="0"/>
                  <a:pt x="3701749" y="15204"/>
                  <a:pt x="3701749" y="33960"/>
                </a:cubicBezTo>
                <a:lnTo>
                  <a:pt x="3701749" y="849026"/>
                </a:lnTo>
                <a:cubicBezTo>
                  <a:pt x="3701749" y="867782"/>
                  <a:pt x="3686545" y="882986"/>
                  <a:pt x="3667790" y="882986"/>
                </a:cubicBezTo>
                <a:lnTo>
                  <a:pt x="33960" y="882986"/>
                </a:lnTo>
                <a:cubicBezTo>
                  <a:pt x="15204" y="882986"/>
                  <a:pt x="0" y="867782"/>
                  <a:pt x="0" y="849026"/>
                </a:cubicBezTo>
                <a:lnTo>
                  <a:pt x="0" y="33960"/>
                </a:lnTo>
                <a:cubicBezTo>
                  <a:pt x="0" y="15204"/>
                  <a:pt x="15204" y="0"/>
                  <a:pt x="339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15579" y="4771477"/>
            <a:ext cx="36338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5579" y="5009169"/>
            <a:ext cx="3625337" cy="50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 → historial de pagos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 → ratio deuda/ingreso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 → número de cuentas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48417" y="4703651"/>
            <a:ext cx="3701749" cy="882986"/>
          </a:xfrm>
          <a:custGeom>
            <a:avLst/>
            <a:gdLst/>
            <a:ahLst/>
            <a:cxnLst/>
            <a:rect l="l" t="t" r="r" b="b"/>
            <a:pathLst>
              <a:path w="3701749" h="882986">
                <a:moveTo>
                  <a:pt x="33960" y="0"/>
                </a:moveTo>
                <a:lnTo>
                  <a:pt x="3667790" y="0"/>
                </a:lnTo>
                <a:cubicBezTo>
                  <a:pt x="3686545" y="0"/>
                  <a:pt x="3701749" y="15204"/>
                  <a:pt x="3701749" y="33960"/>
                </a:cubicBezTo>
                <a:lnTo>
                  <a:pt x="3701749" y="849026"/>
                </a:lnTo>
                <a:cubicBezTo>
                  <a:pt x="3701749" y="867782"/>
                  <a:pt x="3686545" y="882986"/>
                  <a:pt x="3667790" y="882986"/>
                </a:cubicBezTo>
                <a:lnTo>
                  <a:pt x="33960" y="882986"/>
                </a:lnTo>
                <a:cubicBezTo>
                  <a:pt x="15204" y="882986"/>
                  <a:pt x="0" y="867782"/>
                  <a:pt x="0" y="849026"/>
                </a:cubicBezTo>
                <a:lnTo>
                  <a:pt x="0" y="33960"/>
                </a:lnTo>
                <a:cubicBezTo>
                  <a:pt x="0" y="15204"/>
                  <a:pt x="15204" y="0"/>
                  <a:pt x="339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316243" y="4771477"/>
            <a:ext cx="36338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16243" y="5009169"/>
            <a:ext cx="3625337" cy="50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 → severidad de síntomas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 → resultados de laboratorio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 → número de síntomas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49081" y="4703651"/>
            <a:ext cx="3701749" cy="882986"/>
          </a:xfrm>
          <a:custGeom>
            <a:avLst/>
            <a:gdLst/>
            <a:ahLst/>
            <a:cxnLst/>
            <a:rect l="l" t="t" r="r" b="b"/>
            <a:pathLst>
              <a:path w="3701749" h="882986">
                <a:moveTo>
                  <a:pt x="33960" y="0"/>
                </a:moveTo>
                <a:lnTo>
                  <a:pt x="3667790" y="0"/>
                </a:lnTo>
                <a:cubicBezTo>
                  <a:pt x="3686545" y="0"/>
                  <a:pt x="3701749" y="15204"/>
                  <a:pt x="3701749" y="33960"/>
                </a:cubicBezTo>
                <a:lnTo>
                  <a:pt x="3701749" y="849026"/>
                </a:lnTo>
                <a:cubicBezTo>
                  <a:pt x="3701749" y="867782"/>
                  <a:pt x="3686545" y="882986"/>
                  <a:pt x="3667790" y="882986"/>
                </a:cubicBezTo>
                <a:lnTo>
                  <a:pt x="33960" y="882986"/>
                </a:lnTo>
                <a:cubicBezTo>
                  <a:pt x="15204" y="882986"/>
                  <a:pt x="0" y="867782"/>
                  <a:pt x="0" y="849026"/>
                </a:cubicBezTo>
                <a:lnTo>
                  <a:pt x="0" y="33960"/>
                </a:lnTo>
                <a:cubicBezTo>
                  <a:pt x="0" y="15204"/>
                  <a:pt x="15204" y="0"/>
                  <a:pt x="339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116907" y="4771477"/>
            <a:ext cx="363382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116907" y="5009169"/>
            <a:ext cx="3625337" cy="50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 → engagement score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 → LTV/CAC ratio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 → canales utilizados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2722" y="5765531"/>
            <a:ext cx="11510673" cy="583721"/>
          </a:xfrm>
          <a:custGeom>
            <a:avLst/>
            <a:gdLst/>
            <a:ahLst/>
            <a:cxnLst/>
            <a:rect l="l" t="t" r="r" b="b"/>
            <a:pathLst>
              <a:path w="11510673" h="583721">
                <a:moveTo>
                  <a:pt x="67922" y="0"/>
                </a:moveTo>
                <a:lnTo>
                  <a:pt x="11442752" y="0"/>
                </a:lnTo>
                <a:cubicBezTo>
                  <a:pt x="11480264" y="0"/>
                  <a:pt x="11510673" y="30410"/>
                  <a:pt x="11510673" y="67922"/>
                </a:cubicBezTo>
                <a:lnTo>
                  <a:pt x="11510673" y="515799"/>
                </a:lnTo>
                <a:cubicBezTo>
                  <a:pt x="11510673" y="553311"/>
                  <a:pt x="11480264" y="583721"/>
                  <a:pt x="11442752" y="583721"/>
                </a:cubicBezTo>
                <a:lnTo>
                  <a:pt x="67922" y="583721"/>
                </a:lnTo>
                <a:cubicBezTo>
                  <a:pt x="30410" y="583721"/>
                  <a:pt x="0" y="553311"/>
                  <a:pt x="0" y="515799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3224" y="5955444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33721" y="140089"/>
                </a:moveTo>
                <a:cubicBezTo>
                  <a:pt x="172405" y="140089"/>
                  <a:pt x="203766" y="108728"/>
                  <a:pt x="203766" y="70045"/>
                </a:cubicBezTo>
                <a:cubicBezTo>
                  <a:pt x="203766" y="31361"/>
                  <a:pt x="172405" y="0"/>
                  <a:pt x="133721" y="0"/>
                </a:cubicBezTo>
                <a:cubicBezTo>
                  <a:pt x="95038" y="0"/>
                  <a:pt x="63677" y="31361"/>
                  <a:pt x="63677" y="70045"/>
                </a:cubicBezTo>
                <a:cubicBezTo>
                  <a:pt x="63677" y="77487"/>
                  <a:pt x="64831" y="84690"/>
                  <a:pt x="66980" y="91416"/>
                </a:cubicBezTo>
                <a:lnTo>
                  <a:pt x="2786" y="155610"/>
                </a:lnTo>
                <a:cubicBezTo>
                  <a:pt x="995" y="157401"/>
                  <a:pt x="0" y="159829"/>
                  <a:pt x="0" y="162376"/>
                </a:cubicBezTo>
                <a:lnTo>
                  <a:pt x="0" y="194214"/>
                </a:lnTo>
                <a:cubicBezTo>
                  <a:pt x="0" y="199508"/>
                  <a:pt x="4258" y="203766"/>
                  <a:pt x="9552" y="203766"/>
                </a:cubicBezTo>
                <a:lnTo>
                  <a:pt x="41390" y="203766"/>
                </a:lnTo>
                <a:cubicBezTo>
                  <a:pt x="46683" y="203766"/>
                  <a:pt x="50942" y="199508"/>
                  <a:pt x="50942" y="194214"/>
                </a:cubicBezTo>
                <a:lnTo>
                  <a:pt x="50942" y="178295"/>
                </a:lnTo>
                <a:lnTo>
                  <a:pt x="66861" y="178295"/>
                </a:lnTo>
                <a:cubicBezTo>
                  <a:pt x="72154" y="178295"/>
                  <a:pt x="76412" y="174037"/>
                  <a:pt x="76412" y="168744"/>
                </a:cubicBezTo>
                <a:lnTo>
                  <a:pt x="76412" y="152825"/>
                </a:lnTo>
                <a:lnTo>
                  <a:pt x="92331" y="152825"/>
                </a:lnTo>
                <a:cubicBezTo>
                  <a:pt x="94879" y="152825"/>
                  <a:pt x="97306" y="151830"/>
                  <a:pt x="99097" y="150039"/>
                </a:cubicBezTo>
                <a:lnTo>
                  <a:pt x="112350" y="136786"/>
                </a:lnTo>
                <a:cubicBezTo>
                  <a:pt x="119076" y="138935"/>
                  <a:pt x="126279" y="140089"/>
                  <a:pt x="133721" y="140089"/>
                </a:cubicBezTo>
                <a:close/>
                <a:moveTo>
                  <a:pt x="149641" y="38206"/>
                </a:moveTo>
                <a:cubicBezTo>
                  <a:pt x="158427" y="38206"/>
                  <a:pt x="165560" y="45339"/>
                  <a:pt x="165560" y="54125"/>
                </a:cubicBezTo>
                <a:cubicBezTo>
                  <a:pt x="165560" y="62911"/>
                  <a:pt x="158427" y="70045"/>
                  <a:pt x="149641" y="70045"/>
                </a:cubicBezTo>
                <a:cubicBezTo>
                  <a:pt x="140855" y="70045"/>
                  <a:pt x="133721" y="62911"/>
                  <a:pt x="133721" y="54125"/>
                </a:cubicBezTo>
                <a:cubicBezTo>
                  <a:pt x="133721" y="45339"/>
                  <a:pt x="140855" y="38206"/>
                  <a:pt x="149641" y="3820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7" name="Text 55"/>
          <p:cNvSpPr/>
          <p:nvPr/>
        </p:nvSpPr>
        <p:spPr>
          <a:xfrm>
            <a:off x="804240" y="5870561"/>
            <a:ext cx="1022226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Clave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4240" y="6074339"/>
            <a:ext cx="1021377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feature engineering específico del dominio es más importante que la complejidad del modelo. Features bien diseñadas permiten incluso a modelos simples alcanzar buen performance.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628" y="382692"/>
            <a:ext cx="2006693" cy="19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spc="59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Iteración Sistemática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628" y="676109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Evolución del Modelo: 5 Fases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159" y="1130307"/>
            <a:ext cx="11428844" cy="2111075"/>
          </a:xfrm>
          <a:custGeom>
            <a:avLst/>
            <a:gdLst/>
            <a:ahLst/>
            <a:cxnLst/>
            <a:rect l="l" t="t" r="r" b="b"/>
            <a:pathLst>
              <a:path w="11428844" h="2111075">
                <a:moveTo>
                  <a:pt x="75133" y="0"/>
                </a:moveTo>
                <a:lnTo>
                  <a:pt x="11353710" y="0"/>
                </a:lnTo>
                <a:cubicBezTo>
                  <a:pt x="11395205" y="0"/>
                  <a:pt x="11428844" y="33638"/>
                  <a:pt x="11428844" y="75133"/>
                </a:cubicBezTo>
                <a:lnTo>
                  <a:pt x="11428844" y="2035942"/>
                </a:lnTo>
                <a:cubicBezTo>
                  <a:pt x="11428844" y="2077436"/>
                  <a:pt x="11395205" y="2111075"/>
                  <a:pt x="11353710" y="2111075"/>
                </a:cubicBezTo>
                <a:lnTo>
                  <a:pt x="75133" y="2111075"/>
                </a:lnTo>
                <a:cubicBezTo>
                  <a:pt x="33638" y="2111075"/>
                  <a:pt x="0" y="2077436"/>
                  <a:pt x="0" y="2035942"/>
                </a:cubicBezTo>
                <a:lnTo>
                  <a:pt x="0" y="75133"/>
                </a:lnTo>
                <a:cubicBezTo>
                  <a:pt x="0" y="33666"/>
                  <a:pt x="33666" y="0"/>
                  <a:pt x="7513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5" name="Image 0" descr="https://kimi-img.moonshot.cn/pub/slides/26-02-15-03:03:08-d68cdr1pue5mfm0dggjg.png">    </p:cNvPr>
          <p:cNvPicPr>
            <a:picLocks noChangeAspect="1"/>
          </p:cNvPicPr>
          <p:nvPr/>
        </p:nvPicPr>
        <p:blipFill>
          <a:blip r:embed="rId1"/>
          <a:srcRect l="0" r="0" t="24" b="24"/>
          <a:stretch/>
        </p:blipFill>
        <p:spPr>
          <a:xfrm>
            <a:off x="495357" y="1246503"/>
            <a:ext cx="11036672" cy="1878582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379159" y="3323384"/>
            <a:ext cx="2223790" cy="1218748"/>
          </a:xfrm>
          <a:custGeom>
            <a:avLst/>
            <a:gdLst/>
            <a:ahLst/>
            <a:cxnLst/>
            <a:rect l="l" t="t" r="r" b="b"/>
            <a:pathLst>
              <a:path w="2223790" h="1218748">
                <a:moveTo>
                  <a:pt x="75148" y="0"/>
                </a:moveTo>
                <a:lnTo>
                  <a:pt x="2148642" y="0"/>
                </a:lnTo>
                <a:cubicBezTo>
                  <a:pt x="2190145" y="0"/>
                  <a:pt x="2223790" y="33645"/>
                  <a:pt x="2223790" y="75148"/>
                </a:cubicBezTo>
                <a:lnTo>
                  <a:pt x="2223790" y="1143600"/>
                </a:lnTo>
                <a:cubicBezTo>
                  <a:pt x="2223790" y="1185103"/>
                  <a:pt x="2190145" y="1218748"/>
                  <a:pt x="2148642" y="1218748"/>
                </a:cubicBezTo>
                <a:lnTo>
                  <a:pt x="75148" y="1218748"/>
                </a:lnTo>
                <a:cubicBezTo>
                  <a:pt x="33673" y="1218748"/>
                  <a:pt x="0" y="1185075"/>
                  <a:pt x="0" y="1143600"/>
                </a:cubicBezTo>
                <a:lnTo>
                  <a:pt x="0" y="75148"/>
                </a:lnTo>
                <a:cubicBezTo>
                  <a:pt x="0" y="33673"/>
                  <a:pt x="33673" y="0"/>
                  <a:pt x="7514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1370" y="3401952"/>
            <a:ext cx="217915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F1=0.890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9549" y="3702543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728" y="3890246"/>
            <a:ext cx="213219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Clásico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728" y="4115579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Regression baseline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728" y="4303284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+0.0% vs baseline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81813" y="3323384"/>
            <a:ext cx="2223790" cy="1218748"/>
          </a:xfrm>
          <a:custGeom>
            <a:avLst/>
            <a:gdLst/>
            <a:ahLst/>
            <a:cxnLst/>
            <a:rect l="l" t="t" r="r" b="b"/>
            <a:pathLst>
              <a:path w="2223790" h="1218748">
                <a:moveTo>
                  <a:pt x="75148" y="0"/>
                </a:moveTo>
                <a:lnTo>
                  <a:pt x="2148642" y="0"/>
                </a:lnTo>
                <a:cubicBezTo>
                  <a:pt x="2190145" y="0"/>
                  <a:pt x="2223790" y="33645"/>
                  <a:pt x="2223790" y="75148"/>
                </a:cubicBezTo>
                <a:lnTo>
                  <a:pt x="2223790" y="1143600"/>
                </a:lnTo>
                <a:cubicBezTo>
                  <a:pt x="2223790" y="1185103"/>
                  <a:pt x="2190145" y="1218748"/>
                  <a:pt x="2148642" y="1218748"/>
                </a:cubicBezTo>
                <a:lnTo>
                  <a:pt x="75148" y="1218748"/>
                </a:lnTo>
                <a:cubicBezTo>
                  <a:pt x="33673" y="1218748"/>
                  <a:pt x="0" y="1185075"/>
                  <a:pt x="0" y="1143600"/>
                </a:cubicBezTo>
                <a:lnTo>
                  <a:pt x="0" y="75148"/>
                </a:lnTo>
                <a:cubicBezTo>
                  <a:pt x="0" y="33673"/>
                  <a:pt x="33673" y="0"/>
                  <a:pt x="7514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04024" y="3401952"/>
            <a:ext cx="217915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32203" y="3702543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60382" y="3890246"/>
            <a:ext cx="213219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60382" y="4115579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 breakthrough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60382" y="4303284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+10.2% vs Fase 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84577" y="3323384"/>
            <a:ext cx="2223790" cy="1218748"/>
          </a:xfrm>
          <a:custGeom>
            <a:avLst/>
            <a:gdLst/>
            <a:ahLst/>
            <a:cxnLst/>
            <a:rect l="l" t="t" r="r" b="b"/>
            <a:pathLst>
              <a:path w="2223790" h="1218748">
                <a:moveTo>
                  <a:pt x="75148" y="0"/>
                </a:moveTo>
                <a:lnTo>
                  <a:pt x="2148642" y="0"/>
                </a:lnTo>
                <a:cubicBezTo>
                  <a:pt x="2190145" y="0"/>
                  <a:pt x="2223790" y="33645"/>
                  <a:pt x="2223790" y="75148"/>
                </a:cubicBezTo>
                <a:lnTo>
                  <a:pt x="2223790" y="1143600"/>
                </a:lnTo>
                <a:cubicBezTo>
                  <a:pt x="2223790" y="1185103"/>
                  <a:pt x="2190145" y="1218748"/>
                  <a:pt x="2148642" y="1218748"/>
                </a:cubicBezTo>
                <a:lnTo>
                  <a:pt x="75148" y="1218748"/>
                </a:lnTo>
                <a:cubicBezTo>
                  <a:pt x="33673" y="1218748"/>
                  <a:pt x="0" y="1185075"/>
                  <a:pt x="0" y="1143600"/>
                </a:cubicBezTo>
                <a:lnTo>
                  <a:pt x="0" y="75148"/>
                </a:lnTo>
                <a:cubicBezTo>
                  <a:pt x="0" y="33673"/>
                  <a:pt x="33673" y="0"/>
                  <a:pt x="7514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06789" y="3401952"/>
            <a:ext cx="217915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F1=0.9988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34967" y="3702543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63146" y="3890246"/>
            <a:ext cx="213219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63146" y="4115579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temporales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63146" y="4303284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+0.68% vs Fase 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87231" y="3323384"/>
            <a:ext cx="2223790" cy="1218748"/>
          </a:xfrm>
          <a:custGeom>
            <a:avLst/>
            <a:gdLst/>
            <a:ahLst/>
            <a:cxnLst/>
            <a:rect l="l" t="t" r="r" b="b"/>
            <a:pathLst>
              <a:path w="2223790" h="1218748">
                <a:moveTo>
                  <a:pt x="75148" y="0"/>
                </a:moveTo>
                <a:lnTo>
                  <a:pt x="2148642" y="0"/>
                </a:lnTo>
                <a:cubicBezTo>
                  <a:pt x="2190145" y="0"/>
                  <a:pt x="2223790" y="33645"/>
                  <a:pt x="2223790" y="75148"/>
                </a:cubicBezTo>
                <a:lnTo>
                  <a:pt x="2223790" y="1143600"/>
                </a:lnTo>
                <a:cubicBezTo>
                  <a:pt x="2223790" y="1185103"/>
                  <a:pt x="2190145" y="1218748"/>
                  <a:pt x="2148642" y="1218748"/>
                </a:cubicBezTo>
                <a:lnTo>
                  <a:pt x="75148" y="1218748"/>
                </a:lnTo>
                <a:cubicBezTo>
                  <a:pt x="33673" y="1218748"/>
                  <a:pt x="0" y="1185075"/>
                  <a:pt x="0" y="1143600"/>
                </a:cubicBezTo>
                <a:lnTo>
                  <a:pt x="0" y="75148"/>
                </a:lnTo>
                <a:cubicBezTo>
                  <a:pt x="0" y="33673"/>
                  <a:pt x="33673" y="0"/>
                  <a:pt x="7514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09442" y="3401952"/>
            <a:ext cx="2179156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37621" y="3702543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65800" y="3890246"/>
            <a:ext cx="213219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65800" y="4115579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perfiles identificados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65800" y="4303284"/>
            <a:ext cx="2122798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Insights conductuales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93527" y="3326916"/>
            <a:ext cx="2212066" cy="1216417"/>
          </a:xfrm>
          <a:custGeom>
            <a:avLst/>
            <a:gdLst/>
            <a:ahLst/>
            <a:cxnLst/>
            <a:rect l="l" t="t" r="r" b="b"/>
            <a:pathLst>
              <a:path w="2212066" h="1216417">
                <a:moveTo>
                  <a:pt x="75138" y="0"/>
                </a:moveTo>
                <a:lnTo>
                  <a:pt x="2136928" y="0"/>
                </a:lnTo>
                <a:cubicBezTo>
                  <a:pt x="2178426" y="0"/>
                  <a:pt x="2212066" y="33640"/>
                  <a:pt x="2212066" y="75138"/>
                </a:cubicBezTo>
                <a:lnTo>
                  <a:pt x="2212066" y="1141279"/>
                </a:lnTo>
                <a:cubicBezTo>
                  <a:pt x="2212066" y="1182777"/>
                  <a:pt x="2178426" y="1216417"/>
                  <a:pt x="2136928" y="1216417"/>
                </a:cubicBezTo>
                <a:lnTo>
                  <a:pt x="75138" y="1216417"/>
                </a:lnTo>
                <a:cubicBezTo>
                  <a:pt x="33640" y="1216417"/>
                  <a:pt x="0" y="1182777"/>
                  <a:pt x="0" y="1141279"/>
                </a:cubicBezTo>
                <a:lnTo>
                  <a:pt x="0" y="75138"/>
                </a:lnTo>
                <a:cubicBezTo>
                  <a:pt x="0" y="33668"/>
                  <a:pt x="33668" y="0"/>
                  <a:pt x="7513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19269" y="3409015"/>
            <a:ext cx="2160370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F1=1.0000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647447" y="3709606"/>
            <a:ext cx="210401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675626" y="3897309"/>
            <a:ext cx="211340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675626" y="4122642"/>
            <a:ext cx="210401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 multi-componente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75626" y="4310345"/>
            <a:ext cx="2104012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Perfección absoluta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79159" y="4628261"/>
            <a:ext cx="5652203" cy="1848073"/>
          </a:xfrm>
          <a:custGeom>
            <a:avLst/>
            <a:gdLst/>
            <a:ahLst/>
            <a:cxnLst/>
            <a:rect l="l" t="t" r="r" b="b"/>
            <a:pathLst>
              <a:path w="5652203" h="1848073">
                <a:moveTo>
                  <a:pt x="75143" y="0"/>
                </a:moveTo>
                <a:lnTo>
                  <a:pt x="5577060" y="0"/>
                </a:lnTo>
                <a:cubicBezTo>
                  <a:pt x="5618560" y="0"/>
                  <a:pt x="5652203" y="33643"/>
                  <a:pt x="5652203" y="75143"/>
                </a:cubicBezTo>
                <a:lnTo>
                  <a:pt x="5652203" y="1772930"/>
                </a:lnTo>
                <a:cubicBezTo>
                  <a:pt x="5652203" y="1814431"/>
                  <a:pt x="5618560" y="1848073"/>
                  <a:pt x="5577060" y="1848073"/>
                </a:cubicBezTo>
                <a:lnTo>
                  <a:pt x="75143" y="1848073"/>
                </a:lnTo>
                <a:cubicBezTo>
                  <a:pt x="33643" y="1848073"/>
                  <a:pt x="0" y="1814431"/>
                  <a:pt x="0" y="1772930"/>
                </a:cubicBezTo>
                <a:lnTo>
                  <a:pt x="0" y="75143"/>
                </a:lnTo>
                <a:cubicBezTo>
                  <a:pt x="0" y="33670"/>
                  <a:pt x="33670" y="0"/>
                  <a:pt x="7514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5357" y="4744459"/>
            <a:ext cx="5504247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de Mejora por Fase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95357" y="5082458"/>
            <a:ext cx="497824" cy="225430"/>
          </a:xfrm>
          <a:custGeom>
            <a:avLst/>
            <a:gdLst/>
            <a:ahLst/>
            <a:cxnLst/>
            <a:rect l="l" t="t" r="r" b="b"/>
            <a:pathLst>
              <a:path w="497824" h="225430">
                <a:moveTo>
                  <a:pt x="37572" y="0"/>
                </a:moveTo>
                <a:lnTo>
                  <a:pt x="460252" y="0"/>
                </a:lnTo>
                <a:cubicBezTo>
                  <a:pt x="480989" y="0"/>
                  <a:pt x="497824" y="16836"/>
                  <a:pt x="497824" y="37572"/>
                </a:cubicBezTo>
                <a:lnTo>
                  <a:pt x="497824" y="187857"/>
                </a:lnTo>
                <a:cubicBezTo>
                  <a:pt x="497824" y="208608"/>
                  <a:pt x="481003" y="225430"/>
                  <a:pt x="460252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6"/>
          <p:cNvSpPr/>
          <p:nvPr/>
        </p:nvSpPr>
        <p:spPr>
          <a:xfrm>
            <a:off x="495357" y="5082458"/>
            <a:ext cx="554182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10000"/>
              </a:lnSpc>
            </a:pPr>
            <a:r>
              <a:rPr lang="en-US" sz="88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F1→F2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9393" y="5082458"/>
            <a:ext cx="48843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captura relaciones no-lineales que ML clásico no puede modelar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95357" y="5345200"/>
            <a:ext cx="516610" cy="225430"/>
          </a:xfrm>
          <a:custGeom>
            <a:avLst/>
            <a:gdLst/>
            <a:ahLst/>
            <a:cxnLst/>
            <a:rect l="l" t="t" r="r" b="b"/>
            <a:pathLst>
              <a:path w="516610" h="225430">
                <a:moveTo>
                  <a:pt x="37572" y="0"/>
                </a:moveTo>
                <a:lnTo>
                  <a:pt x="479038" y="0"/>
                </a:lnTo>
                <a:cubicBezTo>
                  <a:pt x="499775" y="0"/>
                  <a:pt x="516610" y="16836"/>
                  <a:pt x="516610" y="37572"/>
                </a:cubicBezTo>
                <a:lnTo>
                  <a:pt x="516610" y="187857"/>
                </a:lnTo>
                <a:cubicBezTo>
                  <a:pt x="516610" y="208608"/>
                  <a:pt x="499788" y="225430"/>
                  <a:pt x="479038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Text 39"/>
          <p:cNvSpPr/>
          <p:nvPr/>
        </p:nvSpPr>
        <p:spPr>
          <a:xfrm>
            <a:off x="495357" y="5345200"/>
            <a:ext cx="572968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10000"/>
              </a:lnSpc>
            </a:pPr>
            <a:r>
              <a:rPr lang="en-US" sz="88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F2→F3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91352" y="5345200"/>
            <a:ext cx="4893707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histórico (features temporales) mejora predicción de patrones secuenciales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95357" y="5758346"/>
            <a:ext cx="526003" cy="225430"/>
          </a:xfrm>
          <a:custGeom>
            <a:avLst/>
            <a:gdLst/>
            <a:ahLst/>
            <a:cxnLst/>
            <a:rect l="l" t="t" r="r" b="b"/>
            <a:pathLst>
              <a:path w="526003" h="225430">
                <a:moveTo>
                  <a:pt x="37572" y="0"/>
                </a:moveTo>
                <a:lnTo>
                  <a:pt x="488431" y="0"/>
                </a:lnTo>
                <a:cubicBezTo>
                  <a:pt x="509167" y="0"/>
                  <a:pt x="526003" y="16836"/>
                  <a:pt x="526003" y="37572"/>
                </a:cubicBezTo>
                <a:lnTo>
                  <a:pt x="526003" y="187857"/>
                </a:lnTo>
                <a:cubicBezTo>
                  <a:pt x="526003" y="208608"/>
                  <a:pt x="509181" y="225430"/>
                  <a:pt x="488431" y="225430"/>
                </a:cubicBezTo>
                <a:lnTo>
                  <a:pt x="37572" y="225430"/>
                </a:lnTo>
                <a:cubicBezTo>
                  <a:pt x="16836" y="225430"/>
                  <a:pt x="0" y="208594"/>
                  <a:pt x="0" y="187857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Text 42"/>
          <p:cNvSpPr/>
          <p:nvPr/>
        </p:nvSpPr>
        <p:spPr>
          <a:xfrm>
            <a:off x="495357" y="5758346"/>
            <a:ext cx="582361" cy="225430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10000"/>
              </a:lnSpc>
            </a:pPr>
            <a:r>
              <a:rPr lang="en-US" sz="88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F3→F5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95325" y="5758346"/>
            <a:ext cx="4799778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 especializado por subproblemas (Early/Late/Full) alcanza perfección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54719" y="4628261"/>
            <a:ext cx="5652203" cy="1848073"/>
          </a:xfrm>
          <a:custGeom>
            <a:avLst/>
            <a:gdLst/>
            <a:ahLst/>
            <a:cxnLst/>
            <a:rect l="l" t="t" r="r" b="b"/>
            <a:pathLst>
              <a:path w="5652203" h="1848073">
                <a:moveTo>
                  <a:pt x="75143" y="0"/>
                </a:moveTo>
                <a:lnTo>
                  <a:pt x="5577060" y="0"/>
                </a:lnTo>
                <a:cubicBezTo>
                  <a:pt x="5618560" y="0"/>
                  <a:pt x="5652203" y="33643"/>
                  <a:pt x="5652203" y="75143"/>
                </a:cubicBezTo>
                <a:lnTo>
                  <a:pt x="5652203" y="1772930"/>
                </a:lnTo>
                <a:cubicBezTo>
                  <a:pt x="5652203" y="1814431"/>
                  <a:pt x="5618560" y="1848073"/>
                  <a:pt x="5577060" y="1848073"/>
                </a:cubicBezTo>
                <a:lnTo>
                  <a:pt x="75143" y="1848073"/>
                </a:lnTo>
                <a:cubicBezTo>
                  <a:pt x="33643" y="1848073"/>
                  <a:pt x="0" y="1814431"/>
                  <a:pt x="0" y="1772930"/>
                </a:cubicBezTo>
                <a:lnTo>
                  <a:pt x="0" y="75143"/>
                </a:lnTo>
                <a:cubicBezTo>
                  <a:pt x="0" y="33670"/>
                  <a:pt x="33670" y="0"/>
                  <a:pt x="7514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70917" y="4744459"/>
            <a:ext cx="5504247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Métricas de Validación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270917" y="5082458"/>
            <a:ext cx="5419710" cy="375716"/>
          </a:xfrm>
          <a:custGeom>
            <a:avLst/>
            <a:gdLst/>
            <a:ahLst/>
            <a:cxnLst/>
            <a:rect l="l" t="t" r="r" b="b"/>
            <a:pathLst>
              <a:path w="5419710" h="375716">
                <a:moveTo>
                  <a:pt x="37572" y="0"/>
                </a:moveTo>
                <a:lnTo>
                  <a:pt x="5382139" y="0"/>
                </a:lnTo>
                <a:cubicBezTo>
                  <a:pt x="5402889" y="0"/>
                  <a:pt x="5419710" y="16821"/>
                  <a:pt x="5419710" y="37572"/>
                </a:cubicBezTo>
                <a:lnTo>
                  <a:pt x="5419710" y="338145"/>
                </a:lnTo>
                <a:cubicBezTo>
                  <a:pt x="5419710" y="358895"/>
                  <a:pt x="5402889" y="375716"/>
                  <a:pt x="5382139" y="375716"/>
                </a:cubicBezTo>
                <a:lnTo>
                  <a:pt x="37572" y="375716"/>
                </a:lnTo>
                <a:cubicBezTo>
                  <a:pt x="16835" y="375716"/>
                  <a:pt x="0" y="358881"/>
                  <a:pt x="0" y="33814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6345954" y="5176254"/>
            <a:ext cx="1615581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 Stability: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124509" y="5157495"/>
            <a:ext cx="572968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±0.002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270917" y="5533012"/>
            <a:ext cx="5419710" cy="375716"/>
          </a:xfrm>
          <a:custGeom>
            <a:avLst/>
            <a:gdLst/>
            <a:ahLst/>
            <a:cxnLst/>
            <a:rect l="l" t="t" r="r" b="b"/>
            <a:pathLst>
              <a:path w="5419710" h="375716">
                <a:moveTo>
                  <a:pt x="37572" y="0"/>
                </a:moveTo>
                <a:lnTo>
                  <a:pt x="5382139" y="0"/>
                </a:lnTo>
                <a:cubicBezTo>
                  <a:pt x="5402889" y="0"/>
                  <a:pt x="5419710" y="16821"/>
                  <a:pt x="5419710" y="37572"/>
                </a:cubicBezTo>
                <a:lnTo>
                  <a:pt x="5419710" y="338145"/>
                </a:lnTo>
                <a:cubicBezTo>
                  <a:pt x="5419710" y="358895"/>
                  <a:pt x="5402889" y="375716"/>
                  <a:pt x="5382139" y="375716"/>
                </a:cubicBezTo>
                <a:lnTo>
                  <a:pt x="37572" y="375716"/>
                </a:lnTo>
                <a:cubicBezTo>
                  <a:pt x="16835" y="375716"/>
                  <a:pt x="0" y="358881"/>
                  <a:pt x="0" y="33814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6345954" y="5626811"/>
            <a:ext cx="1005042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Train-Test Gap: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180126" y="5608050"/>
            <a:ext cx="5166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0.04%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270917" y="5983569"/>
            <a:ext cx="5419710" cy="375716"/>
          </a:xfrm>
          <a:custGeom>
            <a:avLst/>
            <a:gdLst/>
            <a:ahLst/>
            <a:cxnLst/>
            <a:rect l="l" t="t" r="r" b="b"/>
            <a:pathLst>
              <a:path w="5419710" h="375716">
                <a:moveTo>
                  <a:pt x="37572" y="0"/>
                </a:moveTo>
                <a:lnTo>
                  <a:pt x="5382139" y="0"/>
                </a:lnTo>
                <a:cubicBezTo>
                  <a:pt x="5402889" y="0"/>
                  <a:pt x="5419710" y="16821"/>
                  <a:pt x="5419710" y="37572"/>
                </a:cubicBezTo>
                <a:lnTo>
                  <a:pt x="5419710" y="338145"/>
                </a:lnTo>
                <a:cubicBezTo>
                  <a:pt x="5419710" y="358895"/>
                  <a:pt x="5402889" y="375716"/>
                  <a:pt x="5382139" y="375716"/>
                </a:cubicBezTo>
                <a:lnTo>
                  <a:pt x="37572" y="375716"/>
                </a:lnTo>
                <a:cubicBezTo>
                  <a:pt x="16835" y="375716"/>
                  <a:pt x="0" y="358881"/>
                  <a:pt x="0" y="338145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345954" y="6077366"/>
            <a:ext cx="162497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Positives/Negatives: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525187" y="6058605"/>
            <a:ext cx="16907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72"/>
            <a:ext cx="1541430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1 - Baseline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 Clásico: Estableciendo el Fundamento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491" y="1146199"/>
            <a:ext cx="3721912" cy="1454962"/>
          </a:xfrm>
          <a:custGeom>
            <a:avLst/>
            <a:gdLst/>
            <a:ahLst/>
            <a:cxnLst/>
            <a:rect l="l" t="t" r="r" b="b"/>
            <a:pathLst>
              <a:path w="3721912" h="1454962">
                <a:moveTo>
                  <a:pt x="76196" y="0"/>
                </a:moveTo>
                <a:lnTo>
                  <a:pt x="3645715" y="0"/>
                </a:lnTo>
                <a:cubicBezTo>
                  <a:pt x="3687797" y="0"/>
                  <a:pt x="3721912" y="34114"/>
                  <a:pt x="3721912" y="76196"/>
                </a:cubicBezTo>
                <a:lnTo>
                  <a:pt x="3721912" y="1378765"/>
                </a:lnTo>
                <a:cubicBezTo>
                  <a:pt x="3721912" y="1420847"/>
                  <a:pt x="3687797" y="1454962"/>
                  <a:pt x="3645715" y="1454962"/>
                </a:cubicBezTo>
                <a:lnTo>
                  <a:pt x="76196" y="1454962"/>
                </a:lnTo>
                <a:cubicBezTo>
                  <a:pt x="34114" y="1454962"/>
                  <a:pt x="0" y="1420847"/>
                  <a:pt x="0" y="1378765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323" y="12830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635574" y="141633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073689" y="1264032"/>
            <a:ext cx="78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0.890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3689" y="1568851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L2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323" y="1835397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02536" y="1835397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85.0%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323" y="206390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055" y="20639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323" y="229240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9055" y="22924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32538" y="1146199"/>
            <a:ext cx="3731437" cy="1454962"/>
          </a:xfrm>
          <a:custGeom>
            <a:avLst/>
            <a:gdLst/>
            <a:ahLst/>
            <a:cxnLst/>
            <a:rect l="l" t="t" r="r" b="b"/>
            <a:pathLst>
              <a:path w="3731437" h="1454962">
                <a:moveTo>
                  <a:pt x="76196" y="0"/>
                </a:moveTo>
                <a:lnTo>
                  <a:pt x="3655240" y="0"/>
                </a:lnTo>
                <a:cubicBezTo>
                  <a:pt x="3697322" y="0"/>
                  <a:pt x="3731437" y="34114"/>
                  <a:pt x="3731437" y="76196"/>
                </a:cubicBezTo>
                <a:lnTo>
                  <a:pt x="3731437" y="1378765"/>
                </a:lnTo>
                <a:cubicBezTo>
                  <a:pt x="3731437" y="1420847"/>
                  <a:pt x="3697322" y="1454962"/>
                  <a:pt x="3655240" y="1454962"/>
                </a:cubicBezTo>
                <a:lnTo>
                  <a:pt x="76196" y="1454962"/>
                </a:lnTo>
                <a:cubicBezTo>
                  <a:pt x="34114" y="1454962"/>
                  <a:pt x="0" y="1420847"/>
                  <a:pt x="0" y="1378765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0369" y="12830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4495527" y="141633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4921735" y="1264032"/>
            <a:ext cx="104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0.849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21735" y="1568851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50369" y="1835397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0694" y="1835397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86.8%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0369" y="20639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OOB Score: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5618" y="20639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84.6%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50369" y="22924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95717" y="229240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80696" y="1146199"/>
            <a:ext cx="3731437" cy="1454962"/>
          </a:xfrm>
          <a:custGeom>
            <a:avLst/>
            <a:gdLst/>
            <a:ahLst/>
            <a:cxnLst/>
            <a:rect l="l" t="t" r="r" b="b"/>
            <a:pathLst>
              <a:path w="3731437" h="1454962">
                <a:moveTo>
                  <a:pt x="76196" y="0"/>
                </a:moveTo>
                <a:lnTo>
                  <a:pt x="3655240" y="0"/>
                </a:lnTo>
                <a:cubicBezTo>
                  <a:pt x="3697322" y="0"/>
                  <a:pt x="3731437" y="34114"/>
                  <a:pt x="3731437" y="76196"/>
                </a:cubicBezTo>
                <a:lnTo>
                  <a:pt x="3731437" y="1378765"/>
                </a:lnTo>
                <a:cubicBezTo>
                  <a:pt x="3731437" y="1420847"/>
                  <a:pt x="3697322" y="1454962"/>
                  <a:pt x="3655240" y="1454962"/>
                </a:cubicBezTo>
                <a:lnTo>
                  <a:pt x="76196" y="1454962"/>
                </a:lnTo>
                <a:cubicBezTo>
                  <a:pt x="34114" y="1454962"/>
                  <a:pt x="0" y="1420847"/>
                  <a:pt x="0" y="1378765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8527" y="12830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8331779" y="141633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8769893" y="1264032"/>
            <a:ext cx="733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0.835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69893" y="156885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 RBF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98527" y="1835397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13399" y="1835397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85.7%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98527" y="20639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53539" y="206390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98527" y="2292400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gamma: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34811" y="2292400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491" y="2683943"/>
            <a:ext cx="5655487" cy="2064562"/>
          </a:xfrm>
          <a:custGeom>
            <a:avLst/>
            <a:gdLst/>
            <a:ahLst/>
            <a:cxnLst/>
            <a:rect l="l" t="t" r="r" b="b"/>
            <a:pathLst>
              <a:path w="5655487" h="2064562">
                <a:moveTo>
                  <a:pt x="76203" y="0"/>
                </a:moveTo>
                <a:lnTo>
                  <a:pt x="5579284" y="0"/>
                </a:lnTo>
                <a:cubicBezTo>
                  <a:pt x="5621369" y="0"/>
                  <a:pt x="5655487" y="34117"/>
                  <a:pt x="5655487" y="76203"/>
                </a:cubicBezTo>
                <a:lnTo>
                  <a:pt x="5655487" y="1988359"/>
                </a:lnTo>
                <a:cubicBezTo>
                  <a:pt x="5655487" y="2030444"/>
                  <a:pt x="5621369" y="2064562"/>
                  <a:pt x="5579284" y="2064562"/>
                </a:cubicBezTo>
                <a:lnTo>
                  <a:pt x="76203" y="2064562"/>
                </a:lnTo>
                <a:cubicBezTo>
                  <a:pt x="34117" y="2064562"/>
                  <a:pt x="0" y="2030444"/>
                  <a:pt x="0" y="1988359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323" y="2801773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 Importance - Random Forest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323" y="3144527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797575" y="3144527"/>
            <a:ext cx="3590925" cy="190500"/>
          </a:xfrm>
          <a:custGeom>
            <a:avLst/>
            <a:gdLst/>
            <a:ahLst/>
            <a:cxnLst/>
            <a:rect l="l" t="t" r="r" b="b"/>
            <a:pathLst>
              <a:path w="3590925" h="190500">
                <a:moveTo>
                  <a:pt x="95250" y="0"/>
                </a:moveTo>
                <a:lnTo>
                  <a:pt x="3495675" y="0"/>
                </a:lnTo>
                <a:cubicBezTo>
                  <a:pt x="3548245" y="0"/>
                  <a:pt x="3590925" y="42680"/>
                  <a:pt x="3590925" y="95250"/>
                </a:cubicBezTo>
                <a:lnTo>
                  <a:pt x="3590925" y="95250"/>
                </a:lnTo>
                <a:cubicBezTo>
                  <a:pt x="3590925" y="147820"/>
                  <a:pt x="3548245" y="190500"/>
                  <a:pt x="34956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1797575" y="3144527"/>
            <a:ext cx="3590925" cy="190500"/>
          </a:xfrm>
          <a:custGeom>
            <a:avLst/>
            <a:gdLst/>
            <a:ahLst/>
            <a:cxnLst/>
            <a:rect l="l" t="t" r="r" b="b"/>
            <a:pathLst>
              <a:path w="3590925" h="190500">
                <a:moveTo>
                  <a:pt x="95250" y="0"/>
                </a:moveTo>
                <a:lnTo>
                  <a:pt x="3495675" y="0"/>
                </a:lnTo>
                <a:cubicBezTo>
                  <a:pt x="3548245" y="0"/>
                  <a:pt x="3590925" y="42680"/>
                  <a:pt x="3590925" y="95250"/>
                </a:cubicBezTo>
                <a:lnTo>
                  <a:pt x="3590925" y="95250"/>
                </a:lnTo>
                <a:cubicBezTo>
                  <a:pt x="3590925" y="147820"/>
                  <a:pt x="3548245" y="190500"/>
                  <a:pt x="34956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5393639" y="3144527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0.2845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2323" y="3373027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797575" y="3373027"/>
            <a:ext cx="3590925" cy="190500"/>
          </a:xfrm>
          <a:custGeom>
            <a:avLst/>
            <a:gdLst/>
            <a:ahLst/>
            <a:cxnLst/>
            <a:rect l="l" t="t" r="r" b="b"/>
            <a:pathLst>
              <a:path w="3590925" h="190500">
                <a:moveTo>
                  <a:pt x="95250" y="0"/>
                </a:moveTo>
                <a:lnTo>
                  <a:pt x="3495675" y="0"/>
                </a:lnTo>
                <a:cubicBezTo>
                  <a:pt x="3548245" y="0"/>
                  <a:pt x="3590925" y="42680"/>
                  <a:pt x="3590925" y="95250"/>
                </a:cubicBezTo>
                <a:lnTo>
                  <a:pt x="3590925" y="95250"/>
                </a:lnTo>
                <a:cubicBezTo>
                  <a:pt x="3590925" y="147820"/>
                  <a:pt x="3548245" y="190500"/>
                  <a:pt x="34956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Shape 43"/>
          <p:cNvSpPr/>
          <p:nvPr/>
        </p:nvSpPr>
        <p:spPr>
          <a:xfrm>
            <a:off x="1797575" y="3373027"/>
            <a:ext cx="2047875" cy="190500"/>
          </a:xfrm>
          <a:custGeom>
            <a:avLst/>
            <a:gdLst/>
            <a:ahLst/>
            <a:cxnLst/>
            <a:rect l="l" t="t" r="r" b="b"/>
            <a:pathLst>
              <a:path w="2047875" h="190500">
                <a:moveTo>
                  <a:pt x="95250" y="0"/>
                </a:moveTo>
                <a:lnTo>
                  <a:pt x="1952625" y="0"/>
                </a:lnTo>
                <a:cubicBezTo>
                  <a:pt x="2005195" y="0"/>
                  <a:pt x="2047875" y="42680"/>
                  <a:pt x="2047875" y="95250"/>
                </a:cubicBezTo>
                <a:lnTo>
                  <a:pt x="2047875" y="95250"/>
                </a:lnTo>
                <a:cubicBezTo>
                  <a:pt x="2047875" y="147820"/>
                  <a:pt x="2005195" y="190500"/>
                  <a:pt x="19526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5393639" y="3373027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0.1623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2323" y="3601529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797575" y="3601529"/>
            <a:ext cx="3590925" cy="190500"/>
          </a:xfrm>
          <a:custGeom>
            <a:avLst/>
            <a:gdLst/>
            <a:ahLst/>
            <a:cxnLst/>
            <a:rect l="l" t="t" r="r" b="b"/>
            <a:pathLst>
              <a:path w="3590925" h="190500">
                <a:moveTo>
                  <a:pt x="95250" y="0"/>
                </a:moveTo>
                <a:lnTo>
                  <a:pt x="3495675" y="0"/>
                </a:lnTo>
                <a:cubicBezTo>
                  <a:pt x="3548245" y="0"/>
                  <a:pt x="3590925" y="42680"/>
                  <a:pt x="3590925" y="95250"/>
                </a:cubicBezTo>
                <a:lnTo>
                  <a:pt x="3590925" y="95250"/>
                </a:lnTo>
                <a:cubicBezTo>
                  <a:pt x="3590925" y="147820"/>
                  <a:pt x="3548245" y="190500"/>
                  <a:pt x="34956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1797575" y="3601529"/>
            <a:ext cx="1581150" cy="190500"/>
          </a:xfrm>
          <a:custGeom>
            <a:avLst/>
            <a:gdLst/>
            <a:ahLst/>
            <a:cxnLst/>
            <a:rect l="l" t="t" r="r" b="b"/>
            <a:pathLst>
              <a:path w="1581150" h="190500">
                <a:moveTo>
                  <a:pt x="95250" y="0"/>
                </a:moveTo>
                <a:lnTo>
                  <a:pt x="1485900" y="0"/>
                </a:lnTo>
                <a:cubicBezTo>
                  <a:pt x="1538470" y="0"/>
                  <a:pt x="1581150" y="42680"/>
                  <a:pt x="1581150" y="95250"/>
                </a:cubicBezTo>
                <a:lnTo>
                  <a:pt x="1581150" y="95250"/>
                </a:lnTo>
                <a:cubicBezTo>
                  <a:pt x="1581150" y="147820"/>
                  <a:pt x="1538470" y="190500"/>
                  <a:pt x="14859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5393639" y="3601529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0.1245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2323" y="3830029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self_mobility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797575" y="3830029"/>
            <a:ext cx="3590925" cy="190500"/>
          </a:xfrm>
          <a:custGeom>
            <a:avLst/>
            <a:gdLst/>
            <a:ahLst/>
            <a:cxnLst/>
            <a:rect l="l" t="t" r="r" b="b"/>
            <a:pathLst>
              <a:path w="3590925" h="190500">
                <a:moveTo>
                  <a:pt x="95250" y="0"/>
                </a:moveTo>
                <a:lnTo>
                  <a:pt x="3495675" y="0"/>
                </a:lnTo>
                <a:cubicBezTo>
                  <a:pt x="3548245" y="0"/>
                  <a:pt x="3590925" y="42680"/>
                  <a:pt x="3590925" y="95250"/>
                </a:cubicBezTo>
                <a:lnTo>
                  <a:pt x="3590925" y="95250"/>
                </a:lnTo>
                <a:cubicBezTo>
                  <a:pt x="3590925" y="147820"/>
                  <a:pt x="3548245" y="190500"/>
                  <a:pt x="34956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7575" y="3830029"/>
            <a:ext cx="1257300" cy="190500"/>
          </a:xfrm>
          <a:custGeom>
            <a:avLst/>
            <a:gdLst/>
            <a:ahLst/>
            <a:cxnLst/>
            <a:rect l="l" t="t" r="r" b="b"/>
            <a:pathLst>
              <a:path w="1257300" h="190500">
                <a:moveTo>
                  <a:pt x="95250" y="0"/>
                </a:moveTo>
                <a:lnTo>
                  <a:pt x="1162050" y="0"/>
                </a:lnTo>
                <a:cubicBezTo>
                  <a:pt x="1214620" y="0"/>
                  <a:pt x="1257300" y="42680"/>
                  <a:pt x="1257300" y="95250"/>
                </a:cubicBezTo>
                <a:lnTo>
                  <a:pt x="1257300" y="95250"/>
                </a:lnTo>
                <a:cubicBezTo>
                  <a:pt x="1257300" y="147820"/>
                  <a:pt x="1214620" y="190500"/>
                  <a:pt x="11620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4" name="Text 52"/>
          <p:cNvSpPr/>
          <p:nvPr/>
        </p:nvSpPr>
        <p:spPr>
          <a:xfrm>
            <a:off x="5393639" y="3830029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0.0987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56673" y="2683943"/>
            <a:ext cx="5655487" cy="2064562"/>
          </a:xfrm>
          <a:custGeom>
            <a:avLst/>
            <a:gdLst/>
            <a:ahLst/>
            <a:cxnLst/>
            <a:rect l="l" t="t" r="r" b="b"/>
            <a:pathLst>
              <a:path w="5655487" h="2064562">
                <a:moveTo>
                  <a:pt x="76203" y="0"/>
                </a:moveTo>
                <a:lnTo>
                  <a:pt x="5579284" y="0"/>
                </a:lnTo>
                <a:cubicBezTo>
                  <a:pt x="5621369" y="0"/>
                  <a:pt x="5655487" y="34117"/>
                  <a:pt x="5655487" y="76203"/>
                </a:cubicBezTo>
                <a:lnTo>
                  <a:pt x="5655487" y="1988359"/>
                </a:lnTo>
                <a:cubicBezTo>
                  <a:pt x="5655487" y="2030444"/>
                  <a:pt x="5621369" y="2064562"/>
                  <a:pt x="5579284" y="2064562"/>
                </a:cubicBezTo>
                <a:lnTo>
                  <a:pt x="76203" y="2064562"/>
                </a:lnTo>
                <a:cubicBezTo>
                  <a:pt x="34117" y="2064562"/>
                  <a:pt x="0" y="2030444"/>
                  <a:pt x="0" y="1988359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4504" y="2801773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Desafíos Identificados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74504" y="3144527"/>
            <a:ext cx="5419725" cy="609600"/>
          </a:xfrm>
          <a:custGeom>
            <a:avLst/>
            <a:gdLst/>
            <a:ahLst/>
            <a:cxnLst/>
            <a:rect l="l" t="t" r="r" b="b"/>
            <a:pathLst>
              <a:path w="5419725" h="609600">
                <a:moveTo>
                  <a:pt x="38100" y="0"/>
                </a:moveTo>
                <a:lnTo>
                  <a:pt x="5381625" y="0"/>
                </a:lnTo>
                <a:cubicBezTo>
                  <a:pt x="5402653" y="0"/>
                  <a:pt x="5419725" y="17072"/>
                  <a:pt x="5419725" y="38100"/>
                </a:cubicBezTo>
                <a:lnTo>
                  <a:pt x="5419725" y="571500"/>
                </a:lnTo>
                <a:cubicBezTo>
                  <a:pt x="5419725" y="592528"/>
                  <a:pt x="5402653" y="609600"/>
                  <a:pt x="53816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50597" y="325866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9" name="Text 57"/>
          <p:cNvSpPr/>
          <p:nvPr/>
        </p:nvSpPr>
        <p:spPr>
          <a:xfrm>
            <a:off x="6617144" y="3220617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Desbalanceo Extremo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50597" y="3487278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59:1 ratio entre clases. Requiere class_weight='balanced' o técnicas de resampling.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74504" y="3829917"/>
            <a:ext cx="5419725" cy="800100"/>
          </a:xfrm>
          <a:custGeom>
            <a:avLst/>
            <a:gdLst/>
            <a:ahLst/>
            <a:cxnLst/>
            <a:rect l="l" t="t" r="r" b="b"/>
            <a:pathLst>
              <a:path w="5419725" h="800100">
                <a:moveTo>
                  <a:pt x="38101" y="0"/>
                </a:moveTo>
                <a:lnTo>
                  <a:pt x="5381624" y="0"/>
                </a:lnTo>
                <a:cubicBezTo>
                  <a:pt x="5402667" y="0"/>
                  <a:pt x="5419725" y="17058"/>
                  <a:pt x="5419725" y="38101"/>
                </a:cubicBezTo>
                <a:lnTo>
                  <a:pt x="5419725" y="761999"/>
                </a:lnTo>
                <a:cubicBezTo>
                  <a:pt x="5419725" y="783042"/>
                  <a:pt x="5402667" y="800100"/>
                  <a:pt x="53816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69647" y="394405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3" name="Text 61"/>
          <p:cNvSpPr/>
          <p:nvPr/>
        </p:nvSpPr>
        <p:spPr>
          <a:xfrm>
            <a:off x="6617144" y="390601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Confusión Entre Clases Extremas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50597" y="4172671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Good↔Blunder: 2.89% (target: &lt;5%). Modelos lineales tienen dificultad con clases separables no linealmente.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4491" y="4830758"/>
            <a:ext cx="3721912" cy="692962"/>
          </a:xfrm>
          <a:custGeom>
            <a:avLst/>
            <a:gdLst/>
            <a:ahLst/>
            <a:cxnLst/>
            <a:rect l="l" t="t" r="r" b="b"/>
            <a:pathLst>
              <a:path w="3721912" h="692962">
                <a:moveTo>
                  <a:pt x="76198" y="0"/>
                </a:moveTo>
                <a:lnTo>
                  <a:pt x="3645714" y="0"/>
                </a:lnTo>
                <a:cubicBezTo>
                  <a:pt x="3687797" y="0"/>
                  <a:pt x="3721912" y="34115"/>
                  <a:pt x="3721912" y="76198"/>
                </a:cubicBezTo>
                <a:lnTo>
                  <a:pt x="3721912" y="616764"/>
                </a:lnTo>
                <a:cubicBezTo>
                  <a:pt x="3721912" y="658847"/>
                  <a:pt x="3687797" y="692962"/>
                  <a:pt x="3645714" y="692962"/>
                </a:cubicBezTo>
                <a:lnTo>
                  <a:pt x="76198" y="692962"/>
                </a:lnTo>
                <a:cubicBezTo>
                  <a:pt x="34143" y="692962"/>
                  <a:pt x="0" y="658818"/>
                  <a:pt x="0" y="616764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373" y="498663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7" name="Text 65"/>
          <p:cNvSpPr/>
          <p:nvPr/>
        </p:nvSpPr>
        <p:spPr>
          <a:xfrm>
            <a:off x="768871" y="4948591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2323" y="5215251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&gt; 0.70 ✓ • Confusión &lt; 5% 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232538" y="4830758"/>
            <a:ext cx="3731437" cy="692962"/>
          </a:xfrm>
          <a:custGeom>
            <a:avLst/>
            <a:gdLst/>
            <a:ahLst/>
            <a:cxnLst/>
            <a:rect l="l" t="t" r="r" b="b"/>
            <a:pathLst>
              <a:path w="3731437" h="692962">
                <a:moveTo>
                  <a:pt x="76198" y="0"/>
                </a:moveTo>
                <a:lnTo>
                  <a:pt x="3655239" y="0"/>
                </a:lnTo>
                <a:cubicBezTo>
                  <a:pt x="3697322" y="0"/>
                  <a:pt x="3731437" y="34115"/>
                  <a:pt x="3731437" y="76198"/>
                </a:cubicBezTo>
                <a:lnTo>
                  <a:pt x="3731437" y="616764"/>
                </a:lnTo>
                <a:cubicBezTo>
                  <a:pt x="3731437" y="658847"/>
                  <a:pt x="3697322" y="692962"/>
                  <a:pt x="3655239" y="692962"/>
                </a:cubicBezTo>
                <a:lnTo>
                  <a:pt x="76198" y="692962"/>
                </a:lnTo>
                <a:cubicBezTo>
                  <a:pt x="34143" y="692962"/>
                  <a:pt x="0" y="658818"/>
                  <a:pt x="0" y="616764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88469" y="498663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1" name="Text 69"/>
          <p:cNvSpPr/>
          <p:nvPr/>
        </p:nvSpPr>
        <p:spPr>
          <a:xfrm>
            <a:off x="4616917" y="4948591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Margen de Mejora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4350369" y="5215251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clásico alcanza límite ~0.89 F1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080696" y="4830758"/>
            <a:ext cx="3731437" cy="692962"/>
          </a:xfrm>
          <a:custGeom>
            <a:avLst/>
            <a:gdLst/>
            <a:ahLst/>
            <a:cxnLst/>
            <a:rect l="l" t="t" r="r" b="b"/>
            <a:pathLst>
              <a:path w="3731437" h="692962">
                <a:moveTo>
                  <a:pt x="76198" y="0"/>
                </a:moveTo>
                <a:lnTo>
                  <a:pt x="3655239" y="0"/>
                </a:lnTo>
                <a:cubicBezTo>
                  <a:pt x="3697322" y="0"/>
                  <a:pt x="3731437" y="34115"/>
                  <a:pt x="3731437" y="76198"/>
                </a:cubicBezTo>
                <a:lnTo>
                  <a:pt x="3731437" y="616764"/>
                </a:lnTo>
                <a:cubicBezTo>
                  <a:pt x="3731437" y="658847"/>
                  <a:pt x="3697322" y="692962"/>
                  <a:pt x="3655239" y="692962"/>
                </a:cubicBezTo>
                <a:lnTo>
                  <a:pt x="76198" y="692962"/>
                </a:lnTo>
                <a:cubicBezTo>
                  <a:pt x="34143" y="692962"/>
                  <a:pt x="0" y="658818"/>
                  <a:pt x="0" y="616764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36627" y="498663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5" name="Text 73"/>
          <p:cNvSpPr/>
          <p:nvPr/>
        </p:nvSpPr>
        <p:spPr>
          <a:xfrm>
            <a:off x="8465075" y="4948591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198527" y="5215251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Baseline sólido esencial para comparación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050" y="382101"/>
            <a:ext cx="2040957" cy="197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spc="59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2 - 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050" y="675068"/>
            <a:ext cx="1161053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para Datos Tabulares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576" y="1128566"/>
            <a:ext cx="5652885" cy="2820590"/>
          </a:xfrm>
          <a:custGeom>
            <a:avLst/>
            <a:gdLst/>
            <a:ahLst/>
            <a:cxnLst/>
            <a:rect l="l" t="t" r="r" b="b"/>
            <a:pathLst>
              <a:path w="5652885" h="2820590">
                <a:moveTo>
                  <a:pt x="75028" y="0"/>
                </a:moveTo>
                <a:lnTo>
                  <a:pt x="5577858" y="0"/>
                </a:lnTo>
                <a:cubicBezTo>
                  <a:pt x="5619294" y="0"/>
                  <a:pt x="5652885" y="33591"/>
                  <a:pt x="5652885" y="75028"/>
                </a:cubicBezTo>
                <a:lnTo>
                  <a:pt x="5652885" y="2745562"/>
                </a:lnTo>
                <a:cubicBezTo>
                  <a:pt x="5652885" y="2786999"/>
                  <a:pt x="5619294" y="2820590"/>
                  <a:pt x="5577858" y="2820590"/>
                </a:cubicBezTo>
                <a:lnTo>
                  <a:pt x="75028" y="2820590"/>
                </a:lnTo>
                <a:cubicBezTo>
                  <a:pt x="33591" y="2820590"/>
                  <a:pt x="0" y="2786999"/>
                  <a:pt x="0" y="2745562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4595" y="1244588"/>
            <a:ext cx="5505157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MLP_Basic (Campeón)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4595" y="1582066"/>
            <a:ext cx="5420751" cy="825305"/>
          </a:xfrm>
          <a:custGeom>
            <a:avLst/>
            <a:gdLst/>
            <a:ahLst/>
            <a:cxnLst/>
            <a:rect l="l" t="t" r="r" b="b"/>
            <a:pathLst>
              <a:path w="5420751" h="825305">
                <a:moveTo>
                  <a:pt x="75028" y="0"/>
                </a:moveTo>
                <a:lnTo>
                  <a:pt x="5345722" y="0"/>
                </a:lnTo>
                <a:cubicBezTo>
                  <a:pt x="5387159" y="0"/>
                  <a:pt x="5420751" y="33591"/>
                  <a:pt x="5420751" y="75028"/>
                </a:cubicBezTo>
                <a:lnTo>
                  <a:pt x="5420751" y="750276"/>
                </a:lnTo>
                <a:cubicBezTo>
                  <a:pt x="5420751" y="791685"/>
                  <a:pt x="5387132" y="825305"/>
                  <a:pt x="5345722" y="825305"/>
                </a:cubicBezTo>
                <a:lnTo>
                  <a:pt x="75028" y="825305"/>
                </a:lnTo>
                <a:cubicBezTo>
                  <a:pt x="33591" y="825305"/>
                  <a:pt x="0" y="791713"/>
                  <a:pt x="0" y="750276"/>
                </a:cubicBezTo>
                <a:lnTo>
                  <a:pt x="0" y="75028"/>
                </a:lnTo>
                <a:cubicBezTo>
                  <a:pt x="0" y="33591"/>
                  <a:pt x="33591" y="0"/>
                  <a:pt x="7502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25916" y="1694557"/>
            <a:ext cx="778412" cy="337625"/>
          </a:xfrm>
          <a:custGeom>
            <a:avLst/>
            <a:gdLst/>
            <a:ahLst/>
            <a:cxnLst/>
            <a:rect l="l" t="t" r="r" b="b"/>
            <a:pathLst>
              <a:path w="778412" h="337625">
                <a:moveTo>
                  <a:pt x="37513" y="0"/>
                </a:moveTo>
                <a:lnTo>
                  <a:pt x="740899" y="0"/>
                </a:lnTo>
                <a:cubicBezTo>
                  <a:pt x="761617" y="0"/>
                  <a:pt x="778412" y="16795"/>
                  <a:pt x="778412" y="37513"/>
                </a:cubicBezTo>
                <a:lnTo>
                  <a:pt x="778412" y="300111"/>
                </a:lnTo>
                <a:cubicBezTo>
                  <a:pt x="778412" y="320829"/>
                  <a:pt x="761617" y="337625"/>
                  <a:pt x="740899" y="337625"/>
                </a:cubicBezTo>
                <a:lnTo>
                  <a:pt x="37513" y="337625"/>
                </a:lnTo>
                <a:cubicBezTo>
                  <a:pt x="16795" y="337625"/>
                  <a:pt x="0" y="320829"/>
                  <a:pt x="0" y="300111"/>
                </a:cubicBezTo>
                <a:lnTo>
                  <a:pt x="0" y="37513"/>
                </a:lnTo>
                <a:cubicBezTo>
                  <a:pt x="0" y="16795"/>
                  <a:pt x="16795" y="0"/>
                  <a:pt x="3751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1625916" y="1694557"/>
            <a:ext cx="844062" cy="337625"/>
          </a:xfrm>
          <a:prstGeom prst="rect">
            <a:avLst/>
          </a:prstGeom>
          <a:noFill/>
          <a:ln/>
        </p:spPr>
        <p:txBody>
          <a:bodyPr wrap="square" lIns="112542" tIns="75028" rIns="112542" bIns="75028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(15)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8562" y="1788209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47300" y="81651"/>
                </a:moveTo>
                <a:cubicBezTo>
                  <a:pt x="150964" y="77988"/>
                  <a:pt x="150964" y="72038"/>
                  <a:pt x="147300" y="68375"/>
                </a:cubicBezTo>
                <a:lnTo>
                  <a:pt x="100408" y="21483"/>
                </a:lnTo>
                <a:cubicBezTo>
                  <a:pt x="96745" y="17819"/>
                  <a:pt x="90795" y="17819"/>
                  <a:pt x="87132" y="21483"/>
                </a:cubicBezTo>
                <a:cubicBezTo>
                  <a:pt x="83468" y="25146"/>
                  <a:pt x="83468" y="31095"/>
                  <a:pt x="87132" y="34759"/>
                </a:cubicBezTo>
                <a:lnTo>
                  <a:pt x="118022" y="65649"/>
                </a:lnTo>
                <a:lnTo>
                  <a:pt x="9378" y="65649"/>
                </a:lnTo>
                <a:cubicBezTo>
                  <a:pt x="4191" y="65649"/>
                  <a:pt x="0" y="69840"/>
                  <a:pt x="0" y="75028"/>
                </a:cubicBezTo>
                <a:cubicBezTo>
                  <a:pt x="0" y="80215"/>
                  <a:pt x="4191" y="84406"/>
                  <a:pt x="9378" y="84406"/>
                </a:cubicBezTo>
                <a:lnTo>
                  <a:pt x="118022" y="84406"/>
                </a:lnTo>
                <a:lnTo>
                  <a:pt x="87132" y="115296"/>
                </a:lnTo>
                <a:cubicBezTo>
                  <a:pt x="83468" y="118960"/>
                  <a:pt x="83468" y="124909"/>
                  <a:pt x="87132" y="128573"/>
                </a:cubicBezTo>
                <a:cubicBezTo>
                  <a:pt x="90795" y="132236"/>
                  <a:pt x="96745" y="132236"/>
                  <a:pt x="100408" y="128573"/>
                </a:cubicBezTo>
                <a:lnTo>
                  <a:pt x="147300" y="8168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2252" y="1694557"/>
            <a:ext cx="900332" cy="337625"/>
          </a:xfrm>
          <a:custGeom>
            <a:avLst/>
            <a:gdLst/>
            <a:ahLst/>
            <a:cxnLst/>
            <a:rect l="l" t="t" r="r" b="b"/>
            <a:pathLst>
              <a:path w="900332" h="337625">
                <a:moveTo>
                  <a:pt x="37513" y="0"/>
                </a:moveTo>
                <a:lnTo>
                  <a:pt x="862819" y="0"/>
                </a:lnTo>
                <a:cubicBezTo>
                  <a:pt x="883537" y="0"/>
                  <a:pt x="900332" y="16795"/>
                  <a:pt x="900332" y="37513"/>
                </a:cubicBezTo>
                <a:lnTo>
                  <a:pt x="900332" y="300111"/>
                </a:lnTo>
                <a:cubicBezTo>
                  <a:pt x="900332" y="320829"/>
                  <a:pt x="883537" y="337625"/>
                  <a:pt x="862819" y="337625"/>
                </a:cubicBezTo>
                <a:lnTo>
                  <a:pt x="37513" y="337625"/>
                </a:lnTo>
                <a:cubicBezTo>
                  <a:pt x="16795" y="337625"/>
                  <a:pt x="0" y="320829"/>
                  <a:pt x="0" y="300111"/>
                </a:cubicBezTo>
                <a:lnTo>
                  <a:pt x="0" y="37513"/>
                </a:lnTo>
                <a:cubicBezTo>
                  <a:pt x="0" y="16795"/>
                  <a:pt x="16795" y="0"/>
                  <a:pt x="37513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742252" y="1694557"/>
            <a:ext cx="965982" cy="337625"/>
          </a:xfrm>
          <a:prstGeom prst="rect">
            <a:avLst/>
          </a:prstGeom>
          <a:noFill/>
          <a:ln/>
        </p:spPr>
        <p:txBody>
          <a:bodyPr wrap="square" lIns="112542" tIns="75028" rIns="112542" bIns="75028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Dense(100)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7859" y="1788209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47300" y="81651"/>
                </a:moveTo>
                <a:cubicBezTo>
                  <a:pt x="150964" y="77988"/>
                  <a:pt x="150964" y="72038"/>
                  <a:pt x="147300" y="68375"/>
                </a:cubicBezTo>
                <a:lnTo>
                  <a:pt x="100408" y="21483"/>
                </a:lnTo>
                <a:cubicBezTo>
                  <a:pt x="96745" y="17819"/>
                  <a:pt x="90795" y="17819"/>
                  <a:pt x="87132" y="21483"/>
                </a:cubicBezTo>
                <a:cubicBezTo>
                  <a:pt x="83468" y="25146"/>
                  <a:pt x="83468" y="31095"/>
                  <a:pt x="87132" y="34759"/>
                </a:cubicBezTo>
                <a:lnTo>
                  <a:pt x="118022" y="65649"/>
                </a:lnTo>
                <a:lnTo>
                  <a:pt x="9378" y="65649"/>
                </a:lnTo>
                <a:cubicBezTo>
                  <a:pt x="4191" y="65649"/>
                  <a:pt x="0" y="69840"/>
                  <a:pt x="0" y="75028"/>
                </a:cubicBezTo>
                <a:cubicBezTo>
                  <a:pt x="0" y="80215"/>
                  <a:pt x="4191" y="84406"/>
                  <a:pt x="9378" y="84406"/>
                </a:cubicBezTo>
                <a:lnTo>
                  <a:pt x="118022" y="84406"/>
                </a:lnTo>
                <a:lnTo>
                  <a:pt x="87132" y="115296"/>
                </a:lnTo>
                <a:cubicBezTo>
                  <a:pt x="83468" y="118960"/>
                  <a:pt x="83468" y="124909"/>
                  <a:pt x="87132" y="128573"/>
                </a:cubicBezTo>
                <a:cubicBezTo>
                  <a:pt x="90795" y="132236"/>
                  <a:pt x="96745" y="132236"/>
                  <a:pt x="100408" y="128573"/>
                </a:cubicBezTo>
                <a:lnTo>
                  <a:pt x="147300" y="8168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3981549" y="1694557"/>
            <a:ext cx="806548" cy="337625"/>
          </a:xfrm>
          <a:custGeom>
            <a:avLst/>
            <a:gdLst/>
            <a:ahLst/>
            <a:cxnLst/>
            <a:rect l="l" t="t" r="r" b="b"/>
            <a:pathLst>
              <a:path w="806548" h="337625">
                <a:moveTo>
                  <a:pt x="37513" y="0"/>
                </a:moveTo>
                <a:lnTo>
                  <a:pt x="769034" y="0"/>
                </a:lnTo>
                <a:cubicBezTo>
                  <a:pt x="789752" y="0"/>
                  <a:pt x="806548" y="16795"/>
                  <a:pt x="806548" y="37513"/>
                </a:cubicBezTo>
                <a:lnTo>
                  <a:pt x="806548" y="300111"/>
                </a:lnTo>
                <a:cubicBezTo>
                  <a:pt x="806548" y="320829"/>
                  <a:pt x="789752" y="337625"/>
                  <a:pt x="769034" y="337625"/>
                </a:cubicBezTo>
                <a:lnTo>
                  <a:pt x="37513" y="337625"/>
                </a:lnTo>
                <a:cubicBezTo>
                  <a:pt x="16795" y="337625"/>
                  <a:pt x="0" y="320829"/>
                  <a:pt x="0" y="300111"/>
                </a:cubicBezTo>
                <a:lnTo>
                  <a:pt x="0" y="37513"/>
                </a:lnTo>
                <a:cubicBezTo>
                  <a:pt x="0" y="16795"/>
                  <a:pt x="16795" y="0"/>
                  <a:pt x="3751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3981549" y="1694557"/>
            <a:ext cx="872197" cy="337625"/>
          </a:xfrm>
          <a:prstGeom prst="rect">
            <a:avLst/>
          </a:prstGeom>
          <a:noFill/>
          <a:ln/>
        </p:spPr>
        <p:txBody>
          <a:bodyPr wrap="square" lIns="112542" tIns="75028" rIns="112542" bIns="75028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Output(4)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4263" y="2106848"/>
            <a:ext cx="5261317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ReLU activation → Softmax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595" y="2481789"/>
            <a:ext cx="68462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Optimizer: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07386" y="2481789"/>
            <a:ext cx="107852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Adam(lr=0.001)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4595" y="2706776"/>
            <a:ext cx="365760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80209" y="2706776"/>
            <a:ext cx="230710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sparse_categorical_crossentropy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4595" y="2931763"/>
            <a:ext cx="71276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 size: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73615" y="2931763"/>
            <a:ext cx="20632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4595" y="3156745"/>
            <a:ext cx="53457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0773" y="3156745"/>
            <a:ext cx="129422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62 (convergencia)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53624" y="1128566"/>
            <a:ext cx="5652885" cy="2820590"/>
          </a:xfrm>
          <a:custGeom>
            <a:avLst/>
            <a:gdLst/>
            <a:ahLst/>
            <a:cxnLst/>
            <a:rect l="l" t="t" r="r" b="b"/>
            <a:pathLst>
              <a:path w="5652885" h="2820590">
                <a:moveTo>
                  <a:pt x="75028" y="0"/>
                </a:moveTo>
                <a:lnTo>
                  <a:pt x="5577858" y="0"/>
                </a:lnTo>
                <a:cubicBezTo>
                  <a:pt x="5619294" y="0"/>
                  <a:pt x="5652885" y="33591"/>
                  <a:pt x="5652885" y="75028"/>
                </a:cubicBezTo>
                <a:lnTo>
                  <a:pt x="5652885" y="2745562"/>
                </a:lnTo>
                <a:cubicBezTo>
                  <a:pt x="5652885" y="2786999"/>
                  <a:pt x="5619294" y="2820590"/>
                  <a:pt x="5577858" y="2820590"/>
                </a:cubicBezTo>
                <a:lnTo>
                  <a:pt x="75028" y="2820590"/>
                </a:lnTo>
                <a:cubicBezTo>
                  <a:pt x="33591" y="2820590"/>
                  <a:pt x="0" y="2786999"/>
                  <a:pt x="0" y="2745562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9642" y="1244588"/>
            <a:ext cx="5505157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Históricos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87271" y="1582066"/>
            <a:ext cx="5410244" cy="787791"/>
          </a:xfrm>
          <a:custGeom>
            <a:avLst/>
            <a:gdLst/>
            <a:ahLst/>
            <a:cxnLst/>
            <a:rect l="l" t="t" r="r" b="b"/>
            <a:pathLst>
              <a:path w="5410244" h="787791">
                <a:moveTo>
                  <a:pt x="35257" y="0"/>
                </a:moveTo>
                <a:lnTo>
                  <a:pt x="5335215" y="0"/>
                </a:lnTo>
                <a:cubicBezTo>
                  <a:pt x="5376652" y="0"/>
                  <a:pt x="5410244" y="33592"/>
                  <a:pt x="5410244" y="75029"/>
                </a:cubicBezTo>
                <a:lnTo>
                  <a:pt x="5410244" y="712762"/>
                </a:lnTo>
                <a:cubicBezTo>
                  <a:pt x="5410244" y="754199"/>
                  <a:pt x="5376652" y="787791"/>
                  <a:pt x="5335215" y="787791"/>
                </a:cubicBezTo>
                <a:lnTo>
                  <a:pt x="35257" y="787791"/>
                </a:lnTo>
                <a:cubicBezTo>
                  <a:pt x="15785" y="787791"/>
                  <a:pt x="0" y="772005"/>
                  <a:pt x="0" y="752533"/>
                </a:cubicBezTo>
                <a:lnTo>
                  <a:pt x="0" y="35257"/>
                </a:lnTo>
                <a:cubicBezTo>
                  <a:pt x="0" y="15785"/>
                  <a:pt x="15785" y="0"/>
                  <a:pt x="3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287271" y="1582066"/>
            <a:ext cx="35257" cy="787791"/>
          </a:xfrm>
          <a:custGeom>
            <a:avLst/>
            <a:gdLst/>
            <a:ahLst/>
            <a:cxnLst/>
            <a:rect l="l" t="t" r="r" b="b"/>
            <a:pathLst>
              <a:path w="35257" h="787791">
                <a:moveTo>
                  <a:pt x="35257" y="0"/>
                </a:moveTo>
                <a:lnTo>
                  <a:pt x="35257" y="0"/>
                </a:lnTo>
                <a:lnTo>
                  <a:pt x="35257" y="787791"/>
                </a:lnTo>
                <a:lnTo>
                  <a:pt x="35257" y="787791"/>
                </a:lnTo>
                <a:cubicBezTo>
                  <a:pt x="15785" y="787791"/>
                  <a:pt x="0" y="772005"/>
                  <a:pt x="0" y="752533"/>
                </a:cubicBezTo>
                <a:lnTo>
                  <a:pt x="0" y="35257"/>
                </a:lnTo>
                <a:cubicBezTo>
                  <a:pt x="0" y="15785"/>
                  <a:pt x="15785" y="0"/>
                  <a:pt x="35257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417393" y="1732021"/>
            <a:ext cx="1275471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Macro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37346" y="1694557"/>
            <a:ext cx="881575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7393" y="2069608"/>
            <a:ext cx="523318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+10.2% vs Phase 1 baseline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9642" y="2444550"/>
            <a:ext cx="5420751" cy="412652"/>
          </a:xfrm>
          <a:custGeom>
            <a:avLst/>
            <a:gdLst/>
            <a:ahLst/>
            <a:cxnLst/>
            <a:rect l="l" t="t" r="r" b="b"/>
            <a:pathLst>
              <a:path w="5420751" h="412652">
                <a:moveTo>
                  <a:pt x="37514" y="0"/>
                </a:moveTo>
                <a:lnTo>
                  <a:pt x="5383237" y="0"/>
                </a:lnTo>
                <a:cubicBezTo>
                  <a:pt x="5403955" y="0"/>
                  <a:pt x="5420751" y="16796"/>
                  <a:pt x="5420751" y="37514"/>
                </a:cubicBezTo>
                <a:lnTo>
                  <a:pt x="5420751" y="375138"/>
                </a:lnTo>
                <a:cubicBezTo>
                  <a:pt x="5420751" y="395843"/>
                  <a:pt x="5403941" y="412652"/>
                  <a:pt x="5383237" y="412652"/>
                </a:cubicBezTo>
                <a:lnTo>
                  <a:pt x="37514" y="412652"/>
                </a:lnTo>
                <a:cubicBezTo>
                  <a:pt x="16796" y="412652"/>
                  <a:pt x="0" y="395857"/>
                  <a:pt x="0" y="375138"/>
                </a:cubicBezTo>
                <a:lnTo>
                  <a:pt x="0" y="37514"/>
                </a:lnTo>
                <a:cubicBezTo>
                  <a:pt x="0" y="16796"/>
                  <a:pt x="16796" y="0"/>
                  <a:pt x="375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44564" y="2538092"/>
            <a:ext cx="75027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75003" y="2519472"/>
            <a:ext cx="63773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99.8%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9642" y="2931763"/>
            <a:ext cx="5420751" cy="412652"/>
          </a:xfrm>
          <a:custGeom>
            <a:avLst/>
            <a:gdLst/>
            <a:ahLst/>
            <a:cxnLst/>
            <a:rect l="l" t="t" r="r" b="b"/>
            <a:pathLst>
              <a:path w="5420751" h="412652">
                <a:moveTo>
                  <a:pt x="37514" y="0"/>
                </a:moveTo>
                <a:lnTo>
                  <a:pt x="5383237" y="0"/>
                </a:lnTo>
                <a:cubicBezTo>
                  <a:pt x="5403955" y="0"/>
                  <a:pt x="5420751" y="16796"/>
                  <a:pt x="5420751" y="37514"/>
                </a:cubicBezTo>
                <a:lnTo>
                  <a:pt x="5420751" y="375138"/>
                </a:lnTo>
                <a:cubicBezTo>
                  <a:pt x="5420751" y="395843"/>
                  <a:pt x="5403941" y="412652"/>
                  <a:pt x="5383237" y="412652"/>
                </a:cubicBezTo>
                <a:lnTo>
                  <a:pt x="37514" y="412652"/>
                </a:lnTo>
                <a:cubicBezTo>
                  <a:pt x="16796" y="412652"/>
                  <a:pt x="0" y="395857"/>
                  <a:pt x="0" y="375138"/>
                </a:cubicBezTo>
                <a:lnTo>
                  <a:pt x="0" y="37514"/>
                </a:lnTo>
                <a:cubicBezTo>
                  <a:pt x="0" y="16796"/>
                  <a:pt x="16796" y="0"/>
                  <a:pt x="375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44564" y="3025305"/>
            <a:ext cx="124733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96628" y="3006685"/>
            <a:ext cx="131298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 ± 0.002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9642" y="3418976"/>
            <a:ext cx="5420751" cy="412652"/>
          </a:xfrm>
          <a:custGeom>
            <a:avLst/>
            <a:gdLst/>
            <a:ahLst/>
            <a:cxnLst/>
            <a:rect l="l" t="t" r="r" b="b"/>
            <a:pathLst>
              <a:path w="5420751" h="412652">
                <a:moveTo>
                  <a:pt x="37514" y="0"/>
                </a:moveTo>
                <a:lnTo>
                  <a:pt x="5383237" y="0"/>
                </a:lnTo>
                <a:cubicBezTo>
                  <a:pt x="5403955" y="0"/>
                  <a:pt x="5420751" y="16796"/>
                  <a:pt x="5420751" y="37514"/>
                </a:cubicBezTo>
                <a:lnTo>
                  <a:pt x="5420751" y="375138"/>
                </a:lnTo>
                <a:cubicBezTo>
                  <a:pt x="5420751" y="395843"/>
                  <a:pt x="5403941" y="412652"/>
                  <a:pt x="5383237" y="412652"/>
                </a:cubicBezTo>
                <a:lnTo>
                  <a:pt x="37514" y="412652"/>
                </a:lnTo>
                <a:cubicBezTo>
                  <a:pt x="16796" y="412652"/>
                  <a:pt x="0" y="395857"/>
                  <a:pt x="0" y="375138"/>
                </a:cubicBezTo>
                <a:lnTo>
                  <a:pt x="0" y="37514"/>
                </a:lnTo>
                <a:cubicBezTo>
                  <a:pt x="0" y="16796"/>
                  <a:pt x="16796" y="0"/>
                  <a:pt x="375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44564" y="3512518"/>
            <a:ext cx="114417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Train-Test Gap: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69934" y="3493898"/>
            <a:ext cx="63773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0.04%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8576" y="4029258"/>
            <a:ext cx="11430018" cy="1535741"/>
          </a:xfrm>
          <a:custGeom>
            <a:avLst/>
            <a:gdLst/>
            <a:ahLst/>
            <a:cxnLst/>
            <a:rect l="l" t="t" r="r" b="b"/>
            <a:pathLst>
              <a:path w="11430018" h="1535741">
                <a:moveTo>
                  <a:pt x="75021" y="0"/>
                </a:moveTo>
                <a:lnTo>
                  <a:pt x="11354997" y="0"/>
                </a:lnTo>
                <a:cubicBezTo>
                  <a:pt x="11396430" y="0"/>
                  <a:pt x="11430018" y="33588"/>
                  <a:pt x="11430018" y="75021"/>
                </a:cubicBezTo>
                <a:lnTo>
                  <a:pt x="11430018" y="1460720"/>
                </a:lnTo>
                <a:cubicBezTo>
                  <a:pt x="11430018" y="1502153"/>
                  <a:pt x="11396430" y="1535741"/>
                  <a:pt x="11354997" y="1535741"/>
                </a:cubicBezTo>
                <a:lnTo>
                  <a:pt x="75021" y="1535741"/>
                </a:lnTo>
                <a:cubicBezTo>
                  <a:pt x="33588" y="1535741"/>
                  <a:pt x="0" y="1502153"/>
                  <a:pt x="0" y="1460720"/>
                </a:cubicBezTo>
                <a:lnTo>
                  <a:pt x="0" y="75021"/>
                </a:lnTo>
                <a:cubicBezTo>
                  <a:pt x="0" y="33616"/>
                  <a:pt x="33616" y="0"/>
                  <a:pt x="7502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595" y="4145275"/>
            <a:ext cx="11282289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Manejo del Desbalanceo 59:1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4595" y="4482753"/>
            <a:ext cx="3657600" cy="965982"/>
          </a:xfrm>
          <a:custGeom>
            <a:avLst/>
            <a:gdLst/>
            <a:ahLst/>
            <a:cxnLst/>
            <a:rect l="l" t="t" r="r" b="b"/>
            <a:pathLst>
              <a:path w="3657600" h="965982">
                <a:moveTo>
                  <a:pt x="37509" y="0"/>
                </a:moveTo>
                <a:lnTo>
                  <a:pt x="3620091" y="0"/>
                </a:lnTo>
                <a:cubicBezTo>
                  <a:pt x="3640807" y="0"/>
                  <a:pt x="3657600" y="16793"/>
                  <a:pt x="3657600" y="37509"/>
                </a:cubicBezTo>
                <a:lnTo>
                  <a:pt x="3657600" y="928472"/>
                </a:lnTo>
                <a:cubicBezTo>
                  <a:pt x="3657600" y="949188"/>
                  <a:pt x="3640807" y="965982"/>
                  <a:pt x="3620091" y="965982"/>
                </a:cubicBezTo>
                <a:lnTo>
                  <a:pt x="37509" y="965982"/>
                </a:lnTo>
                <a:cubicBezTo>
                  <a:pt x="16793" y="965982"/>
                  <a:pt x="0" y="949188"/>
                  <a:pt x="0" y="928472"/>
                </a:cubicBezTo>
                <a:lnTo>
                  <a:pt x="0" y="37509"/>
                </a:lnTo>
                <a:cubicBezTo>
                  <a:pt x="0" y="16807"/>
                  <a:pt x="16807" y="0"/>
                  <a:pt x="375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4263" y="4595249"/>
            <a:ext cx="349816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Balanceo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6749" y="4820236"/>
            <a:ext cx="3573194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0.847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8952" y="5157824"/>
            <a:ext cx="3488788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(sesgado a good)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71982" y="4489805"/>
            <a:ext cx="3643568" cy="951949"/>
          </a:xfrm>
          <a:custGeom>
            <a:avLst/>
            <a:gdLst/>
            <a:ahLst/>
            <a:cxnLst/>
            <a:rect l="l" t="t" r="r" b="b"/>
            <a:pathLst>
              <a:path w="3643568" h="951949">
                <a:moveTo>
                  <a:pt x="37516" y="0"/>
                </a:moveTo>
                <a:lnTo>
                  <a:pt x="3606051" y="0"/>
                </a:lnTo>
                <a:cubicBezTo>
                  <a:pt x="3626771" y="0"/>
                  <a:pt x="3643568" y="16797"/>
                  <a:pt x="3643568" y="37516"/>
                </a:cubicBezTo>
                <a:lnTo>
                  <a:pt x="3643568" y="914433"/>
                </a:lnTo>
                <a:cubicBezTo>
                  <a:pt x="3643568" y="935152"/>
                  <a:pt x="3626771" y="951949"/>
                  <a:pt x="3606051" y="951949"/>
                </a:cubicBezTo>
                <a:lnTo>
                  <a:pt x="37516" y="951949"/>
                </a:lnTo>
                <a:cubicBezTo>
                  <a:pt x="16797" y="951949"/>
                  <a:pt x="0" y="935152"/>
                  <a:pt x="0" y="914433"/>
                </a:cubicBezTo>
                <a:lnTo>
                  <a:pt x="0" y="37516"/>
                </a:lnTo>
                <a:cubicBezTo>
                  <a:pt x="0" y="16810"/>
                  <a:pt x="16810" y="0"/>
                  <a:pt x="3751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58702" y="4609349"/>
            <a:ext cx="3470031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class_weight='balanced'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21188" y="4834336"/>
            <a:ext cx="3545058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5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63391" y="5171928"/>
            <a:ext cx="3460652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(óptimo)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35266" y="4482753"/>
            <a:ext cx="3657600" cy="965982"/>
          </a:xfrm>
          <a:custGeom>
            <a:avLst/>
            <a:gdLst/>
            <a:ahLst/>
            <a:cxnLst/>
            <a:rect l="l" t="t" r="r" b="b"/>
            <a:pathLst>
              <a:path w="3657600" h="965982">
                <a:moveTo>
                  <a:pt x="37509" y="0"/>
                </a:moveTo>
                <a:lnTo>
                  <a:pt x="3620091" y="0"/>
                </a:lnTo>
                <a:cubicBezTo>
                  <a:pt x="3640807" y="0"/>
                  <a:pt x="3657600" y="16793"/>
                  <a:pt x="3657600" y="37509"/>
                </a:cubicBezTo>
                <a:lnTo>
                  <a:pt x="3657600" y="928472"/>
                </a:lnTo>
                <a:cubicBezTo>
                  <a:pt x="3657600" y="949188"/>
                  <a:pt x="3640807" y="965982"/>
                  <a:pt x="3620091" y="965982"/>
                </a:cubicBezTo>
                <a:lnTo>
                  <a:pt x="37509" y="965982"/>
                </a:lnTo>
                <a:cubicBezTo>
                  <a:pt x="16793" y="965982"/>
                  <a:pt x="0" y="949188"/>
                  <a:pt x="0" y="928472"/>
                </a:cubicBezTo>
                <a:lnTo>
                  <a:pt x="0" y="37509"/>
                </a:lnTo>
                <a:cubicBezTo>
                  <a:pt x="0" y="16807"/>
                  <a:pt x="16807" y="0"/>
                  <a:pt x="375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114934" y="4595249"/>
            <a:ext cx="349816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 Oversampling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77420" y="4820236"/>
            <a:ext cx="3573194" cy="33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0.978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19623" y="5157824"/>
            <a:ext cx="3488788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(alternativa)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8576" y="5646470"/>
            <a:ext cx="5652885" cy="832356"/>
          </a:xfrm>
          <a:custGeom>
            <a:avLst/>
            <a:gdLst/>
            <a:ahLst/>
            <a:cxnLst/>
            <a:rect l="l" t="t" r="r" b="b"/>
            <a:pathLst>
              <a:path w="5652885" h="832356">
                <a:moveTo>
                  <a:pt x="75029" y="0"/>
                </a:moveTo>
                <a:lnTo>
                  <a:pt x="5577857" y="0"/>
                </a:lnTo>
                <a:cubicBezTo>
                  <a:pt x="5619294" y="0"/>
                  <a:pt x="5652885" y="33591"/>
                  <a:pt x="5652885" y="75029"/>
                </a:cubicBezTo>
                <a:lnTo>
                  <a:pt x="5652885" y="757328"/>
                </a:lnTo>
                <a:cubicBezTo>
                  <a:pt x="5652885" y="798765"/>
                  <a:pt x="5619294" y="832356"/>
                  <a:pt x="5577857" y="832356"/>
                </a:cubicBezTo>
                <a:lnTo>
                  <a:pt x="75029" y="832356"/>
                </a:lnTo>
                <a:cubicBezTo>
                  <a:pt x="33591" y="832356"/>
                  <a:pt x="0" y="798765"/>
                  <a:pt x="0" y="757328"/>
                </a:cubicBezTo>
                <a:lnTo>
                  <a:pt x="0" y="75029"/>
                </a:lnTo>
                <a:cubicBezTo>
                  <a:pt x="0" y="33619"/>
                  <a:pt x="33619" y="0"/>
                  <a:pt x="7502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2730" y="5856249"/>
            <a:ext cx="225083" cy="225083"/>
          </a:xfrm>
          <a:custGeom>
            <a:avLst/>
            <a:gdLst/>
            <a:ahLst/>
            <a:cxnLst/>
            <a:rect l="l" t="t" r="r" b="b"/>
            <a:pathLst>
              <a:path w="225083" h="225083">
                <a:moveTo>
                  <a:pt x="112542" y="225083"/>
                </a:moveTo>
                <a:cubicBezTo>
                  <a:pt x="174655" y="225083"/>
                  <a:pt x="225083" y="174655"/>
                  <a:pt x="225083" y="112542"/>
                </a:cubicBezTo>
                <a:cubicBezTo>
                  <a:pt x="225083" y="50428"/>
                  <a:pt x="174655" y="0"/>
                  <a:pt x="112542" y="0"/>
                </a:cubicBezTo>
                <a:cubicBezTo>
                  <a:pt x="50428" y="0"/>
                  <a:pt x="0" y="50428"/>
                  <a:pt x="0" y="112542"/>
                </a:cubicBezTo>
                <a:cubicBezTo>
                  <a:pt x="0" y="174655"/>
                  <a:pt x="50428" y="225083"/>
                  <a:pt x="112542" y="225083"/>
                </a:cubicBezTo>
                <a:close/>
                <a:moveTo>
                  <a:pt x="112542" y="77372"/>
                </a:moveTo>
                <a:cubicBezTo>
                  <a:pt x="104760" y="77372"/>
                  <a:pt x="98474" y="83659"/>
                  <a:pt x="98474" y="91440"/>
                </a:cubicBezTo>
                <a:cubicBezTo>
                  <a:pt x="98474" y="97287"/>
                  <a:pt x="93770" y="101991"/>
                  <a:pt x="87923" y="101991"/>
                </a:cubicBezTo>
                <a:cubicBezTo>
                  <a:pt x="82076" y="101991"/>
                  <a:pt x="77372" y="97287"/>
                  <a:pt x="77372" y="91440"/>
                </a:cubicBezTo>
                <a:cubicBezTo>
                  <a:pt x="77372" y="72009"/>
                  <a:pt x="93111" y="56271"/>
                  <a:pt x="112542" y="56271"/>
                </a:cubicBezTo>
                <a:cubicBezTo>
                  <a:pt x="131973" y="56271"/>
                  <a:pt x="147711" y="72009"/>
                  <a:pt x="147711" y="91440"/>
                </a:cubicBezTo>
                <a:cubicBezTo>
                  <a:pt x="147711" y="112190"/>
                  <a:pt x="131885" y="120982"/>
                  <a:pt x="123092" y="124191"/>
                </a:cubicBezTo>
                <a:lnTo>
                  <a:pt x="123092" y="125862"/>
                </a:lnTo>
                <a:cubicBezTo>
                  <a:pt x="123092" y="131709"/>
                  <a:pt x="118388" y="136413"/>
                  <a:pt x="112542" y="136413"/>
                </a:cubicBezTo>
                <a:cubicBezTo>
                  <a:pt x="106695" y="136413"/>
                  <a:pt x="101991" y="131709"/>
                  <a:pt x="101991" y="125862"/>
                </a:cubicBezTo>
                <a:lnTo>
                  <a:pt x="101991" y="122301"/>
                </a:lnTo>
                <a:cubicBezTo>
                  <a:pt x="101991" y="113289"/>
                  <a:pt x="108497" y="106827"/>
                  <a:pt x="115223" y="104628"/>
                </a:cubicBezTo>
                <a:cubicBezTo>
                  <a:pt x="118037" y="103705"/>
                  <a:pt x="121026" y="102211"/>
                  <a:pt x="123224" y="100100"/>
                </a:cubicBezTo>
                <a:cubicBezTo>
                  <a:pt x="125115" y="98254"/>
                  <a:pt x="126609" y="95704"/>
                  <a:pt x="126609" y="91484"/>
                </a:cubicBezTo>
                <a:cubicBezTo>
                  <a:pt x="126609" y="83703"/>
                  <a:pt x="120323" y="77416"/>
                  <a:pt x="112542" y="77416"/>
                </a:cubicBezTo>
                <a:close/>
                <a:moveTo>
                  <a:pt x="98474" y="161778"/>
                </a:moveTo>
                <a:cubicBezTo>
                  <a:pt x="98474" y="154014"/>
                  <a:pt x="104777" y="147711"/>
                  <a:pt x="112542" y="147711"/>
                </a:cubicBezTo>
                <a:cubicBezTo>
                  <a:pt x="120306" y="147711"/>
                  <a:pt x="126609" y="154014"/>
                  <a:pt x="126609" y="161778"/>
                </a:cubicBezTo>
                <a:cubicBezTo>
                  <a:pt x="126609" y="169543"/>
                  <a:pt x="120306" y="175846"/>
                  <a:pt x="112542" y="175846"/>
                </a:cubicBezTo>
                <a:cubicBezTo>
                  <a:pt x="104777" y="175846"/>
                  <a:pt x="98474" y="169543"/>
                  <a:pt x="98474" y="16177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888376" y="5762488"/>
            <a:ext cx="509250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¿Accuracy 99.8% = Overfitting?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8376" y="5987584"/>
            <a:ext cx="508312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&lt; 0.05% + CV estable + Features relevantes + Dominio predecible = </a:t>
            </a:r>
            <a:pPr>
              <a:lnSpc>
                <a:spcPct val="120000"/>
              </a:lnSpc>
            </a:pPr>
            <a:r>
              <a:rPr lang="en-US" sz="1034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LEGÍTIMO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53624" y="5646470"/>
            <a:ext cx="5652885" cy="832356"/>
          </a:xfrm>
          <a:custGeom>
            <a:avLst/>
            <a:gdLst/>
            <a:ahLst/>
            <a:cxnLst/>
            <a:rect l="l" t="t" r="r" b="b"/>
            <a:pathLst>
              <a:path w="5652885" h="832356">
                <a:moveTo>
                  <a:pt x="75029" y="0"/>
                </a:moveTo>
                <a:lnTo>
                  <a:pt x="5577857" y="0"/>
                </a:lnTo>
                <a:cubicBezTo>
                  <a:pt x="5619294" y="0"/>
                  <a:pt x="5652885" y="33591"/>
                  <a:pt x="5652885" y="75029"/>
                </a:cubicBezTo>
                <a:lnTo>
                  <a:pt x="5652885" y="757328"/>
                </a:lnTo>
                <a:cubicBezTo>
                  <a:pt x="5652885" y="798765"/>
                  <a:pt x="5619294" y="832356"/>
                  <a:pt x="5577857" y="832356"/>
                </a:cubicBezTo>
                <a:lnTo>
                  <a:pt x="75029" y="832356"/>
                </a:lnTo>
                <a:cubicBezTo>
                  <a:pt x="33591" y="832356"/>
                  <a:pt x="0" y="798765"/>
                  <a:pt x="0" y="757328"/>
                </a:cubicBezTo>
                <a:lnTo>
                  <a:pt x="0" y="75029"/>
                </a:lnTo>
                <a:cubicBezTo>
                  <a:pt x="0" y="33619"/>
                  <a:pt x="33619" y="0"/>
                  <a:pt x="7502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2467" y="5950011"/>
            <a:ext cx="168812" cy="225083"/>
          </a:xfrm>
          <a:custGeom>
            <a:avLst/>
            <a:gdLst/>
            <a:ahLst/>
            <a:cxnLst/>
            <a:rect l="l" t="t" r="r" b="b"/>
            <a:pathLst>
              <a:path w="168812" h="225083">
                <a:moveTo>
                  <a:pt x="128763" y="168812"/>
                </a:moveTo>
                <a:cubicBezTo>
                  <a:pt x="131973" y="159009"/>
                  <a:pt x="138391" y="150129"/>
                  <a:pt x="145645" y="142479"/>
                </a:cubicBezTo>
                <a:cubicBezTo>
                  <a:pt x="160020" y="127357"/>
                  <a:pt x="168812" y="106914"/>
                  <a:pt x="168812" y="84406"/>
                </a:cubicBezTo>
                <a:cubicBezTo>
                  <a:pt x="168812" y="37807"/>
                  <a:pt x="131005" y="0"/>
                  <a:pt x="84406" y="0"/>
                </a:cubicBezTo>
                <a:cubicBezTo>
                  <a:pt x="37807" y="0"/>
                  <a:pt x="0" y="37807"/>
                  <a:pt x="0" y="84406"/>
                </a:cubicBezTo>
                <a:cubicBezTo>
                  <a:pt x="0" y="106914"/>
                  <a:pt x="8792" y="127357"/>
                  <a:pt x="23168" y="142479"/>
                </a:cubicBezTo>
                <a:cubicBezTo>
                  <a:pt x="30421" y="150129"/>
                  <a:pt x="36884" y="159009"/>
                  <a:pt x="40049" y="168812"/>
                </a:cubicBezTo>
                <a:lnTo>
                  <a:pt x="128719" y="168812"/>
                </a:lnTo>
                <a:close/>
                <a:moveTo>
                  <a:pt x="126609" y="189914"/>
                </a:moveTo>
                <a:lnTo>
                  <a:pt x="42203" y="189914"/>
                </a:lnTo>
                <a:lnTo>
                  <a:pt x="42203" y="196948"/>
                </a:lnTo>
                <a:cubicBezTo>
                  <a:pt x="42203" y="216379"/>
                  <a:pt x="57941" y="232117"/>
                  <a:pt x="77372" y="232117"/>
                </a:cubicBezTo>
                <a:lnTo>
                  <a:pt x="91440" y="232117"/>
                </a:lnTo>
                <a:cubicBezTo>
                  <a:pt x="110871" y="232117"/>
                  <a:pt x="126609" y="216379"/>
                  <a:pt x="126609" y="196948"/>
                </a:cubicBezTo>
                <a:lnTo>
                  <a:pt x="126609" y="189914"/>
                </a:lnTo>
                <a:close/>
                <a:moveTo>
                  <a:pt x="80889" y="49237"/>
                </a:moveTo>
                <a:cubicBezTo>
                  <a:pt x="63393" y="49237"/>
                  <a:pt x="49237" y="63393"/>
                  <a:pt x="49237" y="80889"/>
                </a:cubicBezTo>
                <a:cubicBezTo>
                  <a:pt x="49237" y="86736"/>
                  <a:pt x="44533" y="91440"/>
                  <a:pt x="38686" y="91440"/>
                </a:cubicBezTo>
                <a:cubicBezTo>
                  <a:pt x="32839" y="91440"/>
                  <a:pt x="28135" y="86736"/>
                  <a:pt x="28135" y="80889"/>
                </a:cubicBezTo>
                <a:cubicBezTo>
                  <a:pt x="28135" y="51743"/>
                  <a:pt x="51743" y="28135"/>
                  <a:pt x="80889" y="28135"/>
                </a:cubicBezTo>
                <a:cubicBezTo>
                  <a:pt x="86736" y="28135"/>
                  <a:pt x="91440" y="32839"/>
                  <a:pt x="91440" y="38686"/>
                </a:cubicBezTo>
                <a:cubicBezTo>
                  <a:pt x="91440" y="44533"/>
                  <a:pt x="86736" y="49237"/>
                  <a:pt x="80889" y="4923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6618801" y="5762488"/>
            <a:ext cx="514877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Clave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18801" y="5987584"/>
            <a:ext cx="5139397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supera ML clásico en datos tabulares bien estructurados con features de alta calidad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892" y="367675"/>
            <a:ext cx="2366363" cy="189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spc="57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3 - Temporal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892" y="649582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Capturando Dependencias Temporales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285" y="1085962"/>
            <a:ext cx="5674125" cy="3147286"/>
          </a:xfrm>
          <a:custGeom>
            <a:avLst/>
            <a:gdLst/>
            <a:ahLst/>
            <a:cxnLst/>
            <a:rect l="l" t="t" r="r" b="b"/>
            <a:pathLst>
              <a:path w="5674125" h="3147286">
                <a:moveTo>
                  <a:pt x="72199" y="0"/>
                </a:moveTo>
                <a:lnTo>
                  <a:pt x="5601926" y="0"/>
                </a:lnTo>
                <a:cubicBezTo>
                  <a:pt x="5641801" y="0"/>
                  <a:pt x="5674125" y="32324"/>
                  <a:pt x="5674125" y="72199"/>
                </a:cubicBezTo>
                <a:lnTo>
                  <a:pt x="5674125" y="3075087"/>
                </a:lnTo>
                <a:cubicBezTo>
                  <a:pt x="5674125" y="3114961"/>
                  <a:pt x="5641801" y="3147286"/>
                  <a:pt x="5601926" y="3147286"/>
                </a:cubicBezTo>
                <a:lnTo>
                  <a:pt x="72199" y="3147286"/>
                </a:lnTo>
                <a:cubicBezTo>
                  <a:pt x="32324" y="3147286"/>
                  <a:pt x="0" y="3114961"/>
                  <a:pt x="0" y="3075087"/>
                </a:cubicBezTo>
                <a:lnTo>
                  <a:pt x="0" y="72199"/>
                </a:lnTo>
                <a:cubicBezTo>
                  <a:pt x="0" y="32351"/>
                  <a:pt x="32351" y="0"/>
                  <a:pt x="72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924" y="1197600"/>
            <a:ext cx="55319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 Innovadoras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924" y="1522339"/>
            <a:ext cx="5450754" cy="758052"/>
          </a:xfrm>
          <a:custGeom>
            <a:avLst/>
            <a:gdLst/>
            <a:ahLst/>
            <a:cxnLst/>
            <a:rect l="l" t="t" r="r" b="b"/>
            <a:pathLst>
              <a:path w="5450754" h="758052">
                <a:moveTo>
                  <a:pt x="36098" y="0"/>
                </a:moveTo>
                <a:lnTo>
                  <a:pt x="5414655" y="0"/>
                </a:lnTo>
                <a:cubicBezTo>
                  <a:pt x="5434592" y="0"/>
                  <a:pt x="5450754" y="16162"/>
                  <a:pt x="5450754" y="36098"/>
                </a:cubicBezTo>
                <a:lnTo>
                  <a:pt x="5450754" y="721953"/>
                </a:lnTo>
                <a:cubicBezTo>
                  <a:pt x="5450754" y="741890"/>
                  <a:pt x="5434592" y="758052"/>
                  <a:pt x="5414655" y="758052"/>
                </a:cubicBezTo>
                <a:lnTo>
                  <a:pt x="36098" y="758052"/>
                </a:lnTo>
                <a:cubicBezTo>
                  <a:pt x="16162" y="758052"/>
                  <a:pt x="0" y="741890"/>
                  <a:pt x="0" y="72195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042" y="1630482"/>
            <a:ext cx="162440" cy="144391"/>
          </a:xfrm>
          <a:custGeom>
            <a:avLst/>
            <a:gdLst/>
            <a:ahLst/>
            <a:cxnLst/>
            <a:rect l="l" t="t" r="r" b="b"/>
            <a:pathLst>
              <a:path w="162440" h="144391">
                <a:moveTo>
                  <a:pt x="81220" y="18049"/>
                </a:moveTo>
                <a:cubicBezTo>
                  <a:pt x="111113" y="18049"/>
                  <a:pt x="135366" y="42302"/>
                  <a:pt x="135366" y="72195"/>
                </a:cubicBezTo>
                <a:cubicBezTo>
                  <a:pt x="135366" y="102089"/>
                  <a:pt x="111113" y="126342"/>
                  <a:pt x="81220" y="126342"/>
                </a:cubicBezTo>
                <a:cubicBezTo>
                  <a:pt x="62833" y="126342"/>
                  <a:pt x="46560" y="117177"/>
                  <a:pt x="36775" y="103132"/>
                </a:cubicBezTo>
                <a:cubicBezTo>
                  <a:pt x="33926" y="99043"/>
                  <a:pt x="28286" y="98056"/>
                  <a:pt x="24197" y="100904"/>
                </a:cubicBezTo>
                <a:cubicBezTo>
                  <a:pt x="20108" y="103753"/>
                  <a:pt x="19121" y="109393"/>
                  <a:pt x="21969" y="113482"/>
                </a:cubicBezTo>
                <a:cubicBezTo>
                  <a:pt x="34998" y="132151"/>
                  <a:pt x="56685" y="144391"/>
                  <a:pt x="81220" y="144391"/>
                </a:cubicBezTo>
                <a:cubicBezTo>
                  <a:pt x="121097" y="144391"/>
                  <a:pt x="153415" y="112072"/>
                  <a:pt x="153415" y="72195"/>
                </a:cubicBezTo>
                <a:cubicBezTo>
                  <a:pt x="153415" y="32319"/>
                  <a:pt x="121097" y="0"/>
                  <a:pt x="81220" y="0"/>
                </a:cubicBezTo>
                <a:cubicBezTo>
                  <a:pt x="57051" y="0"/>
                  <a:pt x="35675" y="11873"/>
                  <a:pt x="22561" y="30091"/>
                </a:cubicBezTo>
                <a:lnTo>
                  <a:pt x="22561" y="22561"/>
                </a:lnTo>
                <a:cubicBezTo>
                  <a:pt x="22561" y="17569"/>
                  <a:pt x="18528" y="13537"/>
                  <a:pt x="13537" y="13537"/>
                </a:cubicBezTo>
                <a:cubicBezTo>
                  <a:pt x="8545" y="13537"/>
                  <a:pt x="4512" y="17569"/>
                  <a:pt x="4512" y="22561"/>
                </a:cubicBezTo>
                <a:lnTo>
                  <a:pt x="4512" y="54147"/>
                </a:lnTo>
                <a:cubicBezTo>
                  <a:pt x="4512" y="59138"/>
                  <a:pt x="8545" y="63171"/>
                  <a:pt x="13537" y="63171"/>
                </a:cubicBezTo>
                <a:lnTo>
                  <a:pt x="20474" y="63171"/>
                </a:lnTo>
                <a:cubicBezTo>
                  <a:pt x="20615" y="63171"/>
                  <a:pt x="20756" y="63171"/>
                  <a:pt x="20897" y="63171"/>
                </a:cubicBezTo>
                <a:lnTo>
                  <a:pt x="45150" y="63171"/>
                </a:lnTo>
                <a:cubicBezTo>
                  <a:pt x="50142" y="63171"/>
                  <a:pt x="54175" y="59138"/>
                  <a:pt x="54175" y="54147"/>
                </a:cubicBezTo>
                <a:cubicBezTo>
                  <a:pt x="54175" y="49155"/>
                  <a:pt x="50142" y="45122"/>
                  <a:pt x="45150" y="45122"/>
                </a:cubicBezTo>
                <a:lnTo>
                  <a:pt x="34349" y="45122"/>
                </a:lnTo>
                <a:cubicBezTo>
                  <a:pt x="43684" y="28935"/>
                  <a:pt x="61197" y="18049"/>
                  <a:pt x="81220" y="18049"/>
                </a:cubicBezTo>
                <a:close/>
                <a:moveTo>
                  <a:pt x="87988" y="42866"/>
                </a:moveTo>
                <a:cubicBezTo>
                  <a:pt x="87988" y="39115"/>
                  <a:pt x="84971" y="36098"/>
                  <a:pt x="81220" y="36098"/>
                </a:cubicBezTo>
                <a:cubicBezTo>
                  <a:pt x="77469" y="36098"/>
                  <a:pt x="74452" y="39115"/>
                  <a:pt x="74452" y="42866"/>
                </a:cubicBezTo>
                <a:lnTo>
                  <a:pt x="74452" y="72195"/>
                </a:lnTo>
                <a:cubicBezTo>
                  <a:pt x="74452" y="74000"/>
                  <a:pt x="75157" y="75721"/>
                  <a:pt x="76426" y="76990"/>
                </a:cubicBezTo>
                <a:lnTo>
                  <a:pt x="96731" y="97295"/>
                </a:lnTo>
                <a:cubicBezTo>
                  <a:pt x="99381" y="99946"/>
                  <a:pt x="103668" y="99946"/>
                  <a:pt x="106291" y="97295"/>
                </a:cubicBezTo>
                <a:cubicBezTo>
                  <a:pt x="108914" y="94644"/>
                  <a:pt x="108942" y="90357"/>
                  <a:pt x="106291" y="87734"/>
                </a:cubicBezTo>
                <a:lnTo>
                  <a:pt x="87960" y="69403"/>
                </a:lnTo>
                <a:lnTo>
                  <a:pt x="87960" y="4286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00557" y="1594433"/>
            <a:ext cx="93854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Lag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018" y="1847077"/>
            <a:ext cx="5369534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score_diff_lag1, score_diff_lag2: evaluación en jugadas previas. Capturan tendencias recientes.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924" y="2316114"/>
            <a:ext cx="5450754" cy="577563"/>
          </a:xfrm>
          <a:custGeom>
            <a:avLst/>
            <a:gdLst/>
            <a:ahLst/>
            <a:cxnLst/>
            <a:rect l="l" t="t" r="r" b="b"/>
            <a:pathLst>
              <a:path w="5450754" h="577563">
                <a:moveTo>
                  <a:pt x="36098" y="0"/>
                </a:moveTo>
                <a:lnTo>
                  <a:pt x="5414656" y="0"/>
                </a:lnTo>
                <a:cubicBezTo>
                  <a:pt x="5434592" y="0"/>
                  <a:pt x="5450754" y="16161"/>
                  <a:pt x="5450754" y="36098"/>
                </a:cubicBezTo>
                <a:lnTo>
                  <a:pt x="5450754" y="541466"/>
                </a:lnTo>
                <a:cubicBezTo>
                  <a:pt x="5450754" y="561402"/>
                  <a:pt x="5434592" y="577563"/>
                  <a:pt x="5414656" y="577563"/>
                </a:cubicBezTo>
                <a:lnTo>
                  <a:pt x="36098" y="577563"/>
                </a:lnTo>
                <a:cubicBezTo>
                  <a:pt x="16161" y="577563"/>
                  <a:pt x="0" y="561402"/>
                  <a:pt x="0" y="541466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066" y="242425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9024" y="9024"/>
                </a:moveTo>
                <a:cubicBezTo>
                  <a:pt x="14016" y="9024"/>
                  <a:pt x="18049" y="13057"/>
                  <a:pt x="18049" y="18049"/>
                </a:cubicBezTo>
                <a:lnTo>
                  <a:pt x="18049" y="112805"/>
                </a:lnTo>
                <a:cubicBezTo>
                  <a:pt x="18049" y="115287"/>
                  <a:pt x="20079" y="117318"/>
                  <a:pt x="22561" y="117318"/>
                </a:cubicBezTo>
                <a:lnTo>
                  <a:pt x="135366" y="117318"/>
                </a:lnTo>
                <a:cubicBezTo>
                  <a:pt x="140358" y="117318"/>
                  <a:pt x="144391" y="121350"/>
                  <a:pt x="144391" y="126342"/>
                </a:cubicBezTo>
                <a:cubicBezTo>
                  <a:pt x="144391" y="131334"/>
                  <a:pt x="140358" y="135366"/>
                  <a:pt x="135366" y="135366"/>
                </a:cubicBezTo>
                <a:lnTo>
                  <a:pt x="22561" y="135366"/>
                </a:lnTo>
                <a:cubicBezTo>
                  <a:pt x="10096" y="135366"/>
                  <a:pt x="0" y="125270"/>
                  <a:pt x="0" y="112805"/>
                </a:cubicBezTo>
                <a:lnTo>
                  <a:pt x="0" y="18049"/>
                </a:lnTo>
                <a:cubicBezTo>
                  <a:pt x="0" y="13057"/>
                  <a:pt x="4033" y="9024"/>
                  <a:pt x="9024" y="9024"/>
                </a:cubicBezTo>
                <a:close/>
                <a:moveTo>
                  <a:pt x="67683" y="27073"/>
                </a:moveTo>
                <a:cubicBezTo>
                  <a:pt x="69573" y="27073"/>
                  <a:pt x="71378" y="27863"/>
                  <a:pt x="72675" y="29273"/>
                </a:cubicBezTo>
                <a:lnTo>
                  <a:pt x="92726" y="51129"/>
                </a:lnTo>
                <a:lnTo>
                  <a:pt x="105755" y="38072"/>
                </a:lnTo>
                <a:cubicBezTo>
                  <a:pt x="108406" y="35421"/>
                  <a:pt x="112693" y="35421"/>
                  <a:pt x="115315" y="38072"/>
                </a:cubicBezTo>
                <a:lnTo>
                  <a:pt x="133364" y="56121"/>
                </a:lnTo>
                <a:cubicBezTo>
                  <a:pt x="134633" y="57390"/>
                  <a:pt x="135338" y="59110"/>
                  <a:pt x="135338" y="60915"/>
                </a:cubicBezTo>
                <a:lnTo>
                  <a:pt x="135338" y="92500"/>
                </a:lnTo>
                <a:cubicBezTo>
                  <a:pt x="135338" y="96251"/>
                  <a:pt x="132321" y="99269"/>
                  <a:pt x="128570" y="99269"/>
                </a:cubicBezTo>
                <a:lnTo>
                  <a:pt x="42838" y="99269"/>
                </a:lnTo>
                <a:cubicBezTo>
                  <a:pt x="39087" y="99269"/>
                  <a:pt x="36070" y="96251"/>
                  <a:pt x="36070" y="92500"/>
                </a:cubicBezTo>
                <a:lnTo>
                  <a:pt x="36070" y="60915"/>
                </a:lnTo>
                <a:cubicBezTo>
                  <a:pt x="36070" y="59223"/>
                  <a:pt x="36718" y="57587"/>
                  <a:pt x="37846" y="56346"/>
                </a:cubicBezTo>
                <a:lnTo>
                  <a:pt x="62663" y="29273"/>
                </a:lnTo>
                <a:cubicBezTo>
                  <a:pt x="63932" y="27863"/>
                  <a:pt x="65766" y="27073"/>
                  <a:pt x="67655" y="2707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00557" y="2388203"/>
            <a:ext cx="116415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Rolling Statistics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018" y="2640852"/>
            <a:ext cx="536953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errors_last_3, errors_last_5, max_error_last_3: estadísticas móviles de ventana.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924" y="2929440"/>
            <a:ext cx="5450754" cy="577563"/>
          </a:xfrm>
          <a:custGeom>
            <a:avLst/>
            <a:gdLst/>
            <a:ahLst/>
            <a:cxnLst/>
            <a:rect l="l" t="t" r="r" b="b"/>
            <a:pathLst>
              <a:path w="5450754" h="577563">
                <a:moveTo>
                  <a:pt x="36098" y="0"/>
                </a:moveTo>
                <a:lnTo>
                  <a:pt x="5414656" y="0"/>
                </a:lnTo>
                <a:cubicBezTo>
                  <a:pt x="5434592" y="0"/>
                  <a:pt x="5450754" y="16161"/>
                  <a:pt x="5450754" y="36098"/>
                </a:cubicBezTo>
                <a:lnTo>
                  <a:pt x="5450754" y="541466"/>
                </a:lnTo>
                <a:cubicBezTo>
                  <a:pt x="5450754" y="561402"/>
                  <a:pt x="5434592" y="577563"/>
                  <a:pt x="5414656" y="577563"/>
                </a:cubicBezTo>
                <a:lnTo>
                  <a:pt x="36098" y="577563"/>
                </a:lnTo>
                <a:cubicBezTo>
                  <a:pt x="16161" y="577563"/>
                  <a:pt x="0" y="561402"/>
                  <a:pt x="0" y="541466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6066" y="303757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0" y="72195"/>
                </a:moveTo>
                <a:cubicBezTo>
                  <a:pt x="0" y="32350"/>
                  <a:pt x="32350" y="0"/>
                  <a:pt x="72195" y="0"/>
                </a:cubicBezTo>
                <a:cubicBezTo>
                  <a:pt x="112041" y="0"/>
                  <a:pt x="144391" y="32350"/>
                  <a:pt x="144391" y="72195"/>
                </a:cubicBezTo>
                <a:cubicBezTo>
                  <a:pt x="144391" y="112041"/>
                  <a:pt x="112041" y="144391"/>
                  <a:pt x="72195" y="144391"/>
                </a:cubicBezTo>
                <a:cubicBezTo>
                  <a:pt x="32350" y="144391"/>
                  <a:pt x="0" y="112041"/>
                  <a:pt x="0" y="72195"/>
                </a:cubicBezTo>
                <a:close/>
                <a:moveTo>
                  <a:pt x="81220" y="27073"/>
                </a:moveTo>
                <a:cubicBezTo>
                  <a:pt x="81220" y="22093"/>
                  <a:pt x="77176" y="18049"/>
                  <a:pt x="72195" y="18049"/>
                </a:cubicBezTo>
                <a:cubicBezTo>
                  <a:pt x="67215" y="18049"/>
                  <a:pt x="63171" y="22093"/>
                  <a:pt x="63171" y="27073"/>
                </a:cubicBezTo>
                <a:cubicBezTo>
                  <a:pt x="63171" y="32054"/>
                  <a:pt x="67215" y="36098"/>
                  <a:pt x="72195" y="36098"/>
                </a:cubicBezTo>
                <a:cubicBezTo>
                  <a:pt x="77176" y="36098"/>
                  <a:pt x="81220" y="32054"/>
                  <a:pt x="81220" y="27073"/>
                </a:cubicBezTo>
                <a:close/>
                <a:moveTo>
                  <a:pt x="72195" y="117318"/>
                </a:moveTo>
                <a:cubicBezTo>
                  <a:pt x="82150" y="117318"/>
                  <a:pt x="90244" y="109224"/>
                  <a:pt x="90244" y="99269"/>
                </a:cubicBezTo>
                <a:cubicBezTo>
                  <a:pt x="90244" y="94700"/>
                  <a:pt x="88552" y="90498"/>
                  <a:pt x="85732" y="87340"/>
                </a:cubicBezTo>
                <a:lnTo>
                  <a:pt x="105332" y="48168"/>
                </a:lnTo>
                <a:cubicBezTo>
                  <a:pt x="106996" y="44812"/>
                  <a:pt x="105642" y="40751"/>
                  <a:pt x="102314" y="39087"/>
                </a:cubicBezTo>
                <a:cubicBezTo>
                  <a:pt x="98987" y="37423"/>
                  <a:pt x="94897" y="38777"/>
                  <a:pt x="93234" y="42105"/>
                </a:cubicBezTo>
                <a:lnTo>
                  <a:pt x="73634" y="81276"/>
                </a:lnTo>
                <a:cubicBezTo>
                  <a:pt x="73154" y="81248"/>
                  <a:pt x="72675" y="81220"/>
                  <a:pt x="72195" y="81220"/>
                </a:cubicBezTo>
                <a:cubicBezTo>
                  <a:pt x="62240" y="81220"/>
                  <a:pt x="54147" y="89314"/>
                  <a:pt x="54147" y="99269"/>
                </a:cubicBezTo>
                <a:cubicBezTo>
                  <a:pt x="54147" y="109224"/>
                  <a:pt x="62240" y="117318"/>
                  <a:pt x="72195" y="117318"/>
                </a:cubicBezTo>
                <a:close/>
                <a:moveTo>
                  <a:pt x="49634" y="40610"/>
                </a:moveTo>
                <a:cubicBezTo>
                  <a:pt x="49634" y="35629"/>
                  <a:pt x="45591" y="31585"/>
                  <a:pt x="40610" y="31585"/>
                </a:cubicBezTo>
                <a:cubicBezTo>
                  <a:pt x="35629" y="31585"/>
                  <a:pt x="31585" y="35629"/>
                  <a:pt x="31585" y="40610"/>
                </a:cubicBezTo>
                <a:cubicBezTo>
                  <a:pt x="31585" y="45591"/>
                  <a:pt x="35629" y="49634"/>
                  <a:pt x="40610" y="49634"/>
                </a:cubicBezTo>
                <a:cubicBezTo>
                  <a:pt x="45591" y="49634"/>
                  <a:pt x="49634" y="45591"/>
                  <a:pt x="49634" y="40610"/>
                </a:cubicBezTo>
                <a:close/>
                <a:moveTo>
                  <a:pt x="27073" y="81220"/>
                </a:moveTo>
                <a:cubicBezTo>
                  <a:pt x="32054" y="81220"/>
                  <a:pt x="36098" y="77176"/>
                  <a:pt x="36098" y="72195"/>
                </a:cubicBezTo>
                <a:cubicBezTo>
                  <a:pt x="36098" y="67215"/>
                  <a:pt x="32054" y="63171"/>
                  <a:pt x="27073" y="63171"/>
                </a:cubicBezTo>
                <a:cubicBezTo>
                  <a:pt x="22093" y="63171"/>
                  <a:pt x="18049" y="67215"/>
                  <a:pt x="18049" y="72195"/>
                </a:cubicBezTo>
                <a:cubicBezTo>
                  <a:pt x="18049" y="77176"/>
                  <a:pt x="22093" y="81220"/>
                  <a:pt x="27073" y="81220"/>
                </a:cubicBezTo>
                <a:close/>
                <a:moveTo>
                  <a:pt x="126342" y="72195"/>
                </a:moveTo>
                <a:cubicBezTo>
                  <a:pt x="126342" y="67215"/>
                  <a:pt x="122298" y="63171"/>
                  <a:pt x="117318" y="63171"/>
                </a:cubicBezTo>
                <a:cubicBezTo>
                  <a:pt x="112337" y="63171"/>
                  <a:pt x="108293" y="67215"/>
                  <a:pt x="108293" y="72195"/>
                </a:cubicBezTo>
                <a:cubicBezTo>
                  <a:pt x="108293" y="77176"/>
                  <a:pt x="112337" y="81220"/>
                  <a:pt x="117318" y="81220"/>
                </a:cubicBezTo>
                <a:cubicBezTo>
                  <a:pt x="122298" y="81220"/>
                  <a:pt x="126342" y="77176"/>
                  <a:pt x="126342" y="7219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00557" y="3001529"/>
            <a:ext cx="73097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Derivadas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018" y="3254178"/>
            <a:ext cx="536953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score_acceleration, score_trend_3, score_volatility: cambio en la tasa de cambio.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924" y="3542762"/>
            <a:ext cx="5450754" cy="577563"/>
          </a:xfrm>
          <a:custGeom>
            <a:avLst/>
            <a:gdLst/>
            <a:ahLst/>
            <a:cxnLst/>
            <a:rect l="l" t="t" r="r" b="b"/>
            <a:pathLst>
              <a:path w="5450754" h="577563">
                <a:moveTo>
                  <a:pt x="36098" y="0"/>
                </a:moveTo>
                <a:lnTo>
                  <a:pt x="5414656" y="0"/>
                </a:lnTo>
                <a:cubicBezTo>
                  <a:pt x="5434592" y="0"/>
                  <a:pt x="5450754" y="16161"/>
                  <a:pt x="5450754" y="36098"/>
                </a:cubicBezTo>
                <a:lnTo>
                  <a:pt x="5450754" y="541466"/>
                </a:lnTo>
                <a:cubicBezTo>
                  <a:pt x="5450754" y="561402"/>
                  <a:pt x="5434592" y="577563"/>
                  <a:pt x="5414656" y="577563"/>
                </a:cubicBezTo>
                <a:lnTo>
                  <a:pt x="36098" y="577563"/>
                </a:lnTo>
                <a:cubicBezTo>
                  <a:pt x="16161" y="577563"/>
                  <a:pt x="0" y="561402"/>
                  <a:pt x="0" y="541466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6066" y="3650905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72195" y="38354"/>
                </a:moveTo>
                <a:cubicBezTo>
                  <a:pt x="75946" y="38354"/>
                  <a:pt x="78964" y="41371"/>
                  <a:pt x="78964" y="45122"/>
                </a:cubicBezTo>
                <a:lnTo>
                  <a:pt x="78964" y="76708"/>
                </a:lnTo>
                <a:cubicBezTo>
                  <a:pt x="78964" y="80458"/>
                  <a:pt x="75946" y="83476"/>
                  <a:pt x="72195" y="83476"/>
                </a:cubicBezTo>
                <a:cubicBezTo>
                  <a:pt x="68445" y="83476"/>
                  <a:pt x="65427" y="80458"/>
                  <a:pt x="65427" y="76708"/>
                </a:cubicBezTo>
                <a:lnTo>
                  <a:pt x="65427" y="45122"/>
                </a:lnTo>
                <a:cubicBezTo>
                  <a:pt x="65427" y="41371"/>
                  <a:pt x="68445" y="38354"/>
                  <a:pt x="72195" y="38354"/>
                </a:cubicBezTo>
                <a:close/>
                <a:moveTo>
                  <a:pt x="64666" y="99269"/>
                </a:moveTo>
                <a:cubicBezTo>
                  <a:pt x="64494" y="96474"/>
                  <a:pt x="65888" y="93815"/>
                  <a:pt x="68284" y="92365"/>
                </a:cubicBezTo>
                <a:cubicBezTo>
                  <a:pt x="70680" y="90916"/>
                  <a:pt x="73682" y="90916"/>
                  <a:pt x="76078" y="92365"/>
                </a:cubicBezTo>
                <a:cubicBezTo>
                  <a:pt x="78474" y="93815"/>
                  <a:pt x="79868" y="96474"/>
                  <a:pt x="79697" y="99269"/>
                </a:cubicBezTo>
                <a:cubicBezTo>
                  <a:pt x="79868" y="102064"/>
                  <a:pt x="78474" y="104723"/>
                  <a:pt x="76078" y="106172"/>
                </a:cubicBezTo>
                <a:cubicBezTo>
                  <a:pt x="73682" y="107621"/>
                  <a:pt x="70680" y="107621"/>
                  <a:pt x="68284" y="106172"/>
                </a:cubicBezTo>
                <a:cubicBezTo>
                  <a:pt x="65888" y="104723"/>
                  <a:pt x="64494" y="102064"/>
                  <a:pt x="64666" y="992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00557" y="3614856"/>
            <a:ext cx="123634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Patrones de Error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018" y="3867504"/>
            <a:ext cx="536953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consecutive_errors, declining_position, momentum_lost: detección de rachas.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3934" y="1085962"/>
            <a:ext cx="5674125" cy="3147286"/>
          </a:xfrm>
          <a:custGeom>
            <a:avLst/>
            <a:gdLst/>
            <a:ahLst/>
            <a:cxnLst/>
            <a:rect l="l" t="t" r="r" b="b"/>
            <a:pathLst>
              <a:path w="5674125" h="3147286">
                <a:moveTo>
                  <a:pt x="72199" y="0"/>
                </a:moveTo>
                <a:lnTo>
                  <a:pt x="5601926" y="0"/>
                </a:lnTo>
                <a:cubicBezTo>
                  <a:pt x="5641801" y="0"/>
                  <a:pt x="5674125" y="32324"/>
                  <a:pt x="5674125" y="72199"/>
                </a:cubicBezTo>
                <a:lnTo>
                  <a:pt x="5674125" y="3075087"/>
                </a:lnTo>
                <a:cubicBezTo>
                  <a:pt x="5674125" y="3114961"/>
                  <a:pt x="5641801" y="3147286"/>
                  <a:pt x="5601926" y="3147286"/>
                </a:cubicBezTo>
                <a:lnTo>
                  <a:pt x="72199" y="3147286"/>
                </a:lnTo>
                <a:cubicBezTo>
                  <a:pt x="32324" y="3147286"/>
                  <a:pt x="0" y="3114961"/>
                  <a:pt x="0" y="3075087"/>
                </a:cubicBezTo>
                <a:lnTo>
                  <a:pt x="0" y="72199"/>
                </a:lnTo>
                <a:cubicBezTo>
                  <a:pt x="0" y="32351"/>
                  <a:pt x="32351" y="0"/>
                  <a:pt x="72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5573" y="1197600"/>
            <a:ext cx="553197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Fase 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82536" y="1522339"/>
            <a:ext cx="5431619" cy="758052"/>
          </a:xfrm>
          <a:custGeom>
            <a:avLst/>
            <a:gdLst/>
            <a:ahLst/>
            <a:cxnLst/>
            <a:rect l="l" t="t" r="r" b="b"/>
            <a:pathLst>
              <a:path w="5431619" h="758052">
                <a:moveTo>
                  <a:pt x="33926" y="0"/>
                </a:moveTo>
                <a:lnTo>
                  <a:pt x="5359422" y="0"/>
                </a:lnTo>
                <a:cubicBezTo>
                  <a:pt x="5399295" y="0"/>
                  <a:pt x="5431619" y="32324"/>
                  <a:pt x="5431619" y="72197"/>
                </a:cubicBezTo>
                <a:lnTo>
                  <a:pt x="5431619" y="685855"/>
                </a:lnTo>
                <a:cubicBezTo>
                  <a:pt x="5431619" y="725728"/>
                  <a:pt x="5399295" y="758052"/>
                  <a:pt x="5359422" y="758052"/>
                </a:cubicBezTo>
                <a:lnTo>
                  <a:pt x="33926" y="758052"/>
                </a:lnTo>
                <a:cubicBezTo>
                  <a:pt x="15189" y="758052"/>
                  <a:pt x="0" y="742862"/>
                  <a:pt x="0" y="724125"/>
                </a:cubicBezTo>
                <a:lnTo>
                  <a:pt x="0" y="33926"/>
                </a:lnTo>
                <a:cubicBezTo>
                  <a:pt x="0" y="15202"/>
                  <a:pt x="15202" y="0"/>
                  <a:pt x="33926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282536" y="1522339"/>
            <a:ext cx="33926" cy="758052"/>
          </a:xfrm>
          <a:custGeom>
            <a:avLst/>
            <a:gdLst/>
            <a:ahLst/>
            <a:cxnLst/>
            <a:rect l="l" t="t" r="r" b="b"/>
            <a:pathLst>
              <a:path w="33926" h="758052">
                <a:moveTo>
                  <a:pt x="33926" y="0"/>
                </a:moveTo>
                <a:lnTo>
                  <a:pt x="33926" y="0"/>
                </a:lnTo>
                <a:lnTo>
                  <a:pt x="33926" y="758052"/>
                </a:lnTo>
                <a:lnTo>
                  <a:pt x="33926" y="758052"/>
                </a:lnTo>
                <a:cubicBezTo>
                  <a:pt x="15189" y="758052"/>
                  <a:pt x="0" y="742862"/>
                  <a:pt x="0" y="724125"/>
                </a:cubicBezTo>
                <a:lnTo>
                  <a:pt x="0" y="33926"/>
                </a:lnTo>
                <a:cubicBezTo>
                  <a:pt x="0" y="15202"/>
                  <a:pt x="15202" y="0"/>
                  <a:pt x="33926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7745" y="1666633"/>
            <a:ext cx="102878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RF Temporal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4581" y="1630588"/>
            <a:ext cx="146195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2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F1=0.9988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7745" y="1991477"/>
            <a:ext cx="526124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+0.68% vs Phase 2 MLP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5573" y="2352264"/>
            <a:ext cx="5450754" cy="397075"/>
          </a:xfrm>
          <a:custGeom>
            <a:avLst/>
            <a:gdLst/>
            <a:ahLst/>
            <a:cxnLst/>
            <a:rect l="l" t="t" r="r" b="b"/>
            <a:pathLst>
              <a:path w="5450754" h="397075">
                <a:moveTo>
                  <a:pt x="36098" y="0"/>
                </a:moveTo>
                <a:lnTo>
                  <a:pt x="5414655" y="0"/>
                </a:lnTo>
                <a:cubicBezTo>
                  <a:pt x="5434592" y="0"/>
                  <a:pt x="5450754" y="16162"/>
                  <a:pt x="5450754" y="36098"/>
                </a:cubicBezTo>
                <a:lnTo>
                  <a:pt x="5450754" y="360977"/>
                </a:lnTo>
                <a:cubicBezTo>
                  <a:pt x="5450754" y="380913"/>
                  <a:pt x="5434592" y="397075"/>
                  <a:pt x="5414655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37666" y="2442275"/>
            <a:ext cx="165147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Secuencias procesadas: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47842" y="2424358"/>
            <a:ext cx="78512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283,048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5573" y="2821085"/>
            <a:ext cx="5450754" cy="397075"/>
          </a:xfrm>
          <a:custGeom>
            <a:avLst/>
            <a:gdLst/>
            <a:ahLst/>
            <a:cxnLst/>
            <a:rect l="l" t="t" r="r" b="b"/>
            <a:pathLst>
              <a:path w="5450754" h="397075">
                <a:moveTo>
                  <a:pt x="36098" y="0"/>
                </a:moveTo>
                <a:lnTo>
                  <a:pt x="5414655" y="0"/>
                </a:lnTo>
                <a:cubicBezTo>
                  <a:pt x="5434592" y="0"/>
                  <a:pt x="5450754" y="16162"/>
                  <a:pt x="5450754" y="36098"/>
                </a:cubicBezTo>
                <a:lnTo>
                  <a:pt x="5450754" y="360977"/>
                </a:lnTo>
                <a:cubicBezTo>
                  <a:pt x="5450754" y="380913"/>
                  <a:pt x="5434592" y="397075"/>
                  <a:pt x="5414655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37666" y="2911096"/>
            <a:ext cx="938540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 size: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78044" y="2893179"/>
            <a:ext cx="115512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 jugadas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5573" y="3289906"/>
            <a:ext cx="5450754" cy="397075"/>
          </a:xfrm>
          <a:custGeom>
            <a:avLst/>
            <a:gdLst/>
            <a:ahLst/>
            <a:cxnLst/>
            <a:rect l="l" t="t" r="r" b="b"/>
            <a:pathLst>
              <a:path w="5450754" h="397075">
                <a:moveTo>
                  <a:pt x="36098" y="0"/>
                </a:moveTo>
                <a:lnTo>
                  <a:pt x="5414655" y="0"/>
                </a:lnTo>
                <a:cubicBezTo>
                  <a:pt x="5434592" y="0"/>
                  <a:pt x="5450754" y="16162"/>
                  <a:pt x="5450754" y="36098"/>
                </a:cubicBezTo>
                <a:lnTo>
                  <a:pt x="5450754" y="360977"/>
                </a:lnTo>
                <a:cubicBezTo>
                  <a:pt x="5450754" y="380913"/>
                  <a:pt x="5434592" y="397075"/>
                  <a:pt x="5414655" y="397075"/>
                </a:cubicBezTo>
                <a:lnTo>
                  <a:pt x="36098" y="397075"/>
                </a:lnTo>
                <a:cubicBezTo>
                  <a:pt x="16162" y="397075"/>
                  <a:pt x="0" y="380913"/>
                  <a:pt x="0" y="360977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37666" y="3379916"/>
            <a:ext cx="147098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temporales: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832174" y="3362000"/>
            <a:ext cx="90244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 nuevas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4285" y="4310560"/>
            <a:ext cx="11467807" cy="1306303"/>
          </a:xfrm>
          <a:custGeom>
            <a:avLst/>
            <a:gdLst/>
            <a:ahLst/>
            <a:cxnLst/>
            <a:rect l="l" t="t" r="r" b="b"/>
            <a:pathLst>
              <a:path w="11467807" h="1306303">
                <a:moveTo>
                  <a:pt x="72199" y="0"/>
                </a:moveTo>
                <a:lnTo>
                  <a:pt x="11395607" y="0"/>
                </a:lnTo>
                <a:cubicBezTo>
                  <a:pt x="11435482" y="0"/>
                  <a:pt x="11467807" y="32325"/>
                  <a:pt x="11467807" y="72199"/>
                </a:cubicBezTo>
                <a:lnTo>
                  <a:pt x="11467807" y="1234103"/>
                </a:lnTo>
                <a:cubicBezTo>
                  <a:pt x="11467807" y="1273978"/>
                  <a:pt x="11435482" y="1306303"/>
                  <a:pt x="11395607" y="1306303"/>
                </a:cubicBezTo>
                <a:lnTo>
                  <a:pt x="72199" y="1306303"/>
                </a:lnTo>
                <a:cubicBezTo>
                  <a:pt x="32325" y="1306303"/>
                  <a:pt x="0" y="1273978"/>
                  <a:pt x="0" y="1234103"/>
                </a:cubicBezTo>
                <a:lnTo>
                  <a:pt x="0" y="72199"/>
                </a:lnTo>
                <a:cubicBezTo>
                  <a:pt x="0" y="32351"/>
                  <a:pt x="32351" y="0"/>
                  <a:pt x="72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924" y="4422198"/>
            <a:ext cx="1132565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Detección de Rachas de Errores (Error Streaks)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5924" y="4746941"/>
            <a:ext cx="2725377" cy="758052"/>
          </a:xfrm>
          <a:custGeom>
            <a:avLst/>
            <a:gdLst/>
            <a:ahLst/>
            <a:cxnLst/>
            <a:rect l="l" t="t" r="r" b="b"/>
            <a:pathLst>
              <a:path w="2725377" h="758052">
                <a:moveTo>
                  <a:pt x="36098" y="0"/>
                </a:moveTo>
                <a:lnTo>
                  <a:pt x="2689278" y="0"/>
                </a:lnTo>
                <a:cubicBezTo>
                  <a:pt x="2709215" y="0"/>
                  <a:pt x="2725377" y="16162"/>
                  <a:pt x="2725377" y="36098"/>
                </a:cubicBezTo>
                <a:lnTo>
                  <a:pt x="2725377" y="721953"/>
                </a:lnTo>
                <a:cubicBezTo>
                  <a:pt x="2725377" y="741890"/>
                  <a:pt x="2709215" y="758052"/>
                  <a:pt x="2689278" y="758052"/>
                </a:cubicBezTo>
                <a:lnTo>
                  <a:pt x="36098" y="758052"/>
                </a:lnTo>
                <a:cubicBezTo>
                  <a:pt x="16162" y="758052"/>
                  <a:pt x="0" y="741890"/>
                  <a:pt x="0" y="72195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16487" y="4855185"/>
            <a:ext cx="264415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2585" y="5216079"/>
            <a:ext cx="25719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en detección de rachas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13232" y="4746941"/>
            <a:ext cx="2725377" cy="758052"/>
          </a:xfrm>
          <a:custGeom>
            <a:avLst/>
            <a:gdLst/>
            <a:ahLst/>
            <a:cxnLst/>
            <a:rect l="l" t="t" r="r" b="b"/>
            <a:pathLst>
              <a:path w="2725377" h="758052">
                <a:moveTo>
                  <a:pt x="36098" y="0"/>
                </a:moveTo>
                <a:lnTo>
                  <a:pt x="2689278" y="0"/>
                </a:lnTo>
                <a:cubicBezTo>
                  <a:pt x="2709215" y="0"/>
                  <a:pt x="2725377" y="16162"/>
                  <a:pt x="2725377" y="36098"/>
                </a:cubicBezTo>
                <a:lnTo>
                  <a:pt x="2725377" y="721953"/>
                </a:lnTo>
                <a:cubicBezTo>
                  <a:pt x="2725377" y="741890"/>
                  <a:pt x="2709215" y="758052"/>
                  <a:pt x="2689278" y="758052"/>
                </a:cubicBezTo>
                <a:lnTo>
                  <a:pt x="36098" y="758052"/>
                </a:lnTo>
                <a:cubicBezTo>
                  <a:pt x="16162" y="758052"/>
                  <a:pt x="0" y="741890"/>
                  <a:pt x="0" y="72195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53796" y="4855185"/>
            <a:ext cx="264415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89894" y="5216079"/>
            <a:ext cx="25719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promedio por racha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50541" y="4746941"/>
            <a:ext cx="2725377" cy="758052"/>
          </a:xfrm>
          <a:custGeom>
            <a:avLst/>
            <a:gdLst/>
            <a:ahLst/>
            <a:cxnLst/>
            <a:rect l="l" t="t" r="r" b="b"/>
            <a:pathLst>
              <a:path w="2725377" h="758052">
                <a:moveTo>
                  <a:pt x="36098" y="0"/>
                </a:moveTo>
                <a:lnTo>
                  <a:pt x="2689278" y="0"/>
                </a:lnTo>
                <a:cubicBezTo>
                  <a:pt x="2709215" y="0"/>
                  <a:pt x="2725377" y="16162"/>
                  <a:pt x="2725377" y="36098"/>
                </a:cubicBezTo>
                <a:lnTo>
                  <a:pt x="2725377" y="721953"/>
                </a:lnTo>
                <a:cubicBezTo>
                  <a:pt x="2725377" y="741890"/>
                  <a:pt x="2709215" y="758052"/>
                  <a:pt x="2689278" y="758052"/>
                </a:cubicBezTo>
                <a:lnTo>
                  <a:pt x="36098" y="758052"/>
                </a:lnTo>
                <a:cubicBezTo>
                  <a:pt x="16162" y="758052"/>
                  <a:pt x="0" y="741890"/>
                  <a:pt x="0" y="72195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91104" y="4855185"/>
            <a:ext cx="264415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7202" y="5216079"/>
            <a:ext cx="25719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Rachas precedidas por time_pressure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87849" y="4746941"/>
            <a:ext cx="2725377" cy="758052"/>
          </a:xfrm>
          <a:custGeom>
            <a:avLst/>
            <a:gdLst/>
            <a:ahLst/>
            <a:cxnLst/>
            <a:rect l="l" t="t" r="r" b="b"/>
            <a:pathLst>
              <a:path w="2725377" h="758052">
                <a:moveTo>
                  <a:pt x="36098" y="0"/>
                </a:moveTo>
                <a:lnTo>
                  <a:pt x="2689278" y="0"/>
                </a:lnTo>
                <a:cubicBezTo>
                  <a:pt x="2709215" y="0"/>
                  <a:pt x="2725377" y="16162"/>
                  <a:pt x="2725377" y="36098"/>
                </a:cubicBezTo>
                <a:lnTo>
                  <a:pt x="2725377" y="721953"/>
                </a:lnTo>
                <a:cubicBezTo>
                  <a:pt x="2725377" y="741890"/>
                  <a:pt x="2709215" y="758052"/>
                  <a:pt x="2689278" y="758052"/>
                </a:cubicBezTo>
                <a:lnTo>
                  <a:pt x="36098" y="758052"/>
                </a:lnTo>
                <a:cubicBezTo>
                  <a:pt x="16162" y="758052"/>
                  <a:pt x="0" y="741890"/>
                  <a:pt x="0" y="72195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028413" y="4855185"/>
            <a:ext cx="264415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2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64510" y="5216079"/>
            <a:ext cx="25719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Rachas en endgame phase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64285" y="5695290"/>
            <a:ext cx="11467807" cy="800935"/>
          </a:xfrm>
          <a:custGeom>
            <a:avLst/>
            <a:gdLst/>
            <a:ahLst/>
            <a:cxnLst/>
            <a:rect l="l" t="t" r="r" b="b"/>
            <a:pathLst>
              <a:path w="11467807" h="800935">
                <a:moveTo>
                  <a:pt x="72196" y="0"/>
                </a:moveTo>
                <a:lnTo>
                  <a:pt x="11395610" y="0"/>
                </a:lnTo>
                <a:cubicBezTo>
                  <a:pt x="11435483" y="0"/>
                  <a:pt x="11467807" y="32323"/>
                  <a:pt x="11467807" y="72196"/>
                </a:cubicBezTo>
                <a:lnTo>
                  <a:pt x="11467807" y="728739"/>
                </a:lnTo>
                <a:cubicBezTo>
                  <a:pt x="11467807" y="768611"/>
                  <a:pt x="11435483" y="800935"/>
                  <a:pt x="11395610" y="800935"/>
                </a:cubicBezTo>
                <a:lnTo>
                  <a:pt x="72196" y="800935"/>
                </a:lnTo>
                <a:cubicBezTo>
                  <a:pt x="32350" y="800935"/>
                  <a:pt x="0" y="768585"/>
                  <a:pt x="0" y="728739"/>
                </a:cubicBezTo>
                <a:lnTo>
                  <a:pt x="0" y="72196"/>
                </a:lnTo>
                <a:cubicBezTo>
                  <a:pt x="0" y="32323"/>
                  <a:pt x="32323" y="0"/>
                  <a:pt x="72196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3363" y="5987372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50762" y="23689"/>
                </a:moveTo>
                <a:cubicBezTo>
                  <a:pt x="50762" y="10618"/>
                  <a:pt x="61380" y="0"/>
                  <a:pt x="74452" y="0"/>
                </a:cubicBezTo>
                <a:lnTo>
                  <a:pt x="84604" y="0"/>
                </a:lnTo>
                <a:cubicBezTo>
                  <a:pt x="92091" y="0"/>
                  <a:pt x="98141" y="6049"/>
                  <a:pt x="98141" y="13537"/>
                </a:cubicBezTo>
                <a:lnTo>
                  <a:pt x="98141" y="203050"/>
                </a:lnTo>
                <a:cubicBezTo>
                  <a:pt x="98141" y="210537"/>
                  <a:pt x="92091" y="216586"/>
                  <a:pt x="84604" y="216586"/>
                </a:cubicBezTo>
                <a:lnTo>
                  <a:pt x="71067" y="216586"/>
                </a:lnTo>
                <a:cubicBezTo>
                  <a:pt x="58461" y="216586"/>
                  <a:pt x="47844" y="207957"/>
                  <a:pt x="44840" y="196281"/>
                </a:cubicBezTo>
                <a:cubicBezTo>
                  <a:pt x="44544" y="196281"/>
                  <a:pt x="44290" y="196281"/>
                  <a:pt x="43994" y="196281"/>
                </a:cubicBezTo>
                <a:cubicBezTo>
                  <a:pt x="25297" y="196281"/>
                  <a:pt x="10152" y="181137"/>
                  <a:pt x="10152" y="162440"/>
                </a:cubicBezTo>
                <a:cubicBezTo>
                  <a:pt x="10152" y="154825"/>
                  <a:pt x="12691" y="147803"/>
                  <a:pt x="16921" y="142135"/>
                </a:cubicBezTo>
                <a:cubicBezTo>
                  <a:pt x="8714" y="135959"/>
                  <a:pt x="3384" y="126145"/>
                  <a:pt x="3384" y="115061"/>
                </a:cubicBezTo>
                <a:cubicBezTo>
                  <a:pt x="3384" y="101990"/>
                  <a:pt x="10829" y="90611"/>
                  <a:pt x="21659" y="84985"/>
                </a:cubicBezTo>
                <a:cubicBezTo>
                  <a:pt x="18655" y="79908"/>
                  <a:pt x="16921" y="73986"/>
                  <a:pt x="16921" y="67683"/>
                </a:cubicBezTo>
                <a:cubicBezTo>
                  <a:pt x="16921" y="48986"/>
                  <a:pt x="32065" y="33842"/>
                  <a:pt x="50762" y="33842"/>
                </a:cubicBezTo>
                <a:lnTo>
                  <a:pt x="50762" y="23689"/>
                </a:lnTo>
                <a:close/>
                <a:moveTo>
                  <a:pt x="165824" y="23689"/>
                </a:moveTo>
                <a:lnTo>
                  <a:pt x="165824" y="33842"/>
                </a:lnTo>
                <a:cubicBezTo>
                  <a:pt x="184521" y="33842"/>
                  <a:pt x="199665" y="48986"/>
                  <a:pt x="199665" y="67683"/>
                </a:cubicBezTo>
                <a:cubicBezTo>
                  <a:pt x="199665" y="74028"/>
                  <a:pt x="197931" y="79951"/>
                  <a:pt x="194928" y="84985"/>
                </a:cubicBezTo>
                <a:cubicBezTo>
                  <a:pt x="205799" y="90611"/>
                  <a:pt x="213202" y="101948"/>
                  <a:pt x="213202" y="115061"/>
                </a:cubicBezTo>
                <a:cubicBezTo>
                  <a:pt x="213202" y="126145"/>
                  <a:pt x="207872" y="135959"/>
                  <a:pt x="199665" y="142135"/>
                </a:cubicBezTo>
                <a:cubicBezTo>
                  <a:pt x="203896" y="147803"/>
                  <a:pt x="206434" y="154825"/>
                  <a:pt x="206434" y="162440"/>
                </a:cubicBezTo>
                <a:cubicBezTo>
                  <a:pt x="206434" y="181137"/>
                  <a:pt x="191290" y="196281"/>
                  <a:pt x="172592" y="196281"/>
                </a:cubicBezTo>
                <a:cubicBezTo>
                  <a:pt x="172296" y="196281"/>
                  <a:pt x="172042" y="196281"/>
                  <a:pt x="171746" y="196281"/>
                </a:cubicBezTo>
                <a:cubicBezTo>
                  <a:pt x="168743" y="207957"/>
                  <a:pt x="158125" y="216586"/>
                  <a:pt x="145519" y="216586"/>
                </a:cubicBezTo>
                <a:lnTo>
                  <a:pt x="131982" y="216586"/>
                </a:lnTo>
                <a:cubicBezTo>
                  <a:pt x="124495" y="216586"/>
                  <a:pt x="118446" y="210537"/>
                  <a:pt x="118446" y="203050"/>
                </a:cubicBezTo>
                <a:lnTo>
                  <a:pt x="118446" y="13537"/>
                </a:lnTo>
                <a:cubicBezTo>
                  <a:pt x="118446" y="6049"/>
                  <a:pt x="124495" y="0"/>
                  <a:pt x="131982" y="0"/>
                </a:cubicBezTo>
                <a:lnTo>
                  <a:pt x="142135" y="0"/>
                </a:lnTo>
                <a:cubicBezTo>
                  <a:pt x="155206" y="0"/>
                  <a:pt x="165824" y="10618"/>
                  <a:pt x="165824" y="2368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755817" y="5806928"/>
            <a:ext cx="1103687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 Clave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5817" y="6023527"/>
            <a:ext cx="11027849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features temporales capturan información que los features estáticos no pueden: el contexto histórico de una decisión es tan importante como el estado actual. Una mala decisión no ocurre en aislamiento, sino que frecuentemente precede a más malas decisiones debido a la presión acumulada.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1" y="346640"/>
            <a:ext cx="1613742" cy="17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spc="54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4 - Clustering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241" y="612416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 No Supervisada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440" y="1023825"/>
            <a:ext cx="5698266" cy="3103318"/>
          </a:xfrm>
          <a:custGeom>
            <a:avLst/>
            <a:gdLst/>
            <a:ahLst/>
            <a:cxnLst/>
            <a:rect l="l" t="t" r="r" b="b"/>
            <a:pathLst>
              <a:path w="5698266" h="3103318">
                <a:moveTo>
                  <a:pt x="68056" y="0"/>
                </a:moveTo>
                <a:lnTo>
                  <a:pt x="5630210" y="0"/>
                </a:lnTo>
                <a:cubicBezTo>
                  <a:pt x="5667796" y="0"/>
                  <a:pt x="5698266" y="30470"/>
                  <a:pt x="5698266" y="68056"/>
                </a:cubicBezTo>
                <a:lnTo>
                  <a:pt x="5698266" y="3035262"/>
                </a:lnTo>
                <a:cubicBezTo>
                  <a:pt x="5698266" y="3072849"/>
                  <a:pt x="5667796" y="3103318"/>
                  <a:pt x="5630210" y="3103318"/>
                </a:cubicBezTo>
                <a:lnTo>
                  <a:pt x="68056" y="3103318"/>
                </a:lnTo>
                <a:cubicBezTo>
                  <a:pt x="30470" y="3103318"/>
                  <a:pt x="0" y="3072849"/>
                  <a:pt x="0" y="3035262"/>
                </a:cubicBezTo>
                <a:lnTo>
                  <a:pt x="0" y="68056"/>
                </a:lnTo>
                <a:cubicBezTo>
                  <a:pt x="0" y="30470"/>
                  <a:pt x="30470" y="0"/>
                  <a:pt x="6805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690" y="1129075"/>
            <a:ext cx="556424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Metodología K-Means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690" y="1469217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561338" y="1520190"/>
            <a:ext cx="11060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16" y="1435231"/>
            <a:ext cx="340321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16" y="1639436"/>
            <a:ext cx="339470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StandardScaler obligatorio para K-Means (sensible a escalas)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690" y="1911510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51242" y="1962483"/>
            <a:ext cx="12762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16" y="1877523"/>
            <a:ext cx="268002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Dimensionalidad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16" y="2081728"/>
            <a:ext cx="267152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PCA: 4 componentes (72.3% varianza explicada)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690" y="2353802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9743" y="2404780"/>
            <a:ext cx="12762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16" y="2319816"/>
            <a:ext cx="279063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16" y="2524021"/>
            <a:ext cx="278212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 del codo + Silhouette score = K=2 óptimo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690" y="2796095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49843" y="2847073"/>
            <a:ext cx="12762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16" y="2762113"/>
            <a:ext cx="249285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16" y="2966318"/>
            <a:ext cx="248434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 con K=2, n_init=10 para estabilidad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49727" y="1023825"/>
            <a:ext cx="5698266" cy="3103318"/>
          </a:xfrm>
          <a:custGeom>
            <a:avLst/>
            <a:gdLst/>
            <a:ahLst/>
            <a:cxnLst/>
            <a:rect l="l" t="t" r="r" b="b"/>
            <a:pathLst>
              <a:path w="5698266" h="3103318">
                <a:moveTo>
                  <a:pt x="68056" y="0"/>
                </a:moveTo>
                <a:lnTo>
                  <a:pt x="5630210" y="0"/>
                </a:lnTo>
                <a:cubicBezTo>
                  <a:pt x="5667796" y="0"/>
                  <a:pt x="5698266" y="30470"/>
                  <a:pt x="5698266" y="68056"/>
                </a:cubicBezTo>
                <a:lnTo>
                  <a:pt x="5698266" y="3035262"/>
                </a:lnTo>
                <a:cubicBezTo>
                  <a:pt x="5698266" y="3072849"/>
                  <a:pt x="5667796" y="3103318"/>
                  <a:pt x="5630210" y="3103318"/>
                </a:cubicBezTo>
                <a:lnTo>
                  <a:pt x="68056" y="3103318"/>
                </a:lnTo>
                <a:cubicBezTo>
                  <a:pt x="30470" y="3103318"/>
                  <a:pt x="0" y="3072849"/>
                  <a:pt x="0" y="3035262"/>
                </a:cubicBezTo>
                <a:lnTo>
                  <a:pt x="0" y="68056"/>
                </a:lnTo>
                <a:cubicBezTo>
                  <a:pt x="0" y="30470"/>
                  <a:pt x="30470" y="0"/>
                  <a:pt x="6805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978" y="1129075"/>
            <a:ext cx="556424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de Comportamiento (7)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4978" y="1435231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22946" y="1503199"/>
            <a:ext cx="112305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standardized_elo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512733" y="1537182"/>
            <a:ext cx="153144" cy="136128"/>
          </a:xfrm>
          <a:custGeom>
            <a:avLst/>
            <a:gdLst/>
            <a:ahLst/>
            <a:cxnLst/>
            <a:rect l="l" t="t" r="r" b="b"/>
            <a:pathLst>
              <a:path w="153144" h="136128">
                <a:moveTo>
                  <a:pt x="82289" y="-5025"/>
                </a:moveTo>
                <a:cubicBezTo>
                  <a:pt x="81198" y="-7152"/>
                  <a:pt x="78992" y="-8508"/>
                  <a:pt x="76599" y="-8508"/>
                </a:cubicBezTo>
                <a:cubicBezTo>
                  <a:pt x="74206" y="-8508"/>
                  <a:pt x="71999" y="-7152"/>
                  <a:pt x="70909" y="-5025"/>
                </a:cubicBezTo>
                <a:lnTo>
                  <a:pt x="51341" y="33314"/>
                </a:lnTo>
                <a:lnTo>
                  <a:pt x="8827" y="40067"/>
                </a:lnTo>
                <a:cubicBezTo>
                  <a:pt x="6461" y="40440"/>
                  <a:pt x="4493" y="42115"/>
                  <a:pt x="3749" y="44401"/>
                </a:cubicBezTo>
                <a:cubicBezTo>
                  <a:pt x="3004" y="46688"/>
                  <a:pt x="3616" y="49187"/>
                  <a:pt x="5291" y="50889"/>
                </a:cubicBezTo>
                <a:lnTo>
                  <a:pt x="35707" y="81331"/>
                </a:lnTo>
                <a:lnTo>
                  <a:pt x="29007" y="123845"/>
                </a:lnTo>
                <a:cubicBezTo>
                  <a:pt x="28635" y="126211"/>
                  <a:pt x="29619" y="128604"/>
                  <a:pt x="31559" y="130013"/>
                </a:cubicBezTo>
                <a:cubicBezTo>
                  <a:pt x="33500" y="131422"/>
                  <a:pt x="36053" y="131635"/>
                  <a:pt x="38206" y="130545"/>
                </a:cubicBezTo>
                <a:lnTo>
                  <a:pt x="76599" y="111030"/>
                </a:lnTo>
                <a:lnTo>
                  <a:pt x="114965" y="130545"/>
                </a:lnTo>
                <a:cubicBezTo>
                  <a:pt x="117092" y="131635"/>
                  <a:pt x="119671" y="131422"/>
                  <a:pt x="121612" y="130013"/>
                </a:cubicBezTo>
                <a:cubicBezTo>
                  <a:pt x="123552" y="128604"/>
                  <a:pt x="124536" y="126238"/>
                  <a:pt x="124164" y="123845"/>
                </a:cubicBezTo>
                <a:lnTo>
                  <a:pt x="117437" y="81331"/>
                </a:lnTo>
                <a:lnTo>
                  <a:pt x="147854" y="50889"/>
                </a:lnTo>
                <a:cubicBezTo>
                  <a:pt x="149555" y="49187"/>
                  <a:pt x="150140" y="46688"/>
                  <a:pt x="149396" y="44401"/>
                </a:cubicBezTo>
                <a:cubicBezTo>
                  <a:pt x="148651" y="42115"/>
                  <a:pt x="146710" y="40440"/>
                  <a:pt x="144317" y="40067"/>
                </a:cubicBezTo>
                <a:lnTo>
                  <a:pt x="101830" y="33314"/>
                </a:lnTo>
                <a:lnTo>
                  <a:pt x="82289" y="-502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254978" y="1809355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22946" y="1877324"/>
            <a:ext cx="85931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blunder_rate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521241" y="1911310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71973" y="0"/>
                  <a:pt x="75562" y="2154"/>
                  <a:pt x="77423" y="5583"/>
                </a:cubicBezTo>
                <a:lnTo>
                  <a:pt x="134852" y="111934"/>
                </a:lnTo>
                <a:cubicBezTo>
                  <a:pt x="136634" y="115231"/>
                  <a:pt x="136554" y="119219"/>
                  <a:pt x="134639" y="122436"/>
                </a:cubicBezTo>
                <a:cubicBezTo>
                  <a:pt x="132725" y="125653"/>
                  <a:pt x="129242" y="127620"/>
                  <a:pt x="125493" y="127620"/>
                </a:cubicBezTo>
                <a:lnTo>
                  <a:pt x="10635" y="127620"/>
                </a:lnTo>
                <a:cubicBezTo>
                  <a:pt x="6886" y="127620"/>
                  <a:pt x="3430" y="125653"/>
                  <a:pt x="1489" y="122436"/>
                </a:cubicBezTo>
                <a:cubicBezTo>
                  <a:pt x="-452" y="119219"/>
                  <a:pt x="-505" y="115231"/>
                  <a:pt x="1276" y="111934"/>
                </a:cubicBezTo>
                <a:lnTo>
                  <a:pt x="58705" y="5583"/>
                </a:lnTo>
                <a:cubicBezTo>
                  <a:pt x="60567" y="2154"/>
                  <a:pt x="64156" y="0"/>
                  <a:pt x="68064" y="0"/>
                </a:cubicBezTo>
                <a:close/>
                <a:moveTo>
                  <a:pt x="68064" y="44667"/>
                </a:moveTo>
                <a:cubicBezTo>
                  <a:pt x="64528" y="44667"/>
                  <a:pt x="61683" y="47512"/>
                  <a:pt x="61683" y="51048"/>
                </a:cubicBezTo>
                <a:lnTo>
                  <a:pt x="61683" y="80826"/>
                </a:lnTo>
                <a:cubicBezTo>
                  <a:pt x="61683" y="84362"/>
                  <a:pt x="64528" y="87207"/>
                  <a:pt x="68064" y="87207"/>
                </a:cubicBezTo>
                <a:cubicBezTo>
                  <a:pt x="71600" y="87207"/>
                  <a:pt x="74445" y="84362"/>
                  <a:pt x="74445" y="80826"/>
                </a:cubicBezTo>
                <a:lnTo>
                  <a:pt x="74445" y="51048"/>
                </a:lnTo>
                <a:cubicBezTo>
                  <a:pt x="74445" y="47512"/>
                  <a:pt x="71600" y="44667"/>
                  <a:pt x="68064" y="44667"/>
                </a:cubicBezTo>
                <a:close/>
                <a:moveTo>
                  <a:pt x="75163" y="102096"/>
                </a:moveTo>
                <a:cubicBezTo>
                  <a:pt x="75325" y="99461"/>
                  <a:pt x="74010" y="96954"/>
                  <a:pt x="71752" y="95588"/>
                </a:cubicBezTo>
                <a:cubicBezTo>
                  <a:pt x="69493" y="94222"/>
                  <a:pt x="66662" y="94222"/>
                  <a:pt x="64403" y="95588"/>
                </a:cubicBezTo>
                <a:cubicBezTo>
                  <a:pt x="62144" y="96954"/>
                  <a:pt x="60830" y="99461"/>
                  <a:pt x="60992" y="102096"/>
                </a:cubicBezTo>
                <a:cubicBezTo>
                  <a:pt x="60830" y="104731"/>
                  <a:pt x="62144" y="107238"/>
                  <a:pt x="64403" y="108605"/>
                </a:cubicBezTo>
                <a:cubicBezTo>
                  <a:pt x="66662" y="109971"/>
                  <a:pt x="69493" y="109971"/>
                  <a:pt x="71752" y="108605"/>
                </a:cubicBezTo>
                <a:cubicBezTo>
                  <a:pt x="74010" y="107238"/>
                  <a:pt x="75325" y="104731"/>
                  <a:pt x="75163" y="10209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54978" y="2183480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22946" y="2251449"/>
            <a:ext cx="85931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mistake_rate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521241" y="2285435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44401" y="44401"/>
                </a:moveTo>
                <a:cubicBezTo>
                  <a:pt x="46900" y="41902"/>
                  <a:pt x="50942" y="41902"/>
                  <a:pt x="53414" y="44401"/>
                </a:cubicBezTo>
                <a:lnTo>
                  <a:pt x="68038" y="59024"/>
                </a:lnTo>
                <a:lnTo>
                  <a:pt x="82661" y="44401"/>
                </a:lnTo>
                <a:cubicBezTo>
                  <a:pt x="85160" y="41902"/>
                  <a:pt x="89201" y="41902"/>
                  <a:pt x="91674" y="44401"/>
                </a:cubicBezTo>
                <a:cubicBezTo>
                  <a:pt x="94147" y="46900"/>
                  <a:pt x="94173" y="50942"/>
                  <a:pt x="91674" y="53414"/>
                </a:cubicBezTo>
                <a:lnTo>
                  <a:pt x="77051" y="68038"/>
                </a:lnTo>
                <a:lnTo>
                  <a:pt x="91674" y="82661"/>
                </a:lnTo>
                <a:cubicBezTo>
                  <a:pt x="94173" y="85160"/>
                  <a:pt x="94173" y="89201"/>
                  <a:pt x="91674" y="91674"/>
                </a:cubicBezTo>
                <a:cubicBezTo>
                  <a:pt x="89175" y="94147"/>
                  <a:pt x="85133" y="94173"/>
                  <a:pt x="82661" y="91674"/>
                </a:cubicBezTo>
                <a:lnTo>
                  <a:pt x="68038" y="77051"/>
                </a:lnTo>
                <a:lnTo>
                  <a:pt x="53414" y="91674"/>
                </a:lnTo>
                <a:cubicBezTo>
                  <a:pt x="50915" y="94173"/>
                  <a:pt x="46874" y="94173"/>
                  <a:pt x="44401" y="91674"/>
                </a:cubicBezTo>
                <a:cubicBezTo>
                  <a:pt x="41929" y="89175"/>
                  <a:pt x="41902" y="85133"/>
                  <a:pt x="44401" y="82661"/>
                </a:cubicBezTo>
                <a:lnTo>
                  <a:pt x="59024" y="68038"/>
                </a:lnTo>
                <a:lnTo>
                  <a:pt x="44401" y="53414"/>
                </a:lnTo>
                <a:cubicBezTo>
                  <a:pt x="41902" y="50915"/>
                  <a:pt x="41902" y="46874"/>
                  <a:pt x="44401" y="4440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6254978" y="2557609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22946" y="2625573"/>
            <a:ext cx="104648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inaccuracy_rate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521241" y="2659560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44667" y="61683"/>
                </a:moveTo>
                <a:lnTo>
                  <a:pt x="91461" y="61683"/>
                </a:lnTo>
                <a:cubicBezTo>
                  <a:pt x="94997" y="61683"/>
                  <a:pt x="97842" y="64528"/>
                  <a:pt x="97842" y="68064"/>
                </a:cubicBezTo>
                <a:cubicBezTo>
                  <a:pt x="97842" y="71600"/>
                  <a:pt x="94997" y="74445"/>
                  <a:pt x="91461" y="74445"/>
                </a:cubicBezTo>
                <a:lnTo>
                  <a:pt x="44667" y="74445"/>
                </a:lnTo>
                <a:cubicBezTo>
                  <a:pt x="41131" y="74445"/>
                  <a:pt x="38286" y="71600"/>
                  <a:pt x="38286" y="68064"/>
                </a:cubicBezTo>
                <a:cubicBezTo>
                  <a:pt x="38286" y="64528"/>
                  <a:pt x="41131" y="61683"/>
                  <a:pt x="44667" y="6168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6254978" y="2931733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22946" y="2999702"/>
            <a:ext cx="102947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avg_complexity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521241" y="3033684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0" y="21270"/>
                </a:moveTo>
                <a:cubicBezTo>
                  <a:pt x="0" y="14224"/>
                  <a:pt x="5716" y="8508"/>
                  <a:pt x="12762" y="8508"/>
                </a:cubicBezTo>
                <a:lnTo>
                  <a:pt x="38286" y="8508"/>
                </a:lnTo>
                <a:cubicBezTo>
                  <a:pt x="45332" y="8508"/>
                  <a:pt x="51048" y="14224"/>
                  <a:pt x="51048" y="21270"/>
                </a:cubicBezTo>
                <a:lnTo>
                  <a:pt x="51048" y="25524"/>
                </a:lnTo>
                <a:lnTo>
                  <a:pt x="85080" y="25524"/>
                </a:lnTo>
                <a:lnTo>
                  <a:pt x="85080" y="21270"/>
                </a:lnTo>
                <a:cubicBezTo>
                  <a:pt x="85080" y="14224"/>
                  <a:pt x="90797" y="8508"/>
                  <a:pt x="97842" y="8508"/>
                </a:cubicBezTo>
                <a:lnTo>
                  <a:pt x="123366" y="8508"/>
                </a:lnTo>
                <a:cubicBezTo>
                  <a:pt x="130412" y="8508"/>
                  <a:pt x="136128" y="14224"/>
                  <a:pt x="136128" y="21270"/>
                </a:cubicBezTo>
                <a:lnTo>
                  <a:pt x="136128" y="46794"/>
                </a:lnTo>
                <a:cubicBezTo>
                  <a:pt x="136128" y="53840"/>
                  <a:pt x="130412" y="59556"/>
                  <a:pt x="123366" y="59556"/>
                </a:cubicBezTo>
                <a:lnTo>
                  <a:pt x="97842" y="59556"/>
                </a:lnTo>
                <a:cubicBezTo>
                  <a:pt x="90797" y="59556"/>
                  <a:pt x="85080" y="53840"/>
                  <a:pt x="85080" y="46794"/>
                </a:cubicBezTo>
                <a:lnTo>
                  <a:pt x="85080" y="42540"/>
                </a:lnTo>
                <a:lnTo>
                  <a:pt x="51048" y="42540"/>
                </a:lnTo>
                <a:lnTo>
                  <a:pt x="51048" y="46794"/>
                </a:lnTo>
                <a:cubicBezTo>
                  <a:pt x="51048" y="48735"/>
                  <a:pt x="50596" y="50596"/>
                  <a:pt x="49825" y="52245"/>
                </a:cubicBezTo>
                <a:lnTo>
                  <a:pt x="68064" y="76572"/>
                </a:lnTo>
                <a:lnTo>
                  <a:pt x="89334" y="76572"/>
                </a:lnTo>
                <a:cubicBezTo>
                  <a:pt x="96380" y="76572"/>
                  <a:pt x="102096" y="82289"/>
                  <a:pt x="102096" y="89334"/>
                </a:cubicBezTo>
                <a:lnTo>
                  <a:pt x="102096" y="114858"/>
                </a:lnTo>
                <a:cubicBezTo>
                  <a:pt x="102096" y="121904"/>
                  <a:pt x="96380" y="127620"/>
                  <a:pt x="89334" y="127620"/>
                </a:cubicBezTo>
                <a:lnTo>
                  <a:pt x="63810" y="127620"/>
                </a:lnTo>
                <a:cubicBezTo>
                  <a:pt x="56764" y="127620"/>
                  <a:pt x="51048" y="121904"/>
                  <a:pt x="51048" y="114858"/>
                </a:cubicBezTo>
                <a:lnTo>
                  <a:pt x="51048" y="89334"/>
                </a:lnTo>
                <a:cubicBezTo>
                  <a:pt x="51048" y="87393"/>
                  <a:pt x="51500" y="85532"/>
                  <a:pt x="52271" y="83884"/>
                </a:cubicBezTo>
                <a:lnTo>
                  <a:pt x="34032" y="59556"/>
                </a:lnTo>
                <a:lnTo>
                  <a:pt x="12762" y="59556"/>
                </a:lnTo>
                <a:cubicBezTo>
                  <a:pt x="5716" y="59556"/>
                  <a:pt x="0" y="53840"/>
                  <a:pt x="0" y="46794"/>
                </a:cubicBezTo>
                <a:lnTo>
                  <a:pt x="0" y="2127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6254978" y="3305858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22946" y="3373827"/>
            <a:ext cx="62959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avg_time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521241" y="3407809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0"/>
                </a:moveTo>
                <a:cubicBezTo>
                  <a:pt x="105630" y="0"/>
                  <a:pt x="136128" y="30499"/>
                  <a:pt x="136128" y="68064"/>
                </a:cubicBezTo>
                <a:cubicBezTo>
                  <a:pt x="136128" y="105630"/>
                  <a:pt x="105630" y="136128"/>
                  <a:pt x="68064" y="136128"/>
                </a:cubicBezTo>
                <a:cubicBezTo>
                  <a:pt x="30499" y="136128"/>
                  <a:pt x="0" y="105630"/>
                  <a:pt x="0" y="68064"/>
                </a:cubicBezTo>
                <a:cubicBezTo>
                  <a:pt x="0" y="30499"/>
                  <a:pt x="30499" y="0"/>
                  <a:pt x="68064" y="0"/>
                </a:cubicBezTo>
                <a:close/>
                <a:moveTo>
                  <a:pt x="61683" y="31905"/>
                </a:moveTo>
                <a:lnTo>
                  <a:pt x="61683" y="68064"/>
                </a:lnTo>
                <a:cubicBezTo>
                  <a:pt x="61683" y="70191"/>
                  <a:pt x="62747" y="72185"/>
                  <a:pt x="64528" y="73382"/>
                </a:cubicBezTo>
                <a:lnTo>
                  <a:pt x="90052" y="90398"/>
                </a:lnTo>
                <a:cubicBezTo>
                  <a:pt x="92977" y="92365"/>
                  <a:pt x="96938" y="91568"/>
                  <a:pt x="98906" y="88616"/>
                </a:cubicBezTo>
                <a:cubicBezTo>
                  <a:pt x="100873" y="85665"/>
                  <a:pt x="100076" y="81730"/>
                  <a:pt x="97124" y="79763"/>
                </a:cubicBezTo>
                <a:lnTo>
                  <a:pt x="74445" y="64661"/>
                </a:lnTo>
                <a:lnTo>
                  <a:pt x="74445" y="31905"/>
                </a:lnTo>
                <a:cubicBezTo>
                  <a:pt x="74445" y="28369"/>
                  <a:pt x="71600" y="25524"/>
                  <a:pt x="68064" y="25524"/>
                </a:cubicBezTo>
                <a:cubicBezTo>
                  <a:pt x="64528" y="25524"/>
                  <a:pt x="61683" y="28369"/>
                  <a:pt x="61683" y="3190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6254978" y="3679983"/>
            <a:ext cx="5487676" cy="340321"/>
          </a:xfrm>
          <a:custGeom>
            <a:avLst/>
            <a:gdLst/>
            <a:ahLst/>
            <a:cxnLst/>
            <a:rect l="l" t="t" r="r" b="b"/>
            <a:pathLst>
              <a:path w="5487676" h="340321">
                <a:moveTo>
                  <a:pt x="34032" y="0"/>
                </a:moveTo>
                <a:lnTo>
                  <a:pt x="5453644" y="0"/>
                </a:lnTo>
                <a:cubicBezTo>
                  <a:pt x="5472440" y="0"/>
                  <a:pt x="5487676" y="15237"/>
                  <a:pt x="5487676" y="34032"/>
                </a:cubicBezTo>
                <a:lnTo>
                  <a:pt x="5487676" y="306289"/>
                </a:lnTo>
                <a:cubicBezTo>
                  <a:pt x="5487676" y="325084"/>
                  <a:pt x="5472440" y="340321"/>
                  <a:pt x="5453644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22946" y="3747951"/>
            <a:ext cx="98693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score_volatility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521241" y="3781933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17016" y="17016"/>
                </a:moveTo>
                <a:cubicBezTo>
                  <a:pt x="17016" y="12310"/>
                  <a:pt x="13214" y="8508"/>
                  <a:pt x="8508" y="8508"/>
                </a:cubicBezTo>
                <a:cubicBezTo>
                  <a:pt x="3802" y="8508"/>
                  <a:pt x="0" y="12310"/>
                  <a:pt x="0" y="17016"/>
                </a:cubicBezTo>
                <a:lnTo>
                  <a:pt x="0" y="106350"/>
                </a:lnTo>
                <a:cubicBezTo>
                  <a:pt x="0" y="118102"/>
                  <a:pt x="9518" y="127620"/>
                  <a:pt x="21270" y="127620"/>
                </a:cubicBezTo>
                <a:lnTo>
                  <a:pt x="127620" y="127620"/>
                </a:lnTo>
                <a:cubicBezTo>
                  <a:pt x="132326" y="127620"/>
                  <a:pt x="136128" y="123818"/>
                  <a:pt x="136128" y="119112"/>
                </a:cubicBezTo>
                <a:cubicBezTo>
                  <a:pt x="136128" y="114406"/>
                  <a:pt x="132326" y="110604"/>
                  <a:pt x="127620" y="110604"/>
                </a:cubicBezTo>
                <a:lnTo>
                  <a:pt x="21270" y="110604"/>
                </a:lnTo>
                <a:cubicBezTo>
                  <a:pt x="18930" y="110604"/>
                  <a:pt x="17016" y="108690"/>
                  <a:pt x="17016" y="106350"/>
                </a:cubicBezTo>
                <a:lnTo>
                  <a:pt x="17016" y="17016"/>
                </a:lnTo>
                <a:close/>
                <a:moveTo>
                  <a:pt x="125121" y="40041"/>
                </a:moveTo>
                <a:cubicBezTo>
                  <a:pt x="128445" y="36717"/>
                  <a:pt x="128445" y="31320"/>
                  <a:pt x="125121" y="27997"/>
                </a:cubicBezTo>
                <a:cubicBezTo>
                  <a:pt x="121798" y="24673"/>
                  <a:pt x="116400" y="24673"/>
                  <a:pt x="113077" y="27997"/>
                </a:cubicBezTo>
                <a:lnTo>
                  <a:pt x="85080" y="56020"/>
                </a:lnTo>
                <a:lnTo>
                  <a:pt x="69819" y="40785"/>
                </a:lnTo>
                <a:cubicBezTo>
                  <a:pt x="66496" y="37462"/>
                  <a:pt x="61098" y="37462"/>
                  <a:pt x="57775" y="40785"/>
                </a:cubicBezTo>
                <a:lnTo>
                  <a:pt x="32251" y="66309"/>
                </a:lnTo>
                <a:cubicBezTo>
                  <a:pt x="28927" y="69633"/>
                  <a:pt x="28927" y="75030"/>
                  <a:pt x="32251" y="78354"/>
                </a:cubicBezTo>
                <a:cubicBezTo>
                  <a:pt x="35574" y="81677"/>
                  <a:pt x="40971" y="81677"/>
                  <a:pt x="44295" y="78354"/>
                </a:cubicBezTo>
                <a:lnTo>
                  <a:pt x="63810" y="58838"/>
                </a:lnTo>
                <a:lnTo>
                  <a:pt x="79071" y="74100"/>
                </a:lnTo>
                <a:cubicBezTo>
                  <a:pt x="82395" y="77423"/>
                  <a:pt x="87792" y="77423"/>
                  <a:pt x="91116" y="74100"/>
                </a:cubicBezTo>
                <a:lnTo>
                  <a:pt x="125148" y="4006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346638" y="4202939"/>
            <a:ext cx="5687647" cy="1476174"/>
          </a:xfrm>
          <a:custGeom>
            <a:avLst/>
            <a:gdLst/>
            <a:ahLst/>
            <a:cxnLst/>
            <a:rect l="l" t="t" r="r" b="b"/>
            <a:pathLst>
              <a:path w="5687647" h="1476174">
                <a:moveTo>
                  <a:pt x="68066" y="0"/>
                </a:moveTo>
                <a:lnTo>
                  <a:pt x="5619580" y="0"/>
                </a:lnTo>
                <a:cubicBezTo>
                  <a:pt x="5657172" y="0"/>
                  <a:pt x="5687647" y="30474"/>
                  <a:pt x="5687647" y="68066"/>
                </a:cubicBezTo>
                <a:lnTo>
                  <a:pt x="5687647" y="1408108"/>
                </a:lnTo>
                <a:cubicBezTo>
                  <a:pt x="5687647" y="1445700"/>
                  <a:pt x="5657172" y="1476174"/>
                  <a:pt x="5619580" y="1476174"/>
                </a:cubicBezTo>
                <a:lnTo>
                  <a:pt x="68066" y="1476174"/>
                </a:lnTo>
                <a:cubicBezTo>
                  <a:pt x="30500" y="1476174"/>
                  <a:pt x="0" y="1445675"/>
                  <a:pt x="0" y="1408108"/>
                </a:cubicBezTo>
                <a:lnTo>
                  <a:pt x="0" y="68066"/>
                </a:lnTo>
                <a:cubicBezTo>
                  <a:pt x="0" y="30500"/>
                  <a:pt x="30500" y="0"/>
                  <a:pt x="6806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9098">
            <a:solidFill>
              <a:srgbClr val="4A6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5087" y="4311388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204193" y="0"/>
                </a:moveTo>
                <a:lnTo>
                  <a:pt x="204193" y="0"/>
                </a:lnTo>
                <a:cubicBezTo>
                  <a:pt x="316890" y="0"/>
                  <a:pt x="408385" y="91496"/>
                  <a:pt x="408385" y="204193"/>
                </a:cubicBezTo>
                <a:lnTo>
                  <a:pt x="408385" y="204193"/>
                </a:lnTo>
                <a:cubicBezTo>
                  <a:pt x="408385" y="316890"/>
                  <a:pt x="316890" y="408385"/>
                  <a:pt x="204193" y="408385"/>
                </a:cubicBezTo>
                <a:lnTo>
                  <a:pt x="204193" y="408385"/>
                </a:lnTo>
                <a:cubicBezTo>
                  <a:pt x="91496" y="408385"/>
                  <a:pt x="0" y="316890"/>
                  <a:pt x="0" y="204193"/>
                </a:cubicBezTo>
                <a:lnTo>
                  <a:pt x="0" y="204193"/>
                </a:lnTo>
                <a:cubicBezTo>
                  <a:pt x="0" y="91496"/>
                  <a:pt x="91496" y="0"/>
                  <a:pt x="20419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7" name="Shape 45"/>
          <p:cNvSpPr/>
          <p:nvPr/>
        </p:nvSpPr>
        <p:spPr>
          <a:xfrm>
            <a:off x="574112" y="4430434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85080" y="0"/>
                </a:moveTo>
                <a:cubicBezTo>
                  <a:pt x="86609" y="0"/>
                  <a:pt x="88138" y="332"/>
                  <a:pt x="89534" y="964"/>
                </a:cubicBezTo>
                <a:lnTo>
                  <a:pt x="152147" y="27518"/>
                </a:lnTo>
                <a:cubicBezTo>
                  <a:pt x="159459" y="30609"/>
                  <a:pt x="164909" y="37821"/>
                  <a:pt x="164876" y="46528"/>
                </a:cubicBezTo>
                <a:cubicBezTo>
                  <a:pt x="164710" y="79497"/>
                  <a:pt x="151150" y="139817"/>
                  <a:pt x="93887" y="167236"/>
                </a:cubicBezTo>
                <a:cubicBezTo>
                  <a:pt x="88337" y="169895"/>
                  <a:pt x="81890" y="169895"/>
                  <a:pt x="76340" y="167236"/>
                </a:cubicBezTo>
                <a:cubicBezTo>
                  <a:pt x="19043" y="139817"/>
                  <a:pt x="5517" y="79497"/>
                  <a:pt x="5351" y="46528"/>
                </a:cubicBezTo>
                <a:cubicBezTo>
                  <a:pt x="5318" y="37821"/>
                  <a:pt x="10768" y="30609"/>
                  <a:pt x="18080" y="27518"/>
                </a:cubicBezTo>
                <a:lnTo>
                  <a:pt x="80660" y="964"/>
                </a:lnTo>
                <a:cubicBezTo>
                  <a:pt x="82056" y="332"/>
                  <a:pt x="83551" y="0"/>
                  <a:pt x="85080" y="0"/>
                </a:cubicBezTo>
                <a:close/>
                <a:moveTo>
                  <a:pt x="85080" y="22201"/>
                </a:moveTo>
                <a:lnTo>
                  <a:pt x="85080" y="147860"/>
                </a:lnTo>
                <a:cubicBezTo>
                  <a:pt x="130944" y="125660"/>
                  <a:pt x="143274" y="76473"/>
                  <a:pt x="143573" y="47027"/>
                </a:cubicBezTo>
                <a:lnTo>
                  <a:pt x="85080" y="22234"/>
                </a:lnTo>
                <a:lnTo>
                  <a:pt x="85080" y="22234"/>
                </a:ln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48" name="Text 46"/>
          <p:cNvSpPr/>
          <p:nvPr/>
        </p:nvSpPr>
        <p:spPr>
          <a:xfrm>
            <a:off x="965449" y="4311388"/>
            <a:ext cx="1608017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5449" y="4549475"/>
            <a:ext cx="158249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Safe &amp; Solid Players (42.7%)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5087" y="4787667"/>
            <a:ext cx="66362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Rate: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96685" y="4787667"/>
            <a:ext cx="39136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75.5%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5087" y="4991768"/>
            <a:ext cx="79975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654758" y="4991768"/>
            <a:ext cx="33181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5087" y="5195873"/>
            <a:ext cx="91035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Volatility: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711631" y="5195873"/>
            <a:ext cx="280765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31.4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5087" y="5399979"/>
            <a:ext cx="382861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35054" y="5399979"/>
            <a:ext cx="75721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Conservador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52925" y="4202939"/>
            <a:ext cx="5687647" cy="1476174"/>
          </a:xfrm>
          <a:custGeom>
            <a:avLst/>
            <a:gdLst/>
            <a:ahLst/>
            <a:cxnLst/>
            <a:rect l="l" t="t" r="r" b="b"/>
            <a:pathLst>
              <a:path w="5687647" h="1476174">
                <a:moveTo>
                  <a:pt x="68066" y="0"/>
                </a:moveTo>
                <a:lnTo>
                  <a:pt x="5619580" y="0"/>
                </a:lnTo>
                <a:cubicBezTo>
                  <a:pt x="5657172" y="0"/>
                  <a:pt x="5687647" y="30474"/>
                  <a:pt x="5687647" y="68066"/>
                </a:cubicBezTo>
                <a:lnTo>
                  <a:pt x="5687647" y="1408108"/>
                </a:lnTo>
                <a:cubicBezTo>
                  <a:pt x="5687647" y="1445700"/>
                  <a:pt x="5657172" y="1476174"/>
                  <a:pt x="5619580" y="1476174"/>
                </a:cubicBezTo>
                <a:lnTo>
                  <a:pt x="68066" y="1476174"/>
                </a:lnTo>
                <a:cubicBezTo>
                  <a:pt x="30500" y="1476174"/>
                  <a:pt x="0" y="1445675"/>
                  <a:pt x="0" y="1408108"/>
                </a:cubicBezTo>
                <a:lnTo>
                  <a:pt x="0" y="68066"/>
                </a:lnTo>
                <a:cubicBezTo>
                  <a:pt x="0" y="30500"/>
                  <a:pt x="30500" y="0"/>
                  <a:pt x="68066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1375" y="4311388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204193" y="0"/>
                </a:moveTo>
                <a:lnTo>
                  <a:pt x="204193" y="0"/>
                </a:lnTo>
                <a:cubicBezTo>
                  <a:pt x="316890" y="0"/>
                  <a:pt x="408385" y="91496"/>
                  <a:pt x="408385" y="204193"/>
                </a:cubicBezTo>
                <a:lnTo>
                  <a:pt x="408385" y="204193"/>
                </a:lnTo>
                <a:cubicBezTo>
                  <a:pt x="408385" y="316890"/>
                  <a:pt x="316890" y="408385"/>
                  <a:pt x="204193" y="408385"/>
                </a:cubicBezTo>
                <a:lnTo>
                  <a:pt x="204193" y="408385"/>
                </a:lnTo>
                <a:cubicBezTo>
                  <a:pt x="91496" y="408385"/>
                  <a:pt x="0" y="316890"/>
                  <a:pt x="0" y="204193"/>
                </a:cubicBezTo>
                <a:lnTo>
                  <a:pt x="0" y="204193"/>
                </a:lnTo>
                <a:cubicBezTo>
                  <a:pt x="0" y="91496"/>
                  <a:pt x="91496" y="0"/>
                  <a:pt x="204193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Shape 58"/>
          <p:cNvSpPr/>
          <p:nvPr/>
        </p:nvSpPr>
        <p:spPr>
          <a:xfrm>
            <a:off x="6391034" y="4430434"/>
            <a:ext cx="148890" cy="170161"/>
          </a:xfrm>
          <a:custGeom>
            <a:avLst/>
            <a:gdLst/>
            <a:ahLst/>
            <a:cxnLst/>
            <a:rect l="l" t="t" r="r" b="b"/>
            <a:pathLst>
              <a:path w="148890" h="170161">
                <a:moveTo>
                  <a:pt x="112598" y="-3290"/>
                </a:moveTo>
                <a:cubicBezTo>
                  <a:pt x="116553" y="-432"/>
                  <a:pt x="118016" y="4753"/>
                  <a:pt x="116221" y="9272"/>
                </a:cubicBezTo>
                <a:lnTo>
                  <a:pt x="90165" y="74445"/>
                </a:lnTo>
                <a:lnTo>
                  <a:pt x="138255" y="74445"/>
                </a:lnTo>
                <a:cubicBezTo>
                  <a:pt x="142742" y="74445"/>
                  <a:pt x="146730" y="77237"/>
                  <a:pt x="148259" y="81458"/>
                </a:cubicBezTo>
                <a:cubicBezTo>
                  <a:pt x="149788" y="85678"/>
                  <a:pt x="148492" y="90398"/>
                  <a:pt x="145068" y="93256"/>
                </a:cubicBezTo>
                <a:lnTo>
                  <a:pt x="49353" y="173019"/>
                </a:lnTo>
                <a:cubicBezTo>
                  <a:pt x="45598" y="176143"/>
                  <a:pt x="40247" y="176309"/>
                  <a:pt x="36292" y="173451"/>
                </a:cubicBezTo>
                <a:cubicBezTo>
                  <a:pt x="32337" y="170593"/>
                  <a:pt x="30875" y="165408"/>
                  <a:pt x="32669" y="160888"/>
                </a:cubicBezTo>
                <a:lnTo>
                  <a:pt x="58725" y="95715"/>
                </a:lnTo>
                <a:lnTo>
                  <a:pt x="10635" y="95715"/>
                </a:lnTo>
                <a:cubicBezTo>
                  <a:pt x="6148" y="95715"/>
                  <a:pt x="2160" y="92924"/>
                  <a:pt x="631" y="88703"/>
                </a:cubicBezTo>
                <a:cubicBezTo>
                  <a:pt x="-897" y="84482"/>
                  <a:pt x="399" y="79763"/>
                  <a:pt x="3822" y="76905"/>
                </a:cubicBezTo>
                <a:lnTo>
                  <a:pt x="99537" y="-2858"/>
                </a:lnTo>
                <a:cubicBezTo>
                  <a:pt x="103293" y="-5982"/>
                  <a:pt x="108643" y="-6148"/>
                  <a:pt x="112598" y="-329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Text 59"/>
          <p:cNvSpPr/>
          <p:nvPr/>
        </p:nvSpPr>
        <p:spPr>
          <a:xfrm>
            <a:off x="6771736" y="4311388"/>
            <a:ext cx="167608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71736" y="4549475"/>
            <a:ext cx="1650557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Aggressive &amp; Volatile (57.3%)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61375" y="4787667"/>
            <a:ext cx="66362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Rate: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394176" y="4787667"/>
            <a:ext cx="399877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65.3%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261375" y="4991768"/>
            <a:ext cx="79975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420264" y="4991768"/>
            <a:ext cx="37435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14.3%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61375" y="5195873"/>
            <a:ext cx="91035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Volatility: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512421" y="5195873"/>
            <a:ext cx="280765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61375" y="5399979"/>
            <a:ext cx="382861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42894" y="5399979"/>
            <a:ext cx="65511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Arriesgado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3440" y="5756111"/>
            <a:ext cx="11500739" cy="584943"/>
          </a:xfrm>
          <a:custGeom>
            <a:avLst/>
            <a:gdLst/>
            <a:ahLst/>
            <a:cxnLst/>
            <a:rect l="l" t="t" r="r" b="b"/>
            <a:pathLst>
              <a:path w="11500739" h="584943">
                <a:moveTo>
                  <a:pt x="68064" y="0"/>
                </a:moveTo>
                <a:lnTo>
                  <a:pt x="11432675" y="0"/>
                </a:lnTo>
                <a:cubicBezTo>
                  <a:pt x="11470266" y="0"/>
                  <a:pt x="11500739" y="30473"/>
                  <a:pt x="11500739" y="68064"/>
                </a:cubicBezTo>
                <a:lnTo>
                  <a:pt x="11500739" y="516879"/>
                </a:lnTo>
                <a:cubicBezTo>
                  <a:pt x="11500739" y="554469"/>
                  <a:pt x="11470266" y="584943"/>
                  <a:pt x="11432675" y="584943"/>
                </a:cubicBezTo>
                <a:lnTo>
                  <a:pt x="68064" y="584943"/>
                </a:lnTo>
                <a:cubicBezTo>
                  <a:pt x="30473" y="584943"/>
                  <a:pt x="0" y="554469"/>
                  <a:pt x="0" y="516879"/>
                </a:cubicBezTo>
                <a:lnTo>
                  <a:pt x="0" y="68064"/>
                </a:lnTo>
                <a:cubicBezTo>
                  <a:pt x="0" y="30498"/>
                  <a:pt x="30498" y="0"/>
                  <a:pt x="6806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4214" y="5946424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78669" y="102096"/>
                </a:moveTo>
                <a:cubicBezTo>
                  <a:pt x="178669" y="59835"/>
                  <a:pt x="144358" y="25524"/>
                  <a:pt x="102096" y="25524"/>
                </a:cubicBezTo>
                <a:cubicBezTo>
                  <a:pt x="59835" y="25524"/>
                  <a:pt x="25524" y="59835"/>
                  <a:pt x="25524" y="102096"/>
                </a:cubicBezTo>
                <a:cubicBezTo>
                  <a:pt x="25524" y="144358"/>
                  <a:pt x="59835" y="178669"/>
                  <a:pt x="102096" y="178669"/>
                </a:cubicBezTo>
                <a:cubicBezTo>
                  <a:pt x="144358" y="178669"/>
                  <a:pt x="178669" y="144358"/>
                  <a:pt x="178669" y="102096"/>
                </a:cubicBezTo>
                <a:close/>
                <a:moveTo>
                  <a:pt x="0" y="102096"/>
                </a:moveTo>
                <a:cubicBezTo>
                  <a:pt x="0" y="45748"/>
                  <a:pt x="45748" y="0"/>
                  <a:pt x="102096" y="0"/>
                </a:cubicBezTo>
                <a:cubicBezTo>
                  <a:pt x="158445" y="0"/>
                  <a:pt x="204193" y="45748"/>
                  <a:pt x="204193" y="102096"/>
                </a:cubicBezTo>
                <a:cubicBezTo>
                  <a:pt x="204193" y="158445"/>
                  <a:pt x="158445" y="204193"/>
                  <a:pt x="102096" y="204193"/>
                </a:cubicBezTo>
                <a:cubicBezTo>
                  <a:pt x="45748" y="204193"/>
                  <a:pt x="0" y="158445"/>
                  <a:pt x="0" y="102096"/>
                </a:cubicBezTo>
                <a:close/>
                <a:moveTo>
                  <a:pt x="102096" y="134001"/>
                </a:moveTo>
                <a:cubicBezTo>
                  <a:pt x="119705" y="134001"/>
                  <a:pt x="134001" y="119705"/>
                  <a:pt x="134001" y="102096"/>
                </a:cubicBezTo>
                <a:cubicBezTo>
                  <a:pt x="134001" y="84487"/>
                  <a:pt x="119705" y="70191"/>
                  <a:pt x="102096" y="70191"/>
                </a:cubicBezTo>
                <a:cubicBezTo>
                  <a:pt x="84487" y="70191"/>
                  <a:pt x="70191" y="84487"/>
                  <a:pt x="70191" y="102096"/>
                </a:cubicBezTo>
                <a:cubicBezTo>
                  <a:pt x="70191" y="119705"/>
                  <a:pt x="84487" y="134001"/>
                  <a:pt x="102096" y="134001"/>
                </a:cubicBezTo>
                <a:close/>
                <a:moveTo>
                  <a:pt x="102096" y="44667"/>
                </a:moveTo>
                <a:cubicBezTo>
                  <a:pt x="133792" y="44667"/>
                  <a:pt x="159525" y="70400"/>
                  <a:pt x="159525" y="102096"/>
                </a:cubicBezTo>
                <a:cubicBezTo>
                  <a:pt x="159525" y="133792"/>
                  <a:pt x="133792" y="159525"/>
                  <a:pt x="102096" y="159525"/>
                </a:cubicBezTo>
                <a:cubicBezTo>
                  <a:pt x="70400" y="159525"/>
                  <a:pt x="44667" y="133792"/>
                  <a:pt x="44667" y="102096"/>
                </a:cubicBezTo>
                <a:cubicBezTo>
                  <a:pt x="44667" y="70400"/>
                  <a:pt x="70400" y="44667"/>
                  <a:pt x="102096" y="44667"/>
                </a:cubicBezTo>
                <a:close/>
                <a:moveTo>
                  <a:pt x="89334" y="102096"/>
                </a:moveTo>
                <a:cubicBezTo>
                  <a:pt x="89334" y="95053"/>
                  <a:pt x="95053" y="89334"/>
                  <a:pt x="102096" y="89334"/>
                </a:cubicBezTo>
                <a:cubicBezTo>
                  <a:pt x="109140" y="89334"/>
                  <a:pt x="114858" y="95053"/>
                  <a:pt x="114858" y="102096"/>
                </a:cubicBezTo>
                <a:cubicBezTo>
                  <a:pt x="114858" y="109140"/>
                  <a:pt x="109140" y="114858"/>
                  <a:pt x="102096" y="114858"/>
                </a:cubicBezTo>
                <a:cubicBezTo>
                  <a:pt x="95053" y="114858"/>
                  <a:pt x="89334" y="109140"/>
                  <a:pt x="89334" y="10209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805923" y="5861365"/>
            <a:ext cx="10652047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Comerciales Validadas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05923" y="6065570"/>
            <a:ext cx="1064353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Personalización de entrenamiento por cluster • Tracking de progreso mediante migración entre clusters • Modelado de oponentes • Diseño de currículum enfocado en debilidades del cluster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69"/>
            <a:ext cx="2419068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5 - Perfect Ensemble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4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Ensemble Multi-Componente Perfecto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072" y="1149780"/>
            <a:ext cx="3719548" cy="2357473"/>
          </a:xfrm>
          <a:custGeom>
            <a:avLst/>
            <a:gdLst/>
            <a:ahLst/>
            <a:cxnLst/>
            <a:rect l="l" t="t" r="r" b="b"/>
            <a:pathLst>
              <a:path w="3719548" h="2357473">
                <a:moveTo>
                  <a:pt x="76194" y="0"/>
                </a:moveTo>
                <a:lnTo>
                  <a:pt x="3643355" y="0"/>
                </a:lnTo>
                <a:cubicBezTo>
                  <a:pt x="3685435" y="0"/>
                  <a:pt x="3719548" y="34113"/>
                  <a:pt x="3719548" y="76194"/>
                </a:cubicBezTo>
                <a:lnTo>
                  <a:pt x="3719548" y="2281280"/>
                </a:lnTo>
                <a:cubicBezTo>
                  <a:pt x="3719548" y="2323360"/>
                  <a:pt x="3685435" y="2357473"/>
                  <a:pt x="3643355" y="2357473"/>
                </a:cubicBezTo>
                <a:lnTo>
                  <a:pt x="76194" y="2357473"/>
                </a:lnTo>
                <a:cubicBezTo>
                  <a:pt x="34113" y="2357473"/>
                  <a:pt x="0" y="2323360"/>
                  <a:pt x="0" y="2281280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19098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5185" y="1271192"/>
            <a:ext cx="3705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622" y="1728420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Macro 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9485" y="2071171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38417" y="2071171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100.0%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9485" y="2299674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02430" y="2299674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485" y="2528176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02430" y="2528176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2538" y="1146199"/>
            <a:ext cx="3731437" cy="2369362"/>
          </a:xfrm>
          <a:custGeom>
            <a:avLst/>
            <a:gdLst/>
            <a:ahLst/>
            <a:cxnLst/>
            <a:rect l="l" t="t" r="r" b="b"/>
            <a:pathLst>
              <a:path w="3731437" h="2369362">
                <a:moveTo>
                  <a:pt x="76199" y="0"/>
                </a:moveTo>
                <a:lnTo>
                  <a:pt x="3655238" y="0"/>
                </a:lnTo>
                <a:cubicBezTo>
                  <a:pt x="3697321" y="0"/>
                  <a:pt x="3731437" y="34115"/>
                  <a:pt x="3731437" y="76199"/>
                </a:cubicBezTo>
                <a:lnTo>
                  <a:pt x="3731437" y="2293163"/>
                </a:lnTo>
                <a:cubicBezTo>
                  <a:pt x="3731437" y="2335246"/>
                  <a:pt x="3697321" y="2369362"/>
                  <a:pt x="3655238" y="2369362"/>
                </a:cubicBezTo>
                <a:lnTo>
                  <a:pt x="76199" y="2369362"/>
                </a:lnTo>
                <a:cubicBezTo>
                  <a:pt x="34115" y="2369362"/>
                  <a:pt x="0" y="2335246"/>
                  <a:pt x="0" y="2293163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0369" y="1264030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Per-Class Performance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50369" y="1606786"/>
            <a:ext cx="3495675" cy="419100"/>
          </a:xfrm>
          <a:custGeom>
            <a:avLst/>
            <a:gdLst/>
            <a:ahLst/>
            <a:cxnLst/>
            <a:rect l="l" t="t" r="r" b="b"/>
            <a:pathLst>
              <a:path w="3495675" h="419100">
                <a:moveTo>
                  <a:pt x="38100" y="0"/>
                </a:moveTo>
                <a:lnTo>
                  <a:pt x="3457575" y="0"/>
                </a:lnTo>
                <a:cubicBezTo>
                  <a:pt x="3478617" y="0"/>
                  <a:pt x="3495675" y="17058"/>
                  <a:pt x="3495675" y="38100"/>
                </a:cubicBezTo>
                <a:lnTo>
                  <a:pt x="3495675" y="381000"/>
                </a:lnTo>
                <a:cubicBezTo>
                  <a:pt x="3495675" y="402042"/>
                  <a:pt x="3478617" y="419100"/>
                  <a:pt x="34575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26462" y="1701789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62549" y="1682874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50369" y="2063562"/>
            <a:ext cx="3495675" cy="419100"/>
          </a:xfrm>
          <a:custGeom>
            <a:avLst/>
            <a:gdLst/>
            <a:ahLst/>
            <a:cxnLst/>
            <a:rect l="l" t="t" r="r" b="b"/>
            <a:pathLst>
              <a:path w="3495675" h="419100">
                <a:moveTo>
                  <a:pt x="38100" y="0"/>
                </a:moveTo>
                <a:lnTo>
                  <a:pt x="3457575" y="0"/>
                </a:lnTo>
                <a:cubicBezTo>
                  <a:pt x="3478617" y="0"/>
                  <a:pt x="3495675" y="17058"/>
                  <a:pt x="3495675" y="38100"/>
                </a:cubicBezTo>
                <a:lnTo>
                  <a:pt x="3495675" y="381000"/>
                </a:lnTo>
                <a:cubicBezTo>
                  <a:pt x="3495675" y="402042"/>
                  <a:pt x="3478617" y="419100"/>
                  <a:pt x="34575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26462" y="2158566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62549" y="2139655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50369" y="2520344"/>
            <a:ext cx="3495675" cy="419100"/>
          </a:xfrm>
          <a:custGeom>
            <a:avLst/>
            <a:gdLst/>
            <a:ahLst/>
            <a:cxnLst/>
            <a:rect l="l" t="t" r="r" b="b"/>
            <a:pathLst>
              <a:path w="3495675" h="419100">
                <a:moveTo>
                  <a:pt x="38100" y="0"/>
                </a:moveTo>
                <a:lnTo>
                  <a:pt x="3457575" y="0"/>
                </a:lnTo>
                <a:cubicBezTo>
                  <a:pt x="3478617" y="0"/>
                  <a:pt x="3495675" y="17058"/>
                  <a:pt x="3495675" y="38100"/>
                </a:cubicBezTo>
                <a:lnTo>
                  <a:pt x="3495675" y="381000"/>
                </a:lnTo>
                <a:cubicBezTo>
                  <a:pt x="3495675" y="402042"/>
                  <a:pt x="3478617" y="419100"/>
                  <a:pt x="34575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26462" y="2615347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62549" y="2596437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50369" y="2977121"/>
            <a:ext cx="3495675" cy="419100"/>
          </a:xfrm>
          <a:custGeom>
            <a:avLst/>
            <a:gdLst/>
            <a:ahLst/>
            <a:cxnLst/>
            <a:rect l="l" t="t" r="r" b="b"/>
            <a:pathLst>
              <a:path w="3495675" h="419100">
                <a:moveTo>
                  <a:pt x="38100" y="0"/>
                </a:moveTo>
                <a:lnTo>
                  <a:pt x="3457575" y="0"/>
                </a:lnTo>
                <a:cubicBezTo>
                  <a:pt x="3478617" y="0"/>
                  <a:pt x="3495675" y="17058"/>
                  <a:pt x="3495675" y="38100"/>
                </a:cubicBezTo>
                <a:lnTo>
                  <a:pt x="3495675" y="381000"/>
                </a:lnTo>
                <a:cubicBezTo>
                  <a:pt x="3495675" y="402042"/>
                  <a:pt x="3478617" y="419100"/>
                  <a:pt x="34575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426462" y="3072124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62549" y="3053214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80696" y="1146199"/>
            <a:ext cx="3731437" cy="2369362"/>
          </a:xfrm>
          <a:custGeom>
            <a:avLst/>
            <a:gdLst/>
            <a:ahLst/>
            <a:cxnLst/>
            <a:rect l="l" t="t" r="r" b="b"/>
            <a:pathLst>
              <a:path w="3731437" h="2369362">
                <a:moveTo>
                  <a:pt x="76199" y="0"/>
                </a:moveTo>
                <a:lnTo>
                  <a:pt x="3655238" y="0"/>
                </a:lnTo>
                <a:cubicBezTo>
                  <a:pt x="3697321" y="0"/>
                  <a:pt x="3731437" y="34115"/>
                  <a:pt x="3731437" y="76199"/>
                </a:cubicBezTo>
                <a:lnTo>
                  <a:pt x="3731437" y="2293163"/>
                </a:lnTo>
                <a:cubicBezTo>
                  <a:pt x="3731437" y="2335246"/>
                  <a:pt x="3697321" y="2369362"/>
                  <a:pt x="3655238" y="2369362"/>
                </a:cubicBezTo>
                <a:lnTo>
                  <a:pt x="76199" y="2369362"/>
                </a:lnTo>
                <a:cubicBezTo>
                  <a:pt x="34115" y="2369362"/>
                  <a:pt x="0" y="2335246"/>
                  <a:pt x="0" y="2293163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8527" y="1264030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 vs Industria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98527" y="1606786"/>
            <a:ext cx="3495675" cy="533400"/>
          </a:xfrm>
          <a:custGeom>
            <a:avLst/>
            <a:gdLst/>
            <a:ahLst/>
            <a:cxnLst/>
            <a:rect l="l" t="t" r="r" b="b"/>
            <a:pathLst>
              <a:path w="3495675" h="533400">
                <a:moveTo>
                  <a:pt x="38101" y="0"/>
                </a:moveTo>
                <a:lnTo>
                  <a:pt x="3457574" y="0"/>
                </a:lnTo>
                <a:cubicBezTo>
                  <a:pt x="3478617" y="0"/>
                  <a:pt x="3495675" y="17058"/>
                  <a:pt x="3495675" y="38101"/>
                </a:cubicBezTo>
                <a:lnTo>
                  <a:pt x="3495675" y="495299"/>
                </a:lnTo>
                <a:cubicBezTo>
                  <a:pt x="3495675" y="516342"/>
                  <a:pt x="3478617" y="533400"/>
                  <a:pt x="34575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74620" y="1720923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Engines Comerciales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93659" y="1682874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~95-98%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4620" y="1987581"/>
            <a:ext cx="3343275" cy="76200"/>
          </a:xfrm>
          <a:custGeom>
            <a:avLst/>
            <a:gdLst/>
            <a:ahLst/>
            <a:cxnLst/>
            <a:rect l="l" t="t" r="r" b="b"/>
            <a:pathLst>
              <a:path w="3343275" h="762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cubicBezTo>
                  <a:pt x="3343275" y="59128"/>
                  <a:pt x="3326203" y="76200"/>
                  <a:pt x="3305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3" name="Shape 31"/>
          <p:cNvSpPr/>
          <p:nvPr/>
        </p:nvSpPr>
        <p:spPr>
          <a:xfrm>
            <a:off x="8274620" y="1987581"/>
            <a:ext cx="3209925" cy="76200"/>
          </a:xfrm>
          <a:custGeom>
            <a:avLst/>
            <a:gdLst/>
            <a:ahLst/>
            <a:cxnLst/>
            <a:rect l="l" t="t" r="r" b="b"/>
            <a:pathLst>
              <a:path w="3209925" h="76200">
                <a:moveTo>
                  <a:pt x="38100" y="0"/>
                </a:moveTo>
                <a:lnTo>
                  <a:pt x="3171825" y="0"/>
                </a:lnTo>
                <a:cubicBezTo>
                  <a:pt x="3192853" y="0"/>
                  <a:pt x="3209925" y="17072"/>
                  <a:pt x="3209925" y="38100"/>
                </a:cubicBezTo>
                <a:lnTo>
                  <a:pt x="3209925" y="38100"/>
                </a:lnTo>
                <a:cubicBezTo>
                  <a:pt x="3209925" y="59128"/>
                  <a:pt x="3192853" y="76200"/>
                  <a:pt x="3171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8198527" y="2215860"/>
            <a:ext cx="3495675" cy="533400"/>
          </a:xfrm>
          <a:custGeom>
            <a:avLst/>
            <a:gdLst/>
            <a:ahLst/>
            <a:cxnLst/>
            <a:rect l="l" t="t" r="r" b="b"/>
            <a:pathLst>
              <a:path w="3495675" h="533400">
                <a:moveTo>
                  <a:pt x="38101" y="0"/>
                </a:moveTo>
                <a:lnTo>
                  <a:pt x="3457574" y="0"/>
                </a:lnTo>
                <a:cubicBezTo>
                  <a:pt x="3478617" y="0"/>
                  <a:pt x="3495675" y="17058"/>
                  <a:pt x="3495675" y="38101"/>
                </a:cubicBezTo>
                <a:lnTo>
                  <a:pt x="3495675" y="495299"/>
                </a:lnTo>
                <a:cubicBezTo>
                  <a:pt x="3495675" y="516342"/>
                  <a:pt x="3478617" y="533400"/>
                  <a:pt x="34575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74620" y="2329997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Prototypes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98801" y="2291953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~99.0-99.5%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4620" y="2596660"/>
            <a:ext cx="3343275" cy="76200"/>
          </a:xfrm>
          <a:custGeom>
            <a:avLst/>
            <a:gdLst/>
            <a:ahLst/>
            <a:cxnLst/>
            <a:rect l="l" t="t" r="r" b="b"/>
            <a:pathLst>
              <a:path w="3343275" h="762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cubicBezTo>
                  <a:pt x="3343275" y="59128"/>
                  <a:pt x="3326203" y="76200"/>
                  <a:pt x="3305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8" name="Shape 36"/>
          <p:cNvSpPr/>
          <p:nvPr/>
        </p:nvSpPr>
        <p:spPr>
          <a:xfrm>
            <a:off x="8274620" y="2596660"/>
            <a:ext cx="3305175" cy="76200"/>
          </a:xfrm>
          <a:custGeom>
            <a:avLst/>
            <a:gdLst/>
            <a:ahLst/>
            <a:cxnLst/>
            <a:rect l="l" t="t" r="r" b="b"/>
            <a:pathLst>
              <a:path w="3305175" h="76200">
                <a:moveTo>
                  <a:pt x="38100" y="0"/>
                </a:moveTo>
                <a:lnTo>
                  <a:pt x="3267075" y="0"/>
                </a:lnTo>
                <a:cubicBezTo>
                  <a:pt x="3288103" y="0"/>
                  <a:pt x="3305175" y="17072"/>
                  <a:pt x="3305175" y="38100"/>
                </a:cubicBezTo>
                <a:lnTo>
                  <a:pt x="3305175" y="38100"/>
                </a:lnTo>
                <a:cubicBezTo>
                  <a:pt x="3305175" y="59128"/>
                  <a:pt x="3288103" y="76200"/>
                  <a:pt x="3267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Shape 37"/>
          <p:cNvSpPr/>
          <p:nvPr/>
        </p:nvSpPr>
        <p:spPr>
          <a:xfrm>
            <a:off x="8205689" y="2832096"/>
            <a:ext cx="3481423" cy="547723"/>
          </a:xfrm>
          <a:custGeom>
            <a:avLst/>
            <a:gdLst/>
            <a:ahLst/>
            <a:cxnLst/>
            <a:rect l="l" t="t" r="r" b="b"/>
            <a:pathLst>
              <a:path w="3481423" h="547723">
                <a:moveTo>
                  <a:pt x="38100" y="0"/>
                </a:moveTo>
                <a:lnTo>
                  <a:pt x="3443324" y="0"/>
                </a:lnTo>
                <a:cubicBezTo>
                  <a:pt x="3464366" y="0"/>
                  <a:pt x="3481423" y="17058"/>
                  <a:pt x="3481423" y="38100"/>
                </a:cubicBezTo>
                <a:lnTo>
                  <a:pt x="3481423" y="509624"/>
                </a:lnTo>
                <a:cubicBezTo>
                  <a:pt x="3481423" y="530666"/>
                  <a:pt x="3464366" y="547723"/>
                  <a:pt x="3443324" y="547723"/>
                </a:cubicBezTo>
                <a:lnTo>
                  <a:pt x="38100" y="547723"/>
                </a:lnTo>
                <a:cubicBezTo>
                  <a:pt x="17058" y="547723"/>
                  <a:pt x="0" y="530666"/>
                  <a:pt x="0" y="5096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8943" y="2953396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Chess Trainer Fase 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023576" y="2915352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100.0%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88943" y="3220059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3" name="Shape 41"/>
          <p:cNvSpPr/>
          <p:nvPr/>
        </p:nvSpPr>
        <p:spPr>
          <a:xfrm>
            <a:off x="8288943" y="3220059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384491" y="3596938"/>
            <a:ext cx="11427637" cy="1988362"/>
          </a:xfrm>
          <a:custGeom>
            <a:avLst/>
            <a:gdLst/>
            <a:ahLst/>
            <a:cxnLst/>
            <a:rect l="l" t="t" r="r" b="b"/>
            <a:pathLst>
              <a:path w="11427637" h="1988362">
                <a:moveTo>
                  <a:pt x="76194" y="0"/>
                </a:moveTo>
                <a:lnTo>
                  <a:pt x="11351443" y="0"/>
                </a:lnTo>
                <a:cubicBezTo>
                  <a:pt x="11393523" y="0"/>
                  <a:pt x="11427637" y="34113"/>
                  <a:pt x="11427637" y="76194"/>
                </a:cubicBezTo>
                <a:lnTo>
                  <a:pt x="11427637" y="1912168"/>
                </a:lnTo>
                <a:cubicBezTo>
                  <a:pt x="11427637" y="1954248"/>
                  <a:pt x="11393523" y="1988362"/>
                  <a:pt x="11351443" y="1988362"/>
                </a:cubicBezTo>
                <a:lnTo>
                  <a:pt x="76194" y="1988362"/>
                </a:lnTo>
                <a:cubicBezTo>
                  <a:pt x="34113" y="1988362"/>
                  <a:pt x="0" y="1954248"/>
                  <a:pt x="0" y="1912168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323" y="3714773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Innovación: Error Evolution Modeling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323" y="4057524"/>
            <a:ext cx="5534025" cy="1409700"/>
          </a:xfrm>
          <a:custGeom>
            <a:avLst/>
            <a:gdLst/>
            <a:ahLst/>
            <a:cxnLst/>
            <a:rect l="l" t="t" r="r" b="b"/>
            <a:pathLst>
              <a:path w="5534025" h="1409700">
                <a:moveTo>
                  <a:pt x="38104" y="0"/>
                </a:moveTo>
                <a:lnTo>
                  <a:pt x="5495921" y="0"/>
                </a:lnTo>
                <a:cubicBezTo>
                  <a:pt x="5516965" y="0"/>
                  <a:pt x="5534025" y="17060"/>
                  <a:pt x="5534025" y="38104"/>
                </a:cubicBezTo>
                <a:lnTo>
                  <a:pt x="5534025" y="1371596"/>
                </a:lnTo>
                <a:cubicBezTo>
                  <a:pt x="5534025" y="1392640"/>
                  <a:pt x="5516965" y="1409700"/>
                  <a:pt x="5495921" y="1409700"/>
                </a:cubicBezTo>
                <a:lnTo>
                  <a:pt x="38104" y="1409700"/>
                </a:lnTo>
                <a:cubicBezTo>
                  <a:pt x="17060" y="1409700"/>
                  <a:pt x="0" y="1392640"/>
                  <a:pt x="0" y="13715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6574" y="4171773"/>
            <a:ext cx="538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Multi-Component Ensemble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0861" y="451452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835452" y="447648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Temporal (5 movs): F1=0.9915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861" y="474302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835452" y="4704983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 Temporal (5 movs): F1=0.9912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861" y="497152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Text 51"/>
          <p:cNvSpPr/>
          <p:nvPr/>
        </p:nvSpPr>
        <p:spPr>
          <a:xfrm>
            <a:off x="835452" y="4933485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Sequence (10 movs): F1=1.0000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0861" y="51905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859287" y="5161987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 Voting Ensemble: F1=1.0000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53092" y="4057524"/>
            <a:ext cx="5534025" cy="1409700"/>
          </a:xfrm>
          <a:custGeom>
            <a:avLst/>
            <a:gdLst/>
            <a:ahLst/>
            <a:cxnLst/>
            <a:rect l="l" t="t" r="r" b="b"/>
            <a:pathLst>
              <a:path w="5534025" h="1409700">
                <a:moveTo>
                  <a:pt x="38104" y="0"/>
                </a:moveTo>
                <a:lnTo>
                  <a:pt x="5495921" y="0"/>
                </a:lnTo>
                <a:cubicBezTo>
                  <a:pt x="5516965" y="0"/>
                  <a:pt x="5534025" y="17060"/>
                  <a:pt x="5534025" y="38104"/>
                </a:cubicBezTo>
                <a:lnTo>
                  <a:pt x="5534025" y="1371596"/>
                </a:lnTo>
                <a:cubicBezTo>
                  <a:pt x="5534025" y="1392640"/>
                  <a:pt x="5516965" y="1409700"/>
                  <a:pt x="5495921" y="1409700"/>
                </a:cubicBezTo>
                <a:lnTo>
                  <a:pt x="38104" y="1409700"/>
                </a:lnTo>
                <a:cubicBezTo>
                  <a:pt x="17060" y="1409700"/>
                  <a:pt x="0" y="1392640"/>
                  <a:pt x="0" y="137159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267342" y="4171773"/>
            <a:ext cx="538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por Movimiento (25)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67342" y="447648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190499"/>
                </a:lnTo>
                <a:cubicBezTo>
                  <a:pt x="266700" y="211542"/>
                  <a:pt x="249642" y="228600"/>
                  <a:pt x="228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267342" y="4476480"/>
            <a:ext cx="323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608864" y="449539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Chess (eval, material, mobility)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67342" y="4742915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190499"/>
                </a:lnTo>
                <a:cubicBezTo>
                  <a:pt x="266700" y="211542"/>
                  <a:pt x="249642" y="228600"/>
                  <a:pt x="228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67342" y="4742915"/>
            <a:ext cx="323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12221" y="4761826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Context (deltas, patterns)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67342" y="5009355"/>
            <a:ext cx="409575" cy="228600"/>
          </a:xfrm>
          <a:custGeom>
            <a:avLst/>
            <a:gdLst/>
            <a:ahLst/>
            <a:cxnLst/>
            <a:rect l="l" t="t" r="r" b="b"/>
            <a:pathLst>
              <a:path w="409575" h="228600">
                <a:moveTo>
                  <a:pt x="38101" y="0"/>
                </a:moveTo>
                <a:lnTo>
                  <a:pt x="371474" y="0"/>
                </a:lnTo>
                <a:cubicBezTo>
                  <a:pt x="392517" y="0"/>
                  <a:pt x="409575" y="17058"/>
                  <a:pt x="409575" y="38101"/>
                </a:cubicBezTo>
                <a:lnTo>
                  <a:pt x="409575" y="190499"/>
                </a:lnTo>
                <a:cubicBezTo>
                  <a:pt x="409575" y="211542"/>
                  <a:pt x="392517" y="228600"/>
                  <a:pt x="371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267342" y="5009355"/>
            <a:ext cx="4667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55342" y="5028265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Evolution Patterns (stability, momentum)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4491" y="5667779"/>
            <a:ext cx="5655487" cy="654862"/>
          </a:xfrm>
          <a:custGeom>
            <a:avLst/>
            <a:gdLst/>
            <a:ahLst/>
            <a:cxnLst/>
            <a:rect l="l" t="t" r="r" b="b"/>
            <a:pathLst>
              <a:path w="5655487" h="654862">
                <a:moveTo>
                  <a:pt x="76200" y="0"/>
                </a:moveTo>
                <a:lnTo>
                  <a:pt x="5579287" y="0"/>
                </a:lnTo>
                <a:cubicBezTo>
                  <a:pt x="5621371" y="0"/>
                  <a:pt x="5655487" y="34116"/>
                  <a:pt x="5655487" y="76200"/>
                </a:cubicBezTo>
                <a:lnTo>
                  <a:pt x="5655487" y="578662"/>
                </a:lnTo>
                <a:cubicBezTo>
                  <a:pt x="5655487" y="620746"/>
                  <a:pt x="5621371" y="654862"/>
                  <a:pt x="5579287" y="654862"/>
                </a:cubicBezTo>
                <a:lnTo>
                  <a:pt x="76200" y="654862"/>
                </a:lnTo>
                <a:cubicBezTo>
                  <a:pt x="34116" y="654862"/>
                  <a:pt x="0" y="620746"/>
                  <a:pt x="0" y="578662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0898" y="58808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9" name="Text 67"/>
          <p:cNvSpPr/>
          <p:nvPr/>
        </p:nvSpPr>
        <p:spPr>
          <a:xfrm>
            <a:off x="902256" y="5785610"/>
            <a:ext cx="479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Production-Ready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02256" y="6014224"/>
            <a:ext cx="478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Inference: ~ms por secuencia • CPU-optimized • API endpoints preparados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56673" y="5667779"/>
            <a:ext cx="5655487" cy="654862"/>
          </a:xfrm>
          <a:custGeom>
            <a:avLst/>
            <a:gdLst/>
            <a:ahLst/>
            <a:cxnLst/>
            <a:rect l="l" t="t" r="r" b="b"/>
            <a:pathLst>
              <a:path w="5655487" h="654862">
                <a:moveTo>
                  <a:pt x="76200" y="0"/>
                </a:moveTo>
                <a:lnTo>
                  <a:pt x="5579287" y="0"/>
                </a:lnTo>
                <a:cubicBezTo>
                  <a:pt x="5621371" y="0"/>
                  <a:pt x="5655487" y="34116"/>
                  <a:pt x="5655487" y="76200"/>
                </a:cubicBezTo>
                <a:lnTo>
                  <a:pt x="5655487" y="578662"/>
                </a:lnTo>
                <a:cubicBezTo>
                  <a:pt x="5655487" y="620746"/>
                  <a:pt x="5621371" y="654862"/>
                  <a:pt x="5579287" y="654862"/>
                </a:cubicBezTo>
                <a:lnTo>
                  <a:pt x="76200" y="654862"/>
                </a:lnTo>
                <a:cubicBezTo>
                  <a:pt x="34116" y="654862"/>
                  <a:pt x="0" y="620746"/>
                  <a:pt x="0" y="578662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3079" y="58808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6674438" y="5785610"/>
            <a:ext cx="465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 Estándar Mundial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74438" y="6014224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sistema perfecto en detección de errores • +2-5% vs competencia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10" y="388074"/>
            <a:ext cx="1763665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Mejores Prácticas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910" y="685619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Lecciones Aprendidas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8815" y="1142619"/>
            <a:ext cx="5637654" cy="1104900"/>
          </a:xfrm>
          <a:custGeom>
            <a:avLst/>
            <a:gdLst/>
            <a:ahLst/>
            <a:cxnLst/>
            <a:rect l="l" t="t" r="r" b="b"/>
            <a:pathLst>
              <a:path w="5637654" h="1104900">
                <a:moveTo>
                  <a:pt x="35808" y="0"/>
                </a:moveTo>
                <a:lnTo>
                  <a:pt x="5561449" y="0"/>
                </a:lnTo>
                <a:cubicBezTo>
                  <a:pt x="5603536" y="0"/>
                  <a:pt x="5637654" y="34118"/>
                  <a:pt x="5637654" y="76205"/>
                </a:cubicBezTo>
                <a:lnTo>
                  <a:pt x="5637654" y="1028695"/>
                </a:lnTo>
                <a:cubicBezTo>
                  <a:pt x="5637654" y="1070782"/>
                  <a:pt x="5603536" y="1104900"/>
                  <a:pt x="5561449" y="1104900"/>
                </a:cubicBez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98815" y="1142619"/>
            <a:ext cx="35808" cy="1104900"/>
          </a:xfrm>
          <a:custGeom>
            <a:avLst/>
            <a:gdLst/>
            <a:ahLst/>
            <a:cxnLst/>
            <a:rect l="l" t="t" r="r" b="b"/>
            <a:pathLst>
              <a:path w="35808" h="1104900">
                <a:moveTo>
                  <a:pt x="35808" y="0"/>
                </a:moveTo>
                <a:lnTo>
                  <a:pt x="35808" y="0"/>
                </a:lnTo>
                <a:lnTo>
                  <a:pt x="35808" y="1104900"/>
                </a:ln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530970" y="12568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83938" y="13140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6131" y="1256872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&gt; ML Clásico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6131" y="1561574"/>
            <a:ext cx="496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datos tabulares bien estructurados con features de alta calidad, MLP supera significativamente a algoritmos clásicos (+10.2% F1). La arquitectura simple (100 neuronas) fue más efectiva que configuraciones complejas.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0996" y="1142619"/>
            <a:ext cx="5637654" cy="1104900"/>
          </a:xfrm>
          <a:custGeom>
            <a:avLst/>
            <a:gdLst/>
            <a:ahLst/>
            <a:cxnLst/>
            <a:rect l="l" t="t" r="r" b="b"/>
            <a:pathLst>
              <a:path w="5637654" h="1104900">
                <a:moveTo>
                  <a:pt x="35808" y="0"/>
                </a:moveTo>
                <a:lnTo>
                  <a:pt x="5561449" y="0"/>
                </a:lnTo>
                <a:cubicBezTo>
                  <a:pt x="5603536" y="0"/>
                  <a:pt x="5637654" y="34118"/>
                  <a:pt x="5637654" y="76205"/>
                </a:cubicBezTo>
                <a:lnTo>
                  <a:pt x="5637654" y="1028695"/>
                </a:lnTo>
                <a:cubicBezTo>
                  <a:pt x="5637654" y="1070782"/>
                  <a:pt x="5603536" y="1104900"/>
                  <a:pt x="5561449" y="1104900"/>
                </a:cubicBez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170996" y="1142619"/>
            <a:ext cx="35808" cy="1104900"/>
          </a:xfrm>
          <a:custGeom>
            <a:avLst/>
            <a:gdLst/>
            <a:ahLst/>
            <a:cxnLst/>
            <a:rect l="l" t="t" r="r" b="b"/>
            <a:pathLst>
              <a:path w="35808" h="1104900">
                <a:moveTo>
                  <a:pt x="35808" y="0"/>
                </a:moveTo>
                <a:lnTo>
                  <a:pt x="35808" y="0"/>
                </a:lnTo>
                <a:lnTo>
                  <a:pt x="35808" y="1104900"/>
                </a:ln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3151" y="12568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0006" y="13140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98312" y="1256872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 Capturan Contexto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8312" y="1561574"/>
            <a:ext cx="496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features estáticos no pueden capturar la evolución temporal. Los features temporales (lag, rolling stats, derivadas) proporcionan contexto histórico crítico para predecir patrones secuenciales.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8815" y="2361442"/>
            <a:ext cx="5637654" cy="1104900"/>
          </a:xfrm>
          <a:custGeom>
            <a:avLst/>
            <a:gdLst/>
            <a:ahLst/>
            <a:cxnLst/>
            <a:rect l="l" t="t" r="r" b="b"/>
            <a:pathLst>
              <a:path w="5637654" h="1104900">
                <a:moveTo>
                  <a:pt x="35808" y="0"/>
                </a:moveTo>
                <a:lnTo>
                  <a:pt x="5561449" y="0"/>
                </a:lnTo>
                <a:cubicBezTo>
                  <a:pt x="5603536" y="0"/>
                  <a:pt x="5637654" y="34118"/>
                  <a:pt x="5637654" y="76205"/>
                </a:cubicBezTo>
                <a:lnTo>
                  <a:pt x="5637654" y="1028695"/>
                </a:lnTo>
                <a:cubicBezTo>
                  <a:pt x="5637654" y="1070782"/>
                  <a:pt x="5603536" y="1104900"/>
                  <a:pt x="5561449" y="1104900"/>
                </a:cubicBez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398815" y="2361442"/>
            <a:ext cx="35808" cy="1104900"/>
          </a:xfrm>
          <a:custGeom>
            <a:avLst/>
            <a:gdLst/>
            <a:ahLst/>
            <a:cxnLst/>
            <a:rect l="l" t="t" r="r" b="b"/>
            <a:pathLst>
              <a:path w="35808" h="1104900">
                <a:moveTo>
                  <a:pt x="35808" y="0"/>
                </a:moveTo>
                <a:lnTo>
                  <a:pt x="35808" y="0"/>
                </a:lnTo>
                <a:lnTo>
                  <a:pt x="35808" y="1104900"/>
                </a:ln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970" y="24756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5362" y="25328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6131" y="2475695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Ensembles Especializados &gt; Monolíticos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6131" y="2780402"/>
            <a:ext cx="496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Multi-Component Ensemble (Early/Late/Full) logró perfección (F1=1.0000) donde modelos individuales no pudieron. Cada componente especializado en diferentes perspectivas temporales.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0996" y="2361442"/>
            <a:ext cx="5637654" cy="1104900"/>
          </a:xfrm>
          <a:custGeom>
            <a:avLst/>
            <a:gdLst/>
            <a:ahLst/>
            <a:cxnLst/>
            <a:rect l="l" t="t" r="r" b="b"/>
            <a:pathLst>
              <a:path w="5637654" h="1104900">
                <a:moveTo>
                  <a:pt x="35808" y="0"/>
                </a:moveTo>
                <a:lnTo>
                  <a:pt x="5561449" y="0"/>
                </a:lnTo>
                <a:cubicBezTo>
                  <a:pt x="5603536" y="0"/>
                  <a:pt x="5637654" y="34118"/>
                  <a:pt x="5637654" y="76205"/>
                </a:cubicBezTo>
                <a:lnTo>
                  <a:pt x="5637654" y="1028695"/>
                </a:lnTo>
                <a:cubicBezTo>
                  <a:pt x="5637654" y="1070782"/>
                  <a:pt x="5603536" y="1104900"/>
                  <a:pt x="5561449" y="1104900"/>
                </a:cubicBez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170996" y="2361442"/>
            <a:ext cx="35808" cy="1104900"/>
          </a:xfrm>
          <a:custGeom>
            <a:avLst/>
            <a:gdLst/>
            <a:ahLst/>
            <a:cxnLst/>
            <a:rect l="l" t="t" r="r" b="b"/>
            <a:pathLst>
              <a:path w="35808" h="1104900">
                <a:moveTo>
                  <a:pt x="35808" y="0"/>
                </a:moveTo>
                <a:lnTo>
                  <a:pt x="35808" y="0"/>
                </a:lnTo>
                <a:lnTo>
                  <a:pt x="35808" y="1104900"/>
                </a:lnTo>
                <a:lnTo>
                  <a:pt x="35808" y="1104900"/>
                </a:lnTo>
                <a:cubicBezTo>
                  <a:pt x="16032" y="1104900"/>
                  <a:pt x="0" y="1088868"/>
                  <a:pt x="0" y="1069092"/>
                </a:cubicBezTo>
                <a:lnTo>
                  <a:pt x="0" y="35808"/>
                </a:lnTo>
                <a:cubicBezTo>
                  <a:pt x="0" y="16032"/>
                  <a:pt x="16032" y="0"/>
                  <a:pt x="3580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3151" y="24756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37768" y="253287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8312" y="2475695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Validación Rigurosa es Crítica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8312" y="2780402"/>
            <a:ext cx="496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accuracy &gt;95%, la validación debe incluir: gap train-test, CV stability, análisis de learning curves. El dominio tiene patrones claros que permiten alta predictibilidad legítima.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491" y="3545690"/>
            <a:ext cx="11427637" cy="1416862"/>
          </a:xfrm>
          <a:custGeom>
            <a:avLst/>
            <a:gdLst/>
            <a:ahLst/>
            <a:cxnLst/>
            <a:rect l="l" t="t" r="r" b="b"/>
            <a:pathLst>
              <a:path w="11427637" h="1416862">
                <a:moveTo>
                  <a:pt x="76199" y="0"/>
                </a:moveTo>
                <a:lnTo>
                  <a:pt x="11351438" y="0"/>
                </a:lnTo>
                <a:cubicBezTo>
                  <a:pt x="11393521" y="0"/>
                  <a:pt x="11427637" y="34115"/>
                  <a:pt x="11427637" y="76199"/>
                </a:cubicBezTo>
                <a:lnTo>
                  <a:pt x="11427637" y="1340663"/>
                </a:lnTo>
                <a:cubicBezTo>
                  <a:pt x="11427637" y="1382746"/>
                  <a:pt x="11393521" y="1416862"/>
                  <a:pt x="11351438" y="1416862"/>
                </a:cubicBezTo>
                <a:lnTo>
                  <a:pt x="76199" y="1416862"/>
                </a:lnTo>
                <a:cubicBezTo>
                  <a:pt x="34115" y="1416862"/>
                  <a:pt x="0" y="1382746"/>
                  <a:pt x="0" y="1340663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323" y="3663521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Checklist de Validación para Producción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323" y="4006272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800104"/>
                </a:lnTo>
                <a:cubicBezTo>
                  <a:pt x="2714625" y="821144"/>
                  <a:pt x="2697569" y="838200"/>
                  <a:pt x="26765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743567" y="40823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540315" y="4349028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&gt; 0.70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5078" y="457764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Mínimo aceptable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27707" y="4006272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800104"/>
                </a:lnTo>
                <a:cubicBezTo>
                  <a:pt x="2714625" y="821144"/>
                  <a:pt x="2697569" y="838200"/>
                  <a:pt x="26765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40377" y="408236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3365700" y="4349028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&lt; 0.10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70462" y="457764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overfitting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53092" y="4006272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800104"/>
                </a:lnTo>
                <a:cubicBezTo>
                  <a:pt x="2714625" y="821144"/>
                  <a:pt x="2697569" y="838200"/>
                  <a:pt x="26765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94336" y="40823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6191084" y="4349028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std &lt; 0.05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95847" y="457764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Estabilidad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78476" y="4006272"/>
            <a:ext cx="2714625" cy="838200"/>
          </a:xfrm>
          <a:custGeom>
            <a:avLst/>
            <a:gdLst/>
            <a:ahLst/>
            <a:cxnLst/>
            <a:rect l="l" t="t" r="r" b="b"/>
            <a:pathLst>
              <a:path w="2714625" h="838200">
                <a:moveTo>
                  <a:pt x="38096" y="0"/>
                </a:moveTo>
                <a:lnTo>
                  <a:pt x="2676529" y="0"/>
                </a:lnTo>
                <a:cubicBezTo>
                  <a:pt x="2697569" y="0"/>
                  <a:pt x="2714625" y="17056"/>
                  <a:pt x="2714625" y="38096"/>
                </a:cubicBezTo>
                <a:lnTo>
                  <a:pt x="2714625" y="800104"/>
                </a:lnTo>
                <a:cubicBezTo>
                  <a:pt x="2714625" y="821144"/>
                  <a:pt x="2697569" y="838200"/>
                  <a:pt x="26765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19720" y="40823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9016469" y="4349028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 &lt; 50ms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21231" y="4577642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UX aceptable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491" y="5045273"/>
            <a:ext cx="11427637" cy="845362"/>
          </a:xfrm>
          <a:custGeom>
            <a:avLst/>
            <a:gdLst/>
            <a:ahLst/>
            <a:cxnLst/>
            <a:rect l="l" t="t" r="r" b="b"/>
            <a:pathLst>
              <a:path w="11427637" h="845362">
                <a:moveTo>
                  <a:pt x="76201" y="0"/>
                </a:moveTo>
                <a:lnTo>
                  <a:pt x="11351436" y="0"/>
                </a:lnTo>
                <a:cubicBezTo>
                  <a:pt x="11393520" y="0"/>
                  <a:pt x="11427637" y="34116"/>
                  <a:pt x="11427637" y="76201"/>
                </a:cubicBezTo>
                <a:lnTo>
                  <a:pt x="11427637" y="769161"/>
                </a:lnTo>
                <a:cubicBezTo>
                  <a:pt x="11427637" y="811245"/>
                  <a:pt x="11393520" y="845362"/>
                  <a:pt x="11351436" y="845362"/>
                </a:cubicBezTo>
                <a:lnTo>
                  <a:pt x="76201" y="845362"/>
                </a:lnTo>
                <a:cubicBezTo>
                  <a:pt x="34116" y="845362"/>
                  <a:pt x="0" y="811245"/>
                  <a:pt x="0" y="769161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0423" y="535356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68574" y="5163103"/>
            <a:ext cx="1089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Recomendación General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8574" y="5391717"/>
            <a:ext cx="10887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feature engineering y validación rigurosa produce mejores resultados que simplemente aumentar la complejidad del modelo. La iteración sistemática con métricas claras es la clave del éxito.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5"/>
            <a:ext cx="2478040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49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Finanzas y Credit Scoring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66"/>
            <a:ext cx="5728906" cy="3188906"/>
          </a:xfrm>
          <a:custGeom>
            <a:avLst/>
            <a:gdLst/>
            <a:ahLst/>
            <a:cxnLst/>
            <a:rect l="l" t="t" r="r" b="b"/>
            <a:pathLst>
              <a:path w="5728906" h="3188906">
                <a:moveTo>
                  <a:pt x="63491" y="0"/>
                </a:moveTo>
                <a:lnTo>
                  <a:pt x="5665414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3125414"/>
                </a:lnTo>
                <a:cubicBezTo>
                  <a:pt x="5728906" y="3160480"/>
                  <a:pt x="5700480" y="3188906"/>
                  <a:pt x="5665414" y="3188906"/>
                </a:cubicBezTo>
                <a:lnTo>
                  <a:pt x="63491" y="3188906"/>
                </a:lnTo>
                <a:cubicBezTo>
                  <a:pt x="28426" y="3188906"/>
                  <a:pt x="0" y="3160480"/>
                  <a:pt x="0" y="3125414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2013" y="140239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 Análogo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013" y="1624614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probabilidad de default (similar a predecir blunder). Dataset desbalanceado: 90%+ non-default vs 10% default.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2068862"/>
            <a:ext cx="5532438" cy="539750"/>
          </a:xfrm>
          <a:custGeom>
            <a:avLst/>
            <a:gdLst/>
            <a:ahLst/>
            <a:cxnLst/>
            <a:rect l="l" t="t" r="r" b="b"/>
            <a:pathLst>
              <a:path w="5532438" h="539750">
                <a:moveTo>
                  <a:pt x="31748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8"/>
                </a:cubicBezTo>
                <a:lnTo>
                  <a:pt x="5532438" y="508002"/>
                </a:lnTo>
                <a:cubicBezTo>
                  <a:pt x="5532438" y="525536"/>
                  <a:pt x="5518223" y="539750"/>
                  <a:pt x="5500689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2013" y="213226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Aplicados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2013" y="2354488"/>
            <a:ext cx="508000" cy="190500"/>
          </a:xfrm>
          <a:custGeom>
            <a:avLst/>
            <a:gdLst/>
            <a:ahLst/>
            <a:cxnLst/>
            <a:rect l="l" t="t" r="r" b="b"/>
            <a:pathLst>
              <a:path w="508000" h="190500">
                <a:moveTo>
                  <a:pt x="31751" y="0"/>
                </a:moveTo>
                <a:lnTo>
                  <a:pt x="476249" y="0"/>
                </a:lnTo>
                <a:cubicBezTo>
                  <a:pt x="493785" y="0"/>
                  <a:pt x="508000" y="14215"/>
                  <a:pt x="508000" y="31751"/>
                </a:cubicBezTo>
                <a:lnTo>
                  <a:pt x="508000" y="158749"/>
                </a:lnTo>
                <a:cubicBezTo>
                  <a:pt x="508000" y="176285"/>
                  <a:pt x="493785" y="190500"/>
                  <a:pt x="4762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2013" y="2354488"/>
            <a:ext cx="5556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0163" y="2354488"/>
            <a:ext cx="793750" cy="190500"/>
          </a:xfrm>
          <a:custGeom>
            <a:avLst/>
            <a:gdLst/>
            <a:ahLst/>
            <a:cxnLst/>
            <a:rect l="l" t="t" r="r" b="b"/>
            <a:pathLst>
              <a:path w="793750" h="190500">
                <a:moveTo>
                  <a:pt x="31751" y="0"/>
                </a:moveTo>
                <a:lnTo>
                  <a:pt x="761999" y="0"/>
                </a:lnTo>
                <a:cubicBezTo>
                  <a:pt x="779535" y="0"/>
                  <a:pt x="793750" y="14215"/>
                  <a:pt x="793750" y="31751"/>
                </a:cubicBezTo>
                <a:lnTo>
                  <a:pt x="793750" y="158749"/>
                </a:lnTo>
                <a:cubicBezTo>
                  <a:pt x="793750" y="176285"/>
                  <a:pt x="779535" y="190500"/>
                  <a:pt x="761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0163" y="2354488"/>
            <a:ext cx="841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43287" y="2354488"/>
            <a:ext cx="325438" cy="190500"/>
          </a:xfrm>
          <a:custGeom>
            <a:avLst/>
            <a:gdLst/>
            <a:ahLst/>
            <a:cxnLst/>
            <a:rect l="l" t="t" r="r" b="b"/>
            <a:pathLst>
              <a:path w="325438" h="190500">
                <a:moveTo>
                  <a:pt x="31751" y="0"/>
                </a:moveTo>
                <a:lnTo>
                  <a:pt x="293687" y="0"/>
                </a:lnTo>
                <a:cubicBezTo>
                  <a:pt x="311222" y="0"/>
                  <a:pt x="325438" y="14215"/>
                  <a:pt x="325438" y="31751"/>
                </a:cubicBezTo>
                <a:lnTo>
                  <a:pt x="325438" y="158749"/>
                </a:lnTo>
                <a:cubicBezTo>
                  <a:pt x="325438" y="176285"/>
                  <a:pt x="311222" y="190500"/>
                  <a:pt x="29368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843287" y="2354488"/>
            <a:ext cx="37306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97080" y="2354488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31751" y="0"/>
                </a:moveTo>
                <a:lnTo>
                  <a:pt x="301624" y="0"/>
                </a:lnTo>
                <a:cubicBezTo>
                  <a:pt x="319160" y="0"/>
                  <a:pt x="333375" y="14215"/>
                  <a:pt x="333375" y="31751"/>
                </a:cubicBezTo>
                <a:lnTo>
                  <a:pt x="333375" y="158749"/>
                </a:lnTo>
                <a:cubicBezTo>
                  <a:pt x="333375" y="176285"/>
                  <a:pt x="319160" y="190500"/>
                  <a:pt x="301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197080" y="2354488"/>
            <a:ext cx="3810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8602" y="2671632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2013" y="2735046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Similares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013" y="2957257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Historial crediticio (score_diff), ratios financieros (material_balance), comportamiento de pago (mobility), datos demográficos.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586" y="3404493"/>
            <a:ext cx="5522531" cy="513968"/>
          </a:xfrm>
          <a:custGeom>
            <a:avLst/>
            <a:gdLst/>
            <a:ahLst/>
            <a:cxnLst/>
            <a:rect l="l" t="t" r="r" b="b"/>
            <a:pathLst>
              <a:path w="5522531" h="513968">
                <a:moveTo>
                  <a:pt x="31748" y="0"/>
                </a:moveTo>
                <a:lnTo>
                  <a:pt x="5490783" y="0"/>
                </a:lnTo>
                <a:cubicBezTo>
                  <a:pt x="5508317" y="0"/>
                  <a:pt x="5522531" y="14214"/>
                  <a:pt x="5522531" y="31748"/>
                </a:cubicBezTo>
                <a:lnTo>
                  <a:pt x="5522531" y="482220"/>
                </a:lnTo>
                <a:cubicBezTo>
                  <a:pt x="5522531" y="499754"/>
                  <a:pt x="5508317" y="513968"/>
                  <a:pt x="5490783" y="513968"/>
                </a:cubicBezTo>
                <a:lnTo>
                  <a:pt x="31748" y="513968"/>
                </a:lnTo>
                <a:cubicBezTo>
                  <a:pt x="14214" y="513968"/>
                  <a:pt x="0" y="499754"/>
                  <a:pt x="0" y="4822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981" y="3470885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 en Industria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7981" y="3693104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AUC-ROC: 0.92-0.97 • Accuracy: 93-98% • XGBoost-BO mejora 2-4% sobre baseline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46527" y="955166"/>
            <a:ext cx="5728906" cy="3188906"/>
          </a:xfrm>
          <a:custGeom>
            <a:avLst/>
            <a:gdLst/>
            <a:ahLst/>
            <a:cxnLst/>
            <a:rect l="l" t="t" r="r" b="b"/>
            <a:pathLst>
              <a:path w="5728906" h="3188906">
                <a:moveTo>
                  <a:pt x="63491" y="0"/>
                </a:moveTo>
                <a:lnTo>
                  <a:pt x="5665414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3125414"/>
                </a:lnTo>
                <a:cubicBezTo>
                  <a:pt x="5728906" y="3160480"/>
                  <a:pt x="5700480" y="3188906"/>
                  <a:pt x="5665414" y="3188906"/>
                </a:cubicBezTo>
                <a:lnTo>
                  <a:pt x="63491" y="3188906"/>
                </a:lnTo>
                <a:cubicBezTo>
                  <a:pt x="28426" y="3188906"/>
                  <a:pt x="0" y="3160480"/>
                  <a:pt x="0" y="3125414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4720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Trading Algorítmico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44720" y="1338988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08130" y="140239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Series Temporales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8130" y="1624614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LSTM/GRU para predecir movimientos de precios. Similar a predicción de errores en secuencias de jugadas.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44720" y="2068862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08130" y="2132269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Utilizadas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8130" y="2354488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Precios históricos (lag features), volatilidad (rolling stats), indicadores técnicos (RSI, MACD), volumen.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44720" y="2640021"/>
            <a:ext cx="5532438" cy="825500"/>
          </a:xfrm>
          <a:custGeom>
            <a:avLst/>
            <a:gdLst/>
            <a:ahLst/>
            <a:cxnLst/>
            <a:rect l="l" t="t" r="r" b="b"/>
            <a:pathLst>
              <a:path w="5532438" h="825500">
                <a:moveTo>
                  <a:pt x="31749" y="0"/>
                </a:moveTo>
                <a:lnTo>
                  <a:pt x="5500689" y="0"/>
                </a:lnTo>
                <a:cubicBezTo>
                  <a:pt x="5518223" y="0"/>
                  <a:pt x="5532438" y="14214"/>
                  <a:pt x="5532438" y="31749"/>
                </a:cubicBezTo>
                <a:lnTo>
                  <a:pt x="5532438" y="793751"/>
                </a:lnTo>
                <a:cubicBezTo>
                  <a:pt x="5532437" y="811286"/>
                  <a:pt x="5518223" y="825500"/>
                  <a:pt x="5500689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08130" y="2703428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8130" y="2925647"/>
            <a:ext cx="546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Clasificación: comprar/vender/mantener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Regresión: predicción de retornos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Reinforcement Learning: optimización de portfolio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47704" y="3531594"/>
            <a:ext cx="5522531" cy="513968"/>
          </a:xfrm>
          <a:custGeom>
            <a:avLst/>
            <a:gdLst/>
            <a:ahLst/>
            <a:cxnLst/>
            <a:rect l="l" t="t" r="r" b="b"/>
            <a:pathLst>
              <a:path w="5522531" h="513968">
                <a:moveTo>
                  <a:pt x="31748" y="0"/>
                </a:moveTo>
                <a:lnTo>
                  <a:pt x="5490783" y="0"/>
                </a:lnTo>
                <a:cubicBezTo>
                  <a:pt x="5508317" y="0"/>
                  <a:pt x="5522531" y="14214"/>
                  <a:pt x="5522531" y="31748"/>
                </a:cubicBezTo>
                <a:lnTo>
                  <a:pt x="5522531" y="482220"/>
                </a:lnTo>
                <a:cubicBezTo>
                  <a:pt x="5522531" y="499754"/>
                  <a:pt x="5508317" y="513968"/>
                  <a:pt x="5490783" y="513968"/>
                </a:cubicBezTo>
                <a:lnTo>
                  <a:pt x="31748" y="513968"/>
                </a:lnTo>
                <a:cubicBezTo>
                  <a:pt x="14214" y="513968"/>
                  <a:pt x="0" y="499754"/>
                  <a:pt x="0" y="4822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4099" y="3597986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14099" y="3820205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Mercados no estacionarios, eficiencia de mercado, latencia crítica, regulación.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409" y="4215863"/>
            <a:ext cx="11555031" cy="1402968"/>
          </a:xfrm>
          <a:custGeom>
            <a:avLst/>
            <a:gdLst/>
            <a:ahLst/>
            <a:cxnLst/>
            <a:rect l="l" t="t" r="r" b="b"/>
            <a:pathLst>
              <a:path w="11555031" h="1402968">
                <a:moveTo>
                  <a:pt x="63498" y="0"/>
                </a:moveTo>
                <a:lnTo>
                  <a:pt x="11491532" y="0"/>
                </a:lnTo>
                <a:cubicBezTo>
                  <a:pt x="11526601" y="0"/>
                  <a:pt x="11555031" y="28429"/>
                  <a:pt x="11555031" y="63498"/>
                </a:cubicBezTo>
                <a:lnTo>
                  <a:pt x="11555031" y="1339470"/>
                </a:lnTo>
                <a:cubicBezTo>
                  <a:pt x="11555031" y="1374539"/>
                  <a:pt x="11526601" y="1402968"/>
                  <a:pt x="11491532" y="1402968"/>
                </a:cubicBezTo>
                <a:lnTo>
                  <a:pt x="63498" y="1402968"/>
                </a:lnTo>
                <a:cubicBezTo>
                  <a:pt x="28429" y="1402968"/>
                  <a:pt x="0" y="1374539"/>
                  <a:pt x="0" y="1339470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8602" y="4314058"/>
            <a:ext cx="1143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Risk Assessment y Detección de Fraude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18602" y="4599684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3811" y="4694896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Anomalías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3811" y="4917107"/>
            <a:ext cx="3587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Forest, One-Class SVM para detectar transacciones fraudulentas.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3811" y="5297944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detectar jugadas "fuera de patrón"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5260" y="4599684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330470" y="4694896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Warning Systems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30470" y="4917107"/>
            <a:ext cx="3587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 para predecir deterioro crediticio con 12.7% anticipación.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30470" y="5297944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detectar "rachas de errores"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51918" y="4599684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147128" y="4694896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47128" y="4917107"/>
            <a:ext cx="358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 y LIME para explicar decisiones a reguladores y clientes.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47128" y="5139233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Crítico para cumplimiento GDPR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409" y="5687641"/>
            <a:ext cx="11555031" cy="704468"/>
          </a:xfrm>
          <a:custGeom>
            <a:avLst/>
            <a:gdLst/>
            <a:ahLst/>
            <a:cxnLst/>
            <a:rect l="l" t="t" r="r" b="b"/>
            <a:pathLst>
              <a:path w="11555031" h="704468">
                <a:moveTo>
                  <a:pt x="63501" y="0"/>
                </a:moveTo>
                <a:lnTo>
                  <a:pt x="11491530" y="0"/>
                </a:lnTo>
                <a:cubicBezTo>
                  <a:pt x="11526600" y="0"/>
                  <a:pt x="11555031" y="28430"/>
                  <a:pt x="11555031" y="63501"/>
                </a:cubicBezTo>
                <a:lnTo>
                  <a:pt x="11555031" y="640967"/>
                </a:lnTo>
                <a:cubicBezTo>
                  <a:pt x="11555031" y="676038"/>
                  <a:pt x="11526600" y="704468"/>
                  <a:pt x="11491530" y="704468"/>
                </a:cubicBezTo>
                <a:lnTo>
                  <a:pt x="63501" y="704468"/>
                </a:lnTo>
                <a:cubicBezTo>
                  <a:pt x="28430" y="704468"/>
                  <a:pt x="0" y="676038"/>
                  <a:pt x="0" y="64096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2259" y="594454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745353" y="5785837"/>
            <a:ext cx="1108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Transferible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5353" y="5976345"/>
            <a:ext cx="11080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algoritmos (XGBoost, Random Forest, MLP, LSTM) y técnicas (manejo de desbalanceo, validación cruzada, regularización) aplican directamente. El feature engineering específico del dominio es la clave del éxito.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1"/>
            <a:ext cx="2478040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4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Salud y Farmacéuticas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66"/>
            <a:ext cx="5728906" cy="3188906"/>
          </a:xfrm>
          <a:custGeom>
            <a:avLst/>
            <a:gdLst/>
            <a:ahLst/>
            <a:cxnLst/>
            <a:rect l="l" t="t" r="r" b="b"/>
            <a:pathLst>
              <a:path w="5728906" h="3188906">
                <a:moveTo>
                  <a:pt x="63491" y="0"/>
                </a:moveTo>
                <a:lnTo>
                  <a:pt x="5665414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3125414"/>
                </a:lnTo>
                <a:cubicBezTo>
                  <a:pt x="5728906" y="3160480"/>
                  <a:pt x="5700480" y="3188906"/>
                  <a:pt x="5665414" y="3188906"/>
                </a:cubicBezTo>
                <a:lnTo>
                  <a:pt x="63491" y="3188906"/>
                </a:lnTo>
                <a:cubicBezTo>
                  <a:pt x="28426" y="3188906"/>
                  <a:pt x="0" y="3160480"/>
                  <a:pt x="0" y="3125414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54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Descubrimiento de Fármacos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2013" y="14023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Targets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013" y="1624614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analiza datos genómicos, proteómicos y transcriptómicos para descubrir potenciales dianas terapéuticas. Similar a identificar patrones tácticos en ajedrez.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2068858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2013" y="213226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Propiedades Moleculares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013" y="2354484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Forest/XGBoost predicen actividad, potencia y toxicidad de compuestos. Reduce pruebas de laboratorio innecesarias.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8602" y="279872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2013" y="2862143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de Novo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013" y="308435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generativos (VAE, GAN) crean nuevas estructuras moleculares con propiedades deseadas.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1586" y="3372879"/>
            <a:ext cx="5522531" cy="672718"/>
          </a:xfrm>
          <a:custGeom>
            <a:avLst/>
            <a:gdLst/>
            <a:ahLst/>
            <a:cxnLst/>
            <a:rect l="l" t="t" r="r" b="b"/>
            <a:pathLst>
              <a:path w="5522531" h="672718">
                <a:moveTo>
                  <a:pt x="31752" y="0"/>
                </a:moveTo>
                <a:lnTo>
                  <a:pt x="5490778" y="0"/>
                </a:lnTo>
                <a:cubicBezTo>
                  <a:pt x="5508315" y="0"/>
                  <a:pt x="5522531" y="14216"/>
                  <a:pt x="5522531" y="31752"/>
                </a:cubicBezTo>
                <a:lnTo>
                  <a:pt x="5522531" y="640966"/>
                </a:lnTo>
                <a:cubicBezTo>
                  <a:pt x="5522531" y="658502"/>
                  <a:pt x="5508315" y="672718"/>
                  <a:pt x="5490778" y="672718"/>
                </a:cubicBezTo>
                <a:lnTo>
                  <a:pt x="31752" y="672718"/>
                </a:lnTo>
                <a:cubicBezTo>
                  <a:pt x="14216" y="672718"/>
                  <a:pt x="0" y="658502"/>
                  <a:pt x="0" y="640966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981" y="3439271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Éxito Documentado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981" y="3661490"/>
            <a:ext cx="5445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Exscientia: primer fármaco diseñado por IA en ensayos clínicos. AlphaFold: predicción de estructuras de proteínas.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46527" y="955166"/>
            <a:ext cx="5728906" cy="3188906"/>
          </a:xfrm>
          <a:custGeom>
            <a:avLst/>
            <a:gdLst/>
            <a:ahLst/>
            <a:cxnLst/>
            <a:rect l="l" t="t" r="r" b="b"/>
            <a:pathLst>
              <a:path w="5728906" h="3188906">
                <a:moveTo>
                  <a:pt x="63491" y="0"/>
                </a:moveTo>
                <a:lnTo>
                  <a:pt x="5665414" y="0"/>
                </a:lnTo>
                <a:cubicBezTo>
                  <a:pt x="5700480" y="0"/>
                  <a:pt x="5728906" y="28426"/>
                  <a:pt x="5728906" y="63491"/>
                </a:cubicBezTo>
                <a:lnTo>
                  <a:pt x="5728906" y="3125414"/>
                </a:lnTo>
                <a:cubicBezTo>
                  <a:pt x="5728906" y="3160480"/>
                  <a:pt x="5700480" y="3188906"/>
                  <a:pt x="5665414" y="3188906"/>
                </a:cubicBezTo>
                <a:lnTo>
                  <a:pt x="63491" y="3188906"/>
                </a:lnTo>
                <a:cubicBezTo>
                  <a:pt x="28426" y="3188906"/>
                  <a:pt x="0" y="3160480"/>
                  <a:pt x="0" y="3125414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4720" y="1053354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4720" y="13389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8130" y="14023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8130" y="16246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(ResNet, VGG) para detección de cáncer en mamografías, radiografías, tomografías. Accuracy: 95%+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4720" y="1910147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8130" y="1973554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Tabulares de Pacientes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8130" y="2195773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 similar a Phase 2: síntomas, resultados de laboratorio, historial médico → diagnóstico.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4720" y="2481306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8130" y="2544713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 Temporales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8130" y="2766932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para ECG, EEG, monitoreo de signos vitales. Predicción de eventos adversos.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7704" y="3055449"/>
            <a:ext cx="5522531" cy="513968"/>
          </a:xfrm>
          <a:custGeom>
            <a:avLst/>
            <a:gdLst/>
            <a:ahLst/>
            <a:cxnLst/>
            <a:rect l="l" t="t" r="r" b="b"/>
            <a:pathLst>
              <a:path w="5522531" h="513968">
                <a:moveTo>
                  <a:pt x="31748" y="0"/>
                </a:moveTo>
                <a:lnTo>
                  <a:pt x="5490783" y="0"/>
                </a:lnTo>
                <a:cubicBezTo>
                  <a:pt x="5508317" y="0"/>
                  <a:pt x="5522531" y="14214"/>
                  <a:pt x="5522531" y="31748"/>
                </a:cubicBezTo>
                <a:lnTo>
                  <a:pt x="5522531" y="482220"/>
                </a:lnTo>
                <a:cubicBezTo>
                  <a:pt x="5522531" y="499754"/>
                  <a:pt x="5508317" y="513968"/>
                  <a:pt x="5490783" y="513968"/>
                </a:cubicBezTo>
                <a:lnTo>
                  <a:pt x="31748" y="513968"/>
                </a:lnTo>
                <a:cubicBezTo>
                  <a:pt x="14214" y="513968"/>
                  <a:pt x="0" y="499754"/>
                  <a:pt x="0" y="4822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4099" y="3121848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Específicos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4099" y="3344059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HIPAA compliance, interpretabilidad crítica (SHAP), datos sensibles, validación clínica rigurosa.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409" y="4215859"/>
            <a:ext cx="11555031" cy="1402968"/>
          </a:xfrm>
          <a:custGeom>
            <a:avLst/>
            <a:gdLst/>
            <a:ahLst/>
            <a:cxnLst/>
            <a:rect l="l" t="t" r="r" b="b"/>
            <a:pathLst>
              <a:path w="11555031" h="1402968">
                <a:moveTo>
                  <a:pt x="63498" y="0"/>
                </a:moveTo>
                <a:lnTo>
                  <a:pt x="11491532" y="0"/>
                </a:lnTo>
                <a:cubicBezTo>
                  <a:pt x="11526601" y="0"/>
                  <a:pt x="11555031" y="28429"/>
                  <a:pt x="11555031" y="63498"/>
                </a:cubicBezTo>
                <a:lnTo>
                  <a:pt x="11555031" y="1339470"/>
                </a:lnTo>
                <a:cubicBezTo>
                  <a:pt x="11555031" y="1374539"/>
                  <a:pt x="11526601" y="1402968"/>
                  <a:pt x="11491532" y="1402968"/>
                </a:cubicBezTo>
                <a:lnTo>
                  <a:pt x="63498" y="1402968"/>
                </a:lnTo>
                <a:cubicBezTo>
                  <a:pt x="28429" y="1402968"/>
                  <a:pt x="0" y="1374539"/>
                  <a:pt x="0" y="1339470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602" y="4314055"/>
            <a:ext cx="1143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Medicina Personalizada y Precisión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8602" y="4599680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3811" y="4694892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Genómico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3811" y="4917111"/>
            <a:ext cx="3587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detecta mutaciones y biomarcadores que influyen en respuesta al tratamiento.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3811" y="5297940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 de perfiles genómicos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5260" y="4599680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330470" y="4694892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Estratificación de Pacientes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30470" y="4917111"/>
            <a:ext cx="3587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K-Means/Gaussian Mixture para clasificar pacientes por respuesta probable al tratamiento.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30470" y="5297940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clustering de jugadores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51918" y="4599680"/>
            <a:ext cx="3722688" cy="920750"/>
          </a:xfrm>
          <a:custGeom>
            <a:avLst/>
            <a:gdLst/>
            <a:ahLst/>
            <a:cxnLst/>
            <a:rect l="l" t="t" r="r" b="b"/>
            <a:pathLst>
              <a:path w="3722688" h="920750">
                <a:moveTo>
                  <a:pt x="31747" y="0"/>
                </a:moveTo>
                <a:lnTo>
                  <a:pt x="3690940" y="0"/>
                </a:lnTo>
                <a:cubicBezTo>
                  <a:pt x="3708474" y="0"/>
                  <a:pt x="3722687" y="14214"/>
                  <a:pt x="3722687" y="31747"/>
                </a:cubicBezTo>
                <a:lnTo>
                  <a:pt x="3722688" y="889003"/>
                </a:lnTo>
                <a:cubicBezTo>
                  <a:pt x="3722687" y="906536"/>
                  <a:pt x="3708474" y="920750"/>
                  <a:pt x="3690940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147128" y="4694892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Diagnósticos de Acompañamiento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47128" y="4917111"/>
            <a:ext cx="3587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Identifican qué pacientes se beneficiarán más de terapias específicas.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7128" y="5297940"/>
            <a:ext cx="3579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Oncología: inmunoterapia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409" y="5687637"/>
            <a:ext cx="5728906" cy="545718"/>
          </a:xfrm>
          <a:custGeom>
            <a:avLst/>
            <a:gdLst/>
            <a:ahLst/>
            <a:cxnLst/>
            <a:rect l="l" t="t" r="r" b="b"/>
            <a:pathLst>
              <a:path w="5728906" h="545718">
                <a:moveTo>
                  <a:pt x="63500" y="0"/>
                </a:moveTo>
                <a:lnTo>
                  <a:pt x="5665406" y="0"/>
                </a:lnTo>
                <a:cubicBezTo>
                  <a:pt x="5700476" y="0"/>
                  <a:pt x="5728906" y="28430"/>
                  <a:pt x="5728906" y="63500"/>
                </a:cubicBezTo>
                <a:lnTo>
                  <a:pt x="5728906" y="482218"/>
                </a:lnTo>
                <a:cubicBezTo>
                  <a:pt x="5728906" y="517288"/>
                  <a:pt x="5700476" y="545718"/>
                  <a:pt x="5665406" y="545718"/>
                </a:cubicBezTo>
                <a:lnTo>
                  <a:pt x="63500" y="545718"/>
                </a:lnTo>
                <a:cubicBezTo>
                  <a:pt x="28430" y="545718"/>
                  <a:pt x="0" y="517288"/>
                  <a:pt x="0" y="48221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415" y="58651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41672"/>
                </a:moveTo>
                <a:cubicBezTo>
                  <a:pt x="23812" y="31812"/>
                  <a:pt x="31812" y="23812"/>
                  <a:pt x="41672" y="23812"/>
                </a:cubicBezTo>
                <a:cubicBezTo>
                  <a:pt x="51532" y="23812"/>
                  <a:pt x="59531" y="31812"/>
                  <a:pt x="59531" y="41672"/>
                </a:cubicBezTo>
                <a:lnTo>
                  <a:pt x="59531" y="83344"/>
                </a:lnTo>
                <a:lnTo>
                  <a:pt x="23812" y="83344"/>
                </a:lnTo>
                <a:lnTo>
                  <a:pt x="23812" y="41672"/>
                </a:lnTo>
                <a:close/>
                <a:moveTo>
                  <a:pt x="65484" y="136922"/>
                </a:moveTo>
                <a:cubicBezTo>
                  <a:pt x="65484" y="118802"/>
                  <a:pt x="72219" y="102245"/>
                  <a:pt x="83344" y="89669"/>
                </a:cubicBezTo>
                <a:lnTo>
                  <a:pt x="83344" y="41672"/>
                </a:ln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lnTo>
                  <a:pt x="0" y="148828"/>
                </a:lnTo>
                <a:cubicBezTo>
                  <a:pt x="0" y="171859"/>
                  <a:pt x="18641" y="190500"/>
                  <a:pt x="41672" y="190500"/>
                </a:cubicBezTo>
                <a:cubicBezTo>
                  <a:pt x="55550" y="190500"/>
                  <a:pt x="67828" y="183728"/>
                  <a:pt x="75419" y="173273"/>
                </a:cubicBezTo>
                <a:cubicBezTo>
                  <a:pt x="69093" y="162632"/>
                  <a:pt x="65484" y="150205"/>
                  <a:pt x="65484" y="136922"/>
                </a:cubicBezTo>
                <a:close/>
                <a:moveTo>
                  <a:pt x="89557" y="161999"/>
                </a:moveTo>
                <a:cubicBezTo>
                  <a:pt x="91269" y="165236"/>
                  <a:pt x="95622" y="165608"/>
                  <a:pt x="98227" y="163004"/>
                </a:cubicBezTo>
                <a:lnTo>
                  <a:pt x="163004" y="98227"/>
                </a:lnTo>
                <a:cubicBezTo>
                  <a:pt x="165608" y="95622"/>
                  <a:pt x="165236" y="91269"/>
                  <a:pt x="161999" y="89557"/>
                </a:cubicBezTo>
                <a:cubicBezTo>
                  <a:pt x="154521" y="85576"/>
                  <a:pt x="146000" y="83344"/>
                  <a:pt x="136922" y="83344"/>
                </a:cubicBezTo>
                <a:cubicBezTo>
                  <a:pt x="107342" y="83344"/>
                  <a:pt x="83344" y="107342"/>
                  <a:pt x="83344" y="136922"/>
                </a:cubicBezTo>
                <a:cubicBezTo>
                  <a:pt x="83344" y="145963"/>
                  <a:pt x="85576" y="154521"/>
                  <a:pt x="89557" y="161999"/>
                </a:cubicBezTo>
                <a:close/>
                <a:moveTo>
                  <a:pt x="110840" y="175617"/>
                </a:moveTo>
                <a:cubicBezTo>
                  <a:pt x="108235" y="178222"/>
                  <a:pt x="108607" y="182575"/>
                  <a:pt x="111844" y="184286"/>
                </a:cubicBezTo>
                <a:cubicBezTo>
                  <a:pt x="119323" y="188268"/>
                  <a:pt x="127843" y="190500"/>
                  <a:pt x="136922" y="190500"/>
                </a:cubicBezTo>
                <a:cubicBezTo>
                  <a:pt x="166501" y="190500"/>
                  <a:pt x="190500" y="166501"/>
                  <a:pt x="190500" y="136922"/>
                </a:cubicBezTo>
                <a:cubicBezTo>
                  <a:pt x="190500" y="127881"/>
                  <a:pt x="188268" y="119323"/>
                  <a:pt x="184286" y="111844"/>
                </a:cubicBezTo>
                <a:cubicBezTo>
                  <a:pt x="182575" y="108607"/>
                  <a:pt x="178222" y="108235"/>
                  <a:pt x="175617" y="110840"/>
                </a:cubicBezTo>
                <a:lnTo>
                  <a:pt x="110840" y="17561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751880" y="5785833"/>
            <a:ext cx="448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Ensayos Clínicos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1880" y="5976341"/>
            <a:ext cx="447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twins (Unlearn.AI) para simular pacientes virtuales y reducir tamaño de ensayos.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46527" y="5687637"/>
            <a:ext cx="5728906" cy="545718"/>
          </a:xfrm>
          <a:custGeom>
            <a:avLst/>
            <a:gdLst/>
            <a:ahLst/>
            <a:cxnLst/>
            <a:rect l="l" t="t" r="r" b="b"/>
            <a:pathLst>
              <a:path w="5728906" h="545718">
                <a:moveTo>
                  <a:pt x="63500" y="0"/>
                </a:moveTo>
                <a:lnTo>
                  <a:pt x="5665406" y="0"/>
                </a:lnTo>
                <a:cubicBezTo>
                  <a:pt x="5700476" y="0"/>
                  <a:pt x="5728906" y="28430"/>
                  <a:pt x="5728906" y="63500"/>
                </a:cubicBezTo>
                <a:lnTo>
                  <a:pt x="5728906" y="482218"/>
                </a:lnTo>
                <a:cubicBezTo>
                  <a:pt x="5728906" y="517288"/>
                  <a:pt x="5700476" y="545718"/>
                  <a:pt x="5665406" y="545718"/>
                </a:cubicBezTo>
                <a:lnTo>
                  <a:pt x="63500" y="545718"/>
                </a:lnTo>
                <a:cubicBezTo>
                  <a:pt x="28430" y="545718"/>
                  <a:pt x="0" y="517288"/>
                  <a:pt x="0" y="48221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2345" y="586518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30969" y="0"/>
                </a:moveTo>
                <a:cubicBezTo>
                  <a:pt x="137554" y="0"/>
                  <a:pt x="142875" y="5321"/>
                  <a:pt x="142875" y="11906"/>
                </a:cubicBezTo>
                <a:cubicBezTo>
                  <a:pt x="142875" y="33412"/>
                  <a:pt x="133796" y="50899"/>
                  <a:pt x="121518" y="65670"/>
                </a:cubicBezTo>
                <a:cubicBezTo>
                  <a:pt x="112551" y="76423"/>
                  <a:pt x="101501" y="86171"/>
                  <a:pt x="90413" y="95250"/>
                </a:cubicBezTo>
                <a:cubicBezTo>
                  <a:pt x="101501" y="104366"/>
                  <a:pt x="112551" y="114077"/>
                  <a:pt x="121518" y="124830"/>
                </a:cubicBezTo>
                <a:cubicBezTo>
                  <a:pt x="133796" y="139564"/>
                  <a:pt x="142875" y="157088"/>
                  <a:pt x="142875" y="178594"/>
                </a:cubicBezTo>
                <a:cubicBezTo>
                  <a:pt x="142875" y="185179"/>
                  <a:pt x="137554" y="190500"/>
                  <a:pt x="130969" y="190500"/>
                </a:cubicBezTo>
                <a:cubicBezTo>
                  <a:pt x="124383" y="190500"/>
                  <a:pt x="119063" y="185179"/>
                  <a:pt x="119063" y="178594"/>
                </a:cubicBez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cubicBezTo>
                  <a:pt x="0" y="157088"/>
                  <a:pt x="9079" y="139601"/>
                  <a:pt x="21357" y="124830"/>
                </a:cubicBezTo>
                <a:cubicBezTo>
                  <a:pt x="30324" y="114077"/>
                  <a:pt x="41374" y="104366"/>
                  <a:pt x="52462" y="95250"/>
                </a:cubicBezTo>
                <a:cubicBezTo>
                  <a:pt x="41374" y="86134"/>
                  <a:pt x="30324" y="76423"/>
                  <a:pt x="21357" y="65670"/>
                </a:cubicBezTo>
                <a:cubicBezTo>
                  <a:pt x="9079" y="50899"/>
                  <a:pt x="0" y="33412"/>
                  <a:pt x="0" y="11906"/>
                </a:cubicBez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119063" y="11906"/>
                </a:lnTo>
                <a:cubicBezTo>
                  <a:pt x="119063" y="5321"/>
                  <a:pt x="124383" y="0"/>
                  <a:pt x="130969" y="0"/>
                </a:cubicBezTo>
                <a:close/>
                <a:moveTo>
                  <a:pt x="105482" y="142875"/>
                </a:moveTo>
                <a:lnTo>
                  <a:pt x="37430" y="142875"/>
                </a:lnTo>
                <a:cubicBezTo>
                  <a:pt x="34379" y="146782"/>
                  <a:pt x="31812" y="150726"/>
                  <a:pt x="29766" y="154781"/>
                </a:cubicBezTo>
                <a:lnTo>
                  <a:pt x="113184" y="154781"/>
                </a:lnTo>
                <a:cubicBezTo>
                  <a:pt x="111100" y="150726"/>
                  <a:pt x="108533" y="146782"/>
                  <a:pt x="105519" y="142875"/>
                </a:cubicBezTo>
                <a:close/>
                <a:moveTo>
                  <a:pt x="88553" y="125016"/>
                </a:moveTo>
                <a:cubicBezTo>
                  <a:pt x="83232" y="120179"/>
                  <a:pt x="77465" y="115416"/>
                  <a:pt x="71438" y="110505"/>
                </a:cubicBezTo>
                <a:cubicBezTo>
                  <a:pt x="65410" y="115379"/>
                  <a:pt x="59643" y="120179"/>
                  <a:pt x="54322" y="125016"/>
                </a:cubicBezTo>
                <a:lnTo>
                  <a:pt x="88553" y="125016"/>
                </a:lnTo>
                <a:close/>
                <a:moveTo>
                  <a:pt x="37393" y="47625"/>
                </a:moveTo>
                <a:lnTo>
                  <a:pt x="105445" y="47625"/>
                </a:lnTo>
                <a:cubicBezTo>
                  <a:pt x="108496" y="43718"/>
                  <a:pt x="111063" y="39774"/>
                  <a:pt x="113109" y="35719"/>
                </a:cubicBezTo>
                <a:lnTo>
                  <a:pt x="29728" y="35719"/>
                </a:lnTo>
                <a:cubicBezTo>
                  <a:pt x="31812" y="39774"/>
                  <a:pt x="34379" y="43718"/>
                  <a:pt x="37393" y="47625"/>
                </a:cubicBezTo>
                <a:close/>
                <a:moveTo>
                  <a:pt x="54322" y="65484"/>
                </a:moveTo>
                <a:cubicBezTo>
                  <a:pt x="59643" y="70321"/>
                  <a:pt x="65410" y="75084"/>
                  <a:pt x="71438" y="79995"/>
                </a:cubicBezTo>
                <a:cubicBezTo>
                  <a:pt x="77465" y="75121"/>
                  <a:pt x="83232" y="70321"/>
                  <a:pt x="88553" y="65484"/>
                </a:cubicBezTo>
                <a:lnTo>
                  <a:pt x="54322" y="6548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6577998" y="5785833"/>
            <a:ext cx="438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Farmacovigilancia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77998" y="5976341"/>
            <a:ext cx="4381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eventos adversos en tiempo real usando NLP en registros electrónicos.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179" y="330272"/>
            <a:ext cx="2530765" cy="170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spc="51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179" y="583501"/>
            <a:ext cx="11689404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8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Marketing y Segmentación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227" y="975489"/>
            <a:ext cx="5712989" cy="3094627"/>
          </a:xfrm>
          <a:custGeom>
            <a:avLst/>
            <a:gdLst/>
            <a:ahLst/>
            <a:cxnLst/>
            <a:rect l="l" t="t" r="r" b="b"/>
            <a:pathLst>
              <a:path w="5712989" h="3094627">
                <a:moveTo>
                  <a:pt x="64863" y="0"/>
                </a:moveTo>
                <a:lnTo>
                  <a:pt x="5648125" y="0"/>
                </a:lnTo>
                <a:cubicBezTo>
                  <a:pt x="5683948" y="0"/>
                  <a:pt x="5712989" y="29040"/>
                  <a:pt x="5712989" y="64863"/>
                </a:cubicBezTo>
                <a:lnTo>
                  <a:pt x="5712989" y="3029764"/>
                </a:lnTo>
                <a:cubicBezTo>
                  <a:pt x="5712989" y="3065587"/>
                  <a:pt x="5683948" y="3094627"/>
                  <a:pt x="5648125" y="3094627"/>
                </a:cubicBezTo>
                <a:lnTo>
                  <a:pt x="64863" y="3094627"/>
                </a:lnTo>
                <a:cubicBezTo>
                  <a:pt x="29040" y="3094627"/>
                  <a:pt x="0" y="3065587"/>
                  <a:pt x="0" y="3029764"/>
                </a:cubicBezTo>
                <a:lnTo>
                  <a:pt x="0" y="64863"/>
                </a:lnTo>
                <a:cubicBezTo>
                  <a:pt x="0" y="29064"/>
                  <a:pt x="29064" y="0"/>
                  <a:pt x="6486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7509" y="1075774"/>
            <a:ext cx="559340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 de Clientes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509" y="1367477"/>
            <a:ext cx="5520447" cy="680936"/>
          </a:xfrm>
          <a:custGeom>
            <a:avLst/>
            <a:gdLst/>
            <a:ahLst/>
            <a:cxnLst/>
            <a:rect l="l" t="t" r="r" b="b"/>
            <a:pathLst>
              <a:path w="5520447" h="680936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8"/>
                  <a:pt x="5520447" y="32426"/>
                </a:cubicBezTo>
                <a:lnTo>
                  <a:pt x="5520447" y="648510"/>
                </a:lnTo>
                <a:cubicBezTo>
                  <a:pt x="5520447" y="666418"/>
                  <a:pt x="5505929" y="680936"/>
                  <a:pt x="5488021" y="680936"/>
                </a:cubicBezTo>
                <a:lnTo>
                  <a:pt x="32426" y="680936"/>
                </a:lnTo>
                <a:cubicBezTo>
                  <a:pt x="14518" y="680936"/>
                  <a:pt x="0" y="666418"/>
                  <a:pt x="0" y="648510"/>
                </a:cubicBezTo>
                <a:lnTo>
                  <a:pt x="0" y="32426"/>
                </a:lnTo>
                <a:cubicBezTo>
                  <a:pt x="0" y="14530"/>
                  <a:pt x="14530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2268" y="1432233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 Clustering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2268" y="1659180"/>
            <a:ext cx="5447489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Agrupación de clientes por comportamiento de compra, demografía, engagement. Similar a clustering de jugadores en Phase 4.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509" y="2112876"/>
            <a:ext cx="5520447" cy="518809"/>
          </a:xfrm>
          <a:custGeom>
            <a:avLst/>
            <a:gdLst/>
            <a:ahLst/>
            <a:cxnLst/>
            <a:rect l="l" t="t" r="r" b="b"/>
            <a:pathLst>
              <a:path w="5520447" h="518809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7"/>
                  <a:pt x="5520447" y="32426"/>
                </a:cubicBezTo>
                <a:lnTo>
                  <a:pt x="5520447" y="486383"/>
                </a:lnTo>
                <a:cubicBezTo>
                  <a:pt x="5520447" y="504291"/>
                  <a:pt x="5505929" y="518809"/>
                  <a:pt x="5488021" y="518809"/>
                </a:cubicBezTo>
                <a:lnTo>
                  <a:pt x="32426" y="518809"/>
                </a:lnTo>
                <a:cubicBezTo>
                  <a:pt x="14517" y="518809"/>
                  <a:pt x="0" y="504291"/>
                  <a:pt x="0" y="48638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2268" y="2177640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Gaussian Mixture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2268" y="2404580"/>
            <a:ext cx="544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probabilísticos para segmentación suave (clientes pueden pertenecer a múltiples segmentos).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509" y="2696188"/>
            <a:ext cx="5520447" cy="518809"/>
          </a:xfrm>
          <a:custGeom>
            <a:avLst/>
            <a:gdLst/>
            <a:ahLst/>
            <a:cxnLst/>
            <a:rect l="l" t="t" r="r" b="b"/>
            <a:pathLst>
              <a:path w="5520447" h="518809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7"/>
                  <a:pt x="5520447" y="32426"/>
                </a:cubicBezTo>
                <a:lnTo>
                  <a:pt x="5520447" y="486383"/>
                </a:lnTo>
                <a:cubicBezTo>
                  <a:pt x="5520447" y="504291"/>
                  <a:pt x="5505929" y="518809"/>
                  <a:pt x="5488021" y="518809"/>
                </a:cubicBezTo>
                <a:lnTo>
                  <a:pt x="32426" y="518809"/>
                </a:lnTo>
                <a:cubicBezTo>
                  <a:pt x="14517" y="518809"/>
                  <a:pt x="0" y="504291"/>
                  <a:pt x="0" y="48638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2268" y="2760952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2268" y="2987891"/>
            <a:ext cx="544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outliers y clusters de forma arbitraria. Útil para identificar nichos de mercado.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556" y="3282554"/>
            <a:ext cx="5510329" cy="687031"/>
          </a:xfrm>
          <a:custGeom>
            <a:avLst/>
            <a:gdLst/>
            <a:ahLst/>
            <a:cxnLst/>
            <a:rect l="l" t="t" r="r" b="b"/>
            <a:pathLst>
              <a:path w="5510329" h="687031">
                <a:moveTo>
                  <a:pt x="32428" y="0"/>
                </a:moveTo>
                <a:lnTo>
                  <a:pt x="5477901" y="0"/>
                </a:lnTo>
                <a:cubicBezTo>
                  <a:pt x="5495811" y="0"/>
                  <a:pt x="5510329" y="14518"/>
                  <a:pt x="5510329" y="32428"/>
                </a:cubicBezTo>
                <a:lnTo>
                  <a:pt x="5510329" y="654603"/>
                </a:lnTo>
                <a:cubicBezTo>
                  <a:pt x="5510329" y="672513"/>
                  <a:pt x="5495811" y="687031"/>
                  <a:pt x="5477901" y="687031"/>
                </a:cubicBezTo>
                <a:lnTo>
                  <a:pt x="32428" y="687031"/>
                </a:lnTo>
                <a:cubicBezTo>
                  <a:pt x="14518" y="687031"/>
                  <a:pt x="0" y="672513"/>
                  <a:pt x="0" y="654603"/>
                </a:cubicBezTo>
                <a:lnTo>
                  <a:pt x="0" y="32428"/>
                </a:lnTo>
                <a:cubicBezTo>
                  <a:pt x="0" y="14530"/>
                  <a:pt x="14530" y="0"/>
                  <a:pt x="3242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64" y="3350359"/>
            <a:ext cx="543938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64" y="3577306"/>
            <a:ext cx="5431277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segmentos típicos: Premium (15%), Loyal Frequent (30%), Price-Sensitive (35%), Engaged Regular (20%)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47594" y="975489"/>
            <a:ext cx="5721095" cy="3094627"/>
          </a:xfrm>
          <a:custGeom>
            <a:avLst/>
            <a:gdLst/>
            <a:ahLst/>
            <a:cxnLst/>
            <a:rect l="l" t="t" r="r" b="b"/>
            <a:pathLst>
              <a:path w="5721095" h="3094627">
                <a:moveTo>
                  <a:pt x="64863" y="0"/>
                </a:moveTo>
                <a:lnTo>
                  <a:pt x="5656232" y="0"/>
                </a:lnTo>
                <a:cubicBezTo>
                  <a:pt x="5692055" y="0"/>
                  <a:pt x="5721095" y="29040"/>
                  <a:pt x="5721095" y="64863"/>
                </a:cubicBezTo>
                <a:lnTo>
                  <a:pt x="5721095" y="3029764"/>
                </a:lnTo>
                <a:cubicBezTo>
                  <a:pt x="5721095" y="3065587"/>
                  <a:pt x="5692055" y="3094627"/>
                  <a:pt x="5656232" y="3094627"/>
                </a:cubicBezTo>
                <a:lnTo>
                  <a:pt x="64863" y="3094627"/>
                </a:lnTo>
                <a:cubicBezTo>
                  <a:pt x="29040" y="3094627"/>
                  <a:pt x="0" y="3065587"/>
                  <a:pt x="0" y="3029764"/>
                </a:cubicBezTo>
                <a:lnTo>
                  <a:pt x="0" y="64863"/>
                </a:lnTo>
                <a:cubicBezTo>
                  <a:pt x="0" y="29064"/>
                  <a:pt x="29064" y="0"/>
                  <a:pt x="6486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7876" y="1075774"/>
            <a:ext cx="5593404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Predicción de Churn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7876" y="1367477"/>
            <a:ext cx="5520447" cy="518809"/>
          </a:xfrm>
          <a:custGeom>
            <a:avLst/>
            <a:gdLst/>
            <a:ahLst/>
            <a:cxnLst/>
            <a:rect l="l" t="t" r="r" b="b"/>
            <a:pathLst>
              <a:path w="5520447" h="518809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7"/>
                  <a:pt x="5520447" y="32426"/>
                </a:cubicBezTo>
                <a:lnTo>
                  <a:pt x="5520447" y="486383"/>
                </a:lnTo>
                <a:cubicBezTo>
                  <a:pt x="5520447" y="504291"/>
                  <a:pt x="5505929" y="518809"/>
                  <a:pt x="5488021" y="518809"/>
                </a:cubicBezTo>
                <a:lnTo>
                  <a:pt x="32426" y="518809"/>
                </a:lnTo>
                <a:cubicBezTo>
                  <a:pt x="14517" y="518809"/>
                  <a:pt x="0" y="504291"/>
                  <a:pt x="0" y="48638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12636" y="1432233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12636" y="1659180"/>
            <a:ext cx="544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qué clientes cancelarán el servicio. Similar a predecir errores graves en ajedrez.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7876" y="1950788"/>
            <a:ext cx="5520447" cy="518809"/>
          </a:xfrm>
          <a:custGeom>
            <a:avLst/>
            <a:gdLst/>
            <a:ahLst/>
            <a:cxnLst/>
            <a:rect l="l" t="t" r="r" b="b"/>
            <a:pathLst>
              <a:path w="5520447" h="518809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7"/>
                  <a:pt x="5520447" y="32426"/>
                </a:cubicBezTo>
                <a:lnTo>
                  <a:pt x="5520447" y="486383"/>
                </a:lnTo>
                <a:cubicBezTo>
                  <a:pt x="5520447" y="504291"/>
                  <a:pt x="5505929" y="518809"/>
                  <a:pt x="5488021" y="518809"/>
                </a:cubicBezTo>
                <a:lnTo>
                  <a:pt x="32426" y="518809"/>
                </a:lnTo>
                <a:cubicBezTo>
                  <a:pt x="14517" y="518809"/>
                  <a:pt x="0" y="504291"/>
                  <a:pt x="0" y="48638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12636" y="2015544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de Comportamiento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12636" y="2242492"/>
            <a:ext cx="544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Frecuencia de uso, engagement reciente, tickets de soporte, cambios en patrones de uso.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7876" y="2534100"/>
            <a:ext cx="5520447" cy="518809"/>
          </a:xfrm>
          <a:custGeom>
            <a:avLst/>
            <a:gdLst/>
            <a:ahLst/>
            <a:cxnLst/>
            <a:rect l="l" t="t" r="r" b="b"/>
            <a:pathLst>
              <a:path w="5520447" h="518809">
                <a:moveTo>
                  <a:pt x="32426" y="0"/>
                </a:moveTo>
                <a:lnTo>
                  <a:pt x="5488021" y="0"/>
                </a:lnTo>
                <a:cubicBezTo>
                  <a:pt x="5505929" y="0"/>
                  <a:pt x="5520447" y="14517"/>
                  <a:pt x="5520447" y="32426"/>
                </a:cubicBezTo>
                <a:lnTo>
                  <a:pt x="5520447" y="486383"/>
                </a:lnTo>
                <a:cubicBezTo>
                  <a:pt x="5520447" y="504291"/>
                  <a:pt x="5505929" y="518809"/>
                  <a:pt x="5488021" y="518809"/>
                </a:cubicBezTo>
                <a:lnTo>
                  <a:pt x="32426" y="518809"/>
                </a:lnTo>
                <a:cubicBezTo>
                  <a:pt x="14517" y="518809"/>
                  <a:pt x="0" y="504291"/>
                  <a:pt x="0" y="486383"/>
                </a:cubicBezTo>
                <a:lnTo>
                  <a:pt x="0" y="32426"/>
                </a:lnTo>
                <a:cubicBezTo>
                  <a:pt x="0" y="14517"/>
                  <a:pt x="14517" y="0"/>
                  <a:pt x="324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12636" y="2598864"/>
            <a:ext cx="5455596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2636" y="2825803"/>
            <a:ext cx="5447489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 (mejor performance), Random Forest (interpretable), MLP (relaciones complejas).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50924" y="3120458"/>
            <a:ext cx="5510329" cy="524904"/>
          </a:xfrm>
          <a:custGeom>
            <a:avLst/>
            <a:gdLst/>
            <a:ahLst/>
            <a:cxnLst/>
            <a:rect l="l" t="t" r="r" b="b"/>
            <a:pathLst>
              <a:path w="5510329" h="524904">
                <a:moveTo>
                  <a:pt x="32423" y="0"/>
                </a:moveTo>
                <a:lnTo>
                  <a:pt x="5477906" y="0"/>
                </a:lnTo>
                <a:cubicBezTo>
                  <a:pt x="5495813" y="0"/>
                  <a:pt x="5510329" y="14516"/>
                  <a:pt x="5510329" y="32423"/>
                </a:cubicBezTo>
                <a:lnTo>
                  <a:pt x="5510329" y="492480"/>
                </a:lnTo>
                <a:cubicBezTo>
                  <a:pt x="5510329" y="510387"/>
                  <a:pt x="5495813" y="524904"/>
                  <a:pt x="5477906" y="524904"/>
                </a:cubicBezTo>
                <a:lnTo>
                  <a:pt x="32423" y="524904"/>
                </a:lnTo>
                <a:cubicBezTo>
                  <a:pt x="14528" y="524904"/>
                  <a:pt x="0" y="510375"/>
                  <a:pt x="0" y="492480"/>
                </a:cubicBezTo>
                <a:lnTo>
                  <a:pt x="0" y="32423"/>
                </a:lnTo>
                <a:cubicBezTo>
                  <a:pt x="0" y="14528"/>
                  <a:pt x="14528" y="0"/>
                  <a:pt x="32423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731" y="3188271"/>
            <a:ext cx="5439383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8731" y="3415210"/>
            <a:ext cx="5431277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AUC-ROC: 0.85-0.92 • Acción proactiva reduce churn 15-25%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7227" y="4143470"/>
            <a:ext cx="11541478" cy="1432818"/>
          </a:xfrm>
          <a:custGeom>
            <a:avLst/>
            <a:gdLst/>
            <a:ahLst/>
            <a:cxnLst/>
            <a:rect l="l" t="t" r="r" b="b"/>
            <a:pathLst>
              <a:path w="11541478" h="1432818">
                <a:moveTo>
                  <a:pt x="64849" y="0"/>
                </a:moveTo>
                <a:lnTo>
                  <a:pt x="11476629" y="0"/>
                </a:lnTo>
                <a:cubicBezTo>
                  <a:pt x="11512444" y="0"/>
                  <a:pt x="11541478" y="29034"/>
                  <a:pt x="11541478" y="64849"/>
                </a:cubicBezTo>
                <a:lnTo>
                  <a:pt x="11541478" y="1367969"/>
                </a:lnTo>
                <a:cubicBezTo>
                  <a:pt x="11541478" y="1403784"/>
                  <a:pt x="11512444" y="1432818"/>
                  <a:pt x="11476629" y="1432818"/>
                </a:cubicBezTo>
                <a:lnTo>
                  <a:pt x="64849" y="1432818"/>
                </a:lnTo>
                <a:cubicBezTo>
                  <a:pt x="29058" y="1432818"/>
                  <a:pt x="0" y="1403760"/>
                  <a:pt x="0" y="1367969"/>
                </a:cubicBezTo>
                <a:lnTo>
                  <a:pt x="0" y="64849"/>
                </a:lnTo>
                <a:cubicBezTo>
                  <a:pt x="0" y="29058"/>
                  <a:pt x="29058" y="0"/>
                  <a:pt x="6484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509" y="4243755"/>
            <a:ext cx="11413787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Recomendaciones Personalizadas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7509" y="4535458"/>
            <a:ext cx="3712723" cy="940340"/>
          </a:xfrm>
          <a:custGeom>
            <a:avLst/>
            <a:gdLst/>
            <a:ahLst/>
            <a:cxnLst/>
            <a:rect l="l" t="t" r="r" b="b"/>
            <a:pathLst>
              <a:path w="3712723" h="940340">
                <a:moveTo>
                  <a:pt x="32423" y="0"/>
                </a:moveTo>
                <a:lnTo>
                  <a:pt x="3680300" y="0"/>
                </a:lnTo>
                <a:cubicBezTo>
                  <a:pt x="3698207" y="0"/>
                  <a:pt x="3712723" y="14516"/>
                  <a:pt x="3712723" y="32423"/>
                </a:cubicBezTo>
                <a:lnTo>
                  <a:pt x="3712723" y="907917"/>
                </a:lnTo>
                <a:cubicBezTo>
                  <a:pt x="3712723" y="925824"/>
                  <a:pt x="3698207" y="940340"/>
                  <a:pt x="3680300" y="940340"/>
                </a:cubicBezTo>
                <a:lnTo>
                  <a:pt x="32423" y="940340"/>
                </a:lnTo>
                <a:cubicBezTo>
                  <a:pt x="14516" y="940340"/>
                  <a:pt x="0" y="925824"/>
                  <a:pt x="0" y="907917"/>
                </a:cubicBezTo>
                <a:lnTo>
                  <a:pt x="0" y="32423"/>
                </a:lnTo>
                <a:cubicBezTo>
                  <a:pt x="0" y="14528"/>
                  <a:pt x="14528" y="0"/>
                  <a:pt x="324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4744" y="4632695"/>
            <a:ext cx="358302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Filtering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4744" y="4859642"/>
            <a:ext cx="3574915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"Clientes similares a ti compraron..." Basado en historial de compras de usuarios similares.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4744" y="5248574"/>
            <a:ext cx="356680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Netflix, Amazon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8899" y="4535458"/>
            <a:ext cx="3712723" cy="940340"/>
          </a:xfrm>
          <a:custGeom>
            <a:avLst/>
            <a:gdLst/>
            <a:ahLst/>
            <a:cxnLst/>
            <a:rect l="l" t="t" r="r" b="b"/>
            <a:pathLst>
              <a:path w="3712723" h="940340">
                <a:moveTo>
                  <a:pt x="32423" y="0"/>
                </a:moveTo>
                <a:lnTo>
                  <a:pt x="3680300" y="0"/>
                </a:lnTo>
                <a:cubicBezTo>
                  <a:pt x="3698207" y="0"/>
                  <a:pt x="3712723" y="14516"/>
                  <a:pt x="3712723" y="32423"/>
                </a:cubicBezTo>
                <a:lnTo>
                  <a:pt x="3712723" y="907917"/>
                </a:lnTo>
                <a:cubicBezTo>
                  <a:pt x="3712723" y="925824"/>
                  <a:pt x="3698207" y="940340"/>
                  <a:pt x="3680300" y="940340"/>
                </a:cubicBezTo>
                <a:lnTo>
                  <a:pt x="32423" y="940340"/>
                </a:lnTo>
                <a:cubicBezTo>
                  <a:pt x="14516" y="940340"/>
                  <a:pt x="0" y="925824"/>
                  <a:pt x="0" y="907917"/>
                </a:cubicBezTo>
                <a:lnTo>
                  <a:pt x="0" y="32423"/>
                </a:lnTo>
                <a:cubicBezTo>
                  <a:pt x="0" y="14528"/>
                  <a:pt x="14528" y="0"/>
                  <a:pt x="324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336134" y="4632695"/>
            <a:ext cx="358302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Content-Based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36134" y="4859642"/>
            <a:ext cx="3574915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"Productos similares a los que viste..." Basado en características de productos.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36134" y="5248574"/>
            <a:ext cx="356680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Spotify, YouTube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50289" y="4535458"/>
            <a:ext cx="3712723" cy="940340"/>
          </a:xfrm>
          <a:custGeom>
            <a:avLst/>
            <a:gdLst/>
            <a:ahLst/>
            <a:cxnLst/>
            <a:rect l="l" t="t" r="r" b="b"/>
            <a:pathLst>
              <a:path w="3712723" h="940340">
                <a:moveTo>
                  <a:pt x="32423" y="0"/>
                </a:moveTo>
                <a:lnTo>
                  <a:pt x="3680300" y="0"/>
                </a:lnTo>
                <a:cubicBezTo>
                  <a:pt x="3698207" y="0"/>
                  <a:pt x="3712723" y="14516"/>
                  <a:pt x="3712723" y="32423"/>
                </a:cubicBezTo>
                <a:lnTo>
                  <a:pt x="3712723" y="907917"/>
                </a:lnTo>
                <a:cubicBezTo>
                  <a:pt x="3712723" y="925824"/>
                  <a:pt x="3698207" y="940340"/>
                  <a:pt x="3680300" y="940340"/>
                </a:cubicBezTo>
                <a:lnTo>
                  <a:pt x="32423" y="940340"/>
                </a:lnTo>
                <a:cubicBezTo>
                  <a:pt x="14516" y="940340"/>
                  <a:pt x="0" y="925824"/>
                  <a:pt x="0" y="907917"/>
                </a:cubicBezTo>
                <a:lnTo>
                  <a:pt x="0" y="32423"/>
                </a:lnTo>
                <a:cubicBezTo>
                  <a:pt x="0" y="14528"/>
                  <a:pt x="14528" y="0"/>
                  <a:pt x="324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147524" y="4632695"/>
            <a:ext cx="3583021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47524" y="4859642"/>
            <a:ext cx="3574915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SVD, ALS para descomposición de matrices usuario-item. Escalable a millones de usuarios.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47524" y="5248574"/>
            <a:ext cx="3566809" cy="129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6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Netflix Prize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7227" y="5646563"/>
            <a:ext cx="11541478" cy="557329"/>
          </a:xfrm>
          <a:custGeom>
            <a:avLst/>
            <a:gdLst/>
            <a:ahLst/>
            <a:cxnLst/>
            <a:rect l="l" t="t" r="r" b="b"/>
            <a:pathLst>
              <a:path w="11541478" h="557329">
                <a:moveTo>
                  <a:pt x="64851" y="0"/>
                </a:moveTo>
                <a:lnTo>
                  <a:pt x="11476627" y="0"/>
                </a:lnTo>
                <a:cubicBezTo>
                  <a:pt x="11512443" y="0"/>
                  <a:pt x="11541478" y="29035"/>
                  <a:pt x="11541478" y="64851"/>
                </a:cubicBezTo>
                <a:lnTo>
                  <a:pt x="11541478" y="492478"/>
                </a:lnTo>
                <a:cubicBezTo>
                  <a:pt x="11541478" y="528294"/>
                  <a:pt x="11512443" y="557329"/>
                  <a:pt x="11476627" y="557329"/>
                </a:cubicBezTo>
                <a:lnTo>
                  <a:pt x="64851" y="557329"/>
                </a:lnTo>
                <a:cubicBezTo>
                  <a:pt x="29035" y="557329"/>
                  <a:pt x="0" y="528294"/>
                  <a:pt x="0" y="492478"/>
                </a:cubicBezTo>
                <a:lnTo>
                  <a:pt x="0" y="64851"/>
                </a:lnTo>
                <a:cubicBezTo>
                  <a:pt x="0" y="29059"/>
                  <a:pt x="29059" y="0"/>
                  <a:pt x="6485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1828" y="5827888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24319" y="24319"/>
                </a:moveTo>
                <a:cubicBezTo>
                  <a:pt x="24319" y="17593"/>
                  <a:pt x="18885" y="12160"/>
                  <a:pt x="12160" y="12160"/>
                </a:cubicBezTo>
                <a:cubicBezTo>
                  <a:pt x="5434" y="12160"/>
                  <a:pt x="0" y="17593"/>
                  <a:pt x="0" y="24319"/>
                </a:cubicBezTo>
                <a:lnTo>
                  <a:pt x="0" y="151995"/>
                </a:lnTo>
                <a:cubicBezTo>
                  <a:pt x="0" y="168790"/>
                  <a:pt x="13604" y="182394"/>
                  <a:pt x="30399" y="182394"/>
                </a:cubicBezTo>
                <a:lnTo>
                  <a:pt x="182394" y="182394"/>
                </a:lnTo>
                <a:cubicBezTo>
                  <a:pt x="189119" y="182394"/>
                  <a:pt x="194553" y="176960"/>
                  <a:pt x="194553" y="170234"/>
                </a:cubicBezTo>
                <a:cubicBezTo>
                  <a:pt x="194553" y="163508"/>
                  <a:pt x="189119" y="158074"/>
                  <a:pt x="182394" y="158074"/>
                </a:cubicBezTo>
                <a:lnTo>
                  <a:pt x="30399" y="158074"/>
                </a:lnTo>
                <a:cubicBezTo>
                  <a:pt x="27055" y="158074"/>
                  <a:pt x="24319" y="155339"/>
                  <a:pt x="24319" y="151995"/>
                </a:cubicBezTo>
                <a:lnTo>
                  <a:pt x="24319" y="24319"/>
                </a:lnTo>
                <a:close/>
                <a:moveTo>
                  <a:pt x="178822" y="57226"/>
                </a:moveTo>
                <a:cubicBezTo>
                  <a:pt x="183572" y="52476"/>
                  <a:pt x="183572" y="44762"/>
                  <a:pt x="178822" y="40013"/>
                </a:cubicBezTo>
                <a:cubicBezTo>
                  <a:pt x="174072" y="35263"/>
                  <a:pt x="166358" y="35263"/>
                  <a:pt x="161608" y="40013"/>
                </a:cubicBezTo>
                <a:lnTo>
                  <a:pt x="121596" y="80063"/>
                </a:lnTo>
                <a:lnTo>
                  <a:pt x="99785" y="58290"/>
                </a:lnTo>
                <a:cubicBezTo>
                  <a:pt x="95035" y="53540"/>
                  <a:pt x="87321" y="53540"/>
                  <a:pt x="82571" y="58290"/>
                </a:cubicBezTo>
                <a:lnTo>
                  <a:pt x="46092" y="94769"/>
                </a:lnTo>
                <a:cubicBezTo>
                  <a:pt x="41343" y="99519"/>
                  <a:pt x="41343" y="107232"/>
                  <a:pt x="46092" y="111982"/>
                </a:cubicBezTo>
                <a:cubicBezTo>
                  <a:pt x="50842" y="116732"/>
                  <a:pt x="58556" y="116732"/>
                  <a:pt x="63306" y="111982"/>
                </a:cubicBezTo>
                <a:lnTo>
                  <a:pt x="91197" y="84091"/>
                </a:lnTo>
                <a:lnTo>
                  <a:pt x="113008" y="105902"/>
                </a:lnTo>
                <a:cubicBezTo>
                  <a:pt x="117758" y="110652"/>
                  <a:pt x="125472" y="110652"/>
                  <a:pt x="130221" y="105902"/>
                </a:cubicBezTo>
                <a:lnTo>
                  <a:pt x="178860" y="5726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767878" y="5746848"/>
            <a:ext cx="9079149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1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Precios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7878" y="5941409"/>
            <a:ext cx="907104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Regresión con regularización (Ridge/Lasso) para precios dinámicos. Features: demanda, competencia, temporada, segmento de cliente. Elasticidad de precios por segmento.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25" y="323391"/>
            <a:ext cx="2478040" cy="1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425" y="57134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Más Sectores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409" y="955166"/>
            <a:ext cx="5728906" cy="2458656"/>
          </a:xfrm>
          <a:custGeom>
            <a:avLst/>
            <a:gdLst/>
            <a:ahLst/>
            <a:cxnLst/>
            <a:rect l="l" t="t" r="r" b="b"/>
            <a:pathLst>
              <a:path w="5728906" h="2458656">
                <a:moveTo>
                  <a:pt x="63507" y="0"/>
                </a:moveTo>
                <a:lnTo>
                  <a:pt x="5665398" y="0"/>
                </a:lnTo>
                <a:cubicBezTo>
                  <a:pt x="5700472" y="0"/>
                  <a:pt x="5728906" y="28433"/>
                  <a:pt x="5728906" y="63507"/>
                </a:cubicBezTo>
                <a:lnTo>
                  <a:pt x="5728906" y="2395148"/>
                </a:lnTo>
                <a:cubicBezTo>
                  <a:pt x="5728906" y="2430222"/>
                  <a:pt x="5700472" y="2458656"/>
                  <a:pt x="5665398" y="2458656"/>
                </a:cubicBezTo>
                <a:lnTo>
                  <a:pt x="63507" y="2458656"/>
                </a:lnTo>
                <a:cubicBezTo>
                  <a:pt x="28433" y="2458656"/>
                  <a:pt x="0" y="2430222"/>
                  <a:pt x="0" y="2395148"/>
                </a:cubicBezTo>
                <a:lnTo>
                  <a:pt x="0" y="63507"/>
                </a:lnTo>
                <a:cubicBezTo>
                  <a:pt x="0" y="28433"/>
                  <a:pt x="28433" y="0"/>
                  <a:pt x="635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8602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602" y="1338988"/>
            <a:ext cx="5532438" cy="666750"/>
          </a:xfrm>
          <a:custGeom>
            <a:avLst/>
            <a:gdLst/>
            <a:ahLst/>
            <a:cxnLst/>
            <a:rect l="l" t="t" r="r" b="b"/>
            <a:pathLst>
              <a:path w="5532438" h="666750">
                <a:moveTo>
                  <a:pt x="31751" y="0"/>
                </a:moveTo>
                <a:lnTo>
                  <a:pt x="5500687" y="0"/>
                </a:lnTo>
                <a:cubicBezTo>
                  <a:pt x="5518222" y="0"/>
                  <a:pt x="5532438" y="14215"/>
                  <a:pt x="5532438" y="31751"/>
                </a:cubicBezTo>
                <a:lnTo>
                  <a:pt x="5532438" y="634999"/>
                </a:lnTo>
                <a:cubicBezTo>
                  <a:pt x="5532438" y="652535"/>
                  <a:pt x="5518222" y="666750"/>
                  <a:pt x="5500687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2013" y="14023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Valuación Automática (AVM)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013" y="1624614"/>
            <a:ext cx="546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XGBoost/Random Forest predicen valor de propiedades. Features: ubicación, tamaño, año de construcción, amenities.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602" y="206885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2013" y="2132273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Geoespacial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013" y="235448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KNN ponderado por distancia. Clustering de micro-mercados por características similares.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586" y="2643001"/>
            <a:ext cx="5522531" cy="672718"/>
          </a:xfrm>
          <a:custGeom>
            <a:avLst/>
            <a:gdLst/>
            <a:ahLst/>
            <a:cxnLst/>
            <a:rect l="l" t="t" r="r" b="b"/>
            <a:pathLst>
              <a:path w="5522531" h="672718">
                <a:moveTo>
                  <a:pt x="31752" y="0"/>
                </a:moveTo>
                <a:lnTo>
                  <a:pt x="5490778" y="0"/>
                </a:lnTo>
                <a:cubicBezTo>
                  <a:pt x="5508315" y="0"/>
                  <a:pt x="5522531" y="14216"/>
                  <a:pt x="5522531" y="31752"/>
                </a:cubicBezTo>
                <a:lnTo>
                  <a:pt x="5522531" y="640966"/>
                </a:lnTo>
                <a:cubicBezTo>
                  <a:pt x="5522531" y="658502"/>
                  <a:pt x="5508315" y="672718"/>
                  <a:pt x="5490778" y="672718"/>
                </a:cubicBezTo>
                <a:lnTo>
                  <a:pt x="31752" y="672718"/>
                </a:lnTo>
                <a:cubicBezTo>
                  <a:pt x="14216" y="672718"/>
                  <a:pt x="0" y="658502"/>
                  <a:pt x="0" y="640966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981" y="2709401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981" y="2931620"/>
            <a:ext cx="5445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MAE: ~100-120cp (XGBoost) vs ~200cp (modelos tradicionales). CNN para análisis de fotos de propiedades.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46527" y="955166"/>
            <a:ext cx="5728906" cy="2458656"/>
          </a:xfrm>
          <a:custGeom>
            <a:avLst/>
            <a:gdLst/>
            <a:ahLst/>
            <a:cxnLst/>
            <a:rect l="l" t="t" r="r" b="b"/>
            <a:pathLst>
              <a:path w="5728906" h="2458656">
                <a:moveTo>
                  <a:pt x="63507" y="0"/>
                </a:moveTo>
                <a:lnTo>
                  <a:pt x="5665398" y="0"/>
                </a:lnTo>
                <a:cubicBezTo>
                  <a:pt x="5700472" y="0"/>
                  <a:pt x="5728906" y="28433"/>
                  <a:pt x="5728906" y="63507"/>
                </a:cubicBezTo>
                <a:lnTo>
                  <a:pt x="5728906" y="2395148"/>
                </a:lnTo>
                <a:cubicBezTo>
                  <a:pt x="5728906" y="2430222"/>
                  <a:pt x="5700472" y="2458656"/>
                  <a:pt x="5665398" y="2458656"/>
                </a:cubicBezTo>
                <a:lnTo>
                  <a:pt x="63507" y="2458656"/>
                </a:lnTo>
                <a:cubicBezTo>
                  <a:pt x="28433" y="2458656"/>
                  <a:pt x="0" y="2430222"/>
                  <a:pt x="0" y="2395148"/>
                </a:cubicBezTo>
                <a:lnTo>
                  <a:pt x="0" y="63507"/>
                </a:lnTo>
                <a:cubicBezTo>
                  <a:pt x="0" y="28433"/>
                  <a:pt x="28433" y="0"/>
                  <a:pt x="635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4720" y="1053362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Administración Pública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4720" y="1338988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08130" y="1402395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8130" y="1624614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Forest para detectar anomalías en reclamaciones de impuestos, beneficios sociales.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4720" y="1910147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8130" y="1973562"/>
            <a:ext cx="546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Recursos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8130" y="2195773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demanda de servicios (emergencias, tránsito) para asignación eficiente.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7704" y="2484290"/>
            <a:ext cx="5522531" cy="513968"/>
          </a:xfrm>
          <a:custGeom>
            <a:avLst/>
            <a:gdLst/>
            <a:ahLst/>
            <a:cxnLst/>
            <a:rect l="l" t="t" r="r" b="b"/>
            <a:pathLst>
              <a:path w="5522531" h="513968">
                <a:moveTo>
                  <a:pt x="31748" y="0"/>
                </a:moveTo>
                <a:lnTo>
                  <a:pt x="5490783" y="0"/>
                </a:lnTo>
                <a:cubicBezTo>
                  <a:pt x="5508317" y="0"/>
                  <a:pt x="5522531" y="14214"/>
                  <a:pt x="5522531" y="31748"/>
                </a:cubicBezTo>
                <a:lnTo>
                  <a:pt x="5522531" y="482220"/>
                </a:lnTo>
                <a:cubicBezTo>
                  <a:pt x="5522531" y="499754"/>
                  <a:pt x="5508317" y="513968"/>
                  <a:pt x="5490783" y="513968"/>
                </a:cubicBezTo>
                <a:lnTo>
                  <a:pt x="31748" y="513968"/>
                </a:lnTo>
                <a:cubicBezTo>
                  <a:pt x="14214" y="513968"/>
                  <a:pt x="0" y="499754"/>
                  <a:pt x="0" y="482220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9549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4099" y="2550689"/>
            <a:ext cx="545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Policial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14099" y="2772901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patrones espacio-temporales del crimen. Ética y sesgo algorítmico son críticos.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409" y="3485988"/>
            <a:ext cx="5728906" cy="2069718"/>
          </a:xfrm>
          <a:custGeom>
            <a:avLst/>
            <a:gdLst/>
            <a:ahLst/>
            <a:cxnLst/>
            <a:rect l="l" t="t" r="r" b="b"/>
            <a:pathLst>
              <a:path w="5728906" h="2069718">
                <a:moveTo>
                  <a:pt x="63499" y="0"/>
                </a:moveTo>
                <a:lnTo>
                  <a:pt x="5665407" y="0"/>
                </a:lnTo>
                <a:cubicBezTo>
                  <a:pt x="5700476" y="0"/>
                  <a:pt x="5728906" y="28429"/>
                  <a:pt x="5728906" y="63499"/>
                </a:cubicBezTo>
                <a:lnTo>
                  <a:pt x="5728906" y="2006219"/>
                </a:lnTo>
                <a:cubicBezTo>
                  <a:pt x="5728906" y="2041289"/>
                  <a:pt x="5700476" y="2069718"/>
                  <a:pt x="5665407" y="2069718"/>
                </a:cubicBezTo>
                <a:lnTo>
                  <a:pt x="63499" y="2069718"/>
                </a:lnTo>
                <a:cubicBezTo>
                  <a:pt x="28429" y="2069718"/>
                  <a:pt x="0" y="2041289"/>
                  <a:pt x="0" y="200621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8602" y="3584184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Industria y Supply Chain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8602" y="3869810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2013" y="3933225"/>
            <a:ext cx="155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91032" y="3949077"/>
            <a:ext cx="34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2013" y="4155436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fallas en equipos basado en sensores IoT.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8602" y="4409266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2013" y="4472680"/>
            <a:ext cx="153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Forecasting de Demanda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42497" y="4488532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Prophet/LSTM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2013" y="4694892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ventas para optimización de inventario.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8602" y="4948721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2013" y="5012136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44186" y="5027988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2013" y="5234347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defectos en líneas de producción con visión computacional.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46527" y="3485988"/>
            <a:ext cx="5728906" cy="2069718"/>
          </a:xfrm>
          <a:custGeom>
            <a:avLst/>
            <a:gdLst/>
            <a:ahLst/>
            <a:cxnLst/>
            <a:rect l="l" t="t" r="r" b="b"/>
            <a:pathLst>
              <a:path w="5728906" h="2069718">
                <a:moveTo>
                  <a:pt x="63499" y="0"/>
                </a:moveTo>
                <a:lnTo>
                  <a:pt x="5665407" y="0"/>
                </a:lnTo>
                <a:cubicBezTo>
                  <a:pt x="5700476" y="0"/>
                  <a:pt x="5728906" y="28429"/>
                  <a:pt x="5728906" y="63499"/>
                </a:cubicBezTo>
                <a:lnTo>
                  <a:pt x="5728906" y="2006219"/>
                </a:lnTo>
                <a:cubicBezTo>
                  <a:pt x="5728906" y="2041289"/>
                  <a:pt x="5700476" y="2069718"/>
                  <a:pt x="5665407" y="2069718"/>
                </a:cubicBezTo>
                <a:lnTo>
                  <a:pt x="63499" y="2069718"/>
                </a:lnTo>
                <a:cubicBezTo>
                  <a:pt x="28429" y="2069718"/>
                  <a:pt x="0" y="2041289"/>
                  <a:pt x="0" y="200621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954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4720" y="3584184"/>
            <a:ext cx="560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Recursos Humanos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44720" y="3869810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08130" y="3933225"/>
            <a:ext cx="140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Rotación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67110" y="3949077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8130" y="4155436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Identificar empleados en riesgo de renunciar. Features: engagement, desempeño, tiempo en rol.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44720" y="4409266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08130" y="4472680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Screening de CVs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497999" y="4488532"/>
            <a:ext cx="26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08130" y="4694892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Matching automático de candidatos con requisitos de puesto.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44720" y="4948721"/>
            <a:ext cx="5532438" cy="508000"/>
          </a:xfrm>
          <a:custGeom>
            <a:avLst/>
            <a:gdLst/>
            <a:ahLst/>
            <a:cxnLst/>
            <a:rect l="l" t="t" r="r" b="b"/>
            <a:pathLst>
              <a:path w="5532438" h="508000">
                <a:moveTo>
                  <a:pt x="31750" y="0"/>
                </a:moveTo>
                <a:lnTo>
                  <a:pt x="5500688" y="0"/>
                </a:lnTo>
                <a:cubicBezTo>
                  <a:pt x="5518211" y="0"/>
                  <a:pt x="5532438" y="14227"/>
                  <a:pt x="5532438" y="31750"/>
                </a:cubicBezTo>
                <a:lnTo>
                  <a:pt x="5532438" y="476250"/>
                </a:lnTo>
                <a:cubicBezTo>
                  <a:pt x="5532438" y="493773"/>
                  <a:pt x="5518211" y="508000"/>
                  <a:pt x="5500688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08130" y="5012136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Sentimiento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434215" y="5027988"/>
            <a:ext cx="33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8130" y="5234347"/>
            <a:ext cx="546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Encuestas de empleados, feedback en tiempo real.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0409" y="5624044"/>
            <a:ext cx="11555031" cy="704468"/>
          </a:xfrm>
          <a:custGeom>
            <a:avLst/>
            <a:gdLst/>
            <a:ahLst/>
            <a:cxnLst/>
            <a:rect l="l" t="t" r="r" b="b"/>
            <a:pathLst>
              <a:path w="11555031" h="704468">
                <a:moveTo>
                  <a:pt x="63501" y="0"/>
                </a:moveTo>
                <a:lnTo>
                  <a:pt x="11491530" y="0"/>
                </a:lnTo>
                <a:cubicBezTo>
                  <a:pt x="11526600" y="0"/>
                  <a:pt x="11555031" y="28430"/>
                  <a:pt x="11555031" y="63501"/>
                </a:cubicBezTo>
                <a:lnTo>
                  <a:pt x="11555031" y="640967"/>
                </a:lnTo>
                <a:cubicBezTo>
                  <a:pt x="11555031" y="676038"/>
                  <a:pt x="11526600" y="704468"/>
                  <a:pt x="11491530" y="704468"/>
                </a:cubicBezTo>
                <a:lnTo>
                  <a:pt x="63501" y="704468"/>
                </a:lnTo>
                <a:cubicBezTo>
                  <a:pt x="28430" y="704468"/>
                  <a:pt x="0" y="676038"/>
                  <a:pt x="0" y="64096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4477" y="58809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737240" y="5722240"/>
            <a:ext cx="1109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Patrón Universal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37240" y="5912748"/>
            <a:ext cx="11088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algoritmos (XGBoost, Random Forest, MLP, LSTM, K-Means) y principios (feature engineering, validación, regularización) se aplican en todos los sectores. La clave es adaptar el feature engineering al dominio específico.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locusit.se/ecf1e05b5471a57e4eac4e749ac307422fff4f99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0910" y="693679"/>
            <a:ext cx="1342134" cy="20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0910" y="991223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Recomendaciones Finales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491" y="1680530"/>
            <a:ext cx="11427637" cy="1759762"/>
          </a:xfrm>
          <a:custGeom>
            <a:avLst/>
            <a:gdLst/>
            <a:ahLst/>
            <a:cxnLst/>
            <a:rect l="l" t="t" r="r" b="b"/>
            <a:pathLst>
              <a:path w="11427637" h="1759762">
                <a:moveTo>
                  <a:pt x="76198" y="0"/>
                </a:moveTo>
                <a:lnTo>
                  <a:pt x="11351439" y="0"/>
                </a:lnTo>
                <a:cubicBezTo>
                  <a:pt x="11393522" y="0"/>
                  <a:pt x="11427637" y="34115"/>
                  <a:pt x="11427637" y="76198"/>
                </a:cubicBezTo>
                <a:lnTo>
                  <a:pt x="11427637" y="1683564"/>
                </a:lnTo>
                <a:cubicBezTo>
                  <a:pt x="11427637" y="1725647"/>
                  <a:pt x="11393522" y="1759762"/>
                  <a:pt x="11351439" y="1759762"/>
                </a:cubicBezTo>
                <a:lnTo>
                  <a:pt x="76198" y="1759762"/>
                </a:lnTo>
                <a:cubicBezTo>
                  <a:pt x="34115" y="1759762"/>
                  <a:pt x="0" y="1725647"/>
                  <a:pt x="0" y="1683564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8527" y="1874565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Caso Chess Trainer Demuestra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2815" y="229341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21240" y="2255360"/>
            <a:ext cx="451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calidad de features es más importante que la complejidad del modelo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2815" y="25599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821240" y="2521911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Iteración sistemática produce mejoras significativas (0.89 → 1.00)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2815" y="28265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821240" y="2788462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puede alcanzar perfección en dominios con patrones claros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2815" y="309305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821240" y="3055004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lecciones aprendidas son transferibles a múltiples industrias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115" y="1874565"/>
            <a:ext cx="553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Recomendaciones para Prácticas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86403" y="229341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6414828" y="2255360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feature engineering antes de aumentar complejidad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86403" y="255995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6414828" y="2521911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Establecer baseline sólido con ML clásico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86403" y="28265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19"/>
          <p:cNvSpPr/>
          <p:nvPr/>
        </p:nvSpPr>
        <p:spPr>
          <a:xfrm>
            <a:off x="6414828" y="2788462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Implementar validación rigurosa (CV, gap analysis, learning curves)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86403" y="309305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6414828" y="3055004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Usar MLflow para tracking y reproducibilidad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4491" y="3675161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94614" y="38310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4"/>
          <p:cNvSpPr/>
          <p:nvPr/>
        </p:nvSpPr>
        <p:spPr>
          <a:xfrm>
            <a:off x="497507" y="41929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7032" y="4459588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datos tabulares con features de alta calidad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45294" y="3675161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55417" y="38310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1" name="Text 28"/>
          <p:cNvSpPr/>
          <p:nvPr/>
        </p:nvSpPr>
        <p:spPr>
          <a:xfrm>
            <a:off x="4358310" y="41929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367835" y="4459588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capturar dependencias secuenciales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06097" y="3675161"/>
            <a:ext cx="3702862" cy="1131112"/>
          </a:xfrm>
          <a:custGeom>
            <a:avLst/>
            <a:gdLst/>
            <a:ahLst/>
            <a:cxnLst/>
            <a:rect l="l" t="t" r="r" b="b"/>
            <a:pathLst>
              <a:path w="3702862" h="1131112">
                <a:moveTo>
                  <a:pt x="76203" y="0"/>
                </a:moveTo>
                <a:lnTo>
                  <a:pt x="3626659" y="0"/>
                </a:lnTo>
                <a:cubicBezTo>
                  <a:pt x="3668744" y="0"/>
                  <a:pt x="3702862" y="34117"/>
                  <a:pt x="3702862" y="76203"/>
                </a:cubicBezTo>
                <a:lnTo>
                  <a:pt x="3702862" y="1054909"/>
                </a:lnTo>
                <a:cubicBezTo>
                  <a:pt x="3702862" y="1096994"/>
                  <a:pt x="3668744" y="1131112"/>
                  <a:pt x="3626659" y="1131112"/>
                </a:cubicBezTo>
                <a:lnTo>
                  <a:pt x="76203" y="1131112"/>
                </a:lnTo>
                <a:cubicBezTo>
                  <a:pt x="34117" y="1131112"/>
                  <a:pt x="0" y="1096994"/>
                  <a:pt x="0" y="1054909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 w="9549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80501" y="383104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8219113" y="41929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Ensembles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228638" y="4459588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alcanzar máxima performance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88072" y="5045161"/>
            <a:ext cx="11415748" cy="1119223"/>
          </a:xfrm>
          <a:custGeom>
            <a:avLst/>
            <a:gdLst/>
            <a:ahLst/>
            <a:cxnLst/>
            <a:rect l="l" t="t" r="r" b="b"/>
            <a:pathLst>
              <a:path w="11415748" h="1119223">
                <a:moveTo>
                  <a:pt x="76197" y="0"/>
                </a:moveTo>
                <a:lnTo>
                  <a:pt x="11339552" y="0"/>
                </a:lnTo>
                <a:cubicBezTo>
                  <a:pt x="11381634" y="0"/>
                  <a:pt x="11415748" y="34114"/>
                  <a:pt x="11415748" y="76197"/>
                </a:cubicBezTo>
                <a:lnTo>
                  <a:pt x="11415748" y="1043027"/>
                </a:lnTo>
                <a:cubicBezTo>
                  <a:pt x="11415748" y="1085109"/>
                  <a:pt x="11381634" y="1119223"/>
                  <a:pt x="11339552" y="1119223"/>
                </a:cubicBezTo>
                <a:lnTo>
                  <a:pt x="76197" y="1119223"/>
                </a:lnTo>
                <a:cubicBezTo>
                  <a:pt x="34114" y="1119223"/>
                  <a:pt x="0" y="1085109"/>
                  <a:pt x="0" y="104302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9098">
            <a:solidFill>
              <a:srgbClr val="C9A2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9918" y="5433231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6"/>
          <p:cNvSpPr/>
          <p:nvPr/>
        </p:nvSpPr>
        <p:spPr>
          <a:xfrm>
            <a:off x="1062722" y="5204622"/>
            <a:ext cx="10696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Clave del Éxito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62722" y="5547485"/>
            <a:ext cx="10658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 el algoritmo más complejo, sino el pipeline más bien diseñado: features relevantes, validación rigurosa, iteración sistemática, y transferencia de aprendizajes entre dominios.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para Detección de Errores - Data Scientists</dc:title>
  <dc:subject>ML para Detección de Errores - Data Scientists</dc:subject>
  <dc:creator>Kimi</dc:creator>
  <cp:lastModifiedBy>Kimi</cp:lastModifiedBy>
  <cp:revision>1</cp:revision>
  <dcterms:created xsi:type="dcterms:W3CDTF">2026-02-15T00:59:53Z</dcterms:created>
  <dcterms:modified xsi:type="dcterms:W3CDTF">2026-02-15T00:59:53Z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{"Label":"ML para Detección de Errores - Data Scientists","ContentProducer":"001191110108MACG2KBH8F10000","ProduceID":"19c5d5b7-eeb2-802e-8000-000095fd477c","ReservedCode1":"","ContentPropagator":"001191110108MACG2KBH8F20000","PropagateID":"19c5d5b7-eeb2-802e-8000-000095fd477c","ReservedCode2":""}</vt:lpwstr>
  </property>
</Properties>
</file>