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MiSans" charset="-122" pitchFamily="34"/>
      <p:regular r:id="rId22"/>
    </p:embeddedFont>
    <p:embeddedFont>
      <p:font typeface="Alimama ShuHeiTi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3edfd1506fbc6071b4c83ebb15e7621f288999e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4227" b="24227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1921933"/>
            <a:ext cx="3671226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Framework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241300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Chess Trainer ML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8608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Teórico de Machine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953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1930400" y="4775200"/>
            <a:ext cx="706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 Baseline a la </a:t>
            </a:r>
            <a:pPr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Perfección Absoluta</a:t>
            </a:r>
            <a:pPr>
              <a:lnSpc>
                <a:spcPct val="110000"/>
              </a:lnSpc>
            </a:pPr>
            <a:r>
              <a:rPr lang="en-US" sz="2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(F1=1.0000)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6000750"/>
            <a:ext cx="2628900" cy="1231900"/>
          </a:xfrm>
          <a:custGeom>
            <a:avLst/>
            <a:gdLst/>
            <a:ahLst/>
            <a:cxnLst/>
            <a:rect l="l" t="t" r="r" b="b"/>
            <a:pathLst>
              <a:path w="2628900" h="1231900">
                <a:moveTo>
                  <a:pt x="101595" y="0"/>
                </a:moveTo>
                <a:lnTo>
                  <a:pt x="2527305" y="0"/>
                </a:lnTo>
                <a:cubicBezTo>
                  <a:pt x="2583414" y="0"/>
                  <a:pt x="2628900" y="45486"/>
                  <a:pt x="2628900" y="101595"/>
                </a:cubicBezTo>
                <a:lnTo>
                  <a:pt x="2628900" y="1130305"/>
                </a:lnTo>
                <a:cubicBezTo>
                  <a:pt x="2628900" y="1186414"/>
                  <a:pt x="2583414" y="1231900"/>
                  <a:pt x="25273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500" y="62103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328K+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5500" y="6718300"/>
            <a:ext cx="210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Registros Procesados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55922" y="6000750"/>
            <a:ext cx="2222500" cy="1231900"/>
          </a:xfrm>
          <a:custGeom>
            <a:avLst/>
            <a:gdLst/>
            <a:ahLst/>
            <a:cxnLst/>
            <a:rect l="l" t="t" r="r" b="b"/>
            <a:pathLst>
              <a:path w="2222500" h="1231900">
                <a:moveTo>
                  <a:pt x="101595" y="0"/>
                </a:moveTo>
                <a:lnTo>
                  <a:pt x="2120905" y="0"/>
                </a:lnTo>
                <a:cubicBezTo>
                  <a:pt x="2177014" y="0"/>
                  <a:pt x="2222500" y="45486"/>
                  <a:pt x="2222500" y="101595"/>
                </a:cubicBezTo>
                <a:lnTo>
                  <a:pt x="2222500" y="1130305"/>
                </a:lnTo>
                <a:cubicBezTo>
                  <a:pt x="2222500" y="1186414"/>
                  <a:pt x="2177014" y="1231900"/>
                  <a:pt x="21209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67072" y="62103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Fases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67072" y="671830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Iteración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91358" y="6000750"/>
            <a:ext cx="1968500" cy="1231900"/>
          </a:xfrm>
          <a:custGeom>
            <a:avLst/>
            <a:gdLst/>
            <a:ahLst/>
            <a:cxnLst/>
            <a:rect l="l" t="t" r="r" b="b"/>
            <a:pathLst>
              <a:path w="1968500" h="1231900">
                <a:moveTo>
                  <a:pt x="101595" y="0"/>
                </a:moveTo>
                <a:lnTo>
                  <a:pt x="1866905" y="0"/>
                </a:lnTo>
                <a:cubicBezTo>
                  <a:pt x="1923014" y="0"/>
                  <a:pt x="1968500" y="45486"/>
                  <a:pt x="1968500" y="101595"/>
                </a:cubicBezTo>
                <a:lnTo>
                  <a:pt x="1968500" y="1130305"/>
                </a:lnTo>
                <a:cubicBezTo>
                  <a:pt x="1968500" y="1186414"/>
                  <a:pt x="1923014" y="1231900"/>
                  <a:pt x="18669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2508" y="6210300"/>
            <a:ext cx="1574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02508" y="67183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Final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4"/>
            <a:ext cx="2697096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Progresión Histórica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 Fases de Éxito Documentado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631950"/>
            <a:ext cx="2908300" cy="1841500"/>
          </a:xfrm>
          <a:custGeom>
            <a:avLst/>
            <a:gdLst/>
            <a:ahLst/>
            <a:cxnLst/>
            <a:rect l="l" t="t" r="r" b="b"/>
            <a:pathLst>
              <a:path w="2908300" h="1841500">
                <a:moveTo>
                  <a:pt x="101596" y="0"/>
                </a:moveTo>
                <a:lnTo>
                  <a:pt x="2806704" y="0"/>
                </a:lnTo>
                <a:cubicBezTo>
                  <a:pt x="2862814" y="0"/>
                  <a:pt x="2908300" y="45486"/>
                  <a:pt x="2908300" y="101596"/>
                </a:cubicBezTo>
                <a:lnTo>
                  <a:pt x="2908300" y="1739904"/>
                </a:lnTo>
                <a:cubicBezTo>
                  <a:pt x="2908300" y="1796014"/>
                  <a:pt x="2862814" y="1841500"/>
                  <a:pt x="2806704" y="1841500"/>
                </a:cubicBezTo>
                <a:lnTo>
                  <a:pt x="101596" y="1841500"/>
                </a:lnTo>
                <a:cubicBezTo>
                  <a:pt x="45486" y="1841500"/>
                  <a:pt x="0" y="1796014"/>
                  <a:pt x="0" y="17399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7850" y="17907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F1=0.890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8650" y="22479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3100" y="2611967"/>
            <a:ext cx="980414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Clásico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3100" y="2908300"/>
            <a:ext cx="266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 Regression baseline establecido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92777" y="1631950"/>
            <a:ext cx="2908300" cy="1841500"/>
          </a:xfrm>
          <a:custGeom>
            <a:avLst/>
            <a:gdLst/>
            <a:ahLst/>
            <a:cxnLst/>
            <a:rect l="l" t="t" r="r" b="b"/>
            <a:pathLst>
              <a:path w="2908300" h="1841500">
                <a:moveTo>
                  <a:pt x="101596" y="0"/>
                </a:moveTo>
                <a:lnTo>
                  <a:pt x="2806704" y="0"/>
                </a:lnTo>
                <a:cubicBezTo>
                  <a:pt x="2862814" y="0"/>
                  <a:pt x="2908300" y="45486"/>
                  <a:pt x="2908300" y="101596"/>
                </a:cubicBezTo>
                <a:lnTo>
                  <a:pt x="2908300" y="1739904"/>
                </a:lnTo>
                <a:cubicBezTo>
                  <a:pt x="2908300" y="1796014"/>
                  <a:pt x="2862814" y="1841500"/>
                  <a:pt x="2806704" y="1841500"/>
                </a:cubicBezTo>
                <a:lnTo>
                  <a:pt x="101596" y="1841500"/>
                </a:lnTo>
                <a:cubicBezTo>
                  <a:pt x="45486" y="1841500"/>
                  <a:pt x="0" y="1796014"/>
                  <a:pt x="0" y="17399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6277" y="17907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F1=0.992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7077" y="22479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51527" y="2611967"/>
            <a:ext cx="12912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51527" y="2908300"/>
            <a:ext cx="266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 breakthrough +10.2%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1270" y="1631950"/>
            <a:ext cx="2908300" cy="1841500"/>
          </a:xfrm>
          <a:custGeom>
            <a:avLst/>
            <a:gdLst/>
            <a:ahLst/>
            <a:cxnLst/>
            <a:rect l="l" t="t" r="r" b="b"/>
            <a:pathLst>
              <a:path w="2908300" h="1841500">
                <a:moveTo>
                  <a:pt x="101596" y="0"/>
                </a:moveTo>
                <a:lnTo>
                  <a:pt x="2806704" y="0"/>
                </a:lnTo>
                <a:cubicBezTo>
                  <a:pt x="2862814" y="0"/>
                  <a:pt x="2908300" y="45486"/>
                  <a:pt x="2908300" y="101596"/>
                </a:cubicBezTo>
                <a:lnTo>
                  <a:pt x="2908300" y="1739904"/>
                </a:lnTo>
                <a:cubicBezTo>
                  <a:pt x="2908300" y="1796014"/>
                  <a:pt x="2862814" y="1841500"/>
                  <a:pt x="2806704" y="1841500"/>
                </a:cubicBezTo>
                <a:lnTo>
                  <a:pt x="101596" y="1841500"/>
                </a:lnTo>
                <a:cubicBezTo>
                  <a:pt x="45486" y="1841500"/>
                  <a:pt x="0" y="1796014"/>
                  <a:pt x="0" y="17399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4770" y="17907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F1=0.9988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85570" y="22479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020" y="2611967"/>
            <a:ext cx="864328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0020" y="2908300"/>
            <a:ext cx="266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secuencias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49764" y="1631950"/>
            <a:ext cx="2908300" cy="1841500"/>
          </a:xfrm>
          <a:custGeom>
            <a:avLst/>
            <a:gdLst/>
            <a:ahLst/>
            <a:cxnLst/>
            <a:rect l="l" t="t" r="r" b="b"/>
            <a:pathLst>
              <a:path w="2908300" h="1841500">
                <a:moveTo>
                  <a:pt x="101596" y="0"/>
                </a:moveTo>
                <a:lnTo>
                  <a:pt x="2806704" y="0"/>
                </a:lnTo>
                <a:cubicBezTo>
                  <a:pt x="2862814" y="0"/>
                  <a:pt x="2908300" y="45486"/>
                  <a:pt x="2908300" y="101596"/>
                </a:cubicBezTo>
                <a:lnTo>
                  <a:pt x="2908300" y="1739904"/>
                </a:lnTo>
                <a:cubicBezTo>
                  <a:pt x="2908300" y="1796014"/>
                  <a:pt x="2862814" y="1841500"/>
                  <a:pt x="2806704" y="1841500"/>
                </a:cubicBezTo>
                <a:lnTo>
                  <a:pt x="101596" y="1841500"/>
                </a:lnTo>
                <a:cubicBezTo>
                  <a:pt x="45486" y="1841500"/>
                  <a:pt x="0" y="1796014"/>
                  <a:pt x="0" y="17399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3264" y="17907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64064" y="2247900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8514" y="2611967"/>
            <a:ext cx="921742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8514" y="2908300"/>
            <a:ext cx="266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Arquetipos de jugadores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34607" y="1638300"/>
            <a:ext cx="2895600" cy="1828800"/>
          </a:xfrm>
          <a:custGeom>
            <a:avLst/>
            <a:gdLst/>
            <a:ahLst/>
            <a:cxnLst/>
            <a:rect l="l" t="t" r="r" b="b"/>
            <a:pathLst>
              <a:path w="2895600" h="1828800">
                <a:moveTo>
                  <a:pt x="101608" y="0"/>
                </a:moveTo>
                <a:lnTo>
                  <a:pt x="2793992" y="0"/>
                </a:lnTo>
                <a:cubicBezTo>
                  <a:pt x="2850108" y="0"/>
                  <a:pt x="2895600" y="45492"/>
                  <a:pt x="2895600" y="101608"/>
                </a:cubicBezTo>
                <a:lnTo>
                  <a:pt x="2895600" y="1727192"/>
                </a:lnTo>
                <a:cubicBezTo>
                  <a:pt x="2895600" y="1783308"/>
                  <a:pt x="2850108" y="1828800"/>
                  <a:pt x="27939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254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04457" y="1803400"/>
            <a:ext cx="275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F1=1.0000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955257" y="2260600"/>
            <a:ext cx="265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99707" y="2624667"/>
            <a:ext cx="680839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99707" y="2921000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Perfección absoluta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350" y="3689350"/>
            <a:ext cx="7505700" cy="3467100"/>
          </a:xfrm>
          <a:custGeom>
            <a:avLst/>
            <a:gdLst/>
            <a:ahLst/>
            <a:cxnLst/>
            <a:rect l="l" t="t" r="r" b="b"/>
            <a:pathLst>
              <a:path w="7505700" h="3467100">
                <a:moveTo>
                  <a:pt x="101586" y="0"/>
                </a:moveTo>
                <a:lnTo>
                  <a:pt x="7404114" y="0"/>
                </a:lnTo>
                <a:cubicBezTo>
                  <a:pt x="7460218" y="0"/>
                  <a:pt x="7505700" y="45482"/>
                  <a:pt x="7505700" y="101586"/>
                </a:cubicBezTo>
                <a:lnTo>
                  <a:pt x="7505700" y="3365514"/>
                </a:lnTo>
                <a:cubicBezTo>
                  <a:pt x="7505700" y="3421618"/>
                  <a:pt x="7460218" y="3467100"/>
                  <a:pt x="7404114" y="3467100"/>
                </a:cubicBezTo>
                <a:lnTo>
                  <a:pt x="101586" y="3467100"/>
                </a:lnTo>
                <a:cubicBezTo>
                  <a:pt x="45482" y="3467100"/>
                  <a:pt x="0" y="3421618"/>
                  <a:pt x="0" y="3365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3900" y="38989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Dataset y Métricas Clave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3900" y="4432300"/>
            <a:ext cx="214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Registros procesados: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45498" y="4406900"/>
            <a:ext cx="109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328,283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3900" y="4889500"/>
            <a:ext cx="189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utilizadas: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97400" y="4864100"/>
            <a:ext cx="334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15+ numéricas, 10+ binarias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3900" y="5346700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Clases de error: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79920" y="5321300"/>
            <a:ext cx="455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(good, inaccuracy, mistake, blunder)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3900" y="5803900"/>
            <a:ext cx="135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Desbalanceo: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31077" y="5778500"/>
            <a:ext cx="270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59:1 (good vs blunder)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35950" y="3689350"/>
            <a:ext cx="7505700" cy="3467100"/>
          </a:xfrm>
          <a:custGeom>
            <a:avLst/>
            <a:gdLst/>
            <a:ahLst/>
            <a:cxnLst/>
            <a:rect l="l" t="t" r="r" b="b"/>
            <a:pathLst>
              <a:path w="7505700" h="3467100">
                <a:moveTo>
                  <a:pt x="101586" y="0"/>
                </a:moveTo>
                <a:lnTo>
                  <a:pt x="7404114" y="0"/>
                </a:lnTo>
                <a:cubicBezTo>
                  <a:pt x="7460218" y="0"/>
                  <a:pt x="7505700" y="45482"/>
                  <a:pt x="7505700" y="101586"/>
                </a:cubicBezTo>
                <a:lnTo>
                  <a:pt x="7505700" y="3365514"/>
                </a:lnTo>
                <a:cubicBezTo>
                  <a:pt x="7505700" y="3421618"/>
                  <a:pt x="7460218" y="3467100"/>
                  <a:pt x="7404114" y="3467100"/>
                </a:cubicBezTo>
                <a:lnTo>
                  <a:pt x="101586" y="3467100"/>
                </a:lnTo>
                <a:cubicBezTo>
                  <a:pt x="45482" y="3467100"/>
                  <a:pt x="0" y="3421618"/>
                  <a:pt x="0" y="3365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45500" y="3898900"/>
            <a:ext cx="721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Criterios de Éxito Superados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77250" y="4559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8915400" y="4406900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Macro &gt; 0.70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15400" y="4711700"/>
            <a:ext cx="208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cumplido: 1.0000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77250" y="5219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8915400" y="5067300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Confusión good↔blunder &lt; 5%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15400" y="53721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Logrado: 0% (perfección)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77250" y="5880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8915400" y="5727700"/>
            <a:ext cx="322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Train-Test Gap &lt; 0.10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15400" y="6032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Gap: 0.04% (excelente generalización)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77250" y="6540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1" name="Text 49"/>
          <p:cNvSpPr/>
          <p:nvPr/>
        </p:nvSpPr>
        <p:spPr>
          <a:xfrm>
            <a:off x="8915400" y="63881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Latency &lt; 50ms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15400" y="6692900"/>
            <a:ext cx="252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Listo para producción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4350" y="7372350"/>
            <a:ext cx="15227300" cy="622300"/>
          </a:xfrm>
          <a:custGeom>
            <a:avLst/>
            <a:gdLst/>
            <a:ahLst/>
            <a:cxnLst/>
            <a:rect l="l" t="t" r="r" b="b"/>
            <a:pathLst>
              <a:path w="15227300" h="622300">
                <a:moveTo>
                  <a:pt x="101603" y="0"/>
                </a:moveTo>
                <a:lnTo>
                  <a:pt x="15125697" y="0"/>
                </a:lnTo>
                <a:cubicBezTo>
                  <a:pt x="15181811" y="0"/>
                  <a:pt x="15227300" y="45489"/>
                  <a:pt x="15227300" y="101603"/>
                </a:cubicBezTo>
                <a:lnTo>
                  <a:pt x="15227300" y="520697"/>
                </a:lnTo>
                <a:cubicBezTo>
                  <a:pt x="15227300" y="576811"/>
                  <a:pt x="15181811" y="622300"/>
                  <a:pt x="15125697" y="622300"/>
                </a:cubicBezTo>
                <a:lnTo>
                  <a:pt x="101603" y="622300"/>
                </a:lnTo>
                <a:cubicBezTo>
                  <a:pt x="45489" y="622300"/>
                  <a:pt x="0" y="576811"/>
                  <a:pt x="0" y="520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 w="12700">
            <a:solidFill>
              <a:srgbClr val="C9A227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200" y="753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1206500" y="7531100"/>
            <a:ext cx="136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Logro Histórico: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Primer sistema ML con perfección absoluta (F1=1.0000) en detección de errores de ajedrez. Nuevo estándar mundial establecido.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4"/>
            <a:ext cx="141307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 ML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del Sistema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15227300" cy="1028700"/>
          </a:xfrm>
          <a:custGeom>
            <a:avLst/>
            <a:gdLst/>
            <a:ahLst/>
            <a:cxnLst/>
            <a:rect l="l" t="t" r="r" b="b"/>
            <a:pathLst>
              <a:path w="15227300" h="1028700">
                <a:moveTo>
                  <a:pt x="101605" y="0"/>
                </a:moveTo>
                <a:lnTo>
                  <a:pt x="15125695" y="0"/>
                </a:lnTo>
                <a:cubicBezTo>
                  <a:pt x="15181810" y="0"/>
                  <a:pt x="15227300" y="45490"/>
                  <a:pt x="15227300" y="101605"/>
                </a:cubicBezTo>
                <a:lnTo>
                  <a:pt x="15227300" y="927095"/>
                </a:lnTo>
                <a:cubicBezTo>
                  <a:pt x="15227300" y="983210"/>
                  <a:pt x="15181810" y="1028700"/>
                  <a:pt x="15125695" y="1028700"/>
                </a:cubicBezTo>
                <a:lnTo>
                  <a:pt x="101605" y="1028700"/>
                </a:lnTo>
                <a:cubicBezTo>
                  <a:pt x="45490" y="1028700"/>
                  <a:pt x="0" y="983210"/>
                  <a:pt x="0" y="9270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3100" y="1689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876300" y="1892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0013" y="33338"/>
                </a:moveTo>
                <a:lnTo>
                  <a:pt x="100013" y="57150"/>
                </a:lnTo>
                <a:lnTo>
                  <a:pt x="53519" y="57150"/>
                </a:lnTo>
                <a:cubicBezTo>
                  <a:pt x="45006" y="57150"/>
                  <a:pt x="38100" y="64056"/>
                  <a:pt x="38100" y="72569"/>
                </a:cubicBezTo>
                <a:cubicBezTo>
                  <a:pt x="38100" y="74950"/>
                  <a:pt x="38636" y="77331"/>
                  <a:pt x="39707" y="79474"/>
                </a:cubicBezTo>
                <a:lnTo>
                  <a:pt x="59591" y="119241"/>
                </a:lnTo>
                <a:cubicBezTo>
                  <a:pt x="52804" y="120313"/>
                  <a:pt x="47565" y="126206"/>
                  <a:pt x="47565" y="133350"/>
                </a:cubicBezTo>
                <a:cubicBezTo>
                  <a:pt x="47565" y="141268"/>
                  <a:pt x="53935" y="147638"/>
                  <a:pt x="61853" y="147638"/>
                </a:cubicBezTo>
                <a:lnTo>
                  <a:pt x="65187" y="147638"/>
                </a:lnTo>
                <a:lnTo>
                  <a:pt x="57090" y="228600"/>
                </a:lnTo>
                <a:lnTo>
                  <a:pt x="23634" y="270450"/>
                </a:lnTo>
                <a:cubicBezTo>
                  <a:pt x="20657" y="274201"/>
                  <a:pt x="18990" y="278844"/>
                  <a:pt x="18990" y="283666"/>
                </a:cubicBezTo>
                <a:cubicBezTo>
                  <a:pt x="18990" y="295335"/>
                  <a:pt x="28456" y="304800"/>
                  <a:pt x="40124" y="304800"/>
                </a:cubicBezTo>
                <a:lnTo>
                  <a:pt x="188297" y="304800"/>
                </a:lnTo>
                <a:cubicBezTo>
                  <a:pt x="199965" y="304800"/>
                  <a:pt x="209431" y="295335"/>
                  <a:pt x="209431" y="283666"/>
                </a:cubicBezTo>
                <a:cubicBezTo>
                  <a:pt x="209431" y="278844"/>
                  <a:pt x="207824" y="274201"/>
                  <a:pt x="204787" y="270450"/>
                </a:cubicBezTo>
                <a:lnTo>
                  <a:pt x="171450" y="228600"/>
                </a:lnTo>
                <a:lnTo>
                  <a:pt x="163354" y="147638"/>
                </a:lnTo>
                <a:lnTo>
                  <a:pt x="166688" y="147638"/>
                </a:lnTo>
                <a:cubicBezTo>
                  <a:pt x="174605" y="147638"/>
                  <a:pt x="180975" y="141268"/>
                  <a:pt x="180975" y="133350"/>
                </a:cubicBezTo>
                <a:cubicBezTo>
                  <a:pt x="180975" y="126266"/>
                  <a:pt x="175796" y="120313"/>
                  <a:pt x="168950" y="119241"/>
                </a:cubicBezTo>
                <a:lnTo>
                  <a:pt x="188833" y="79474"/>
                </a:lnTo>
                <a:cubicBezTo>
                  <a:pt x="189905" y="77331"/>
                  <a:pt x="190440" y="74950"/>
                  <a:pt x="190440" y="72569"/>
                </a:cubicBezTo>
                <a:cubicBezTo>
                  <a:pt x="190440" y="64056"/>
                  <a:pt x="183535" y="57150"/>
                  <a:pt x="175022" y="57150"/>
                </a:cubicBezTo>
                <a:lnTo>
                  <a:pt x="128528" y="57150"/>
                </a:lnTo>
                <a:lnTo>
                  <a:pt x="128528" y="33338"/>
                </a:lnTo>
                <a:lnTo>
                  <a:pt x="138053" y="33338"/>
                </a:lnTo>
                <a:cubicBezTo>
                  <a:pt x="145971" y="33338"/>
                  <a:pt x="152340" y="26968"/>
                  <a:pt x="152340" y="19050"/>
                </a:cubicBezTo>
                <a:cubicBezTo>
                  <a:pt x="152340" y="11132"/>
                  <a:pt x="146030" y="4763"/>
                  <a:pt x="138113" y="4763"/>
                </a:cubicBezTo>
                <a:lnTo>
                  <a:pt x="128588" y="4763"/>
                </a:lnTo>
                <a:lnTo>
                  <a:pt x="128588" y="-4762"/>
                </a:lnTo>
                <a:cubicBezTo>
                  <a:pt x="128588" y="-12680"/>
                  <a:pt x="122218" y="-19050"/>
                  <a:pt x="114300" y="-19050"/>
                </a:cubicBezTo>
                <a:cubicBezTo>
                  <a:pt x="106382" y="-19050"/>
                  <a:pt x="100013" y="-12680"/>
                  <a:pt x="100013" y="-4762"/>
                </a:cubicBezTo>
                <a:lnTo>
                  <a:pt x="100013" y="4763"/>
                </a:lnTo>
                <a:lnTo>
                  <a:pt x="90488" y="4763"/>
                </a:lnTo>
                <a:cubicBezTo>
                  <a:pt x="82570" y="4763"/>
                  <a:pt x="76200" y="11132"/>
                  <a:pt x="76200" y="19050"/>
                </a:cubicBezTo>
                <a:cubicBezTo>
                  <a:pt x="76200" y="26968"/>
                  <a:pt x="82570" y="33338"/>
                  <a:pt x="90488" y="33338"/>
                </a:cubicBezTo>
                <a:lnTo>
                  <a:pt x="100013" y="33338"/>
                </a:lnTo>
                <a:close/>
                <a:moveTo>
                  <a:pt x="193953" y="166449"/>
                </a:moveTo>
                <a:lnTo>
                  <a:pt x="199013" y="217349"/>
                </a:lnTo>
                <a:lnTo>
                  <a:pt x="227231" y="252591"/>
                </a:lnTo>
                <a:lnTo>
                  <a:pt x="229731" y="255984"/>
                </a:lnTo>
                <a:cubicBezTo>
                  <a:pt x="235208" y="264140"/>
                  <a:pt x="238125" y="273784"/>
                  <a:pt x="238125" y="283666"/>
                </a:cubicBezTo>
                <a:cubicBezTo>
                  <a:pt x="238125" y="291227"/>
                  <a:pt x="236458" y="298430"/>
                  <a:pt x="233422" y="304800"/>
                </a:cubicBezTo>
                <a:lnTo>
                  <a:pt x="282893" y="304800"/>
                </a:lnTo>
                <a:cubicBezTo>
                  <a:pt x="294977" y="304800"/>
                  <a:pt x="304800" y="294977"/>
                  <a:pt x="304800" y="282892"/>
                </a:cubicBezTo>
                <a:cubicBezTo>
                  <a:pt x="304800" y="278547"/>
                  <a:pt x="303490" y="274320"/>
                  <a:pt x="301109" y="270748"/>
                </a:cubicBezTo>
                <a:lnTo>
                  <a:pt x="285750" y="247710"/>
                </a:lnTo>
                <a:lnTo>
                  <a:pt x="285750" y="209610"/>
                </a:lnTo>
                <a:lnTo>
                  <a:pt x="293668" y="201692"/>
                </a:lnTo>
                <a:cubicBezTo>
                  <a:pt x="300811" y="194548"/>
                  <a:pt x="304800" y="184845"/>
                  <a:pt x="304800" y="174724"/>
                </a:cubicBezTo>
                <a:lnTo>
                  <a:pt x="304800" y="114300"/>
                </a:lnTo>
                <a:cubicBezTo>
                  <a:pt x="304800" y="103763"/>
                  <a:pt x="296287" y="95250"/>
                  <a:pt x="285750" y="95250"/>
                </a:cubicBezTo>
                <a:cubicBezTo>
                  <a:pt x="275213" y="95250"/>
                  <a:pt x="266700" y="103763"/>
                  <a:pt x="266700" y="114300"/>
                </a:cubicBezTo>
                <a:lnTo>
                  <a:pt x="266700" y="123825"/>
                </a:lnTo>
                <a:lnTo>
                  <a:pt x="247650" y="123825"/>
                </a:lnTo>
                <a:lnTo>
                  <a:pt x="247650" y="114300"/>
                </a:lnTo>
                <a:cubicBezTo>
                  <a:pt x="247650" y="103763"/>
                  <a:pt x="239137" y="95250"/>
                  <a:pt x="228600" y="95250"/>
                </a:cubicBezTo>
                <a:cubicBezTo>
                  <a:pt x="218063" y="95250"/>
                  <a:pt x="209550" y="103763"/>
                  <a:pt x="209550" y="114300"/>
                </a:cubicBezTo>
                <a:lnTo>
                  <a:pt x="209550" y="133350"/>
                </a:lnTo>
                <a:cubicBezTo>
                  <a:pt x="209550" y="146685"/>
                  <a:pt x="203478" y="158591"/>
                  <a:pt x="193953" y="166449"/>
                </a:cubicBez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739900"/>
            <a:ext cx="17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PGN Parser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7500" y="2095500"/>
            <a:ext cx="176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python-chess library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7631" y="1892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4861983" y="1689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5065183" y="1892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5776383" y="1739900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Stockfish Eval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76383" y="20955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Centipawns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72173" y="1892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9026459" y="1689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91559" y="1892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9940859" y="17399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40859" y="2095500"/>
            <a:ext cx="200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25+ features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513866" y="1892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68152" y="1689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13633252" y="1892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14382552" y="1739900"/>
            <a:ext cx="132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Models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382552" y="2095500"/>
            <a:ext cx="129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10+ algoritmos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4350" y="2673350"/>
            <a:ext cx="7531100" cy="3975100"/>
          </a:xfrm>
          <a:custGeom>
            <a:avLst/>
            <a:gdLst/>
            <a:ahLst/>
            <a:cxnLst/>
            <a:rect l="l" t="t" r="r" b="b"/>
            <a:pathLst>
              <a:path w="7531100" h="3975100">
                <a:moveTo>
                  <a:pt x="101604" y="0"/>
                </a:moveTo>
                <a:lnTo>
                  <a:pt x="7429496" y="0"/>
                </a:lnTo>
                <a:cubicBezTo>
                  <a:pt x="7485611" y="0"/>
                  <a:pt x="7531100" y="45489"/>
                  <a:pt x="7531100" y="101604"/>
                </a:cubicBezTo>
                <a:lnTo>
                  <a:pt x="7531100" y="3873496"/>
                </a:lnTo>
                <a:cubicBezTo>
                  <a:pt x="7531100" y="3929611"/>
                  <a:pt x="7485611" y="3975100"/>
                  <a:pt x="7429496" y="3975100"/>
                </a:cubicBezTo>
                <a:lnTo>
                  <a:pt x="101604" y="3975100"/>
                </a:lnTo>
                <a:cubicBezTo>
                  <a:pt x="45489" y="3975100"/>
                  <a:pt x="0" y="3929611"/>
                  <a:pt x="0" y="38734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100" y="2832100"/>
            <a:ext cx="734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Numéricas (15+)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3100" y="32893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4700" y="33909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45742" y="3416300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Importancia: 0.2845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4700" y="36957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Diferencia de evaluación en centipawns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3100" y="41021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74700" y="42037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material_balance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85562" y="4229100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Importancia: 0.1623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4700" y="45085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de material (peones=1, caballo=3, etc.)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3100" y="49149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74700" y="50165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branching_factor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6620" y="5041900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Importancia: 0.1245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4700" y="53213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Número de jugadas legales (complejidad)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3100" y="5727700"/>
            <a:ext cx="7213600" cy="762000"/>
          </a:xfrm>
          <a:custGeom>
            <a:avLst/>
            <a:gdLst/>
            <a:ahLst/>
            <a:cxnLst/>
            <a:rect l="l" t="t" r="r" b="b"/>
            <a:pathLst>
              <a:path w="7213600" h="762000">
                <a:moveTo>
                  <a:pt x="50803" y="0"/>
                </a:moveTo>
                <a:lnTo>
                  <a:pt x="7162797" y="0"/>
                </a:lnTo>
                <a:cubicBezTo>
                  <a:pt x="7190855" y="0"/>
                  <a:pt x="7213600" y="22745"/>
                  <a:pt x="7213600" y="50803"/>
                </a:cubicBezTo>
                <a:lnTo>
                  <a:pt x="7213600" y="711197"/>
                </a:lnTo>
                <a:cubicBezTo>
                  <a:pt x="7213600" y="739255"/>
                  <a:pt x="7190855" y="762000"/>
                  <a:pt x="71627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4700" y="5829300"/>
            <a:ext cx="318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self_mobility / opponent_mobility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80831" y="5854700"/>
            <a:ext cx="248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Importancia: 0.0987 / 0.0856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4700" y="61341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Casillas controladas por cada bando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10550" y="2673350"/>
            <a:ext cx="7531100" cy="3975100"/>
          </a:xfrm>
          <a:custGeom>
            <a:avLst/>
            <a:gdLst/>
            <a:ahLst/>
            <a:cxnLst/>
            <a:rect l="l" t="t" r="r" b="b"/>
            <a:pathLst>
              <a:path w="7531100" h="3975100">
                <a:moveTo>
                  <a:pt x="101604" y="0"/>
                </a:moveTo>
                <a:lnTo>
                  <a:pt x="7429496" y="0"/>
                </a:lnTo>
                <a:cubicBezTo>
                  <a:pt x="7485611" y="0"/>
                  <a:pt x="7531100" y="45489"/>
                  <a:pt x="7531100" y="101604"/>
                </a:cubicBezTo>
                <a:lnTo>
                  <a:pt x="7531100" y="3873496"/>
                </a:lnTo>
                <a:cubicBezTo>
                  <a:pt x="7531100" y="3929611"/>
                  <a:pt x="7485611" y="3975100"/>
                  <a:pt x="7429496" y="3975100"/>
                </a:cubicBezTo>
                <a:lnTo>
                  <a:pt x="101604" y="3975100"/>
                </a:lnTo>
                <a:cubicBezTo>
                  <a:pt x="45489" y="3975100"/>
                  <a:pt x="0" y="3929611"/>
                  <a:pt x="0" y="38734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9300" y="2832100"/>
            <a:ext cx="734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Binarias (10+)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69300" y="3289300"/>
            <a:ext cx="3581400" cy="508000"/>
          </a:xfrm>
          <a:custGeom>
            <a:avLst/>
            <a:gdLst/>
            <a:ahLst/>
            <a:cxnLst/>
            <a:rect l="l" t="t" r="r" b="b"/>
            <a:pathLst>
              <a:path w="3581400" h="508000">
                <a:moveTo>
                  <a:pt x="50800" y="0"/>
                </a:moveTo>
                <a:lnTo>
                  <a:pt x="3530600" y="0"/>
                </a:lnTo>
                <a:cubicBezTo>
                  <a:pt x="3558637" y="0"/>
                  <a:pt x="3581400" y="22763"/>
                  <a:pt x="3581400" y="50800"/>
                </a:cubicBezTo>
                <a:lnTo>
                  <a:pt x="3581400" y="457200"/>
                </a:lnTo>
                <a:cubicBezTo>
                  <a:pt x="3581400" y="485237"/>
                  <a:pt x="3558637" y="508000"/>
                  <a:pt x="35306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509000" y="34417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-12700"/>
                </a:moveTo>
                <a:cubicBezTo>
                  <a:pt x="95925" y="-12700"/>
                  <a:pt x="101600" y="-7025"/>
                  <a:pt x="101600" y="0"/>
                </a:cubicBezTo>
                <a:lnTo>
                  <a:pt x="101600" y="12700"/>
                </a:lnTo>
                <a:lnTo>
                  <a:pt x="114300" y="12700"/>
                </a:lnTo>
                <a:cubicBezTo>
                  <a:pt x="121325" y="12700"/>
                  <a:pt x="127000" y="18375"/>
                  <a:pt x="127000" y="25400"/>
                </a:cubicBezTo>
                <a:cubicBezTo>
                  <a:pt x="127000" y="32425"/>
                  <a:pt x="121325" y="38100"/>
                  <a:pt x="114300" y="38100"/>
                </a:cubicBezTo>
                <a:lnTo>
                  <a:pt x="101600" y="38100"/>
                </a:lnTo>
                <a:lnTo>
                  <a:pt x="101600" y="63500"/>
                </a:lnTo>
                <a:lnTo>
                  <a:pt x="162639" y="63500"/>
                </a:lnTo>
                <a:cubicBezTo>
                  <a:pt x="171013" y="63500"/>
                  <a:pt x="177800" y="70287"/>
                  <a:pt x="177800" y="78661"/>
                </a:cubicBezTo>
                <a:cubicBezTo>
                  <a:pt x="177800" y="81201"/>
                  <a:pt x="177165" y="83701"/>
                  <a:pt x="175935" y="85923"/>
                </a:cubicBezTo>
                <a:lnTo>
                  <a:pt x="139700" y="152400"/>
                </a:lnTo>
                <a:lnTo>
                  <a:pt x="162004" y="180300"/>
                </a:lnTo>
                <a:cubicBezTo>
                  <a:pt x="163989" y="182801"/>
                  <a:pt x="165100" y="185896"/>
                  <a:pt x="165100" y="189111"/>
                </a:cubicBezTo>
                <a:cubicBezTo>
                  <a:pt x="165100" y="196890"/>
                  <a:pt x="158790" y="203200"/>
                  <a:pt x="151011" y="203200"/>
                </a:cubicBezTo>
                <a:lnTo>
                  <a:pt x="26789" y="203200"/>
                </a:lnTo>
                <a:cubicBezTo>
                  <a:pt x="19010" y="203200"/>
                  <a:pt x="12700" y="196890"/>
                  <a:pt x="12700" y="189111"/>
                </a:cubicBezTo>
                <a:cubicBezTo>
                  <a:pt x="12700" y="185896"/>
                  <a:pt x="13772" y="182801"/>
                  <a:pt x="15796" y="180300"/>
                </a:cubicBezTo>
                <a:lnTo>
                  <a:pt x="38100" y="152400"/>
                </a:lnTo>
                <a:lnTo>
                  <a:pt x="1865" y="85963"/>
                </a:lnTo>
                <a:cubicBezTo>
                  <a:pt x="635" y="83701"/>
                  <a:pt x="0" y="81201"/>
                  <a:pt x="0" y="78661"/>
                </a:cubicBezTo>
                <a:cubicBezTo>
                  <a:pt x="0" y="70287"/>
                  <a:pt x="6787" y="63500"/>
                  <a:pt x="15161" y="63500"/>
                </a:cubicBezTo>
                <a:lnTo>
                  <a:pt x="76200" y="63500"/>
                </a:lnTo>
                <a:lnTo>
                  <a:pt x="76200" y="38100"/>
                </a:lnTo>
                <a:lnTo>
                  <a:pt x="63500" y="38100"/>
                </a:lnTo>
                <a:cubicBezTo>
                  <a:pt x="56475" y="38100"/>
                  <a:pt x="50800" y="32425"/>
                  <a:pt x="50800" y="25400"/>
                </a:cubicBezTo>
                <a:cubicBezTo>
                  <a:pt x="50800" y="18375"/>
                  <a:pt x="56475" y="12700"/>
                  <a:pt x="63500" y="12700"/>
                </a:cubicBezTo>
                <a:lnTo>
                  <a:pt x="76200" y="12700"/>
                </a:lnTo>
                <a:lnTo>
                  <a:pt x="76200" y="0"/>
                </a:lnTo>
                <a:cubicBezTo>
                  <a:pt x="76200" y="-7025"/>
                  <a:pt x="81875" y="-12700"/>
                  <a:pt x="88900" y="-127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6" name="Text 44"/>
          <p:cNvSpPr/>
          <p:nvPr/>
        </p:nvSpPr>
        <p:spPr>
          <a:xfrm>
            <a:off x="8826500" y="33909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threatens_mate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001500" y="3289300"/>
            <a:ext cx="3581400" cy="508000"/>
          </a:xfrm>
          <a:custGeom>
            <a:avLst/>
            <a:gdLst/>
            <a:ahLst/>
            <a:cxnLst/>
            <a:rect l="l" t="t" r="r" b="b"/>
            <a:pathLst>
              <a:path w="3581400" h="508000">
                <a:moveTo>
                  <a:pt x="50800" y="0"/>
                </a:moveTo>
                <a:lnTo>
                  <a:pt x="3530600" y="0"/>
                </a:lnTo>
                <a:cubicBezTo>
                  <a:pt x="3558637" y="0"/>
                  <a:pt x="3581400" y="22763"/>
                  <a:pt x="3581400" y="50800"/>
                </a:cubicBezTo>
                <a:lnTo>
                  <a:pt x="3581400" y="457200"/>
                </a:lnTo>
                <a:cubicBezTo>
                  <a:pt x="3581400" y="485237"/>
                  <a:pt x="3558637" y="508000"/>
                  <a:pt x="35306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153900" y="34417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12700"/>
                </a:moveTo>
                <a:lnTo>
                  <a:pt x="0" y="52983"/>
                </a:lnTo>
                <a:cubicBezTo>
                  <a:pt x="0" y="59730"/>
                  <a:pt x="2659" y="66199"/>
                  <a:pt x="7422" y="70961"/>
                </a:cubicBezTo>
                <a:lnTo>
                  <a:pt x="25400" y="88900"/>
                </a:lnTo>
                <a:lnTo>
                  <a:pt x="25400" y="152400"/>
                </a:lnTo>
                <a:lnTo>
                  <a:pt x="3096" y="180300"/>
                </a:lnTo>
                <a:cubicBezTo>
                  <a:pt x="1072" y="182801"/>
                  <a:pt x="0" y="185896"/>
                  <a:pt x="0" y="189111"/>
                </a:cubicBezTo>
                <a:cubicBezTo>
                  <a:pt x="0" y="196890"/>
                  <a:pt x="6310" y="203200"/>
                  <a:pt x="14089" y="203200"/>
                </a:cubicBezTo>
                <a:lnTo>
                  <a:pt x="138271" y="203200"/>
                </a:lnTo>
                <a:cubicBezTo>
                  <a:pt x="146050" y="203200"/>
                  <a:pt x="152360" y="196890"/>
                  <a:pt x="152360" y="189111"/>
                </a:cubicBezTo>
                <a:cubicBezTo>
                  <a:pt x="152360" y="185896"/>
                  <a:pt x="151289" y="182801"/>
                  <a:pt x="149265" y="180300"/>
                </a:cubicBezTo>
                <a:lnTo>
                  <a:pt x="126960" y="152400"/>
                </a:lnTo>
                <a:lnTo>
                  <a:pt x="126960" y="88900"/>
                </a:lnTo>
                <a:lnTo>
                  <a:pt x="144939" y="70922"/>
                </a:lnTo>
                <a:cubicBezTo>
                  <a:pt x="149701" y="66159"/>
                  <a:pt x="152360" y="59690"/>
                  <a:pt x="152360" y="52943"/>
                </a:cubicBezTo>
                <a:lnTo>
                  <a:pt x="152400" y="12700"/>
                </a:lnTo>
                <a:cubicBezTo>
                  <a:pt x="152400" y="5675"/>
                  <a:pt x="146725" y="0"/>
                  <a:pt x="139700" y="0"/>
                </a:cubicBezTo>
                <a:lnTo>
                  <a:pt x="127000" y="0"/>
                </a:lnTo>
                <a:cubicBezTo>
                  <a:pt x="119975" y="0"/>
                  <a:pt x="114300" y="5675"/>
                  <a:pt x="114300" y="12700"/>
                </a:cubicBezTo>
                <a:lnTo>
                  <a:pt x="114300" y="25400"/>
                </a:lnTo>
                <a:lnTo>
                  <a:pt x="95250" y="25400"/>
                </a:lnTo>
                <a:lnTo>
                  <a:pt x="95250" y="12700"/>
                </a:lnTo>
                <a:cubicBezTo>
                  <a:pt x="95250" y="5675"/>
                  <a:pt x="89575" y="0"/>
                  <a:pt x="82550" y="0"/>
                </a:cubicBezTo>
                <a:lnTo>
                  <a:pt x="69850" y="0"/>
                </a:lnTo>
                <a:cubicBezTo>
                  <a:pt x="62825" y="0"/>
                  <a:pt x="57150" y="5675"/>
                  <a:pt x="57150" y="12700"/>
                </a:cubicBezTo>
                <a:lnTo>
                  <a:pt x="57150" y="25400"/>
                </a:lnTo>
                <a:lnTo>
                  <a:pt x="38100" y="25400"/>
                </a:lnTo>
                <a:lnTo>
                  <a:pt x="38100" y="12700"/>
                </a:lnTo>
                <a:cubicBezTo>
                  <a:pt x="38100" y="5675"/>
                  <a:pt x="32425" y="0"/>
                  <a:pt x="25400" y="0"/>
                </a:cubicBezTo>
                <a:lnTo>
                  <a:pt x="12700" y="0"/>
                </a:lnTo>
                <a:cubicBezTo>
                  <a:pt x="5675" y="0"/>
                  <a:pt x="0" y="5675"/>
                  <a:pt x="0" y="127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9" name="Text 47"/>
          <p:cNvSpPr/>
          <p:nvPr/>
        </p:nvSpPr>
        <p:spPr>
          <a:xfrm>
            <a:off x="12458700" y="3390900"/>
            <a:ext cx="196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is_center_controlled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69300" y="3848100"/>
            <a:ext cx="3581400" cy="508000"/>
          </a:xfrm>
          <a:custGeom>
            <a:avLst/>
            <a:gdLst/>
            <a:ahLst/>
            <a:cxnLst/>
            <a:rect l="l" t="t" r="r" b="b"/>
            <a:pathLst>
              <a:path w="3581400" h="508000">
                <a:moveTo>
                  <a:pt x="50800" y="0"/>
                </a:moveTo>
                <a:lnTo>
                  <a:pt x="3530600" y="0"/>
                </a:lnTo>
                <a:cubicBezTo>
                  <a:pt x="3558637" y="0"/>
                  <a:pt x="3581400" y="22763"/>
                  <a:pt x="3581400" y="50800"/>
                </a:cubicBezTo>
                <a:lnTo>
                  <a:pt x="3581400" y="457200"/>
                </a:lnTo>
                <a:cubicBezTo>
                  <a:pt x="3581400" y="485237"/>
                  <a:pt x="3558637" y="508000"/>
                  <a:pt x="35306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521700" y="40005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76200" y="-12700"/>
                </a:moveTo>
                <a:cubicBezTo>
                  <a:pt x="102513" y="-12700"/>
                  <a:pt x="123825" y="8612"/>
                  <a:pt x="123825" y="34925"/>
                </a:cubicBezTo>
                <a:cubicBezTo>
                  <a:pt x="123825" y="45641"/>
                  <a:pt x="120293" y="55523"/>
                  <a:pt x="114300" y="63500"/>
                </a:cubicBezTo>
                <a:cubicBezTo>
                  <a:pt x="121325" y="63500"/>
                  <a:pt x="127000" y="69175"/>
                  <a:pt x="127000" y="76200"/>
                </a:cubicBezTo>
                <a:cubicBezTo>
                  <a:pt x="127000" y="83225"/>
                  <a:pt x="121325" y="88900"/>
                  <a:pt x="114300" y="88900"/>
                </a:cubicBezTo>
                <a:lnTo>
                  <a:pt x="110053" y="88900"/>
                </a:lnTo>
                <a:lnTo>
                  <a:pt x="120650" y="152400"/>
                </a:lnTo>
                <a:lnTo>
                  <a:pt x="142954" y="180300"/>
                </a:lnTo>
                <a:cubicBezTo>
                  <a:pt x="144939" y="182801"/>
                  <a:pt x="146050" y="185896"/>
                  <a:pt x="146050" y="189111"/>
                </a:cubicBezTo>
                <a:cubicBezTo>
                  <a:pt x="146050" y="196890"/>
                  <a:pt x="139740" y="203200"/>
                  <a:pt x="131961" y="203200"/>
                </a:cubicBezTo>
                <a:lnTo>
                  <a:pt x="20439" y="203200"/>
                </a:lnTo>
                <a:cubicBezTo>
                  <a:pt x="12660" y="203200"/>
                  <a:pt x="6350" y="196890"/>
                  <a:pt x="6350" y="189111"/>
                </a:cubicBezTo>
                <a:cubicBezTo>
                  <a:pt x="6350" y="185896"/>
                  <a:pt x="7422" y="182801"/>
                  <a:pt x="9446" y="180300"/>
                </a:cubicBezTo>
                <a:lnTo>
                  <a:pt x="31750" y="152400"/>
                </a:lnTo>
                <a:lnTo>
                  <a:pt x="42347" y="88900"/>
                </a:lnTo>
                <a:lnTo>
                  <a:pt x="38100" y="88900"/>
                </a:lnTo>
                <a:cubicBezTo>
                  <a:pt x="31075" y="88900"/>
                  <a:pt x="25400" y="83225"/>
                  <a:pt x="25400" y="76200"/>
                </a:cubicBezTo>
                <a:cubicBezTo>
                  <a:pt x="25400" y="69175"/>
                  <a:pt x="31075" y="63500"/>
                  <a:pt x="38100" y="63500"/>
                </a:cubicBezTo>
                <a:cubicBezTo>
                  <a:pt x="32107" y="55523"/>
                  <a:pt x="28575" y="45641"/>
                  <a:pt x="28575" y="34925"/>
                </a:cubicBezTo>
                <a:cubicBezTo>
                  <a:pt x="28575" y="8612"/>
                  <a:pt x="49887" y="-12700"/>
                  <a:pt x="76200" y="-127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8826500" y="3949700"/>
            <a:ext cx="181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is_pawn_endgame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2001500" y="3848100"/>
            <a:ext cx="3581400" cy="508000"/>
          </a:xfrm>
          <a:custGeom>
            <a:avLst/>
            <a:gdLst/>
            <a:ahLst/>
            <a:cxnLst/>
            <a:rect l="l" t="t" r="r" b="b"/>
            <a:pathLst>
              <a:path w="3581400" h="508000">
                <a:moveTo>
                  <a:pt x="50800" y="0"/>
                </a:moveTo>
                <a:lnTo>
                  <a:pt x="3530600" y="0"/>
                </a:lnTo>
                <a:cubicBezTo>
                  <a:pt x="3558637" y="0"/>
                  <a:pt x="3581400" y="22763"/>
                  <a:pt x="3581400" y="50800"/>
                </a:cubicBezTo>
                <a:lnTo>
                  <a:pt x="3581400" y="457200"/>
                </a:lnTo>
                <a:cubicBezTo>
                  <a:pt x="3581400" y="485237"/>
                  <a:pt x="3558637" y="508000"/>
                  <a:pt x="35306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153900" y="40005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76200" y="-12700"/>
                </a:moveTo>
                <a:cubicBezTo>
                  <a:pt x="118269" y="-12700"/>
                  <a:pt x="152400" y="21431"/>
                  <a:pt x="152400" y="63500"/>
                </a:cubicBezTo>
                <a:lnTo>
                  <a:pt x="152400" y="116483"/>
                </a:lnTo>
                <a:cubicBezTo>
                  <a:pt x="152400" y="123230"/>
                  <a:pt x="149701" y="129659"/>
                  <a:pt x="144978" y="134422"/>
                </a:cubicBezTo>
                <a:lnTo>
                  <a:pt x="127000" y="152400"/>
                </a:lnTo>
                <a:lnTo>
                  <a:pt x="147161" y="172522"/>
                </a:lnTo>
                <a:cubicBezTo>
                  <a:pt x="150535" y="175895"/>
                  <a:pt x="152400" y="180459"/>
                  <a:pt x="152400" y="185222"/>
                </a:cubicBezTo>
                <a:cubicBezTo>
                  <a:pt x="152400" y="195143"/>
                  <a:pt x="144343" y="203160"/>
                  <a:pt x="134461" y="203200"/>
                </a:cubicBezTo>
                <a:lnTo>
                  <a:pt x="17978" y="203200"/>
                </a:lnTo>
                <a:cubicBezTo>
                  <a:pt x="8057" y="203200"/>
                  <a:pt x="40" y="195143"/>
                  <a:pt x="40" y="185222"/>
                </a:cubicBezTo>
                <a:cubicBezTo>
                  <a:pt x="40" y="180459"/>
                  <a:pt x="1945" y="175895"/>
                  <a:pt x="5278" y="172522"/>
                </a:cubicBezTo>
                <a:lnTo>
                  <a:pt x="25400" y="152400"/>
                </a:lnTo>
                <a:lnTo>
                  <a:pt x="25400" y="138668"/>
                </a:lnTo>
                <a:cubicBezTo>
                  <a:pt x="25400" y="131247"/>
                  <a:pt x="28654" y="124222"/>
                  <a:pt x="34250" y="119380"/>
                </a:cubicBezTo>
                <a:lnTo>
                  <a:pt x="69850" y="88900"/>
                </a:lnTo>
                <a:lnTo>
                  <a:pt x="50800" y="88900"/>
                </a:lnTo>
                <a:lnTo>
                  <a:pt x="45998" y="93702"/>
                </a:lnTo>
                <a:cubicBezTo>
                  <a:pt x="40958" y="98742"/>
                  <a:pt x="34092" y="101600"/>
                  <a:pt x="26948" y="101600"/>
                </a:cubicBezTo>
                <a:cubicBezTo>
                  <a:pt x="12065" y="101600"/>
                  <a:pt x="0" y="89535"/>
                  <a:pt x="0" y="74652"/>
                </a:cubicBezTo>
                <a:lnTo>
                  <a:pt x="0" y="71199"/>
                </a:lnTo>
                <a:cubicBezTo>
                  <a:pt x="0" y="62151"/>
                  <a:pt x="3254" y="53380"/>
                  <a:pt x="9168" y="46474"/>
                </a:cubicBezTo>
                <a:lnTo>
                  <a:pt x="38100" y="12700"/>
                </a:lnTo>
                <a:lnTo>
                  <a:pt x="38100" y="0"/>
                </a:lnTo>
                <a:cubicBezTo>
                  <a:pt x="38100" y="-7025"/>
                  <a:pt x="43775" y="-12700"/>
                  <a:pt x="50800" y="-12700"/>
                </a:cubicBezTo>
                <a:lnTo>
                  <a:pt x="76200" y="-12700"/>
                </a:lnTo>
                <a:close/>
                <a:moveTo>
                  <a:pt x="63500" y="28575"/>
                </a:moveTo>
                <a:cubicBezTo>
                  <a:pt x="58243" y="28575"/>
                  <a:pt x="53975" y="32843"/>
                  <a:pt x="53975" y="38100"/>
                </a:cubicBezTo>
                <a:cubicBezTo>
                  <a:pt x="53975" y="43357"/>
                  <a:pt x="58243" y="47625"/>
                  <a:pt x="63500" y="47625"/>
                </a:cubicBezTo>
                <a:cubicBezTo>
                  <a:pt x="68757" y="47625"/>
                  <a:pt x="73025" y="43357"/>
                  <a:pt x="73025" y="38100"/>
                </a:cubicBezTo>
                <a:cubicBezTo>
                  <a:pt x="73025" y="32843"/>
                  <a:pt x="68757" y="28575"/>
                  <a:pt x="63500" y="285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12458700" y="3949700"/>
            <a:ext cx="185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has_castling_rights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69300" y="4406900"/>
            <a:ext cx="3581400" cy="508000"/>
          </a:xfrm>
          <a:custGeom>
            <a:avLst/>
            <a:gdLst/>
            <a:ahLst/>
            <a:cxnLst/>
            <a:rect l="l" t="t" r="r" b="b"/>
            <a:pathLst>
              <a:path w="3581400" h="508000">
                <a:moveTo>
                  <a:pt x="50800" y="0"/>
                </a:moveTo>
                <a:lnTo>
                  <a:pt x="3530600" y="0"/>
                </a:lnTo>
                <a:cubicBezTo>
                  <a:pt x="3558637" y="0"/>
                  <a:pt x="3581400" y="22763"/>
                  <a:pt x="3581400" y="50800"/>
                </a:cubicBezTo>
                <a:lnTo>
                  <a:pt x="3581400" y="457200"/>
                </a:lnTo>
                <a:cubicBezTo>
                  <a:pt x="3581400" y="485237"/>
                  <a:pt x="3558637" y="508000"/>
                  <a:pt x="35306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34400" y="45593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25400" y="152400"/>
                </a:moveTo>
                <a:lnTo>
                  <a:pt x="19169" y="146169"/>
                </a:lnTo>
                <a:cubicBezTo>
                  <a:pt x="6906" y="133906"/>
                  <a:pt x="0" y="117237"/>
                  <a:pt x="0" y="99893"/>
                </a:cubicBezTo>
                <a:cubicBezTo>
                  <a:pt x="0" y="84574"/>
                  <a:pt x="5358" y="69771"/>
                  <a:pt x="15161" y="57983"/>
                </a:cubicBezTo>
                <a:lnTo>
                  <a:pt x="42347" y="25400"/>
                </a:lnTo>
                <a:lnTo>
                  <a:pt x="38100" y="25400"/>
                </a:lnTo>
                <a:cubicBezTo>
                  <a:pt x="31075" y="25400"/>
                  <a:pt x="25400" y="19725"/>
                  <a:pt x="25400" y="12700"/>
                </a:cubicBezTo>
                <a:cubicBezTo>
                  <a:pt x="25400" y="5675"/>
                  <a:pt x="31075" y="0"/>
                  <a:pt x="38100" y="0"/>
                </a:cubicBezTo>
                <a:lnTo>
                  <a:pt x="88900" y="0"/>
                </a:lnTo>
                <a:cubicBezTo>
                  <a:pt x="95925" y="0"/>
                  <a:pt x="101600" y="5675"/>
                  <a:pt x="101600" y="12700"/>
                </a:cubicBezTo>
                <a:cubicBezTo>
                  <a:pt x="101600" y="19725"/>
                  <a:pt x="95925" y="25400"/>
                  <a:pt x="88900" y="25400"/>
                </a:cubicBezTo>
                <a:lnTo>
                  <a:pt x="84653" y="25400"/>
                </a:lnTo>
                <a:lnTo>
                  <a:pt x="103545" y="48062"/>
                </a:lnTo>
                <a:lnTo>
                  <a:pt x="69453" y="82153"/>
                </a:lnTo>
                <a:cubicBezTo>
                  <a:pt x="65723" y="85884"/>
                  <a:pt x="65723" y="91916"/>
                  <a:pt x="69453" y="95607"/>
                </a:cubicBezTo>
                <a:cubicBezTo>
                  <a:pt x="73184" y="99298"/>
                  <a:pt x="79216" y="99338"/>
                  <a:pt x="82907" y="95607"/>
                </a:cubicBezTo>
                <a:lnTo>
                  <a:pt x="115570" y="62944"/>
                </a:lnTo>
                <a:cubicBezTo>
                  <a:pt x="122992" y="73779"/>
                  <a:pt x="126960" y="86638"/>
                  <a:pt x="126960" y="99854"/>
                </a:cubicBezTo>
                <a:cubicBezTo>
                  <a:pt x="126960" y="117197"/>
                  <a:pt x="120055" y="133866"/>
                  <a:pt x="107791" y="146129"/>
                </a:cubicBezTo>
                <a:lnTo>
                  <a:pt x="101600" y="152400"/>
                </a:lnTo>
                <a:lnTo>
                  <a:pt x="123904" y="180300"/>
                </a:lnTo>
                <a:cubicBezTo>
                  <a:pt x="125889" y="182801"/>
                  <a:pt x="127000" y="185896"/>
                  <a:pt x="127000" y="189111"/>
                </a:cubicBezTo>
                <a:cubicBezTo>
                  <a:pt x="127000" y="196890"/>
                  <a:pt x="120690" y="203200"/>
                  <a:pt x="112911" y="203200"/>
                </a:cubicBezTo>
                <a:lnTo>
                  <a:pt x="14089" y="203200"/>
                </a:lnTo>
                <a:cubicBezTo>
                  <a:pt x="6310" y="203200"/>
                  <a:pt x="0" y="196890"/>
                  <a:pt x="0" y="189111"/>
                </a:cubicBezTo>
                <a:cubicBezTo>
                  <a:pt x="0" y="185896"/>
                  <a:pt x="1072" y="182801"/>
                  <a:pt x="3096" y="180300"/>
                </a:cubicBezTo>
                <a:lnTo>
                  <a:pt x="25400" y="15240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8" name="Text 56"/>
          <p:cNvSpPr/>
          <p:nvPr/>
        </p:nvSpPr>
        <p:spPr>
          <a:xfrm>
            <a:off x="8826500" y="4508500"/>
            <a:ext cx="17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discovered_attack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2001500" y="4406900"/>
            <a:ext cx="3581400" cy="508000"/>
          </a:xfrm>
          <a:custGeom>
            <a:avLst/>
            <a:gdLst/>
            <a:ahLst/>
            <a:cxnLst/>
            <a:rect l="l" t="t" r="r" b="b"/>
            <a:pathLst>
              <a:path w="3581400" h="508000">
                <a:moveTo>
                  <a:pt x="50800" y="0"/>
                </a:moveTo>
                <a:lnTo>
                  <a:pt x="3530600" y="0"/>
                </a:lnTo>
                <a:cubicBezTo>
                  <a:pt x="3558637" y="0"/>
                  <a:pt x="3581400" y="22763"/>
                  <a:pt x="3581400" y="50800"/>
                </a:cubicBezTo>
                <a:lnTo>
                  <a:pt x="3581400" y="457200"/>
                </a:lnTo>
                <a:cubicBezTo>
                  <a:pt x="3581400" y="485237"/>
                  <a:pt x="3558637" y="508000"/>
                  <a:pt x="35306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2128500" y="4559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31750"/>
                </a:moveTo>
                <a:cubicBezTo>
                  <a:pt x="112114" y="31750"/>
                  <a:pt x="120650" y="23214"/>
                  <a:pt x="120650" y="12700"/>
                </a:cubicBezTo>
                <a:cubicBezTo>
                  <a:pt x="120650" y="2186"/>
                  <a:pt x="112114" y="-6350"/>
                  <a:pt x="101600" y="-6350"/>
                </a:cubicBezTo>
                <a:cubicBezTo>
                  <a:pt x="91086" y="-6350"/>
                  <a:pt x="82550" y="2186"/>
                  <a:pt x="82550" y="12700"/>
                </a:cubicBezTo>
                <a:cubicBezTo>
                  <a:pt x="82550" y="23214"/>
                  <a:pt x="91086" y="31750"/>
                  <a:pt x="101600" y="31750"/>
                </a:cubicBezTo>
                <a:close/>
                <a:moveTo>
                  <a:pt x="2183" y="73422"/>
                </a:moveTo>
                <a:lnTo>
                  <a:pt x="50800" y="152400"/>
                </a:lnTo>
                <a:lnTo>
                  <a:pt x="28496" y="180300"/>
                </a:lnTo>
                <a:cubicBezTo>
                  <a:pt x="26511" y="182801"/>
                  <a:pt x="25400" y="185896"/>
                  <a:pt x="25400" y="189111"/>
                </a:cubicBezTo>
                <a:cubicBezTo>
                  <a:pt x="25400" y="196890"/>
                  <a:pt x="31710" y="203200"/>
                  <a:pt x="39489" y="203200"/>
                </a:cubicBezTo>
                <a:lnTo>
                  <a:pt x="163671" y="203200"/>
                </a:lnTo>
                <a:cubicBezTo>
                  <a:pt x="171450" y="203200"/>
                  <a:pt x="177760" y="196890"/>
                  <a:pt x="177760" y="189111"/>
                </a:cubicBezTo>
                <a:cubicBezTo>
                  <a:pt x="177760" y="185896"/>
                  <a:pt x="176689" y="182801"/>
                  <a:pt x="174665" y="180300"/>
                </a:cubicBezTo>
                <a:lnTo>
                  <a:pt x="152400" y="152400"/>
                </a:lnTo>
                <a:lnTo>
                  <a:pt x="201017" y="73422"/>
                </a:lnTo>
                <a:cubicBezTo>
                  <a:pt x="202446" y="71080"/>
                  <a:pt x="203200" y="68382"/>
                  <a:pt x="203200" y="65643"/>
                </a:cubicBezTo>
                <a:lnTo>
                  <a:pt x="203200" y="65405"/>
                </a:lnTo>
                <a:cubicBezTo>
                  <a:pt x="203200" y="57348"/>
                  <a:pt x="196652" y="50800"/>
                  <a:pt x="188595" y="50800"/>
                </a:cubicBezTo>
                <a:cubicBezTo>
                  <a:pt x="185698" y="50800"/>
                  <a:pt x="182880" y="51673"/>
                  <a:pt x="180499" y="53261"/>
                </a:cubicBezTo>
                <a:lnTo>
                  <a:pt x="173792" y="57745"/>
                </a:lnTo>
                <a:cubicBezTo>
                  <a:pt x="168751" y="61119"/>
                  <a:pt x="162044" y="60444"/>
                  <a:pt x="157758" y="56158"/>
                </a:cubicBezTo>
                <a:lnTo>
                  <a:pt x="144224" y="42624"/>
                </a:lnTo>
                <a:cubicBezTo>
                  <a:pt x="141327" y="39727"/>
                  <a:pt x="137398" y="38100"/>
                  <a:pt x="133350" y="38100"/>
                </a:cubicBezTo>
                <a:cubicBezTo>
                  <a:pt x="129302" y="38100"/>
                  <a:pt x="125373" y="39727"/>
                  <a:pt x="122515" y="42585"/>
                </a:cubicBezTo>
                <a:lnTo>
                  <a:pt x="110569" y="54531"/>
                </a:lnTo>
                <a:cubicBezTo>
                  <a:pt x="105608" y="59492"/>
                  <a:pt x="97552" y="59492"/>
                  <a:pt x="92591" y="54531"/>
                </a:cubicBezTo>
                <a:lnTo>
                  <a:pt x="80645" y="42585"/>
                </a:lnTo>
                <a:cubicBezTo>
                  <a:pt x="77827" y="39727"/>
                  <a:pt x="73898" y="38100"/>
                  <a:pt x="69850" y="38100"/>
                </a:cubicBezTo>
                <a:cubicBezTo>
                  <a:pt x="65802" y="38100"/>
                  <a:pt x="61873" y="39727"/>
                  <a:pt x="59015" y="42585"/>
                </a:cubicBezTo>
                <a:lnTo>
                  <a:pt x="45482" y="56118"/>
                </a:lnTo>
                <a:cubicBezTo>
                  <a:pt x="41196" y="60404"/>
                  <a:pt x="34488" y="61079"/>
                  <a:pt x="29448" y="57706"/>
                </a:cubicBezTo>
                <a:lnTo>
                  <a:pt x="22741" y="53261"/>
                </a:lnTo>
                <a:cubicBezTo>
                  <a:pt x="20320" y="51673"/>
                  <a:pt x="17502" y="50800"/>
                  <a:pt x="14645" y="50800"/>
                </a:cubicBezTo>
                <a:cubicBezTo>
                  <a:pt x="6588" y="50800"/>
                  <a:pt x="40" y="57348"/>
                  <a:pt x="40" y="65405"/>
                </a:cubicBezTo>
                <a:lnTo>
                  <a:pt x="40" y="65643"/>
                </a:lnTo>
                <a:cubicBezTo>
                  <a:pt x="40" y="68382"/>
                  <a:pt x="794" y="71080"/>
                  <a:pt x="2223" y="7342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1" name="Text 59"/>
          <p:cNvSpPr/>
          <p:nvPr/>
        </p:nvSpPr>
        <p:spPr>
          <a:xfrm>
            <a:off x="12458700" y="4508500"/>
            <a:ext cx="39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369300" y="4965700"/>
            <a:ext cx="3581400" cy="508000"/>
          </a:xfrm>
          <a:custGeom>
            <a:avLst/>
            <a:gdLst/>
            <a:ahLst/>
            <a:cxnLst/>
            <a:rect l="l" t="t" r="r" b="b"/>
            <a:pathLst>
              <a:path w="3581400" h="508000">
                <a:moveTo>
                  <a:pt x="50800" y="0"/>
                </a:moveTo>
                <a:lnTo>
                  <a:pt x="3530600" y="0"/>
                </a:lnTo>
                <a:cubicBezTo>
                  <a:pt x="3558637" y="0"/>
                  <a:pt x="3581400" y="22763"/>
                  <a:pt x="3581400" y="50800"/>
                </a:cubicBezTo>
                <a:lnTo>
                  <a:pt x="3581400" y="457200"/>
                </a:lnTo>
                <a:cubicBezTo>
                  <a:pt x="3581400" y="485237"/>
                  <a:pt x="3558637" y="508000"/>
                  <a:pt x="35306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496300" y="5118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6675" y="22225"/>
                </a:moveTo>
                <a:lnTo>
                  <a:pt x="66675" y="38100"/>
                </a:lnTo>
                <a:lnTo>
                  <a:pt x="35679" y="38100"/>
                </a:lnTo>
                <a:cubicBezTo>
                  <a:pt x="30004" y="38100"/>
                  <a:pt x="25400" y="42704"/>
                  <a:pt x="25400" y="48379"/>
                </a:cubicBezTo>
                <a:cubicBezTo>
                  <a:pt x="25400" y="49967"/>
                  <a:pt x="25757" y="51554"/>
                  <a:pt x="26472" y="52983"/>
                </a:cubicBezTo>
                <a:lnTo>
                  <a:pt x="39727" y="79494"/>
                </a:lnTo>
                <a:cubicBezTo>
                  <a:pt x="35203" y="80208"/>
                  <a:pt x="31710" y="84138"/>
                  <a:pt x="31710" y="88900"/>
                </a:cubicBezTo>
                <a:cubicBezTo>
                  <a:pt x="31710" y="94178"/>
                  <a:pt x="35957" y="98425"/>
                  <a:pt x="41235" y="98425"/>
                </a:cubicBezTo>
                <a:lnTo>
                  <a:pt x="43458" y="98425"/>
                </a:lnTo>
                <a:lnTo>
                  <a:pt x="38060" y="152400"/>
                </a:lnTo>
                <a:lnTo>
                  <a:pt x="15756" y="180300"/>
                </a:lnTo>
                <a:cubicBezTo>
                  <a:pt x="13772" y="182801"/>
                  <a:pt x="12660" y="185896"/>
                  <a:pt x="12660" y="189111"/>
                </a:cubicBezTo>
                <a:cubicBezTo>
                  <a:pt x="12660" y="196890"/>
                  <a:pt x="18971" y="203200"/>
                  <a:pt x="26749" y="203200"/>
                </a:cubicBezTo>
                <a:lnTo>
                  <a:pt x="125532" y="203200"/>
                </a:lnTo>
                <a:cubicBezTo>
                  <a:pt x="133310" y="203200"/>
                  <a:pt x="139621" y="196890"/>
                  <a:pt x="139621" y="189111"/>
                </a:cubicBezTo>
                <a:cubicBezTo>
                  <a:pt x="139621" y="185896"/>
                  <a:pt x="138549" y="182801"/>
                  <a:pt x="136525" y="180300"/>
                </a:cubicBezTo>
                <a:lnTo>
                  <a:pt x="114300" y="152400"/>
                </a:lnTo>
                <a:lnTo>
                  <a:pt x="108903" y="98425"/>
                </a:lnTo>
                <a:lnTo>
                  <a:pt x="111125" y="98425"/>
                </a:lnTo>
                <a:cubicBezTo>
                  <a:pt x="116403" y="98425"/>
                  <a:pt x="120650" y="94178"/>
                  <a:pt x="120650" y="88900"/>
                </a:cubicBezTo>
                <a:cubicBezTo>
                  <a:pt x="120650" y="84177"/>
                  <a:pt x="117197" y="80208"/>
                  <a:pt x="112633" y="79494"/>
                </a:cubicBezTo>
                <a:lnTo>
                  <a:pt x="125889" y="52983"/>
                </a:lnTo>
                <a:cubicBezTo>
                  <a:pt x="126603" y="51554"/>
                  <a:pt x="126960" y="49967"/>
                  <a:pt x="126960" y="48379"/>
                </a:cubicBezTo>
                <a:cubicBezTo>
                  <a:pt x="126960" y="42704"/>
                  <a:pt x="122357" y="38100"/>
                  <a:pt x="116681" y="38100"/>
                </a:cubicBezTo>
                <a:lnTo>
                  <a:pt x="85685" y="38100"/>
                </a:lnTo>
                <a:lnTo>
                  <a:pt x="85685" y="22225"/>
                </a:lnTo>
                <a:lnTo>
                  <a:pt x="92035" y="22225"/>
                </a:lnTo>
                <a:cubicBezTo>
                  <a:pt x="97314" y="22225"/>
                  <a:pt x="101560" y="17978"/>
                  <a:pt x="101560" y="12700"/>
                </a:cubicBezTo>
                <a:cubicBezTo>
                  <a:pt x="101560" y="7422"/>
                  <a:pt x="97353" y="3175"/>
                  <a:pt x="92075" y="3175"/>
                </a:cubicBezTo>
                <a:lnTo>
                  <a:pt x="85725" y="3175"/>
                </a:lnTo>
                <a:lnTo>
                  <a:pt x="85725" y="-3175"/>
                </a:lnTo>
                <a:cubicBezTo>
                  <a:pt x="85725" y="-8453"/>
                  <a:pt x="81478" y="-12700"/>
                  <a:pt x="76200" y="-12700"/>
                </a:cubicBezTo>
                <a:cubicBezTo>
                  <a:pt x="70922" y="-12700"/>
                  <a:pt x="66675" y="-8453"/>
                  <a:pt x="66675" y="-3175"/>
                </a:cubicBezTo>
                <a:lnTo>
                  <a:pt x="66675" y="3175"/>
                </a:lnTo>
                <a:lnTo>
                  <a:pt x="60325" y="3175"/>
                </a:lnTo>
                <a:cubicBezTo>
                  <a:pt x="55047" y="3175"/>
                  <a:pt x="50800" y="7422"/>
                  <a:pt x="50800" y="12700"/>
                </a:cubicBezTo>
                <a:cubicBezTo>
                  <a:pt x="50800" y="17978"/>
                  <a:pt x="55047" y="22225"/>
                  <a:pt x="60325" y="22225"/>
                </a:cubicBezTo>
                <a:lnTo>
                  <a:pt x="66675" y="22225"/>
                </a:lnTo>
                <a:close/>
                <a:moveTo>
                  <a:pt x="129302" y="110966"/>
                </a:moveTo>
                <a:lnTo>
                  <a:pt x="132675" y="144899"/>
                </a:lnTo>
                <a:lnTo>
                  <a:pt x="151487" y="168394"/>
                </a:lnTo>
                <a:lnTo>
                  <a:pt x="153154" y="170656"/>
                </a:lnTo>
                <a:cubicBezTo>
                  <a:pt x="156805" y="176093"/>
                  <a:pt x="158750" y="182523"/>
                  <a:pt x="158750" y="189111"/>
                </a:cubicBezTo>
                <a:cubicBezTo>
                  <a:pt x="158750" y="194151"/>
                  <a:pt x="157639" y="198953"/>
                  <a:pt x="155615" y="203200"/>
                </a:cubicBezTo>
                <a:lnTo>
                  <a:pt x="188595" y="203200"/>
                </a:lnTo>
                <a:cubicBezTo>
                  <a:pt x="196652" y="203200"/>
                  <a:pt x="203200" y="196652"/>
                  <a:pt x="203200" y="188595"/>
                </a:cubicBezTo>
                <a:cubicBezTo>
                  <a:pt x="203200" y="185698"/>
                  <a:pt x="202327" y="182880"/>
                  <a:pt x="200739" y="180499"/>
                </a:cubicBezTo>
                <a:lnTo>
                  <a:pt x="190500" y="165140"/>
                </a:lnTo>
                <a:lnTo>
                  <a:pt x="190500" y="139740"/>
                </a:lnTo>
                <a:lnTo>
                  <a:pt x="195778" y="134461"/>
                </a:lnTo>
                <a:cubicBezTo>
                  <a:pt x="200541" y="129699"/>
                  <a:pt x="203200" y="123230"/>
                  <a:pt x="203200" y="116483"/>
                </a:cubicBezTo>
                <a:lnTo>
                  <a:pt x="203200" y="76200"/>
                </a:lnTo>
                <a:cubicBezTo>
                  <a:pt x="203200" y="69175"/>
                  <a:pt x="197525" y="63500"/>
                  <a:pt x="190500" y="63500"/>
                </a:cubicBezTo>
                <a:cubicBezTo>
                  <a:pt x="183475" y="63500"/>
                  <a:pt x="177800" y="69175"/>
                  <a:pt x="177800" y="76200"/>
                </a:cubicBezTo>
                <a:lnTo>
                  <a:pt x="177800" y="82550"/>
                </a:lnTo>
                <a:lnTo>
                  <a:pt x="165100" y="82550"/>
                </a:lnTo>
                <a:lnTo>
                  <a:pt x="165100" y="76200"/>
                </a:lnTo>
                <a:cubicBezTo>
                  <a:pt x="165100" y="69175"/>
                  <a:pt x="159425" y="63500"/>
                  <a:pt x="152400" y="63500"/>
                </a:cubicBezTo>
                <a:cubicBezTo>
                  <a:pt x="145375" y="63500"/>
                  <a:pt x="139700" y="69175"/>
                  <a:pt x="139700" y="76200"/>
                </a:cubicBezTo>
                <a:lnTo>
                  <a:pt x="139700" y="88900"/>
                </a:lnTo>
                <a:cubicBezTo>
                  <a:pt x="139700" y="97790"/>
                  <a:pt x="135652" y="105727"/>
                  <a:pt x="129302" y="11096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4" name="Text 62"/>
          <p:cNvSpPr/>
          <p:nvPr/>
        </p:nvSpPr>
        <p:spPr>
          <a:xfrm>
            <a:off x="8826500" y="50673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fork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2001500" y="4965700"/>
            <a:ext cx="3581400" cy="508000"/>
          </a:xfrm>
          <a:custGeom>
            <a:avLst/>
            <a:gdLst/>
            <a:ahLst/>
            <a:cxnLst/>
            <a:rect l="l" t="t" r="r" b="b"/>
            <a:pathLst>
              <a:path w="3581400" h="508000">
                <a:moveTo>
                  <a:pt x="50800" y="0"/>
                </a:moveTo>
                <a:lnTo>
                  <a:pt x="3530600" y="0"/>
                </a:lnTo>
                <a:cubicBezTo>
                  <a:pt x="3558637" y="0"/>
                  <a:pt x="3581400" y="22763"/>
                  <a:pt x="3581400" y="50800"/>
                </a:cubicBezTo>
                <a:lnTo>
                  <a:pt x="3581400" y="457200"/>
                </a:lnTo>
                <a:cubicBezTo>
                  <a:pt x="3581400" y="485237"/>
                  <a:pt x="3558637" y="508000"/>
                  <a:pt x="35306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2115800" y="51181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-6350"/>
                </a:moveTo>
                <a:cubicBezTo>
                  <a:pt x="121325" y="-6350"/>
                  <a:pt x="127000" y="-675"/>
                  <a:pt x="127000" y="6350"/>
                </a:cubicBezTo>
                <a:lnTo>
                  <a:pt x="127000" y="13613"/>
                </a:lnTo>
                <a:cubicBezTo>
                  <a:pt x="165933" y="19169"/>
                  <a:pt x="196731" y="49967"/>
                  <a:pt x="202287" y="88900"/>
                </a:cubicBezTo>
                <a:lnTo>
                  <a:pt x="209550" y="88900"/>
                </a:lnTo>
                <a:cubicBezTo>
                  <a:pt x="216575" y="88900"/>
                  <a:pt x="222250" y="94575"/>
                  <a:pt x="222250" y="101600"/>
                </a:cubicBezTo>
                <a:cubicBezTo>
                  <a:pt x="222250" y="108625"/>
                  <a:pt x="216575" y="114300"/>
                  <a:pt x="209550" y="114300"/>
                </a:cubicBezTo>
                <a:lnTo>
                  <a:pt x="202287" y="114300"/>
                </a:lnTo>
                <a:cubicBezTo>
                  <a:pt x="196731" y="153233"/>
                  <a:pt x="165933" y="184031"/>
                  <a:pt x="127000" y="189587"/>
                </a:cubicBezTo>
                <a:lnTo>
                  <a:pt x="127000" y="196850"/>
                </a:lnTo>
                <a:cubicBezTo>
                  <a:pt x="127000" y="203875"/>
                  <a:pt x="121325" y="209550"/>
                  <a:pt x="114300" y="209550"/>
                </a:cubicBezTo>
                <a:cubicBezTo>
                  <a:pt x="107275" y="209550"/>
                  <a:pt x="101600" y="203875"/>
                  <a:pt x="101600" y="196850"/>
                </a:cubicBezTo>
                <a:lnTo>
                  <a:pt x="101600" y="189587"/>
                </a:lnTo>
                <a:cubicBezTo>
                  <a:pt x="62667" y="184031"/>
                  <a:pt x="31869" y="153233"/>
                  <a:pt x="26313" y="114300"/>
                </a:cubicBezTo>
                <a:lnTo>
                  <a:pt x="19050" y="114300"/>
                </a:lnTo>
                <a:cubicBezTo>
                  <a:pt x="12025" y="114300"/>
                  <a:pt x="6350" y="108625"/>
                  <a:pt x="6350" y="101600"/>
                </a:cubicBezTo>
                <a:cubicBezTo>
                  <a:pt x="6350" y="94575"/>
                  <a:pt x="12025" y="88900"/>
                  <a:pt x="19050" y="88900"/>
                </a:cubicBezTo>
                <a:lnTo>
                  <a:pt x="26313" y="88900"/>
                </a:lnTo>
                <a:cubicBezTo>
                  <a:pt x="31869" y="49967"/>
                  <a:pt x="62667" y="19169"/>
                  <a:pt x="101600" y="13613"/>
                </a:cubicBezTo>
                <a:lnTo>
                  <a:pt x="101600" y="6350"/>
                </a:lnTo>
                <a:cubicBezTo>
                  <a:pt x="101600" y="-675"/>
                  <a:pt x="107275" y="-6350"/>
                  <a:pt x="114300" y="-6350"/>
                </a:cubicBezTo>
                <a:close/>
                <a:moveTo>
                  <a:pt x="52070" y="114300"/>
                </a:moveTo>
                <a:cubicBezTo>
                  <a:pt x="57110" y="139184"/>
                  <a:pt x="76716" y="158790"/>
                  <a:pt x="101600" y="163830"/>
                </a:cubicBezTo>
                <a:lnTo>
                  <a:pt x="101600" y="158750"/>
                </a:lnTo>
                <a:cubicBezTo>
                  <a:pt x="101600" y="151725"/>
                  <a:pt x="107275" y="146050"/>
                  <a:pt x="114300" y="146050"/>
                </a:cubicBezTo>
                <a:cubicBezTo>
                  <a:pt x="121325" y="146050"/>
                  <a:pt x="127000" y="151725"/>
                  <a:pt x="127000" y="158750"/>
                </a:cubicBezTo>
                <a:lnTo>
                  <a:pt x="127000" y="163830"/>
                </a:lnTo>
                <a:cubicBezTo>
                  <a:pt x="151884" y="158790"/>
                  <a:pt x="171490" y="139184"/>
                  <a:pt x="176530" y="114300"/>
                </a:cubicBezTo>
                <a:lnTo>
                  <a:pt x="171450" y="114300"/>
                </a:lnTo>
                <a:cubicBezTo>
                  <a:pt x="164425" y="114300"/>
                  <a:pt x="158750" y="108625"/>
                  <a:pt x="158750" y="101600"/>
                </a:cubicBezTo>
                <a:cubicBezTo>
                  <a:pt x="158750" y="94575"/>
                  <a:pt x="164425" y="88900"/>
                  <a:pt x="171450" y="88900"/>
                </a:cubicBezTo>
                <a:lnTo>
                  <a:pt x="176530" y="88900"/>
                </a:lnTo>
                <a:cubicBezTo>
                  <a:pt x="171490" y="64016"/>
                  <a:pt x="151884" y="44410"/>
                  <a:pt x="127000" y="39370"/>
                </a:cubicBezTo>
                <a:lnTo>
                  <a:pt x="127000" y="44450"/>
                </a:lnTo>
                <a:cubicBezTo>
                  <a:pt x="127000" y="51475"/>
                  <a:pt x="121325" y="57150"/>
                  <a:pt x="114300" y="57150"/>
                </a:cubicBezTo>
                <a:cubicBezTo>
                  <a:pt x="107275" y="57150"/>
                  <a:pt x="101600" y="51475"/>
                  <a:pt x="101600" y="44450"/>
                </a:cubicBezTo>
                <a:lnTo>
                  <a:pt x="101600" y="39370"/>
                </a:lnTo>
                <a:cubicBezTo>
                  <a:pt x="76716" y="44410"/>
                  <a:pt x="57110" y="64016"/>
                  <a:pt x="52070" y="88900"/>
                </a:cubicBezTo>
                <a:lnTo>
                  <a:pt x="57150" y="88900"/>
                </a:lnTo>
                <a:cubicBezTo>
                  <a:pt x="64175" y="88900"/>
                  <a:pt x="69850" y="94575"/>
                  <a:pt x="69850" y="101600"/>
                </a:cubicBezTo>
                <a:cubicBezTo>
                  <a:pt x="69850" y="108625"/>
                  <a:pt x="64175" y="114300"/>
                  <a:pt x="57150" y="114300"/>
                </a:cubicBezTo>
                <a:lnTo>
                  <a:pt x="52070" y="114300"/>
                </a:lnTo>
                <a:close/>
                <a:moveTo>
                  <a:pt x="114300" y="82550"/>
                </a:moveTo>
                <a:cubicBezTo>
                  <a:pt x="124814" y="82550"/>
                  <a:pt x="133350" y="91086"/>
                  <a:pt x="133350" y="101600"/>
                </a:cubicBezTo>
                <a:cubicBezTo>
                  <a:pt x="133350" y="112114"/>
                  <a:pt x="124814" y="120650"/>
                  <a:pt x="114300" y="120650"/>
                </a:cubicBezTo>
                <a:cubicBezTo>
                  <a:pt x="103786" y="120650"/>
                  <a:pt x="95250" y="112114"/>
                  <a:pt x="95250" y="101600"/>
                </a:cubicBezTo>
                <a:cubicBezTo>
                  <a:pt x="95250" y="91086"/>
                  <a:pt x="103786" y="82550"/>
                  <a:pt x="114300" y="8255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7" name="Text 65"/>
          <p:cNvSpPr/>
          <p:nvPr/>
        </p:nvSpPr>
        <p:spPr>
          <a:xfrm>
            <a:off x="12458700" y="50673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skewer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69300" y="5575300"/>
            <a:ext cx="7213600" cy="863600"/>
          </a:xfrm>
          <a:custGeom>
            <a:avLst/>
            <a:gdLst/>
            <a:ahLst/>
            <a:cxnLst/>
            <a:rect l="l" t="t" r="r" b="b"/>
            <a:pathLst>
              <a:path w="7213600" h="863600">
                <a:moveTo>
                  <a:pt x="101603" y="0"/>
                </a:moveTo>
                <a:lnTo>
                  <a:pt x="7111997" y="0"/>
                </a:lnTo>
                <a:cubicBezTo>
                  <a:pt x="7168111" y="0"/>
                  <a:pt x="7213600" y="45489"/>
                  <a:pt x="7213600" y="101603"/>
                </a:cubicBezTo>
                <a:lnTo>
                  <a:pt x="7213600" y="761997"/>
                </a:lnTo>
                <a:cubicBezTo>
                  <a:pt x="7213600" y="818111"/>
                  <a:pt x="7168111" y="863600"/>
                  <a:pt x="7111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470900" y="56769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Temporales (Phase 3+)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470900" y="5981700"/>
            <a:ext cx="1562100" cy="355600"/>
          </a:xfrm>
          <a:custGeom>
            <a:avLst/>
            <a:gdLst/>
            <a:ahLst/>
            <a:cxnLst/>
            <a:rect l="l" t="t" r="r" b="b"/>
            <a:pathLst>
              <a:path w="1562100" h="355600">
                <a:moveTo>
                  <a:pt x="50801" y="0"/>
                </a:moveTo>
                <a:lnTo>
                  <a:pt x="1511299" y="0"/>
                </a:lnTo>
                <a:cubicBezTo>
                  <a:pt x="1539356" y="0"/>
                  <a:pt x="1562100" y="22744"/>
                  <a:pt x="1562100" y="50801"/>
                </a:cubicBezTo>
                <a:lnTo>
                  <a:pt x="1562100" y="304799"/>
                </a:lnTo>
                <a:cubicBezTo>
                  <a:pt x="1562100" y="332856"/>
                  <a:pt x="1539356" y="355600"/>
                  <a:pt x="15112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470900" y="5981700"/>
            <a:ext cx="1651000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score_diff_lag1/2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086711" y="5981700"/>
            <a:ext cx="1409700" cy="355600"/>
          </a:xfrm>
          <a:custGeom>
            <a:avLst/>
            <a:gdLst/>
            <a:ahLst/>
            <a:cxnLst/>
            <a:rect l="l" t="t" r="r" b="b"/>
            <a:pathLst>
              <a:path w="1409700" h="355600">
                <a:moveTo>
                  <a:pt x="50801" y="0"/>
                </a:moveTo>
                <a:lnTo>
                  <a:pt x="1358899" y="0"/>
                </a:lnTo>
                <a:cubicBezTo>
                  <a:pt x="1386956" y="0"/>
                  <a:pt x="1409700" y="22744"/>
                  <a:pt x="1409700" y="50801"/>
                </a:cubicBezTo>
                <a:lnTo>
                  <a:pt x="1409700" y="304799"/>
                </a:lnTo>
                <a:cubicBezTo>
                  <a:pt x="1409700" y="332856"/>
                  <a:pt x="1386956" y="355600"/>
                  <a:pt x="13588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086711" y="5981700"/>
            <a:ext cx="1498600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errors_last_3/5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1550121" y="5981700"/>
            <a:ext cx="1739900" cy="355600"/>
          </a:xfrm>
          <a:custGeom>
            <a:avLst/>
            <a:gdLst/>
            <a:ahLst/>
            <a:cxnLst/>
            <a:rect l="l" t="t" r="r" b="b"/>
            <a:pathLst>
              <a:path w="1739900" h="355600">
                <a:moveTo>
                  <a:pt x="50801" y="0"/>
                </a:moveTo>
                <a:lnTo>
                  <a:pt x="1689099" y="0"/>
                </a:lnTo>
                <a:cubicBezTo>
                  <a:pt x="1717156" y="0"/>
                  <a:pt x="1739900" y="22744"/>
                  <a:pt x="1739900" y="50801"/>
                </a:cubicBezTo>
                <a:lnTo>
                  <a:pt x="1739900" y="304799"/>
                </a:lnTo>
                <a:cubicBezTo>
                  <a:pt x="1739900" y="332856"/>
                  <a:pt x="1717156" y="355600"/>
                  <a:pt x="16890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1550121" y="5981700"/>
            <a:ext cx="1828800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consecutive_errors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3340556" y="5981700"/>
            <a:ext cx="1346200" cy="355600"/>
          </a:xfrm>
          <a:custGeom>
            <a:avLst/>
            <a:gdLst/>
            <a:ahLst/>
            <a:cxnLst/>
            <a:rect l="l" t="t" r="r" b="b"/>
            <a:pathLst>
              <a:path w="1346200" h="355600">
                <a:moveTo>
                  <a:pt x="50801" y="0"/>
                </a:moveTo>
                <a:lnTo>
                  <a:pt x="1295399" y="0"/>
                </a:lnTo>
                <a:cubicBezTo>
                  <a:pt x="1323456" y="0"/>
                  <a:pt x="1346200" y="22744"/>
                  <a:pt x="1346200" y="50801"/>
                </a:cubicBezTo>
                <a:lnTo>
                  <a:pt x="1346200" y="304799"/>
                </a:lnTo>
                <a:cubicBezTo>
                  <a:pt x="1346200" y="332856"/>
                  <a:pt x="1323456" y="355600"/>
                  <a:pt x="1295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3340556" y="5981700"/>
            <a:ext cx="1435100" cy="3556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time_pressure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14350" y="6762750"/>
            <a:ext cx="15227300" cy="876300"/>
          </a:xfrm>
          <a:custGeom>
            <a:avLst/>
            <a:gdLst/>
            <a:ahLst/>
            <a:cxnLst/>
            <a:rect l="l" t="t" r="r" b="b"/>
            <a:pathLst>
              <a:path w="15227300" h="876300">
                <a:moveTo>
                  <a:pt x="101598" y="0"/>
                </a:moveTo>
                <a:lnTo>
                  <a:pt x="15125702" y="0"/>
                </a:lnTo>
                <a:cubicBezTo>
                  <a:pt x="15181813" y="0"/>
                  <a:pt x="15227300" y="45487"/>
                  <a:pt x="15227300" y="101598"/>
                </a:cubicBezTo>
                <a:lnTo>
                  <a:pt x="15227300" y="774702"/>
                </a:lnTo>
                <a:cubicBezTo>
                  <a:pt x="15227300" y="830813"/>
                  <a:pt x="15181813" y="876300"/>
                  <a:pt x="151257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9925" y="70739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0" name="Text 78"/>
          <p:cNvSpPr/>
          <p:nvPr/>
        </p:nvSpPr>
        <p:spPr>
          <a:xfrm>
            <a:off x="1092200" y="6921500"/>
            <a:ext cx="373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PostgreSQL + MLflow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092200" y="7226300"/>
            <a:ext cx="372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Almacenamiento y tracking de experimentos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3448109" y="6870700"/>
            <a:ext cx="218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~2 horas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3511609" y="7277100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completo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21998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1 - Baseline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 Clásico: Estableciendo el Fundamento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4965700" cy="1943100"/>
          </a:xfrm>
          <a:custGeom>
            <a:avLst/>
            <a:gdLst/>
            <a:ahLst/>
            <a:cxnLst/>
            <a:rect l="l" t="t" r="r" b="b"/>
            <a:pathLst>
              <a:path w="4965700" h="1943100">
                <a:moveTo>
                  <a:pt x="101605" y="0"/>
                </a:moveTo>
                <a:lnTo>
                  <a:pt x="4864095" y="0"/>
                </a:lnTo>
                <a:cubicBezTo>
                  <a:pt x="4920210" y="0"/>
                  <a:pt x="4965700" y="45490"/>
                  <a:pt x="4965700" y="101605"/>
                </a:cubicBezTo>
                <a:lnTo>
                  <a:pt x="4965700" y="1841495"/>
                </a:lnTo>
                <a:cubicBezTo>
                  <a:pt x="4965700" y="1897610"/>
                  <a:pt x="4920210" y="1943100"/>
                  <a:pt x="4864095" y="1943100"/>
                </a:cubicBezTo>
                <a:lnTo>
                  <a:pt x="101605" y="1943100"/>
                </a:lnTo>
                <a:cubicBezTo>
                  <a:pt x="45490" y="1943100"/>
                  <a:pt x="0" y="1897610"/>
                  <a:pt x="0" y="1841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3100" y="171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850900" y="1892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435100" y="1689100"/>
            <a:ext cx="104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0.890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35100" y="20955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 L2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3100" y="245110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336" y="2451100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85.0%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3100" y="2755900"/>
            <a:ext cx="87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Precision: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2369" y="27559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3100" y="306070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Recall: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2369" y="30607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45150" y="1530350"/>
            <a:ext cx="4965700" cy="1943100"/>
          </a:xfrm>
          <a:custGeom>
            <a:avLst/>
            <a:gdLst/>
            <a:ahLst/>
            <a:cxnLst/>
            <a:rect l="l" t="t" r="r" b="b"/>
            <a:pathLst>
              <a:path w="4965700" h="1943100">
                <a:moveTo>
                  <a:pt x="101605" y="0"/>
                </a:moveTo>
                <a:lnTo>
                  <a:pt x="4864095" y="0"/>
                </a:lnTo>
                <a:cubicBezTo>
                  <a:pt x="4920210" y="0"/>
                  <a:pt x="4965700" y="45490"/>
                  <a:pt x="4965700" y="101605"/>
                </a:cubicBezTo>
                <a:lnTo>
                  <a:pt x="4965700" y="1841495"/>
                </a:lnTo>
                <a:cubicBezTo>
                  <a:pt x="4965700" y="1897610"/>
                  <a:pt x="4920210" y="1943100"/>
                  <a:pt x="4864095" y="1943100"/>
                </a:cubicBezTo>
                <a:lnTo>
                  <a:pt x="101605" y="1943100"/>
                </a:lnTo>
                <a:cubicBezTo>
                  <a:pt x="45490" y="1943100"/>
                  <a:pt x="0" y="1897610"/>
                  <a:pt x="0" y="1841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3900" y="171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97575" y="1892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1125" y="-15875"/>
                </a:moveTo>
                <a:cubicBezTo>
                  <a:pt x="114598" y="-15875"/>
                  <a:pt x="117921" y="-14337"/>
                  <a:pt x="120204" y="-11658"/>
                </a:cubicBezTo>
                <a:lnTo>
                  <a:pt x="187672" y="67717"/>
                </a:lnTo>
                <a:cubicBezTo>
                  <a:pt x="190698" y="71239"/>
                  <a:pt x="191343" y="76200"/>
                  <a:pt x="189409" y="80417"/>
                </a:cubicBezTo>
                <a:cubicBezTo>
                  <a:pt x="187474" y="84634"/>
                  <a:pt x="183257" y="87313"/>
                  <a:pt x="178594" y="87313"/>
                </a:cubicBezTo>
                <a:lnTo>
                  <a:pt x="166241" y="87313"/>
                </a:lnTo>
                <a:lnTo>
                  <a:pt x="203547" y="131217"/>
                </a:lnTo>
                <a:cubicBezTo>
                  <a:pt x="206573" y="134739"/>
                  <a:pt x="207218" y="139700"/>
                  <a:pt x="205284" y="143917"/>
                </a:cubicBezTo>
                <a:cubicBezTo>
                  <a:pt x="203349" y="148134"/>
                  <a:pt x="199132" y="150813"/>
                  <a:pt x="194469" y="150813"/>
                </a:cubicBezTo>
                <a:lnTo>
                  <a:pt x="175369" y="150813"/>
                </a:lnTo>
                <a:lnTo>
                  <a:pt x="219422" y="202654"/>
                </a:lnTo>
                <a:cubicBezTo>
                  <a:pt x="222448" y="206177"/>
                  <a:pt x="223093" y="211138"/>
                  <a:pt x="221159" y="215354"/>
                </a:cubicBezTo>
                <a:cubicBezTo>
                  <a:pt x="219224" y="219571"/>
                  <a:pt x="215007" y="222250"/>
                  <a:pt x="210344" y="222250"/>
                </a:cubicBezTo>
                <a:lnTo>
                  <a:pt x="127000" y="222250"/>
                </a:lnTo>
                <a:lnTo>
                  <a:pt x="127000" y="254000"/>
                </a:lnTo>
                <a:cubicBezTo>
                  <a:pt x="127000" y="262781"/>
                  <a:pt x="119906" y="269875"/>
                  <a:pt x="111125" y="269875"/>
                </a:cubicBezTo>
                <a:cubicBezTo>
                  <a:pt x="102344" y="269875"/>
                  <a:pt x="95250" y="262781"/>
                  <a:pt x="95250" y="254000"/>
                </a:cubicBezTo>
                <a:lnTo>
                  <a:pt x="95250" y="222250"/>
                </a:lnTo>
                <a:lnTo>
                  <a:pt x="11906" y="222250"/>
                </a:lnTo>
                <a:cubicBezTo>
                  <a:pt x="7243" y="222250"/>
                  <a:pt x="3026" y="219571"/>
                  <a:pt x="1091" y="215354"/>
                </a:cubicBezTo>
                <a:cubicBezTo>
                  <a:pt x="-843" y="211138"/>
                  <a:pt x="-198" y="206177"/>
                  <a:pt x="2828" y="202654"/>
                </a:cubicBezTo>
                <a:lnTo>
                  <a:pt x="46881" y="150813"/>
                </a:lnTo>
                <a:lnTo>
                  <a:pt x="27781" y="150813"/>
                </a:lnTo>
                <a:cubicBezTo>
                  <a:pt x="23118" y="150813"/>
                  <a:pt x="18901" y="148134"/>
                  <a:pt x="16966" y="143917"/>
                </a:cubicBezTo>
                <a:cubicBezTo>
                  <a:pt x="15032" y="139700"/>
                  <a:pt x="15677" y="134739"/>
                  <a:pt x="18703" y="131217"/>
                </a:cubicBezTo>
                <a:lnTo>
                  <a:pt x="56009" y="87313"/>
                </a:lnTo>
                <a:lnTo>
                  <a:pt x="43656" y="87313"/>
                </a:lnTo>
                <a:cubicBezTo>
                  <a:pt x="38993" y="87313"/>
                  <a:pt x="34776" y="84634"/>
                  <a:pt x="32841" y="80417"/>
                </a:cubicBezTo>
                <a:cubicBezTo>
                  <a:pt x="30907" y="76200"/>
                  <a:pt x="31552" y="71239"/>
                  <a:pt x="34578" y="67717"/>
                </a:cubicBezTo>
                <a:lnTo>
                  <a:pt x="102046" y="-11658"/>
                </a:lnTo>
                <a:cubicBezTo>
                  <a:pt x="104329" y="-14337"/>
                  <a:pt x="107652" y="-15875"/>
                  <a:pt x="111125" y="-158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900" y="1689100"/>
            <a:ext cx="139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0.849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900" y="20955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03900" y="245110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31136" y="2451100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86.8%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03900" y="27559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OOB Score: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37684" y="2755900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84.6%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3900" y="3060700"/>
            <a:ext cx="116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n_estimators: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24546" y="3060700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75950" y="1530350"/>
            <a:ext cx="4965700" cy="1943100"/>
          </a:xfrm>
          <a:custGeom>
            <a:avLst/>
            <a:gdLst/>
            <a:ahLst/>
            <a:cxnLst/>
            <a:rect l="l" t="t" r="r" b="b"/>
            <a:pathLst>
              <a:path w="4965700" h="1943100">
                <a:moveTo>
                  <a:pt x="101605" y="0"/>
                </a:moveTo>
                <a:lnTo>
                  <a:pt x="4864095" y="0"/>
                </a:lnTo>
                <a:cubicBezTo>
                  <a:pt x="4920210" y="0"/>
                  <a:pt x="4965700" y="45490"/>
                  <a:pt x="4965700" y="101605"/>
                </a:cubicBezTo>
                <a:lnTo>
                  <a:pt x="4965700" y="1841495"/>
                </a:lnTo>
                <a:cubicBezTo>
                  <a:pt x="4965700" y="1897610"/>
                  <a:pt x="4920210" y="1943100"/>
                  <a:pt x="4864095" y="1943100"/>
                </a:cubicBezTo>
                <a:lnTo>
                  <a:pt x="101605" y="1943100"/>
                </a:lnTo>
                <a:cubicBezTo>
                  <a:pt x="45490" y="1943100"/>
                  <a:pt x="0" y="1897610"/>
                  <a:pt x="0" y="1841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34700" y="171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12500" y="1892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11696700" y="1689100"/>
            <a:ext cx="977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0.835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696700" y="20955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 RBF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34700" y="245110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1317" y="2451100"/>
            <a:ext cx="58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85.7%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34700" y="27559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401528" y="2755900"/>
            <a:ext cx="266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34700" y="3060700"/>
            <a:ext cx="73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gamma: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243242" y="30607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4350" y="3587750"/>
            <a:ext cx="7531100" cy="2959100"/>
          </a:xfrm>
          <a:custGeom>
            <a:avLst/>
            <a:gdLst/>
            <a:ahLst/>
            <a:cxnLst/>
            <a:rect l="l" t="t" r="r" b="b"/>
            <a:pathLst>
              <a:path w="7531100" h="2959100">
                <a:moveTo>
                  <a:pt x="101586" y="0"/>
                </a:moveTo>
                <a:lnTo>
                  <a:pt x="7429514" y="0"/>
                </a:lnTo>
                <a:cubicBezTo>
                  <a:pt x="7485618" y="0"/>
                  <a:pt x="7531100" y="45482"/>
                  <a:pt x="7531100" y="101586"/>
                </a:cubicBezTo>
                <a:lnTo>
                  <a:pt x="7531100" y="2857514"/>
                </a:lnTo>
                <a:cubicBezTo>
                  <a:pt x="7531100" y="2913618"/>
                  <a:pt x="7485618" y="2959100"/>
                  <a:pt x="7429514" y="2959100"/>
                </a:cubicBezTo>
                <a:lnTo>
                  <a:pt x="101586" y="2959100"/>
                </a:lnTo>
                <a:cubicBezTo>
                  <a:pt x="45482" y="2959100"/>
                  <a:pt x="0" y="2913618"/>
                  <a:pt x="0" y="2857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3100" y="37465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 Importance - Random Forest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3100" y="42037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400300" y="4203700"/>
            <a:ext cx="4775200" cy="254000"/>
          </a:xfrm>
          <a:custGeom>
            <a:avLst/>
            <a:gdLst/>
            <a:ahLst/>
            <a:cxnLst/>
            <a:rect l="l" t="t" r="r" b="b"/>
            <a:pathLst>
              <a:path w="4775200" h="254000">
                <a:moveTo>
                  <a:pt x="127000" y="0"/>
                </a:moveTo>
                <a:lnTo>
                  <a:pt x="4648200" y="0"/>
                </a:lnTo>
                <a:cubicBezTo>
                  <a:pt x="4718293" y="0"/>
                  <a:pt x="4775200" y="56907"/>
                  <a:pt x="4775200" y="127000"/>
                </a:cubicBezTo>
                <a:lnTo>
                  <a:pt x="4775200" y="127000"/>
                </a:lnTo>
                <a:cubicBezTo>
                  <a:pt x="4775200" y="197093"/>
                  <a:pt x="4718293" y="254000"/>
                  <a:pt x="46482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2400300" y="4203700"/>
            <a:ext cx="4775200" cy="254000"/>
          </a:xfrm>
          <a:custGeom>
            <a:avLst/>
            <a:gdLst/>
            <a:ahLst/>
            <a:cxnLst/>
            <a:rect l="l" t="t" r="r" b="b"/>
            <a:pathLst>
              <a:path w="4775200" h="254000">
                <a:moveTo>
                  <a:pt x="127000" y="0"/>
                </a:moveTo>
                <a:lnTo>
                  <a:pt x="4648200" y="0"/>
                </a:lnTo>
                <a:cubicBezTo>
                  <a:pt x="4718293" y="0"/>
                  <a:pt x="4775200" y="56907"/>
                  <a:pt x="4775200" y="127000"/>
                </a:cubicBezTo>
                <a:lnTo>
                  <a:pt x="4775200" y="127000"/>
                </a:lnTo>
                <a:cubicBezTo>
                  <a:pt x="4775200" y="197093"/>
                  <a:pt x="4718293" y="254000"/>
                  <a:pt x="46482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/>
              </a:gs>
              <a:gs pos="100000">
                <a:srgbClr val="C9A227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2" name="Text 40"/>
          <p:cNvSpPr/>
          <p:nvPr/>
        </p:nvSpPr>
        <p:spPr>
          <a:xfrm>
            <a:off x="7188200" y="42037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0.2845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3100" y="45085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material_balance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400300" y="4508500"/>
            <a:ext cx="4775200" cy="254000"/>
          </a:xfrm>
          <a:custGeom>
            <a:avLst/>
            <a:gdLst/>
            <a:ahLst/>
            <a:cxnLst/>
            <a:rect l="l" t="t" r="r" b="b"/>
            <a:pathLst>
              <a:path w="4775200" h="254000">
                <a:moveTo>
                  <a:pt x="127000" y="0"/>
                </a:moveTo>
                <a:lnTo>
                  <a:pt x="4648200" y="0"/>
                </a:lnTo>
                <a:cubicBezTo>
                  <a:pt x="4718293" y="0"/>
                  <a:pt x="4775200" y="56907"/>
                  <a:pt x="4775200" y="127000"/>
                </a:cubicBezTo>
                <a:lnTo>
                  <a:pt x="4775200" y="127000"/>
                </a:lnTo>
                <a:cubicBezTo>
                  <a:pt x="4775200" y="197093"/>
                  <a:pt x="4718293" y="254000"/>
                  <a:pt x="46482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Shape 43"/>
          <p:cNvSpPr/>
          <p:nvPr/>
        </p:nvSpPr>
        <p:spPr>
          <a:xfrm>
            <a:off x="2400300" y="4508500"/>
            <a:ext cx="2717800" cy="254000"/>
          </a:xfrm>
          <a:custGeom>
            <a:avLst/>
            <a:gdLst/>
            <a:ahLst/>
            <a:cxnLst/>
            <a:rect l="l" t="t" r="r" b="b"/>
            <a:pathLst>
              <a:path w="2717800" h="254000">
                <a:moveTo>
                  <a:pt x="127000" y="0"/>
                </a:moveTo>
                <a:lnTo>
                  <a:pt x="2590800" y="0"/>
                </a:lnTo>
                <a:cubicBezTo>
                  <a:pt x="2660893" y="0"/>
                  <a:pt x="2717800" y="56907"/>
                  <a:pt x="2717800" y="127000"/>
                </a:cubicBezTo>
                <a:lnTo>
                  <a:pt x="2717800" y="127000"/>
                </a:lnTo>
                <a:cubicBezTo>
                  <a:pt x="2717800" y="197093"/>
                  <a:pt x="2660893" y="254000"/>
                  <a:pt x="25908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/>
              </a:gs>
              <a:gs pos="100000">
                <a:srgbClr val="C9A227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6" name="Text 44"/>
          <p:cNvSpPr/>
          <p:nvPr/>
        </p:nvSpPr>
        <p:spPr>
          <a:xfrm>
            <a:off x="7188200" y="45085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0.1623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3100" y="48133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branching_factor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400300" y="4813300"/>
            <a:ext cx="4775200" cy="254000"/>
          </a:xfrm>
          <a:custGeom>
            <a:avLst/>
            <a:gdLst/>
            <a:ahLst/>
            <a:cxnLst/>
            <a:rect l="l" t="t" r="r" b="b"/>
            <a:pathLst>
              <a:path w="4775200" h="254000">
                <a:moveTo>
                  <a:pt x="127000" y="0"/>
                </a:moveTo>
                <a:lnTo>
                  <a:pt x="4648200" y="0"/>
                </a:lnTo>
                <a:cubicBezTo>
                  <a:pt x="4718293" y="0"/>
                  <a:pt x="4775200" y="56907"/>
                  <a:pt x="4775200" y="127000"/>
                </a:cubicBezTo>
                <a:lnTo>
                  <a:pt x="4775200" y="127000"/>
                </a:lnTo>
                <a:cubicBezTo>
                  <a:pt x="4775200" y="197093"/>
                  <a:pt x="4718293" y="254000"/>
                  <a:pt x="46482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Shape 47"/>
          <p:cNvSpPr/>
          <p:nvPr/>
        </p:nvSpPr>
        <p:spPr>
          <a:xfrm>
            <a:off x="2400300" y="4813300"/>
            <a:ext cx="2095500" cy="254000"/>
          </a:xfrm>
          <a:custGeom>
            <a:avLst/>
            <a:gdLst/>
            <a:ahLst/>
            <a:cxnLst/>
            <a:rect l="l" t="t" r="r" b="b"/>
            <a:pathLst>
              <a:path w="2095500" h="254000">
                <a:moveTo>
                  <a:pt x="127000" y="0"/>
                </a:moveTo>
                <a:lnTo>
                  <a:pt x="1968500" y="0"/>
                </a:lnTo>
                <a:cubicBezTo>
                  <a:pt x="2038593" y="0"/>
                  <a:pt x="2095500" y="56907"/>
                  <a:pt x="2095500" y="127000"/>
                </a:cubicBezTo>
                <a:lnTo>
                  <a:pt x="2095500" y="127000"/>
                </a:lnTo>
                <a:cubicBezTo>
                  <a:pt x="2095500" y="197093"/>
                  <a:pt x="2038593" y="254000"/>
                  <a:pt x="19685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/>
              </a:gs>
              <a:gs pos="100000">
                <a:srgbClr val="C9A227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0" name="Text 48"/>
          <p:cNvSpPr/>
          <p:nvPr/>
        </p:nvSpPr>
        <p:spPr>
          <a:xfrm>
            <a:off x="7188200" y="48133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0.1245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3100" y="51181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self_mobility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2400300" y="5118100"/>
            <a:ext cx="4775200" cy="254000"/>
          </a:xfrm>
          <a:custGeom>
            <a:avLst/>
            <a:gdLst/>
            <a:ahLst/>
            <a:cxnLst/>
            <a:rect l="l" t="t" r="r" b="b"/>
            <a:pathLst>
              <a:path w="4775200" h="254000">
                <a:moveTo>
                  <a:pt x="127000" y="0"/>
                </a:moveTo>
                <a:lnTo>
                  <a:pt x="4648200" y="0"/>
                </a:lnTo>
                <a:cubicBezTo>
                  <a:pt x="4718293" y="0"/>
                  <a:pt x="4775200" y="56907"/>
                  <a:pt x="4775200" y="127000"/>
                </a:cubicBezTo>
                <a:lnTo>
                  <a:pt x="4775200" y="127000"/>
                </a:lnTo>
                <a:cubicBezTo>
                  <a:pt x="4775200" y="197093"/>
                  <a:pt x="4718293" y="254000"/>
                  <a:pt x="46482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Shape 51"/>
          <p:cNvSpPr/>
          <p:nvPr/>
        </p:nvSpPr>
        <p:spPr>
          <a:xfrm>
            <a:off x="2400300" y="5118100"/>
            <a:ext cx="1676400" cy="254000"/>
          </a:xfrm>
          <a:custGeom>
            <a:avLst/>
            <a:gdLst/>
            <a:ahLst/>
            <a:cxnLst/>
            <a:rect l="l" t="t" r="r" b="b"/>
            <a:pathLst>
              <a:path w="1676400" h="254000">
                <a:moveTo>
                  <a:pt x="127000" y="0"/>
                </a:moveTo>
                <a:lnTo>
                  <a:pt x="1549400" y="0"/>
                </a:lnTo>
                <a:cubicBezTo>
                  <a:pt x="1619493" y="0"/>
                  <a:pt x="1676400" y="56907"/>
                  <a:pt x="1676400" y="127000"/>
                </a:cubicBezTo>
                <a:lnTo>
                  <a:pt x="1676400" y="127000"/>
                </a:lnTo>
                <a:cubicBezTo>
                  <a:pt x="1676400" y="197093"/>
                  <a:pt x="1619493" y="254000"/>
                  <a:pt x="15494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4" name="Text 52"/>
          <p:cNvSpPr/>
          <p:nvPr/>
        </p:nvSpPr>
        <p:spPr>
          <a:xfrm>
            <a:off x="7188200" y="5118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0.0987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3100" y="54229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opponent_mobility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2400300" y="5422900"/>
            <a:ext cx="4775200" cy="254000"/>
          </a:xfrm>
          <a:custGeom>
            <a:avLst/>
            <a:gdLst/>
            <a:ahLst/>
            <a:cxnLst/>
            <a:rect l="l" t="t" r="r" b="b"/>
            <a:pathLst>
              <a:path w="4775200" h="254000">
                <a:moveTo>
                  <a:pt x="127000" y="0"/>
                </a:moveTo>
                <a:lnTo>
                  <a:pt x="4648200" y="0"/>
                </a:lnTo>
                <a:cubicBezTo>
                  <a:pt x="4718293" y="0"/>
                  <a:pt x="4775200" y="56907"/>
                  <a:pt x="4775200" y="127000"/>
                </a:cubicBezTo>
                <a:lnTo>
                  <a:pt x="4775200" y="127000"/>
                </a:lnTo>
                <a:cubicBezTo>
                  <a:pt x="4775200" y="197093"/>
                  <a:pt x="4718293" y="254000"/>
                  <a:pt x="46482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7" name="Shape 55"/>
          <p:cNvSpPr/>
          <p:nvPr/>
        </p:nvSpPr>
        <p:spPr>
          <a:xfrm>
            <a:off x="2400300" y="5422900"/>
            <a:ext cx="1435100" cy="254000"/>
          </a:xfrm>
          <a:custGeom>
            <a:avLst/>
            <a:gdLst/>
            <a:ahLst/>
            <a:cxnLst/>
            <a:rect l="l" t="t" r="r" b="b"/>
            <a:pathLst>
              <a:path w="1435100" h="254000">
                <a:moveTo>
                  <a:pt x="127000" y="0"/>
                </a:moveTo>
                <a:lnTo>
                  <a:pt x="1308100" y="0"/>
                </a:lnTo>
                <a:cubicBezTo>
                  <a:pt x="1378193" y="0"/>
                  <a:pt x="1435100" y="56907"/>
                  <a:pt x="1435100" y="127000"/>
                </a:cubicBezTo>
                <a:lnTo>
                  <a:pt x="1435100" y="127000"/>
                </a:lnTo>
                <a:cubicBezTo>
                  <a:pt x="1435100" y="197093"/>
                  <a:pt x="1378193" y="254000"/>
                  <a:pt x="13081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99AE"/>
              </a:gs>
              <a:gs pos="100000">
                <a:srgbClr val="8D99AE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8" name="Text 56"/>
          <p:cNvSpPr/>
          <p:nvPr/>
        </p:nvSpPr>
        <p:spPr>
          <a:xfrm>
            <a:off x="7188200" y="54229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0.0856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10550" y="3587750"/>
            <a:ext cx="7531100" cy="2959100"/>
          </a:xfrm>
          <a:custGeom>
            <a:avLst/>
            <a:gdLst/>
            <a:ahLst/>
            <a:cxnLst/>
            <a:rect l="l" t="t" r="r" b="b"/>
            <a:pathLst>
              <a:path w="7531100" h="2959100">
                <a:moveTo>
                  <a:pt x="101586" y="0"/>
                </a:moveTo>
                <a:lnTo>
                  <a:pt x="7429514" y="0"/>
                </a:lnTo>
                <a:cubicBezTo>
                  <a:pt x="7485618" y="0"/>
                  <a:pt x="7531100" y="45482"/>
                  <a:pt x="7531100" y="101586"/>
                </a:cubicBezTo>
                <a:lnTo>
                  <a:pt x="7531100" y="2857514"/>
                </a:lnTo>
                <a:cubicBezTo>
                  <a:pt x="7531100" y="2913618"/>
                  <a:pt x="7485618" y="2959100"/>
                  <a:pt x="7429514" y="2959100"/>
                </a:cubicBezTo>
                <a:lnTo>
                  <a:pt x="101586" y="2959100"/>
                </a:lnTo>
                <a:cubicBezTo>
                  <a:pt x="45482" y="2959100"/>
                  <a:pt x="0" y="2913618"/>
                  <a:pt x="0" y="2857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69300" y="37465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Matriz de Confusión - Logistic L2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777678" y="4203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230570" y="4203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2683464" y="4203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4136357" y="4203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69300" y="45085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822128" y="45085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9777678" y="45085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117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275020" y="45085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9" name="Text 67"/>
          <p:cNvSpPr/>
          <p:nvPr/>
        </p:nvSpPr>
        <p:spPr>
          <a:xfrm>
            <a:off x="11230570" y="45085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2727914" y="45085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1" name="Text 69"/>
          <p:cNvSpPr/>
          <p:nvPr/>
        </p:nvSpPr>
        <p:spPr>
          <a:xfrm>
            <a:off x="12683464" y="45085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4180807" y="45085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3" name="Text 71"/>
          <p:cNvSpPr/>
          <p:nvPr/>
        </p:nvSpPr>
        <p:spPr>
          <a:xfrm>
            <a:off x="14136357" y="45085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369300" y="49149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822128" y="49149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6" name="Text 74"/>
          <p:cNvSpPr/>
          <p:nvPr/>
        </p:nvSpPr>
        <p:spPr>
          <a:xfrm>
            <a:off x="9777678" y="49149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1275020" y="49149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3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1230570" y="49149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276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2727914" y="49149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0" name="Text 78"/>
          <p:cNvSpPr/>
          <p:nvPr/>
        </p:nvSpPr>
        <p:spPr>
          <a:xfrm>
            <a:off x="12683464" y="49149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4180807" y="49149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2" name="Text 80"/>
          <p:cNvSpPr/>
          <p:nvPr/>
        </p:nvSpPr>
        <p:spPr>
          <a:xfrm>
            <a:off x="14136357" y="49149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369300" y="53213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9822128" y="53213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5" name="Text 83"/>
          <p:cNvSpPr/>
          <p:nvPr/>
        </p:nvSpPr>
        <p:spPr>
          <a:xfrm>
            <a:off x="9777678" y="53213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1275020" y="53213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7" name="Text 85"/>
          <p:cNvSpPr/>
          <p:nvPr/>
        </p:nvSpPr>
        <p:spPr>
          <a:xfrm>
            <a:off x="11230570" y="53213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2727914" y="53213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30196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12683464" y="53213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14180807" y="53213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1" name="Text 89"/>
          <p:cNvSpPr/>
          <p:nvPr/>
        </p:nvSpPr>
        <p:spPr>
          <a:xfrm>
            <a:off x="14136357" y="53213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8369300" y="57277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9822128" y="57277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4" name="Text 92"/>
          <p:cNvSpPr/>
          <p:nvPr/>
        </p:nvSpPr>
        <p:spPr>
          <a:xfrm>
            <a:off x="9777678" y="57277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11275020" y="57277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6" name="Text 94"/>
          <p:cNvSpPr/>
          <p:nvPr/>
        </p:nvSpPr>
        <p:spPr>
          <a:xfrm>
            <a:off x="11230570" y="57277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12727914" y="57277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8" name="Text 96"/>
          <p:cNvSpPr/>
          <p:nvPr/>
        </p:nvSpPr>
        <p:spPr>
          <a:xfrm>
            <a:off x="12683464" y="57277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14180807" y="57277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30196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14136357" y="57277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50800" rIns="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131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8369300" y="6184900"/>
            <a:ext cx="728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BL=Blunder, GD=Good, IN=Inaccuracy, MI=Mistake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514350" y="6661150"/>
            <a:ext cx="4965700" cy="1333500"/>
          </a:xfrm>
          <a:custGeom>
            <a:avLst/>
            <a:gdLst/>
            <a:ahLst/>
            <a:cxnLst/>
            <a:rect l="l" t="t" r="r" b="b"/>
            <a:pathLst>
              <a:path w="4965700" h="1333500">
                <a:moveTo>
                  <a:pt x="101599" y="0"/>
                </a:moveTo>
                <a:lnTo>
                  <a:pt x="4864101" y="0"/>
                </a:lnTo>
                <a:cubicBezTo>
                  <a:pt x="4920212" y="0"/>
                  <a:pt x="4965700" y="45488"/>
                  <a:pt x="4965700" y="101599"/>
                </a:cubicBezTo>
                <a:lnTo>
                  <a:pt x="4965700" y="1231901"/>
                </a:lnTo>
                <a:cubicBezTo>
                  <a:pt x="4965700" y="1288012"/>
                  <a:pt x="4920212" y="1333500"/>
                  <a:pt x="48641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8500" y="6870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28700" y="68199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Confusión Grave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673100" y="7175500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2.89%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673100" y="75819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Good↔Blunder (Target: &lt;5%)</a:t>
            </a: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5645150" y="6661150"/>
            <a:ext cx="4965700" cy="1333500"/>
          </a:xfrm>
          <a:custGeom>
            <a:avLst/>
            <a:gdLst/>
            <a:ahLst/>
            <a:cxnLst/>
            <a:rect l="l" t="t" r="r" b="b"/>
            <a:pathLst>
              <a:path w="4965700" h="1333500">
                <a:moveTo>
                  <a:pt x="101599" y="0"/>
                </a:moveTo>
                <a:lnTo>
                  <a:pt x="4864101" y="0"/>
                </a:lnTo>
                <a:cubicBezTo>
                  <a:pt x="4920212" y="0"/>
                  <a:pt x="4965700" y="45488"/>
                  <a:pt x="4965700" y="101599"/>
                </a:cubicBezTo>
                <a:lnTo>
                  <a:pt x="4965700" y="1231901"/>
                </a:lnTo>
                <a:cubicBezTo>
                  <a:pt x="4965700" y="1288012"/>
                  <a:pt x="4920212" y="1333500"/>
                  <a:pt x="48641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03900" y="68707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52400" y="12700"/>
                </a:moveTo>
                <a:lnTo>
                  <a:pt x="203200" y="12700"/>
                </a:lnTo>
                <a:cubicBezTo>
                  <a:pt x="210225" y="12700"/>
                  <a:pt x="215900" y="18375"/>
                  <a:pt x="215900" y="25400"/>
                </a:cubicBezTo>
                <a:cubicBezTo>
                  <a:pt x="215900" y="32425"/>
                  <a:pt x="210225" y="38100"/>
                  <a:pt x="203200" y="38100"/>
                </a:cubicBezTo>
                <a:lnTo>
                  <a:pt x="158115" y="38100"/>
                </a:lnTo>
                <a:cubicBezTo>
                  <a:pt x="156051" y="48339"/>
                  <a:pt x="149027" y="56793"/>
                  <a:pt x="139700" y="60841"/>
                </a:cubicBezTo>
                <a:lnTo>
                  <a:pt x="139700" y="177800"/>
                </a:lnTo>
                <a:lnTo>
                  <a:pt x="203200" y="177800"/>
                </a:lnTo>
                <a:cubicBezTo>
                  <a:pt x="210225" y="177800"/>
                  <a:pt x="215900" y="183475"/>
                  <a:pt x="215900" y="190500"/>
                </a:cubicBezTo>
                <a:cubicBezTo>
                  <a:pt x="215900" y="197525"/>
                  <a:pt x="210225" y="203200"/>
                  <a:pt x="203200" y="203200"/>
                </a:cubicBezTo>
                <a:lnTo>
                  <a:pt x="50800" y="203200"/>
                </a:lnTo>
                <a:cubicBezTo>
                  <a:pt x="43775" y="203200"/>
                  <a:pt x="38100" y="197525"/>
                  <a:pt x="38100" y="190500"/>
                </a:cubicBezTo>
                <a:cubicBezTo>
                  <a:pt x="38100" y="183475"/>
                  <a:pt x="43775" y="177800"/>
                  <a:pt x="50800" y="177800"/>
                </a:cubicBezTo>
                <a:lnTo>
                  <a:pt x="114300" y="177800"/>
                </a:lnTo>
                <a:lnTo>
                  <a:pt x="114300" y="60841"/>
                </a:lnTo>
                <a:cubicBezTo>
                  <a:pt x="104973" y="56753"/>
                  <a:pt x="97949" y="48300"/>
                  <a:pt x="95885" y="38100"/>
                </a:cubicBezTo>
                <a:lnTo>
                  <a:pt x="50800" y="38100"/>
                </a:lnTo>
                <a:cubicBezTo>
                  <a:pt x="43775" y="38100"/>
                  <a:pt x="38100" y="32425"/>
                  <a:pt x="38100" y="25400"/>
                </a:cubicBezTo>
                <a:cubicBezTo>
                  <a:pt x="38100" y="18375"/>
                  <a:pt x="43775" y="12700"/>
                  <a:pt x="50800" y="12700"/>
                </a:cubicBezTo>
                <a:lnTo>
                  <a:pt x="101600" y="12700"/>
                </a:lnTo>
                <a:cubicBezTo>
                  <a:pt x="107394" y="5001"/>
                  <a:pt x="116602" y="0"/>
                  <a:pt x="127000" y="0"/>
                </a:cubicBezTo>
                <a:cubicBezTo>
                  <a:pt x="137398" y="0"/>
                  <a:pt x="146606" y="5001"/>
                  <a:pt x="152400" y="12700"/>
                </a:cubicBezTo>
                <a:close/>
                <a:moveTo>
                  <a:pt x="174466" y="127000"/>
                </a:moveTo>
                <a:lnTo>
                  <a:pt x="231934" y="127000"/>
                </a:lnTo>
                <a:lnTo>
                  <a:pt x="203200" y="77708"/>
                </a:lnTo>
                <a:lnTo>
                  <a:pt x="174466" y="127000"/>
                </a:lnTo>
                <a:close/>
                <a:moveTo>
                  <a:pt x="203200" y="165100"/>
                </a:moveTo>
                <a:cubicBezTo>
                  <a:pt x="178237" y="165100"/>
                  <a:pt x="157480" y="151606"/>
                  <a:pt x="153194" y="133787"/>
                </a:cubicBezTo>
                <a:cubicBezTo>
                  <a:pt x="152162" y="129421"/>
                  <a:pt x="153591" y="124936"/>
                  <a:pt x="155853" y="121047"/>
                </a:cubicBezTo>
                <a:lnTo>
                  <a:pt x="193635" y="56277"/>
                </a:lnTo>
                <a:cubicBezTo>
                  <a:pt x="195620" y="52864"/>
                  <a:pt x="199271" y="50800"/>
                  <a:pt x="203200" y="50800"/>
                </a:cubicBezTo>
                <a:cubicBezTo>
                  <a:pt x="207129" y="50800"/>
                  <a:pt x="210780" y="52903"/>
                  <a:pt x="212765" y="56277"/>
                </a:cubicBezTo>
                <a:lnTo>
                  <a:pt x="250547" y="121047"/>
                </a:lnTo>
                <a:cubicBezTo>
                  <a:pt x="252809" y="124936"/>
                  <a:pt x="254238" y="129421"/>
                  <a:pt x="253206" y="133787"/>
                </a:cubicBezTo>
                <a:cubicBezTo>
                  <a:pt x="248920" y="151567"/>
                  <a:pt x="228163" y="165100"/>
                  <a:pt x="203200" y="165100"/>
                </a:cubicBezTo>
                <a:close/>
                <a:moveTo>
                  <a:pt x="50324" y="77708"/>
                </a:moveTo>
                <a:lnTo>
                  <a:pt x="21590" y="127000"/>
                </a:lnTo>
                <a:lnTo>
                  <a:pt x="79097" y="127000"/>
                </a:lnTo>
                <a:lnTo>
                  <a:pt x="50324" y="77708"/>
                </a:lnTo>
                <a:close/>
                <a:moveTo>
                  <a:pt x="357" y="133787"/>
                </a:moveTo>
                <a:cubicBezTo>
                  <a:pt x="-675" y="129421"/>
                  <a:pt x="754" y="124936"/>
                  <a:pt x="3016" y="121047"/>
                </a:cubicBezTo>
                <a:lnTo>
                  <a:pt x="40799" y="56277"/>
                </a:lnTo>
                <a:cubicBezTo>
                  <a:pt x="42783" y="52864"/>
                  <a:pt x="46434" y="50800"/>
                  <a:pt x="50363" y="50800"/>
                </a:cubicBezTo>
                <a:cubicBezTo>
                  <a:pt x="54293" y="50800"/>
                  <a:pt x="57944" y="52903"/>
                  <a:pt x="59928" y="56277"/>
                </a:cubicBezTo>
                <a:lnTo>
                  <a:pt x="97711" y="121047"/>
                </a:lnTo>
                <a:cubicBezTo>
                  <a:pt x="99973" y="124936"/>
                  <a:pt x="101402" y="129421"/>
                  <a:pt x="100370" y="133787"/>
                </a:cubicBezTo>
                <a:cubicBezTo>
                  <a:pt x="96083" y="151567"/>
                  <a:pt x="75327" y="165100"/>
                  <a:pt x="50363" y="165100"/>
                </a:cubicBezTo>
                <a:cubicBezTo>
                  <a:pt x="25400" y="165100"/>
                  <a:pt x="4643" y="151606"/>
                  <a:pt x="357" y="13378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09" name="Text 107"/>
          <p:cNvSpPr/>
          <p:nvPr/>
        </p:nvSpPr>
        <p:spPr>
          <a:xfrm>
            <a:off x="6159500" y="6819900"/>
            <a:ext cx="130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Desbalanceo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5803900" y="7175500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59:1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5803900" y="75819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 vs Blunder ratio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10775950" y="6661150"/>
            <a:ext cx="4965700" cy="1333500"/>
          </a:xfrm>
          <a:custGeom>
            <a:avLst/>
            <a:gdLst/>
            <a:ahLst/>
            <a:cxnLst/>
            <a:rect l="l" t="t" r="r" b="b"/>
            <a:pathLst>
              <a:path w="4965700" h="1333500">
                <a:moveTo>
                  <a:pt x="101599" y="0"/>
                </a:moveTo>
                <a:lnTo>
                  <a:pt x="4864101" y="0"/>
                </a:lnTo>
                <a:cubicBezTo>
                  <a:pt x="4920212" y="0"/>
                  <a:pt x="4965700" y="45488"/>
                  <a:pt x="4965700" y="101599"/>
                </a:cubicBezTo>
                <a:lnTo>
                  <a:pt x="4965700" y="1231901"/>
                </a:lnTo>
                <a:cubicBezTo>
                  <a:pt x="4965700" y="1288012"/>
                  <a:pt x="4920212" y="1333500"/>
                  <a:pt x="48641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488"/>
                  <a:pt x="45488" y="0"/>
                  <a:pt x="1015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960100" y="6870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4" name="Text 112"/>
          <p:cNvSpPr/>
          <p:nvPr/>
        </p:nvSpPr>
        <p:spPr>
          <a:xfrm>
            <a:off x="11290300" y="68199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Criterios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10934700" y="7175500"/>
            <a:ext cx="480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Aprobado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10934700" y="75819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&gt; 0.70, Confusión &lt; 5%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475489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2 - Deep Learning Breakthrough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MLP: Superando el ML Clásico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3822700"/>
          </a:xfrm>
          <a:custGeom>
            <a:avLst/>
            <a:gdLst/>
            <a:ahLst/>
            <a:cxnLst/>
            <a:rect l="l" t="t" r="r" b="b"/>
            <a:pathLst>
              <a:path w="7531100" h="3822700">
                <a:moveTo>
                  <a:pt x="101607" y="0"/>
                </a:moveTo>
                <a:lnTo>
                  <a:pt x="7429493" y="0"/>
                </a:lnTo>
                <a:cubicBezTo>
                  <a:pt x="7485609" y="0"/>
                  <a:pt x="7531100" y="45491"/>
                  <a:pt x="7531100" y="101607"/>
                </a:cubicBezTo>
                <a:lnTo>
                  <a:pt x="7531100" y="3721093"/>
                </a:lnTo>
                <a:cubicBezTo>
                  <a:pt x="7531100" y="3777209"/>
                  <a:pt x="7485609" y="3822700"/>
                  <a:pt x="74294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4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Arquitectura MLP_Basic (Campeón)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1117600"/>
          </a:xfrm>
          <a:custGeom>
            <a:avLst/>
            <a:gdLst/>
            <a:ahLst/>
            <a:cxnLst/>
            <a:rect l="l" t="t" r="r" b="b"/>
            <a:pathLst>
              <a:path w="7213600" h="1117600">
                <a:moveTo>
                  <a:pt x="101601" y="0"/>
                </a:moveTo>
                <a:lnTo>
                  <a:pt x="7111999" y="0"/>
                </a:lnTo>
                <a:cubicBezTo>
                  <a:pt x="7168112" y="0"/>
                  <a:pt x="7213600" y="45488"/>
                  <a:pt x="7213600" y="101601"/>
                </a:cubicBezTo>
                <a:lnTo>
                  <a:pt x="7213600" y="1015999"/>
                </a:lnTo>
                <a:cubicBezTo>
                  <a:pt x="7213600" y="1072112"/>
                  <a:pt x="7168112" y="1117600"/>
                  <a:pt x="7111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355" y="2298700"/>
            <a:ext cx="1054100" cy="457200"/>
          </a:xfrm>
          <a:custGeom>
            <a:avLst/>
            <a:gdLst/>
            <a:ahLst/>
            <a:cxnLst/>
            <a:rect l="l" t="t" r="r" b="b"/>
            <a:pathLst>
              <a:path w="1054100" h="457200">
                <a:moveTo>
                  <a:pt x="50799" y="0"/>
                </a:moveTo>
                <a:lnTo>
                  <a:pt x="1003301" y="0"/>
                </a:lnTo>
                <a:cubicBezTo>
                  <a:pt x="1031356" y="0"/>
                  <a:pt x="1054100" y="22744"/>
                  <a:pt x="1054100" y="50799"/>
                </a:cubicBezTo>
                <a:lnTo>
                  <a:pt x="1054100" y="406401"/>
                </a:lnTo>
                <a:cubicBezTo>
                  <a:pt x="1054100" y="434456"/>
                  <a:pt x="1031356" y="457200"/>
                  <a:pt x="100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2139355" y="2298700"/>
            <a:ext cx="1143000" cy="457200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(15)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21315" y="2425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3651515" y="2298700"/>
            <a:ext cx="1219200" cy="457200"/>
          </a:xfrm>
          <a:custGeom>
            <a:avLst/>
            <a:gdLst/>
            <a:ahLst/>
            <a:cxnLst/>
            <a:rect l="l" t="t" r="r" b="b"/>
            <a:pathLst>
              <a:path w="1219200" h="457200">
                <a:moveTo>
                  <a:pt x="50799" y="0"/>
                </a:moveTo>
                <a:lnTo>
                  <a:pt x="1168401" y="0"/>
                </a:lnTo>
                <a:cubicBezTo>
                  <a:pt x="1196456" y="0"/>
                  <a:pt x="1219200" y="22744"/>
                  <a:pt x="1219200" y="50799"/>
                </a:cubicBezTo>
                <a:lnTo>
                  <a:pt x="1219200" y="406401"/>
                </a:lnTo>
                <a:cubicBezTo>
                  <a:pt x="1219200" y="434456"/>
                  <a:pt x="1196456" y="457200"/>
                  <a:pt x="1168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651515" y="2298700"/>
            <a:ext cx="1308100" cy="457200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Dense(100)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99898" y="2425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0098" y="2298700"/>
            <a:ext cx="1092200" cy="457200"/>
          </a:xfrm>
          <a:custGeom>
            <a:avLst/>
            <a:gdLst/>
            <a:ahLst/>
            <a:cxnLst/>
            <a:rect l="l" t="t" r="r" b="b"/>
            <a:pathLst>
              <a:path w="1092200" h="457200">
                <a:moveTo>
                  <a:pt x="50799" y="0"/>
                </a:moveTo>
                <a:lnTo>
                  <a:pt x="1041401" y="0"/>
                </a:lnTo>
                <a:cubicBezTo>
                  <a:pt x="1069456" y="0"/>
                  <a:pt x="1092200" y="22744"/>
                  <a:pt x="1092200" y="50799"/>
                </a:cubicBezTo>
                <a:lnTo>
                  <a:pt x="1092200" y="406401"/>
                </a:lnTo>
                <a:cubicBezTo>
                  <a:pt x="1092200" y="434456"/>
                  <a:pt x="1069456" y="457200"/>
                  <a:pt x="1041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5330098" y="2298700"/>
            <a:ext cx="1181100" cy="457200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Output(4)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1050" y="2857500"/>
            <a:ext cx="699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ReLU activation → Softmax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3100" y="3365500"/>
            <a:ext cx="92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Optimizer: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2929" y="3365500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Adam(lr=0.001)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3100" y="36703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9078" y="36703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sparse_categorical_crossentropy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3100" y="3975100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Batch size: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73248" y="397510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100" y="4279900"/>
            <a:ext cx="72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Epochs: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72783" y="42799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62 (convergencia)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10550" y="1530350"/>
            <a:ext cx="7531100" cy="3822700"/>
          </a:xfrm>
          <a:custGeom>
            <a:avLst/>
            <a:gdLst/>
            <a:ahLst/>
            <a:cxnLst/>
            <a:rect l="l" t="t" r="r" b="b"/>
            <a:pathLst>
              <a:path w="7531100" h="3822700">
                <a:moveTo>
                  <a:pt x="101607" y="0"/>
                </a:moveTo>
                <a:lnTo>
                  <a:pt x="7429493" y="0"/>
                </a:lnTo>
                <a:cubicBezTo>
                  <a:pt x="7485609" y="0"/>
                  <a:pt x="7531100" y="45491"/>
                  <a:pt x="7531100" y="101607"/>
                </a:cubicBezTo>
                <a:lnTo>
                  <a:pt x="7531100" y="3721093"/>
                </a:lnTo>
                <a:cubicBezTo>
                  <a:pt x="7531100" y="3777209"/>
                  <a:pt x="7485609" y="3822700"/>
                  <a:pt x="74294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9300" y="1689100"/>
            <a:ext cx="734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Resultados Históricos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94700" y="2146300"/>
            <a:ext cx="7188200" cy="1066800"/>
          </a:xfrm>
          <a:custGeom>
            <a:avLst/>
            <a:gdLst/>
            <a:ahLst/>
            <a:cxnLst/>
            <a:rect l="l" t="t" r="r" b="b"/>
            <a:pathLst>
              <a:path w="7188200" h="1066800">
                <a:moveTo>
                  <a:pt x="50800" y="0"/>
                </a:moveTo>
                <a:lnTo>
                  <a:pt x="7086598" y="0"/>
                </a:lnTo>
                <a:cubicBezTo>
                  <a:pt x="7142711" y="0"/>
                  <a:pt x="7188200" y="45489"/>
                  <a:pt x="7188200" y="101602"/>
                </a:cubicBezTo>
                <a:lnTo>
                  <a:pt x="7188200" y="965198"/>
                </a:lnTo>
                <a:cubicBezTo>
                  <a:pt x="7188200" y="1021311"/>
                  <a:pt x="7142711" y="1066800"/>
                  <a:pt x="7086598" y="1066800"/>
                </a:cubicBezTo>
                <a:lnTo>
                  <a:pt x="50800" y="1066800"/>
                </a:lnTo>
                <a:cubicBezTo>
                  <a:pt x="22744" y="1066800"/>
                  <a:pt x="0" y="1044056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8394700" y="2146300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5080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50800" y="1066800"/>
                </a:lnTo>
                <a:cubicBezTo>
                  <a:pt x="22763" y="1066800"/>
                  <a:pt x="0" y="1044037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8572500" y="2349500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Macro Score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423893" y="2298700"/>
            <a:ext cx="119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0.992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72500" y="28067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+10.2% vs Phase 1 baseline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69300" y="3314700"/>
            <a:ext cx="7213600" cy="558800"/>
          </a:xfrm>
          <a:custGeom>
            <a:avLst/>
            <a:gdLst/>
            <a:ahLst/>
            <a:cxnLst/>
            <a:rect l="l" t="t" r="r" b="b"/>
            <a:pathLst>
              <a:path w="7213600" h="558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507999"/>
                </a:lnTo>
                <a:cubicBezTo>
                  <a:pt x="7213600" y="536056"/>
                  <a:pt x="7190856" y="558800"/>
                  <a:pt x="71627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470900" y="34417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745692" y="3416300"/>
            <a:ext cx="86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99.8%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69300" y="3975100"/>
            <a:ext cx="7213600" cy="558800"/>
          </a:xfrm>
          <a:custGeom>
            <a:avLst/>
            <a:gdLst/>
            <a:ahLst/>
            <a:cxnLst/>
            <a:rect l="l" t="t" r="r" b="b"/>
            <a:pathLst>
              <a:path w="7213600" h="558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507999"/>
                </a:lnTo>
                <a:cubicBezTo>
                  <a:pt x="7213600" y="536056"/>
                  <a:pt x="7190856" y="558800"/>
                  <a:pt x="71627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470900" y="4102100"/>
            <a:ext cx="168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Cross-Validation: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826993" y="407670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0.992 ± 0.002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69300" y="4635500"/>
            <a:ext cx="7213600" cy="558800"/>
          </a:xfrm>
          <a:custGeom>
            <a:avLst/>
            <a:gdLst/>
            <a:ahLst/>
            <a:cxnLst/>
            <a:rect l="l" t="t" r="r" b="b"/>
            <a:pathLst>
              <a:path w="7213600" h="558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507999"/>
                </a:lnTo>
                <a:cubicBezTo>
                  <a:pt x="7213600" y="536056"/>
                  <a:pt x="7190856" y="558800"/>
                  <a:pt x="71627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470900" y="47625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Train-Test Gap: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8814" y="4737100"/>
            <a:ext cx="86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0.04%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4350" y="5467350"/>
            <a:ext cx="15227300" cy="2095500"/>
          </a:xfrm>
          <a:custGeom>
            <a:avLst/>
            <a:gdLst/>
            <a:ahLst/>
            <a:cxnLst/>
            <a:rect l="l" t="t" r="r" b="b"/>
            <a:pathLst>
              <a:path w="15227300" h="2095500">
                <a:moveTo>
                  <a:pt x="101590" y="0"/>
                </a:moveTo>
                <a:lnTo>
                  <a:pt x="15125710" y="0"/>
                </a:lnTo>
                <a:cubicBezTo>
                  <a:pt x="15181817" y="0"/>
                  <a:pt x="15227300" y="45483"/>
                  <a:pt x="15227300" y="101590"/>
                </a:cubicBezTo>
                <a:lnTo>
                  <a:pt x="15227300" y="1993910"/>
                </a:lnTo>
                <a:cubicBezTo>
                  <a:pt x="15227300" y="2050017"/>
                  <a:pt x="15181817" y="2095500"/>
                  <a:pt x="15125710" y="2095500"/>
                </a:cubicBezTo>
                <a:lnTo>
                  <a:pt x="101590" y="2095500"/>
                </a:lnTo>
                <a:cubicBezTo>
                  <a:pt x="45483" y="2095500"/>
                  <a:pt x="0" y="2050017"/>
                  <a:pt x="0" y="19939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3100" y="562610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Manejo del Desbalanceo 59:1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3100" y="6083300"/>
            <a:ext cx="4864100" cy="1320800"/>
          </a:xfrm>
          <a:custGeom>
            <a:avLst/>
            <a:gdLst/>
            <a:ahLst/>
            <a:cxnLst/>
            <a:rect l="l" t="t" r="r" b="b"/>
            <a:pathLst>
              <a:path w="4864100" h="1320800">
                <a:moveTo>
                  <a:pt x="50798" y="0"/>
                </a:moveTo>
                <a:lnTo>
                  <a:pt x="4813302" y="0"/>
                </a:lnTo>
                <a:cubicBezTo>
                  <a:pt x="4841357" y="0"/>
                  <a:pt x="4864100" y="22743"/>
                  <a:pt x="4864100" y="50798"/>
                </a:cubicBezTo>
                <a:lnTo>
                  <a:pt x="4864100" y="1270002"/>
                </a:lnTo>
                <a:cubicBezTo>
                  <a:pt x="4864100" y="1298057"/>
                  <a:pt x="4841357" y="1320800"/>
                  <a:pt x="4813302" y="1320800"/>
                </a:cubicBezTo>
                <a:lnTo>
                  <a:pt x="50798" y="1320800"/>
                </a:lnTo>
                <a:cubicBezTo>
                  <a:pt x="22743" y="1320800"/>
                  <a:pt x="0" y="1298057"/>
                  <a:pt x="0" y="12700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25500" y="6235700"/>
            <a:ext cx="464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Balanceo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5500" y="6540500"/>
            <a:ext cx="474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0.847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5500" y="6997700"/>
            <a:ext cx="463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(sesgado a good)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706533" y="6096000"/>
            <a:ext cx="4838700" cy="1295400"/>
          </a:xfrm>
          <a:custGeom>
            <a:avLst/>
            <a:gdLst/>
            <a:ahLst/>
            <a:cxnLst/>
            <a:rect l="l" t="t" r="r" b="b"/>
            <a:pathLst>
              <a:path w="4838700" h="1295400">
                <a:moveTo>
                  <a:pt x="50806" y="0"/>
                </a:moveTo>
                <a:lnTo>
                  <a:pt x="4787894" y="0"/>
                </a:lnTo>
                <a:cubicBezTo>
                  <a:pt x="4815954" y="0"/>
                  <a:pt x="4838700" y="22746"/>
                  <a:pt x="4838700" y="50806"/>
                </a:cubicBezTo>
                <a:lnTo>
                  <a:pt x="4838700" y="1244594"/>
                </a:lnTo>
                <a:cubicBezTo>
                  <a:pt x="4838700" y="1272654"/>
                  <a:pt x="4815954" y="1295400"/>
                  <a:pt x="4787894" y="1295400"/>
                </a:cubicBezTo>
                <a:lnTo>
                  <a:pt x="50806" y="1295400"/>
                </a:lnTo>
                <a:cubicBezTo>
                  <a:pt x="22746" y="1295400"/>
                  <a:pt x="0" y="1272654"/>
                  <a:pt x="0" y="1244594"/>
                </a:cubicBezTo>
                <a:lnTo>
                  <a:pt x="0" y="50806"/>
                </a:lnTo>
                <a:cubicBezTo>
                  <a:pt x="0" y="22765"/>
                  <a:pt x="22765" y="0"/>
                  <a:pt x="50806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71633" y="62611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class_weight='balanced'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871633" y="6565900"/>
            <a:ext cx="469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0.992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71633" y="7023100"/>
            <a:ext cx="458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(óptimo)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714567" y="6083300"/>
            <a:ext cx="4864100" cy="1320800"/>
          </a:xfrm>
          <a:custGeom>
            <a:avLst/>
            <a:gdLst/>
            <a:ahLst/>
            <a:cxnLst/>
            <a:rect l="l" t="t" r="r" b="b"/>
            <a:pathLst>
              <a:path w="4864100" h="1320800">
                <a:moveTo>
                  <a:pt x="50798" y="0"/>
                </a:moveTo>
                <a:lnTo>
                  <a:pt x="4813302" y="0"/>
                </a:lnTo>
                <a:cubicBezTo>
                  <a:pt x="4841357" y="0"/>
                  <a:pt x="4864100" y="22743"/>
                  <a:pt x="4864100" y="50798"/>
                </a:cubicBezTo>
                <a:lnTo>
                  <a:pt x="4864100" y="1270002"/>
                </a:lnTo>
                <a:cubicBezTo>
                  <a:pt x="4864100" y="1298057"/>
                  <a:pt x="4841357" y="1320800"/>
                  <a:pt x="4813302" y="1320800"/>
                </a:cubicBezTo>
                <a:lnTo>
                  <a:pt x="50798" y="1320800"/>
                </a:lnTo>
                <a:cubicBezTo>
                  <a:pt x="22743" y="1320800"/>
                  <a:pt x="0" y="1298057"/>
                  <a:pt x="0" y="12700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866967" y="6235700"/>
            <a:ext cx="464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SMOTE Oversampling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66967" y="6540500"/>
            <a:ext cx="474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0.978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866967" y="6997700"/>
            <a:ext cx="463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(alternativa)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14350" y="7677150"/>
            <a:ext cx="7531100" cy="1130300"/>
          </a:xfrm>
          <a:custGeom>
            <a:avLst/>
            <a:gdLst/>
            <a:ahLst/>
            <a:cxnLst/>
            <a:rect l="l" t="t" r="r" b="b"/>
            <a:pathLst>
              <a:path w="7531100" h="1130300">
                <a:moveTo>
                  <a:pt x="101603" y="0"/>
                </a:moveTo>
                <a:lnTo>
                  <a:pt x="7429497" y="0"/>
                </a:lnTo>
                <a:cubicBezTo>
                  <a:pt x="7485611" y="0"/>
                  <a:pt x="7531100" y="45489"/>
                  <a:pt x="7531100" y="101603"/>
                </a:cubicBezTo>
                <a:lnTo>
                  <a:pt x="7531100" y="1028697"/>
                </a:lnTo>
                <a:cubicBezTo>
                  <a:pt x="7531100" y="1084811"/>
                  <a:pt x="7485611" y="1130300"/>
                  <a:pt x="74294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1200" y="808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52400" y="104775"/>
                </a:moveTo>
                <a:cubicBezTo>
                  <a:pt x="141863" y="104775"/>
                  <a:pt x="133350" y="113288"/>
                  <a:pt x="133350" y="123825"/>
                </a:cubicBezTo>
                <a:cubicBezTo>
                  <a:pt x="133350" y="131743"/>
                  <a:pt x="126980" y="138113"/>
                  <a:pt x="119062" y="138113"/>
                </a:cubicBezTo>
                <a:cubicBezTo>
                  <a:pt x="111145" y="138113"/>
                  <a:pt x="104775" y="131743"/>
                  <a:pt x="104775" y="123825"/>
                </a:cubicBezTo>
                <a:cubicBezTo>
                  <a:pt x="104775" y="97512"/>
                  <a:pt x="126087" y="76200"/>
                  <a:pt x="152400" y="76200"/>
                </a:cubicBezTo>
                <a:cubicBezTo>
                  <a:pt x="178713" y="76200"/>
                  <a:pt x="200025" y="97512"/>
                  <a:pt x="200025" y="123825"/>
                </a:cubicBezTo>
                <a:cubicBezTo>
                  <a:pt x="200025" y="151924"/>
                  <a:pt x="178594" y="163830"/>
                  <a:pt x="166688" y="168176"/>
                </a:cubicBezTo>
                <a:lnTo>
                  <a:pt x="166688" y="170438"/>
                </a:lnTo>
                <a:cubicBezTo>
                  <a:pt x="166688" y="178356"/>
                  <a:pt x="160318" y="184725"/>
                  <a:pt x="152400" y="184725"/>
                </a:cubicBezTo>
                <a:cubicBezTo>
                  <a:pt x="144482" y="184725"/>
                  <a:pt x="138113" y="178356"/>
                  <a:pt x="138113" y="170438"/>
                </a:cubicBezTo>
                <a:lnTo>
                  <a:pt x="138113" y="165616"/>
                </a:lnTo>
                <a:cubicBezTo>
                  <a:pt x="138113" y="153412"/>
                  <a:pt x="146923" y="144661"/>
                  <a:pt x="156031" y="141684"/>
                </a:cubicBezTo>
                <a:cubicBezTo>
                  <a:pt x="159841" y="140434"/>
                  <a:pt x="163890" y="138410"/>
                  <a:pt x="166866" y="135553"/>
                </a:cubicBezTo>
                <a:cubicBezTo>
                  <a:pt x="169426" y="133052"/>
                  <a:pt x="171450" y="129600"/>
                  <a:pt x="171450" y="123885"/>
                </a:cubicBezTo>
                <a:cubicBezTo>
                  <a:pt x="171450" y="113348"/>
                  <a:pt x="162937" y="104835"/>
                  <a:pt x="152400" y="104835"/>
                </a:cubicBezTo>
                <a:close/>
                <a:moveTo>
                  <a:pt x="133350" y="219075"/>
                </a:moveTo>
                <a:cubicBezTo>
                  <a:pt x="133350" y="208561"/>
                  <a:pt x="141886" y="200025"/>
                  <a:pt x="152400" y="200025"/>
                </a:cubicBezTo>
                <a:cubicBezTo>
                  <a:pt x="162914" y="200025"/>
                  <a:pt x="171450" y="208561"/>
                  <a:pt x="171450" y="219075"/>
                </a:cubicBezTo>
                <a:cubicBezTo>
                  <a:pt x="171450" y="229589"/>
                  <a:pt x="162914" y="238125"/>
                  <a:pt x="152400" y="238125"/>
                </a:cubicBezTo>
                <a:cubicBezTo>
                  <a:pt x="141886" y="238125"/>
                  <a:pt x="133350" y="229589"/>
                  <a:pt x="133350" y="2190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6" name="Text 54"/>
          <p:cNvSpPr/>
          <p:nvPr/>
        </p:nvSpPr>
        <p:spPr>
          <a:xfrm>
            <a:off x="1200150" y="7835900"/>
            <a:ext cx="679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¿Accuracy 99.8% = Overfitting?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200150" y="8140700"/>
            <a:ext cx="678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 &lt; 0.05% + CV estable + Features relevantes + Dominio predecible = 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LEGÍTIMO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10550" y="7677150"/>
            <a:ext cx="7531100" cy="1130300"/>
          </a:xfrm>
          <a:custGeom>
            <a:avLst/>
            <a:gdLst/>
            <a:ahLst/>
            <a:cxnLst/>
            <a:rect l="l" t="t" r="r" b="b"/>
            <a:pathLst>
              <a:path w="7531100" h="1130300">
                <a:moveTo>
                  <a:pt x="101603" y="0"/>
                </a:moveTo>
                <a:lnTo>
                  <a:pt x="7429497" y="0"/>
                </a:lnTo>
                <a:cubicBezTo>
                  <a:pt x="7485611" y="0"/>
                  <a:pt x="7531100" y="45489"/>
                  <a:pt x="7531100" y="101603"/>
                </a:cubicBezTo>
                <a:lnTo>
                  <a:pt x="7531100" y="1028697"/>
                </a:lnTo>
                <a:cubicBezTo>
                  <a:pt x="7531100" y="1084811"/>
                  <a:pt x="7485611" y="1130300"/>
                  <a:pt x="74294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13750" y="80899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0" name="Text 58"/>
          <p:cNvSpPr/>
          <p:nvPr/>
        </p:nvSpPr>
        <p:spPr>
          <a:xfrm>
            <a:off x="8836356" y="7835900"/>
            <a:ext cx="684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Lección Clave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36356" y="8140700"/>
            <a:ext cx="683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 supera ML clásico en datos tabulares bien estructurados con features de alta calidad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349488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3 - Temporal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Capturando Dependencias Temporales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4178300"/>
          </a:xfrm>
          <a:custGeom>
            <a:avLst/>
            <a:gdLst/>
            <a:ahLst/>
            <a:cxnLst/>
            <a:rect l="l" t="t" r="r" b="b"/>
            <a:pathLst>
              <a:path w="7531100" h="4178300">
                <a:moveTo>
                  <a:pt x="101616" y="0"/>
                </a:moveTo>
                <a:lnTo>
                  <a:pt x="7429484" y="0"/>
                </a:lnTo>
                <a:cubicBezTo>
                  <a:pt x="7485605" y="0"/>
                  <a:pt x="7531100" y="45495"/>
                  <a:pt x="7531100" y="101616"/>
                </a:cubicBezTo>
                <a:lnTo>
                  <a:pt x="7531100" y="4076684"/>
                </a:lnTo>
                <a:cubicBezTo>
                  <a:pt x="7531100" y="4132805"/>
                  <a:pt x="7485605" y="4178300"/>
                  <a:pt x="7429484" y="4178300"/>
                </a:cubicBezTo>
                <a:lnTo>
                  <a:pt x="101616" y="4178300"/>
                </a:lnTo>
                <a:cubicBezTo>
                  <a:pt x="45495" y="4178300"/>
                  <a:pt x="0" y="4132805"/>
                  <a:pt x="0" y="4076684"/>
                </a:cubicBezTo>
                <a:lnTo>
                  <a:pt x="0" y="101616"/>
                </a:lnTo>
                <a:cubicBezTo>
                  <a:pt x="0" y="45533"/>
                  <a:pt x="45533" y="0"/>
                  <a:pt x="10161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Temporales Innovadoras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7400" y="22987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25400"/>
                </a:moveTo>
                <a:cubicBezTo>
                  <a:pt x="156369" y="25400"/>
                  <a:pt x="190500" y="59531"/>
                  <a:pt x="190500" y="101600"/>
                </a:cubicBezTo>
                <a:cubicBezTo>
                  <a:pt x="190500" y="143669"/>
                  <a:pt x="156369" y="177800"/>
                  <a:pt x="114300" y="177800"/>
                </a:cubicBezTo>
                <a:cubicBezTo>
                  <a:pt x="88424" y="177800"/>
                  <a:pt x="65524" y="164902"/>
                  <a:pt x="51753" y="145137"/>
                </a:cubicBezTo>
                <a:cubicBezTo>
                  <a:pt x="47744" y="139383"/>
                  <a:pt x="39807" y="137993"/>
                  <a:pt x="34052" y="142002"/>
                </a:cubicBezTo>
                <a:cubicBezTo>
                  <a:pt x="28297" y="146010"/>
                  <a:pt x="26908" y="153948"/>
                  <a:pt x="30917" y="159703"/>
                </a:cubicBezTo>
                <a:cubicBezTo>
                  <a:pt x="49252" y="185976"/>
                  <a:pt x="79772" y="203200"/>
                  <a:pt x="114300" y="203200"/>
                </a:cubicBezTo>
                <a:cubicBezTo>
                  <a:pt x="170418" y="203200"/>
                  <a:pt x="215900" y="157718"/>
                  <a:pt x="215900" y="101600"/>
                </a:cubicBezTo>
                <a:cubicBezTo>
                  <a:pt x="215900" y="45482"/>
                  <a:pt x="170418" y="0"/>
                  <a:pt x="114300" y="0"/>
                </a:cubicBezTo>
                <a:cubicBezTo>
                  <a:pt x="80288" y="0"/>
                  <a:pt x="50205" y="16708"/>
                  <a:pt x="31750" y="42347"/>
                </a:cubicBezTo>
                <a:lnTo>
                  <a:pt x="31750" y="31750"/>
                </a:lnTo>
                <a:cubicBezTo>
                  <a:pt x="31750" y="24725"/>
                  <a:pt x="26075" y="19050"/>
                  <a:pt x="19050" y="19050"/>
                </a:cubicBezTo>
                <a:cubicBezTo>
                  <a:pt x="12025" y="19050"/>
                  <a:pt x="6350" y="24725"/>
                  <a:pt x="6350" y="31750"/>
                </a:cubicBezTo>
                <a:lnTo>
                  <a:pt x="6350" y="76200"/>
                </a:lnTo>
                <a:cubicBezTo>
                  <a:pt x="6350" y="83225"/>
                  <a:pt x="12025" y="88900"/>
                  <a:pt x="19050" y="88900"/>
                </a:cubicBezTo>
                <a:lnTo>
                  <a:pt x="28813" y="88900"/>
                </a:lnTo>
                <a:cubicBezTo>
                  <a:pt x="29012" y="88900"/>
                  <a:pt x="29210" y="88900"/>
                  <a:pt x="29408" y="88900"/>
                </a:cubicBezTo>
                <a:lnTo>
                  <a:pt x="63540" y="88900"/>
                </a:lnTo>
                <a:cubicBezTo>
                  <a:pt x="70564" y="88900"/>
                  <a:pt x="76240" y="83225"/>
                  <a:pt x="76240" y="76200"/>
                </a:cubicBezTo>
                <a:cubicBezTo>
                  <a:pt x="76240" y="69175"/>
                  <a:pt x="70564" y="63500"/>
                  <a:pt x="63540" y="63500"/>
                </a:cubicBezTo>
                <a:lnTo>
                  <a:pt x="48339" y="63500"/>
                </a:lnTo>
                <a:cubicBezTo>
                  <a:pt x="61476" y="40719"/>
                  <a:pt x="86122" y="25400"/>
                  <a:pt x="114300" y="25400"/>
                </a:cubicBezTo>
                <a:close/>
                <a:moveTo>
                  <a:pt x="123825" y="60325"/>
                </a:moveTo>
                <a:cubicBezTo>
                  <a:pt x="123825" y="55047"/>
                  <a:pt x="119578" y="50800"/>
                  <a:pt x="114300" y="50800"/>
                </a:cubicBezTo>
                <a:cubicBezTo>
                  <a:pt x="109022" y="50800"/>
                  <a:pt x="104775" y="55047"/>
                  <a:pt x="104775" y="60325"/>
                </a:cubicBezTo>
                <a:lnTo>
                  <a:pt x="104775" y="101600"/>
                </a:lnTo>
                <a:cubicBezTo>
                  <a:pt x="104775" y="104140"/>
                  <a:pt x="105767" y="106561"/>
                  <a:pt x="107553" y="108347"/>
                </a:cubicBezTo>
                <a:lnTo>
                  <a:pt x="136128" y="136922"/>
                </a:lnTo>
                <a:cubicBezTo>
                  <a:pt x="139859" y="140652"/>
                  <a:pt x="145891" y="140652"/>
                  <a:pt x="149582" y="136922"/>
                </a:cubicBezTo>
                <a:cubicBezTo>
                  <a:pt x="153273" y="133191"/>
                  <a:pt x="153313" y="127159"/>
                  <a:pt x="149582" y="123468"/>
                </a:cubicBezTo>
                <a:lnTo>
                  <a:pt x="123785" y="97671"/>
                </a:lnTo>
                <a:lnTo>
                  <a:pt x="123785" y="6032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130300" y="22479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Lag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6035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score_diff_lag1, score_diff_lag2: evaluación en jugadas previas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3100" y="30099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" y="3162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12700"/>
                </a:moveTo>
                <a:cubicBezTo>
                  <a:pt x="19725" y="12700"/>
                  <a:pt x="25400" y="18375"/>
                  <a:pt x="25400" y="25400"/>
                </a:cubicBezTo>
                <a:lnTo>
                  <a:pt x="25400" y="158750"/>
                </a:lnTo>
                <a:cubicBezTo>
                  <a:pt x="25400" y="162243"/>
                  <a:pt x="28258" y="165100"/>
                  <a:pt x="31750" y="165100"/>
                </a:cubicBezTo>
                <a:lnTo>
                  <a:pt x="190500" y="165100"/>
                </a:lnTo>
                <a:cubicBezTo>
                  <a:pt x="197525" y="165100"/>
                  <a:pt x="203200" y="170775"/>
                  <a:pt x="203200" y="177800"/>
                </a:cubicBezTo>
                <a:cubicBezTo>
                  <a:pt x="203200" y="184825"/>
                  <a:pt x="197525" y="190500"/>
                  <a:pt x="190500" y="190500"/>
                </a:cubicBezTo>
                <a:lnTo>
                  <a:pt x="31750" y="190500"/>
                </a:lnTo>
                <a:cubicBezTo>
                  <a:pt x="14208" y="190500"/>
                  <a:pt x="0" y="176292"/>
                  <a:pt x="0" y="158750"/>
                </a:cubicBezTo>
                <a:lnTo>
                  <a:pt x="0" y="25400"/>
                </a:lnTo>
                <a:cubicBezTo>
                  <a:pt x="0" y="18375"/>
                  <a:pt x="5675" y="12700"/>
                  <a:pt x="12700" y="12700"/>
                </a:cubicBezTo>
                <a:close/>
                <a:moveTo>
                  <a:pt x="95250" y="38100"/>
                </a:moveTo>
                <a:cubicBezTo>
                  <a:pt x="97909" y="38100"/>
                  <a:pt x="100449" y="39211"/>
                  <a:pt x="102275" y="41196"/>
                </a:cubicBezTo>
                <a:lnTo>
                  <a:pt x="130493" y="71953"/>
                </a:lnTo>
                <a:lnTo>
                  <a:pt x="148828" y="53578"/>
                </a:lnTo>
                <a:cubicBezTo>
                  <a:pt x="152559" y="49848"/>
                  <a:pt x="158591" y="49848"/>
                  <a:pt x="162282" y="53578"/>
                </a:cubicBezTo>
                <a:lnTo>
                  <a:pt x="187682" y="78978"/>
                </a:lnTo>
                <a:cubicBezTo>
                  <a:pt x="189468" y="80764"/>
                  <a:pt x="190460" y="83185"/>
                  <a:pt x="190460" y="85725"/>
                </a:cubicBezTo>
                <a:lnTo>
                  <a:pt x="190460" y="130175"/>
                </a:lnTo>
                <a:cubicBezTo>
                  <a:pt x="190460" y="135453"/>
                  <a:pt x="186214" y="139700"/>
                  <a:pt x="180935" y="139700"/>
                </a:cubicBezTo>
                <a:lnTo>
                  <a:pt x="60285" y="139700"/>
                </a:lnTo>
                <a:cubicBezTo>
                  <a:pt x="55007" y="139700"/>
                  <a:pt x="50760" y="135453"/>
                  <a:pt x="50760" y="130175"/>
                </a:cubicBezTo>
                <a:lnTo>
                  <a:pt x="50760" y="85725"/>
                </a:lnTo>
                <a:cubicBezTo>
                  <a:pt x="50760" y="83344"/>
                  <a:pt x="51673" y="81042"/>
                  <a:pt x="53261" y="79296"/>
                </a:cubicBezTo>
                <a:lnTo>
                  <a:pt x="88186" y="41196"/>
                </a:lnTo>
                <a:cubicBezTo>
                  <a:pt x="89972" y="39211"/>
                  <a:pt x="92551" y="38100"/>
                  <a:pt x="95210" y="381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130300" y="3111500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Rolling Statistics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4700" y="34671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errors_last_3, errors_last_5, max_error_last_3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3100" y="38735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4025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01600" y="165100"/>
                </a:moveTo>
                <a:cubicBezTo>
                  <a:pt x="115610" y="165100"/>
                  <a:pt x="127000" y="153710"/>
                  <a:pt x="127000" y="139700"/>
                </a:cubicBezTo>
                <a:cubicBezTo>
                  <a:pt x="127000" y="133271"/>
                  <a:pt x="124619" y="127357"/>
                  <a:pt x="120650" y="122912"/>
                </a:cubicBezTo>
                <a:lnTo>
                  <a:pt x="148233" y="67786"/>
                </a:lnTo>
                <a:cubicBezTo>
                  <a:pt x="150574" y="63063"/>
                  <a:pt x="148669" y="57348"/>
                  <a:pt x="143986" y="55007"/>
                </a:cubicBezTo>
                <a:cubicBezTo>
                  <a:pt x="139303" y="52665"/>
                  <a:pt x="133548" y="54570"/>
                  <a:pt x="131207" y="59253"/>
                </a:cubicBezTo>
                <a:lnTo>
                  <a:pt x="103624" y="114379"/>
                </a:lnTo>
                <a:cubicBezTo>
                  <a:pt x="102949" y="114340"/>
                  <a:pt x="102275" y="114300"/>
                  <a:pt x="101600" y="114300"/>
                </a:cubicBezTo>
                <a:cubicBezTo>
                  <a:pt x="87590" y="114300"/>
                  <a:pt x="76200" y="125690"/>
                  <a:pt x="76200" y="139700"/>
                </a:cubicBezTo>
                <a:cubicBezTo>
                  <a:pt x="76200" y="153710"/>
                  <a:pt x="87590" y="165100"/>
                  <a:pt x="101600" y="165100"/>
                </a:cubicBezTo>
                <a:close/>
                <a:moveTo>
                  <a:pt x="69850" y="57150"/>
                </a:moveTo>
                <a:cubicBezTo>
                  <a:pt x="69850" y="50141"/>
                  <a:pt x="64159" y="44450"/>
                  <a:pt x="57150" y="44450"/>
                </a:cubicBezTo>
                <a:cubicBezTo>
                  <a:pt x="50141" y="44450"/>
                  <a:pt x="44450" y="50141"/>
                  <a:pt x="44450" y="57150"/>
                </a:cubicBezTo>
                <a:cubicBezTo>
                  <a:pt x="44450" y="64159"/>
                  <a:pt x="50141" y="69850"/>
                  <a:pt x="57150" y="69850"/>
                </a:cubicBezTo>
                <a:cubicBezTo>
                  <a:pt x="64159" y="69850"/>
                  <a:pt x="69850" y="64159"/>
                  <a:pt x="69850" y="57150"/>
                </a:cubicBezTo>
                <a:close/>
                <a:moveTo>
                  <a:pt x="38100" y="114300"/>
                </a:moveTo>
                <a:cubicBezTo>
                  <a:pt x="45109" y="114300"/>
                  <a:pt x="50800" y="108609"/>
                  <a:pt x="50800" y="101600"/>
                </a:cubicBezTo>
                <a:cubicBezTo>
                  <a:pt x="50800" y="94591"/>
                  <a:pt x="45109" y="88900"/>
                  <a:pt x="38100" y="88900"/>
                </a:cubicBezTo>
                <a:cubicBezTo>
                  <a:pt x="31091" y="88900"/>
                  <a:pt x="25400" y="94591"/>
                  <a:pt x="25400" y="101600"/>
                </a:cubicBezTo>
                <a:cubicBezTo>
                  <a:pt x="25400" y="108609"/>
                  <a:pt x="31091" y="114300"/>
                  <a:pt x="38100" y="114300"/>
                </a:cubicBezTo>
                <a:close/>
                <a:moveTo>
                  <a:pt x="177800" y="101600"/>
                </a:moveTo>
                <a:cubicBezTo>
                  <a:pt x="177800" y="94591"/>
                  <a:pt x="172109" y="88900"/>
                  <a:pt x="165100" y="88900"/>
                </a:cubicBezTo>
                <a:cubicBezTo>
                  <a:pt x="158091" y="88900"/>
                  <a:pt x="152400" y="94591"/>
                  <a:pt x="152400" y="101600"/>
                </a:cubicBezTo>
                <a:cubicBezTo>
                  <a:pt x="152400" y="108609"/>
                  <a:pt x="158091" y="114300"/>
                  <a:pt x="165100" y="114300"/>
                </a:cubicBezTo>
                <a:cubicBezTo>
                  <a:pt x="172109" y="114300"/>
                  <a:pt x="177800" y="108609"/>
                  <a:pt x="177800" y="1016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" y="39751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Derivadas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4700" y="43307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score_acceleration, score_trend_3, score_volatility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100" y="47371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4889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01600" y="53975"/>
                </a:moveTo>
                <a:cubicBezTo>
                  <a:pt x="106878" y="53975"/>
                  <a:pt x="111125" y="58222"/>
                  <a:pt x="111125" y="63500"/>
                </a:cubicBezTo>
                <a:lnTo>
                  <a:pt x="111125" y="107950"/>
                </a:lnTo>
                <a:cubicBezTo>
                  <a:pt x="111125" y="113228"/>
                  <a:pt x="106878" y="117475"/>
                  <a:pt x="101600" y="117475"/>
                </a:cubicBezTo>
                <a:cubicBezTo>
                  <a:pt x="96322" y="117475"/>
                  <a:pt x="92075" y="113228"/>
                  <a:pt x="92075" y="107950"/>
                </a:cubicBezTo>
                <a:lnTo>
                  <a:pt x="92075" y="63500"/>
                </a:lnTo>
                <a:cubicBezTo>
                  <a:pt x="92075" y="58222"/>
                  <a:pt x="96322" y="53975"/>
                  <a:pt x="101600" y="53975"/>
                </a:cubicBezTo>
                <a:close/>
                <a:moveTo>
                  <a:pt x="91003" y="139700"/>
                </a:moveTo>
                <a:cubicBezTo>
                  <a:pt x="90762" y="135767"/>
                  <a:pt x="92724" y="132024"/>
                  <a:pt x="96096" y="129985"/>
                </a:cubicBezTo>
                <a:cubicBezTo>
                  <a:pt x="99468" y="127945"/>
                  <a:pt x="103693" y="127945"/>
                  <a:pt x="107065" y="129985"/>
                </a:cubicBezTo>
                <a:cubicBezTo>
                  <a:pt x="110436" y="132024"/>
                  <a:pt x="112398" y="135767"/>
                  <a:pt x="112157" y="139700"/>
                </a:cubicBezTo>
                <a:cubicBezTo>
                  <a:pt x="112398" y="143633"/>
                  <a:pt x="110436" y="147376"/>
                  <a:pt x="107065" y="149415"/>
                </a:cubicBezTo>
                <a:cubicBezTo>
                  <a:pt x="103693" y="151455"/>
                  <a:pt x="99468" y="151455"/>
                  <a:pt x="96096" y="149415"/>
                </a:cubicBezTo>
                <a:cubicBezTo>
                  <a:pt x="92724" y="147376"/>
                  <a:pt x="90762" y="143633"/>
                  <a:pt x="91003" y="1397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1130300" y="4838700"/>
            <a:ext cx="173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Patrones de Error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4700" y="51943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consecutive_errors, declining_position, momentum_lost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0550" y="1530350"/>
            <a:ext cx="7531100" cy="4178300"/>
          </a:xfrm>
          <a:custGeom>
            <a:avLst/>
            <a:gdLst/>
            <a:ahLst/>
            <a:cxnLst/>
            <a:rect l="l" t="t" r="r" b="b"/>
            <a:pathLst>
              <a:path w="7531100" h="4178300">
                <a:moveTo>
                  <a:pt x="101616" y="0"/>
                </a:moveTo>
                <a:lnTo>
                  <a:pt x="7429484" y="0"/>
                </a:lnTo>
                <a:cubicBezTo>
                  <a:pt x="7485605" y="0"/>
                  <a:pt x="7531100" y="45495"/>
                  <a:pt x="7531100" y="101616"/>
                </a:cubicBezTo>
                <a:lnTo>
                  <a:pt x="7531100" y="4076684"/>
                </a:lnTo>
                <a:cubicBezTo>
                  <a:pt x="7531100" y="4132805"/>
                  <a:pt x="7485605" y="4178300"/>
                  <a:pt x="7429484" y="4178300"/>
                </a:cubicBezTo>
                <a:lnTo>
                  <a:pt x="101616" y="4178300"/>
                </a:lnTo>
                <a:cubicBezTo>
                  <a:pt x="45495" y="4178300"/>
                  <a:pt x="0" y="4132805"/>
                  <a:pt x="0" y="4076684"/>
                </a:cubicBezTo>
                <a:lnTo>
                  <a:pt x="0" y="101616"/>
                </a:lnTo>
                <a:cubicBezTo>
                  <a:pt x="0" y="45533"/>
                  <a:pt x="45533" y="0"/>
                  <a:pt x="10161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Resultados Phase 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94700" y="2146300"/>
            <a:ext cx="7188200" cy="1066800"/>
          </a:xfrm>
          <a:custGeom>
            <a:avLst/>
            <a:gdLst/>
            <a:ahLst/>
            <a:cxnLst/>
            <a:rect l="l" t="t" r="r" b="b"/>
            <a:pathLst>
              <a:path w="7188200" h="1066800">
                <a:moveTo>
                  <a:pt x="50800" y="0"/>
                </a:moveTo>
                <a:lnTo>
                  <a:pt x="7086598" y="0"/>
                </a:lnTo>
                <a:cubicBezTo>
                  <a:pt x="7142711" y="0"/>
                  <a:pt x="7188200" y="45489"/>
                  <a:pt x="7188200" y="101602"/>
                </a:cubicBezTo>
                <a:lnTo>
                  <a:pt x="7188200" y="965198"/>
                </a:lnTo>
                <a:cubicBezTo>
                  <a:pt x="7188200" y="1021311"/>
                  <a:pt x="7142711" y="1066800"/>
                  <a:pt x="7086598" y="1066800"/>
                </a:cubicBezTo>
                <a:lnTo>
                  <a:pt x="50800" y="1066800"/>
                </a:lnTo>
                <a:cubicBezTo>
                  <a:pt x="22744" y="1066800"/>
                  <a:pt x="0" y="1044056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8394700" y="2146300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5080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50800" y="1066800"/>
                </a:lnTo>
                <a:cubicBezTo>
                  <a:pt x="22763" y="1066800"/>
                  <a:pt x="0" y="1044037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8572500" y="2349500"/>
            <a:ext cx="144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RF Temporal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566973" y="22987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F1=0.9988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72500" y="28067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+0.68% vs Phase 2 MLP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69300" y="3314700"/>
            <a:ext cx="7213600" cy="558800"/>
          </a:xfrm>
          <a:custGeom>
            <a:avLst/>
            <a:gdLst/>
            <a:ahLst/>
            <a:cxnLst/>
            <a:rect l="l" t="t" r="r" b="b"/>
            <a:pathLst>
              <a:path w="7213600" h="558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507999"/>
                </a:lnTo>
                <a:cubicBezTo>
                  <a:pt x="7213600" y="536056"/>
                  <a:pt x="7190856" y="558800"/>
                  <a:pt x="71627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470900" y="34417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Secuencias procesadas: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500292" y="3416300"/>
            <a:ext cx="1104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283,048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69300" y="3975100"/>
            <a:ext cx="7213600" cy="558800"/>
          </a:xfrm>
          <a:custGeom>
            <a:avLst/>
            <a:gdLst/>
            <a:ahLst/>
            <a:cxnLst/>
            <a:rect l="l" t="t" r="r" b="b"/>
            <a:pathLst>
              <a:path w="7213600" h="558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507999"/>
                </a:lnTo>
                <a:cubicBezTo>
                  <a:pt x="7213600" y="536056"/>
                  <a:pt x="7190856" y="558800"/>
                  <a:pt x="71627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70900" y="41021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 size: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979857" y="4076700"/>
            <a:ext cx="162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5-10 jugadas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69300" y="4635500"/>
            <a:ext cx="7213600" cy="558800"/>
          </a:xfrm>
          <a:custGeom>
            <a:avLst/>
            <a:gdLst/>
            <a:ahLst/>
            <a:cxnLst/>
            <a:rect l="l" t="t" r="r" b="b"/>
            <a:pathLst>
              <a:path w="7213600" h="558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507999"/>
                </a:lnTo>
                <a:cubicBezTo>
                  <a:pt x="7213600" y="536056"/>
                  <a:pt x="7190856" y="558800"/>
                  <a:pt x="71627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70900" y="4762500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temporales: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337506" y="47371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 nuevas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4350" y="5822950"/>
            <a:ext cx="15227300" cy="1841500"/>
          </a:xfrm>
          <a:custGeom>
            <a:avLst/>
            <a:gdLst/>
            <a:ahLst/>
            <a:cxnLst/>
            <a:rect l="l" t="t" r="r" b="b"/>
            <a:pathLst>
              <a:path w="15227300" h="1841500">
                <a:moveTo>
                  <a:pt x="101596" y="0"/>
                </a:moveTo>
                <a:lnTo>
                  <a:pt x="15125704" y="0"/>
                </a:lnTo>
                <a:cubicBezTo>
                  <a:pt x="15181814" y="0"/>
                  <a:pt x="15227300" y="45486"/>
                  <a:pt x="15227300" y="101596"/>
                </a:cubicBezTo>
                <a:lnTo>
                  <a:pt x="15227300" y="1739904"/>
                </a:lnTo>
                <a:cubicBezTo>
                  <a:pt x="15227300" y="1796014"/>
                  <a:pt x="15181814" y="1841500"/>
                  <a:pt x="15125704" y="1841500"/>
                </a:cubicBezTo>
                <a:lnTo>
                  <a:pt x="101596" y="1841500"/>
                </a:lnTo>
                <a:cubicBezTo>
                  <a:pt x="45486" y="1841500"/>
                  <a:pt x="0" y="1796014"/>
                  <a:pt x="0" y="17399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3100" y="598170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Detección de Rachas de Errores (Error Streaks)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73100" y="6438900"/>
            <a:ext cx="3619500" cy="1066800"/>
          </a:xfrm>
          <a:custGeom>
            <a:avLst/>
            <a:gdLst/>
            <a:ahLst/>
            <a:cxnLst/>
            <a:rect l="l" t="t" r="r" b="b"/>
            <a:pathLst>
              <a:path w="3619500" h="1066800">
                <a:moveTo>
                  <a:pt x="50801" y="0"/>
                </a:moveTo>
                <a:lnTo>
                  <a:pt x="3568699" y="0"/>
                </a:lnTo>
                <a:cubicBezTo>
                  <a:pt x="3596756" y="0"/>
                  <a:pt x="3619500" y="22744"/>
                  <a:pt x="3619500" y="50801"/>
                </a:cubicBezTo>
                <a:lnTo>
                  <a:pt x="3619500" y="1015999"/>
                </a:lnTo>
                <a:cubicBezTo>
                  <a:pt x="3619500" y="1044056"/>
                  <a:pt x="3596756" y="1066800"/>
                  <a:pt x="35686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30250" y="65913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81050" y="70993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Precisión en detección de rachas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38650" y="6438900"/>
            <a:ext cx="3619500" cy="1066800"/>
          </a:xfrm>
          <a:custGeom>
            <a:avLst/>
            <a:gdLst/>
            <a:ahLst/>
            <a:cxnLst/>
            <a:rect l="l" t="t" r="r" b="b"/>
            <a:pathLst>
              <a:path w="3619500" h="1066800">
                <a:moveTo>
                  <a:pt x="50801" y="0"/>
                </a:moveTo>
                <a:lnTo>
                  <a:pt x="3568699" y="0"/>
                </a:lnTo>
                <a:cubicBezTo>
                  <a:pt x="3596756" y="0"/>
                  <a:pt x="3619500" y="22744"/>
                  <a:pt x="3619500" y="50801"/>
                </a:cubicBezTo>
                <a:lnTo>
                  <a:pt x="3619500" y="1015999"/>
                </a:lnTo>
                <a:cubicBezTo>
                  <a:pt x="3619500" y="1044056"/>
                  <a:pt x="3596756" y="1066800"/>
                  <a:pt x="35686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495800" y="65913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46600" y="70993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Errores promedio por racha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04200" y="6438900"/>
            <a:ext cx="3619500" cy="1066800"/>
          </a:xfrm>
          <a:custGeom>
            <a:avLst/>
            <a:gdLst/>
            <a:ahLst/>
            <a:cxnLst/>
            <a:rect l="l" t="t" r="r" b="b"/>
            <a:pathLst>
              <a:path w="3619500" h="1066800">
                <a:moveTo>
                  <a:pt x="50801" y="0"/>
                </a:moveTo>
                <a:lnTo>
                  <a:pt x="3568699" y="0"/>
                </a:lnTo>
                <a:cubicBezTo>
                  <a:pt x="3596756" y="0"/>
                  <a:pt x="3619500" y="22744"/>
                  <a:pt x="3619500" y="50801"/>
                </a:cubicBezTo>
                <a:lnTo>
                  <a:pt x="3619500" y="1015999"/>
                </a:lnTo>
                <a:cubicBezTo>
                  <a:pt x="3619500" y="1044056"/>
                  <a:pt x="3596756" y="1066800"/>
                  <a:pt x="35686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61350" y="65913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68%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12150" y="70993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Rachas precedidas por time_pressure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969750" y="6438900"/>
            <a:ext cx="3619500" cy="1066800"/>
          </a:xfrm>
          <a:custGeom>
            <a:avLst/>
            <a:gdLst/>
            <a:ahLst/>
            <a:cxnLst/>
            <a:rect l="l" t="t" r="r" b="b"/>
            <a:pathLst>
              <a:path w="3619500" h="1066800">
                <a:moveTo>
                  <a:pt x="50801" y="0"/>
                </a:moveTo>
                <a:lnTo>
                  <a:pt x="3568699" y="0"/>
                </a:lnTo>
                <a:cubicBezTo>
                  <a:pt x="3596756" y="0"/>
                  <a:pt x="3619500" y="22744"/>
                  <a:pt x="3619500" y="50801"/>
                </a:cubicBezTo>
                <a:lnTo>
                  <a:pt x="3619500" y="1015999"/>
                </a:lnTo>
                <a:cubicBezTo>
                  <a:pt x="3619500" y="1044056"/>
                  <a:pt x="3596756" y="1066800"/>
                  <a:pt x="35686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2026900" y="65913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077700" y="70993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Rachas en endgame phase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14350" y="7778750"/>
            <a:ext cx="15227300" cy="1130300"/>
          </a:xfrm>
          <a:custGeom>
            <a:avLst/>
            <a:gdLst/>
            <a:ahLst/>
            <a:cxnLst/>
            <a:rect l="l" t="t" r="r" b="b"/>
            <a:pathLst>
              <a:path w="15227300" h="1130300">
                <a:moveTo>
                  <a:pt x="101603" y="0"/>
                </a:moveTo>
                <a:lnTo>
                  <a:pt x="15125697" y="0"/>
                </a:lnTo>
                <a:cubicBezTo>
                  <a:pt x="15181811" y="0"/>
                  <a:pt x="15227300" y="45489"/>
                  <a:pt x="15227300" y="101603"/>
                </a:cubicBezTo>
                <a:lnTo>
                  <a:pt x="15227300" y="1028697"/>
                </a:lnTo>
                <a:cubicBezTo>
                  <a:pt x="15227300" y="1084811"/>
                  <a:pt x="15181811" y="1130300"/>
                  <a:pt x="151256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1350" y="819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1068784" y="7937500"/>
            <a:ext cx="1461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 Clave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68784" y="8242300"/>
            <a:ext cx="146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features temporales capturan información que los features estáticos no pueden: el contexto histórico de una jugada es tan importante como la posición actual. Un error no ocurre en aislamiento, sino que frecuentemente precede a más errores debido a la presión psicológica.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344977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4 - Player Clustering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Segmentación de Jugadores con K-Means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4635500"/>
          </a:xfrm>
          <a:custGeom>
            <a:avLst/>
            <a:gdLst/>
            <a:ahLst/>
            <a:cxnLst/>
            <a:rect l="l" t="t" r="r" b="b"/>
            <a:pathLst>
              <a:path w="7531100" h="4635500">
                <a:moveTo>
                  <a:pt x="101610" y="0"/>
                </a:moveTo>
                <a:lnTo>
                  <a:pt x="7429490" y="0"/>
                </a:lnTo>
                <a:cubicBezTo>
                  <a:pt x="7485608" y="0"/>
                  <a:pt x="7531100" y="45492"/>
                  <a:pt x="7531100" y="101610"/>
                </a:cubicBezTo>
                <a:lnTo>
                  <a:pt x="7531100" y="4533890"/>
                </a:lnTo>
                <a:cubicBezTo>
                  <a:pt x="7531100" y="4590008"/>
                  <a:pt x="7485608" y="4635500"/>
                  <a:pt x="7429490" y="4635500"/>
                </a:cubicBezTo>
                <a:lnTo>
                  <a:pt x="101610" y="4635500"/>
                </a:lnTo>
                <a:cubicBezTo>
                  <a:pt x="45492" y="4635500"/>
                  <a:pt x="0" y="4590008"/>
                  <a:pt x="0" y="45338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Metodología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97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41309" y="2273300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1900" y="2146300"/>
            <a:ext cx="346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Preprocesamiento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1900" y="2451100"/>
            <a:ext cx="345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StandardScaler obligatorio para K-Means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31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26294" y="29337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1900" y="28067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 de Dimensionalidad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1900" y="3111500"/>
            <a:ext cx="398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PCA: 4 componentes (72.3% varianza explicada)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3100" y="35179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3979" y="35941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1900" y="3467100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Selección de 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1900" y="37719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Método del codo + Silhouette score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100" y="4178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824177" y="42545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1900" y="4127500"/>
            <a:ext cx="237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900" y="4432300"/>
            <a:ext cx="236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 con K=2, n_init=10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0550" y="1530350"/>
            <a:ext cx="7531100" cy="4635500"/>
          </a:xfrm>
          <a:custGeom>
            <a:avLst/>
            <a:gdLst/>
            <a:ahLst/>
            <a:cxnLst/>
            <a:rect l="l" t="t" r="r" b="b"/>
            <a:pathLst>
              <a:path w="7531100" h="4635500">
                <a:moveTo>
                  <a:pt x="101610" y="0"/>
                </a:moveTo>
                <a:lnTo>
                  <a:pt x="7429490" y="0"/>
                </a:lnTo>
                <a:cubicBezTo>
                  <a:pt x="7485608" y="0"/>
                  <a:pt x="7531100" y="45492"/>
                  <a:pt x="7531100" y="101610"/>
                </a:cubicBezTo>
                <a:lnTo>
                  <a:pt x="7531100" y="4533890"/>
                </a:lnTo>
                <a:cubicBezTo>
                  <a:pt x="7531100" y="4590008"/>
                  <a:pt x="7485608" y="4635500"/>
                  <a:pt x="7429490" y="4635500"/>
                </a:cubicBezTo>
                <a:lnTo>
                  <a:pt x="101610" y="4635500"/>
                </a:lnTo>
                <a:cubicBezTo>
                  <a:pt x="45492" y="4635500"/>
                  <a:pt x="0" y="4590008"/>
                  <a:pt x="0" y="45338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de Comportamiento (7)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69300" y="2146300"/>
            <a:ext cx="7213600" cy="508000"/>
          </a:xfrm>
          <a:custGeom>
            <a:avLst/>
            <a:gdLst/>
            <a:ahLst/>
            <a:cxnLst/>
            <a:rect l="l" t="t" r="r" b="b"/>
            <a:pathLst>
              <a:path w="7213600" h="5080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457200"/>
                </a:lnTo>
                <a:cubicBezTo>
                  <a:pt x="7213600" y="485237"/>
                  <a:pt x="7190837" y="508000"/>
                  <a:pt x="7162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470900" y="22479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standardized_elo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240000" y="22987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9300" y="2705100"/>
            <a:ext cx="7213600" cy="508000"/>
          </a:xfrm>
          <a:custGeom>
            <a:avLst/>
            <a:gdLst/>
            <a:ahLst/>
            <a:cxnLst/>
            <a:rect l="l" t="t" r="r" b="b"/>
            <a:pathLst>
              <a:path w="7213600" h="5080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457200"/>
                </a:lnTo>
                <a:cubicBezTo>
                  <a:pt x="7213600" y="485237"/>
                  <a:pt x="7190837" y="508000"/>
                  <a:pt x="7162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470900" y="2806700"/>
            <a:ext cx="128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blunder_rate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5252700" y="2857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9300" y="3263900"/>
            <a:ext cx="7213600" cy="508000"/>
          </a:xfrm>
          <a:custGeom>
            <a:avLst/>
            <a:gdLst/>
            <a:ahLst/>
            <a:cxnLst/>
            <a:rect l="l" t="t" r="r" b="b"/>
            <a:pathLst>
              <a:path w="7213600" h="5080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457200"/>
                </a:lnTo>
                <a:cubicBezTo>
                  <a:pt x="7213600" y="485237"/>
                  <a:pt x="7190837" y="508000"/>
                  <a:pt x="7162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70900" y="3365500"/>
            <a:ext cx="128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mistake_rate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5252700" y="3416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9300" y="3822700"/>
            <a:ext cx="7213600" cy="508000"/>
          </a:xfrm>
          <a:custGeom>
            <a:avLst/>
            <a:gdLst/>
            <a:ahLst/>
            <a:cxnLst/>
            <a:rect l="l" t="t" r="r" b="b"/>
            <a:pathLst>
              <a:path w="7213600" h="5080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457200"/>
                </a:lnTo>
                <a:cubicBezTo>
                  <a:pt x="7213600" y="485237"/>
                  <a:pt x="7190837" y="508000"/>
                  <a:pt x="7162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470900" y="3924300"/>
            <a:ext cx="156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inaccuracy_rate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5252700" y="397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675" y="92075"/>
                </a:moveTo>
                <a:lnTo>
                  <a:pt x="136525" y="92075"/>
                </a:lnTo>
                <a:cubicBezTo>
                  <a:pt x="141803" y="92075"/>
                  <a:pt x="146050" y="96322"/>
                  <a:pt x="146050" y="101600"/>
                </a:cubicBezTo>
                <a:cubicBezTo>
                  <a:pt x="146050" y="106878"/>
                  <a:pt x="141803" y="111125"/>
                  <a:pt x="136525" y="111125"/>
                </a:cubicBezTo>
                <a:lnTo>
                  <a:pt x="66675" y="111125"/>
                </a:lnTo>
                <a:cubicBezTo>
                  <a:pt x="61397" y="111125"/>
                  <a:pt x="57150" y="106878"/>
                  <a:pt x="57150" y="101600"/>
                </a:cubicBezTo>
                <a:cubicBezTo>
                  <a:pt x="57150" y="96322"/>
                  <a:pt x="61397" y="92075"/>
                  <a:pt x="66675" y="920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8369300" y="4381500"/>
            <a:ext cx="7213600" cy="508000"/>
          </a:xfrm>
          <a:custGeom>
            <a:avLst/>
            <a:gdLst/>
            <a:ahLst/>
            <a:cxnLst/>
            <a:rect l="l" t="t" r="r" b="b"/>
            <a:pathLst>
              <a:path w="7213600" h="5080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457200"/>
                </a:lnTo>
                <a:cubicBezTo>
                  <a:pt x="7213600" y="485237"/>
                  <a:pt x="7190837" y="508000"/>
                  <a:pt x="7162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470900" y="4483100"/>
            <a:ext cx="153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avg_complexity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252700" y="4533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31750"/>
                </a:moveTo>
                <a:cubicBezTo>
                  <a:pt x="0" y="21233"/>
                  <a:pt x="8533" y="12700"/>
                  <a:pt x="19050" y="12700"/>
                </a:cubicBezTo>
                <a:lnTo>
                  <a:pt x="57150" y="12700"/>
                </a:lnTo>
                <a:cubicBezTo>
                  <a:pt x="67667" y="12700"/>
                  <a:pt x="76200" y="21233"/>
                  <a:pt x="76200" y="31750"/>
                </a:cubicBezTo>
                <a:lnTo>
                  <a:pt x="76200" y="38100"/>
                </a:lnTo>
                <a:lnTo>
                  <a:pt x="127000" y="38100"/>
                </a:lnTo>
                <a:lnTo>
                  <a:pt x="127000" y="31750"/>
                </a:lnTo>
                <a:cubicBezTo>
                  <a:pt x="127000" y="21233"/>
                  <a:pt x="135533" y="12700"/>
                  <a:pt x="14605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69850"/>
                </a:lnTo>
                <a:cubicBezTo>
                  <a:pt x="203200" y="80367"/>
                  <a:pt x="194667" y="88900"/>
                  <a:pt x="184150" y="88900"/>
                </a:cubicBezTo>
                <a:lnTo>
                  <a:pt x="146050" y="88900"/>
                </a:lnTo>
                <a:cubicBezTo>
                  <a:pt x="135533" y="88900"/>
                  <a:pt x="127000" y="80367"/>
                  <a:pt x="127000" y="69850"/>
                </a:cubicBezTo>
                <a:lnTo>
                  <a:pt x="127000" y="63500"/>
                </a:lnTo>
                <a:lnTo>
                  <a:pt x="76200" y="63500"/>
                </a:lnTo>
                <a:lnTo>
                  <a:pt x="76200" y="69850"/>
                </a:lnTo>
                <a:cubicBezTo>
                  <a:pt x="76200" y="72747"/>
                  <a:pt x="75525" y="75525"/>
                  <a:pt x="74374" y="77986"/>
                </a:cubicBezTo>
                <a:lnTo>
                  <a:pt x="101600" y="114300"/>
                </a:lnTo>
                <a:lnTo>
                  <a:pt x="133350" y="114300"/>
                </a:lnTo>
                <a:cubicBezTo>
                  <a:pt x="143867" y="114300"/>
                  <a:pt x="152400" y="122833"/>
                  <a:pt x="152400" y="133350"/>
                </a:cubicBezTo>
                <a:lnTo>
                  <a:pt x="152400" y="171450"/>
                </a:lnTo>
                <a:cubicBezTo>
                  <a:pt x="152400" y="181967"/>
                  <a:pt x="143867" y="190500"/>
                  <a:pt x="133350" y="190500"/>
                </a:cubicBezTo>
                <a:lnTo>
                  <a:pt x="95250" y="190500"/>
                </a:lnTo>
                <a:cubicBezTo>
                  <a:pt x="84733" y="190500"/>
                  <a:pt x="76200" y="181967"/>
                  <a:pt x="76200" y="171450"/>
                </a:cubicBezTo>
                <a:lnTo>
                  <a:pt x="76200" y="133350"/>
                </a:lnTo>
                <a:cubicBezTo>
                  <a:pt x="76200" y="130453"/>
                  <a:pt x="76875" y="127675"/>
                  <a:pt x="78026" y="125214"/>
                </a:cubicBezTo>
                <a:lnTo>
                  <a:pt x="50800" y="88900"/>
                </a:lnTo>
                <a:lnTo>
                  <a:pt x="19050" y="88900"/>
                </a:lnTo>
                <a:cubicBezTo>
                  <a:pt x="8533" y="88900"/>
                  <a:pt x="0" y="80367"/>
                  <a:pt x="0" y="69850"/>
                </a:cubicBezTo>
                <a:lnTo>
                  <a:pt x="0" y="3175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Shape 37"/>
          <p:cNvSpPr/>
          <p:nvPr/>
        </p:nvSpPr>
        <p:spPr>
          <a:xfrm>
            <a:off x="8369300" y="4940300"/>
            <a:ext cx="7213600" cy="508000"/>
          </a:xfrm>
          <a:custGeom>
            <a:avLst/>
            <a:gdLst/>
            <a:ahLst/>
            <a:cxnLst/>
            <a:rect l="l" t="t" r="r" b="b"/>
            <a:pathLst>
              <a:path w="7213600" h="5080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457200"/>
                </a:lnTo>
                <a:cubicBezTo>
                  <a:pt x="7213600" y="485237"/>
                  <a:pt x="7190837" y="508000"/>
                  <a:pt x="7162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470900" y="50419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avg_time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5252700" y="5092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ubicBezTo>
                  <a:pt x="0" y="45525"/>
                  <a:pt x="45525" y="0"/>
                  <a:pt x="101600" y="0"/>
                </a:cubicBezTo>
                <a:close/>
                <a:moveTo>
                  <a:pt x="92075" y="47625"/>
                </a:moveTo>
                <a:lnTo>
                  <a:pt x="92075" y="101600"/>
                </a:lnTo>
                <a:cubicBezTo>
                  <a:pt x="92075" y="104775"/>
                  <a:pt x="93663" y="107752"/>
                  <a:pt x="96322" y="109538"/>
                </a:cubicBezTo>
                <a:lnTo>
                  <a:pt x="134422" y="134938"/>
                </a:lnTo>
                <a:cubicBezTo>
                  <a:pt x="138787" y="137874"/>
                  <a:pt x="144701" y="136684"/>
                  <a:pt x="147638" y="132278"/>
                </a:cubicBezTo>
                <a:cubicBezTo>
                  <a:pt x="150574" y="127873"/>
                  <a:pt x="149384" y="121999"/>
                  <a:pt x="144978" y="119063"/>
                </a:cubicBezTo>
                <a:lnTo>
                  <a:pt x="111125" y="96520"/>
                </a:lnTo>
                <a:lnTo>
                  <a:pt x="111125" y="47625"/>
                </a:lnTo>
                <a:cubicBezTo>
                  <a:pt x="111125" y="42347"/>
                  <a:pt x="106878" y="38100"/>
                  <a:pt x="101600" y="38100"/>
                </a:cubicBezTo>
                <a:cubicBezTo>
                  <a:pt x="96322" y="38100"/>
                  <a:pt x="92075" y="42347"/>
                  <a:pt x="92075" y="4762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2" name="Shape 40"/>
          <p:cNvSpPr/>
          <p:nvPr/>
        </p:nvSpPr>
        <p:spPr>
          <a:xfrm>
            <a:off x="8369300" y="5499100"/>
            <a:ext cx="7213600" cy="508000"/>
          </a:xfrm>
          <a:custGeom>
            <a:avLst/>
            <a:gdLst/>
            <a:ahLst/>
            <a:cxnLst/>
            <a:rect l="l" t="t" r="r" b="b"/>
            <a:pathLst>
              <a:path w="7213600" h="5080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457200"/>
                </a:lnTo>
                <a:cubicBezTo>
                  <a:pt x="7213600" y="485237"/>
                  <a:pt x="7190837" y="508000"/>
                  <a:pt x="7162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70900" y="560070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score_volatility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5252700" y="5651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25400" y="18375"/>
                  <a:pt x="19725" y="12700"/>
                  <a:pt x="12700" y="12700"/>
                </a:cubicBezTo>
                <a:cubicBezTo>
                  <a:pt x="5675" y="12700"/>
                  <a:pt x="0" y="18375"/>
                  <a:pt x="0" y="25400"/>
                </a:cubicBezTo>
                <a:lnTo>
                  <a:pt x="0" y="158750"/>
                </a:lnTo>
                <a:cubicBezTo>
                  <a:pt x="0" y="176292"/>
                  <a:pt x="14208" y="190500"/>
                  <a:pt x="31750" y="190500"/>
                </a:cubicBezTo>
                <a:lnTo>
                  <a:pt x="190500" y="190500"/>
                </a:lnTo>
                <a:cubicBezTo>
                  <a:pt x="197525" y="190500"/>
                  <a:pt x="203200" y="184825"/>
                  <a:pt x="203200" y="177800"/>
                </a:cubicBezTo>
                <a:cubicBezTo>
                  <a:pt x="203200" y="170775"/>
                  <a:pt x="197525" y="165100"/>
                  <a:pt x="190500" y="165100"/>
                </a:cubicBezTo>
                <a:lnTo>
                  <a:pt x="31750" y="165100"/>
                </a:lnTo>
                <a:cubicBezTo>
                  <a:pt x="28258" y="165100"/>
                  <a:pt x="25400" y="162243"/>
                  <a:pt x="25400" y="158750"/>
                </a:cubicBezTo>
                <a:lnTo>
                  <a:pt x="25400" y="25400"/>
                </a:lnTo>
                <a:close/>
                <a:moveTo>
                  <a:pt x="186769" y="59769"/>
                </a:moveTo>
                <a:cubicBezTo>
                  <a:pt x="191730" y="54808"/>
                  <a:pt x="191730" y="46752"/>
                  <a:pt x="186769" y="41791"/>
                </a:cubicBezTo>
                <a:cubicBezTo>
                  <a:pt x="181808" y="36830"/>
                  <a:pt x="173752" y="36830"/>
                  <a:pt x="168791" y="41791"/>
                </a:cubicBezTo>
                <a:lnTo>
                  <a:pt x="127000" y="83622"/>
                </a:lnTo>
                <a:lnTo>
                  <a:pt x="104219" y="60881"/>
                </a:lnTo>
                <a:cubicBezTo>
                  <a:pt x="99258" y="55920"/>
                  <a:pt x="91202" y="55920"/>
                  <a:pt x="86241" y="60881"/>
                </a:cubicBezTo>
                <a:lnTo>
                  <a:pt x="48141" y="98981"/>
                </a:lnTo>
                <a:cubicBezTo>
                  <a:pt x="43180" y="103942"/>
                  <a:pt x="43180" y="111998"/>
                  <a:pt x="48141" y="116959"/>
                </a:cubicBezTo>
                <a:cubicBezTo>
                  <a:pt x="53102" y="121920"/>
                  <a:pt x="61158" y="121920"/>
                  <a:pt x="66119" y="116959"/>
                </a:cubicBezTo>
                <a:lnTo>
                  <a:pt x="95250" y="87828"/>
                </a:lnTo>
                <a:lnTo>
                  <a:pt x="118031" y="110609"/>
                </a:lnTo>
                <a:cubicBezTo>
                  <a:pt x="122992" y="115570"/>
                  <a:pt x="131048" y="115570"/>
                  <a:pt x="136009" y="110609"/>
                </a:cubicBezTo>
                <a:lnTo>
                  <a:pt x="186809" y="5980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5" name="Shape 43"/>
          <p:cNvSpPr/>
          <p:nvPr/>
        </p:nvSpPr>
        <p:spPr>
          <a:xfrm>
            <a:off x="520700" y="6286500"/>
            <a:ext cx="7518400" cy="2209800"/>
          </a:xfrm>
          <a:custGeom>
            <a:avLst/>
            <a:gdLst/>
            <a:ahLst/>
            <a:cxnLst/>
            <a:rect l="l" t="t" r="r" b="b"/>
            <a:pathLst>
              <a:path w="7518400" h="2209800">
                <a:moveTo>
                  <a:pt x="101607" y="0"/>
                </a:moveTo>
                <a:lnTo>
                  <a:pt x="7416793" y="0"/>
                </a:lnTo>
                <a:cubicBezTo>
                  <a:pt x="7472909" y="0"/>
                  <a:pt x="7518400" y="45491"/>
                  <a:pt x="7518400" y="101607"/>
                </a:cubicBezTo>
                <a:lnTo>
                  <a:pt x="7518400" y="2108193"/>
                </a:lnTo>
                <a:cubicBezTo>
                  <a:pt x="7518400" y="2164309"/>
                  <a:pt x="7472909" y="2209800"/>
                  <a:pt x="7416793" y="2209800"/>
                </a:cubicBezTo>
                <a:lnTo>
                  <a:pt x="101607" y="2209800"/>
                </a:lnTo>
                <a:cubicBezTo>
                  <a:pt x="45491" y="2209800"/>
                  <a:pt x="0" y="2164309"/>
                  <a:pt x="0" y="21081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30000"/>
                </a:srgbClr>
              </a:gs>
              <a:gs pos="100000">
                <a:srgbClr val="4A6C8C">
                  <a:alpha val="10000"/>
                </a:srgbClr>
              </a:gs>
            </a:gsLst>
            <a:lin ang="2700000" scaled="1"/>
          </a:gradFill>
          <a:ln w="25400">
            <a:solidFill>
              <a:srgbClr val="4A6C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645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7" name="Shape 45"/>
          <p:cNvSpPr/>
          <p:nvPr/>
        </p:nvSpPr>
        <p:spPr>
          <a:xfrm>
            <a:off x="863600" y="6629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EDF2F4"/>
          </a:solidFill>
          <a:ln/>
        </p:spPr>
      </p:sp>
      <p:sp>
        <p:nvSpPr>
          <p:cNvPr id="48" name="Text 46"/>
          <p:cNvSpPr/>
          <p:nvPr/>
        </p:nvSpPr>
        <p:spPr>
          <a:xfrm>
            <a:off x="1447800" y="6451600"/>
            <a:ext cx="240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0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47800" y="6807200"/>
            <a:ext cx="236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Safe &amp; Solid Players (42.7%)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" y="7162800"/>
            <a:ext cx="99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 Rate: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377047" y="7162800"/>
            <a:ext cx="58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75.5%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5800" y="7467600"/>
            <a:ext cx="119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 Rate: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63764" y="7467600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5.0%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5800" y="7772400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 Volatility: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48563" y="7772400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31.4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5800" y="80772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Estilo: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37231" y="8077200"/>
            <a:ext cx="113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Conservador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16900" y="6286500"/>
            <a:ext cx="7518400" cy="2209800"/>
          </a:xfrm>
          <a:custGeom>
            <a:avLst/>
            <a:gdLst/>
            <a:ahLst/>
            <a:cxnLst/>
            <a:rect l="l" t="t" r="r" b="b"/>
            <a:pathLst>
              <a:path w="7518400" h="2209800">
                <a:moveTo>
                  <a:pt x="101607" y="0"/>
                </a:moveTo>
                <a:lnTo>
                  <a:pt x="7416793" y="0"/>
                </a:lnTo>
                <a:cubicBezTo>
                  <a:pt x="7472909" y="0"/>
                  <a:pt x="7518400" y="45491"/>
                  <a:pt x="7518400" y="101607"/>
                </a:cubicBezTo>
                <a:lnTo>
                  <a:pt x="7518400" y="2108193"/>
                </a:lnTo>
                <a:cubicBezTo>
                  <a:pt x="7518400" y="2164309"/>
                  <a:pt x="7472909" y="2209800"/>
                  <a:pt x="7416793" y="2209800"/>
                </a:cubicBezTo>
                <a:lnTo>
                  <a:pt x="101607" y="2209800"/>
                </a:lnTo>
                <a:cubicBezTo>
                  <a:pt x="45491" y="2209800"/>
                  <a:pt x="0" y="2164309"/>
                  <a:pt x="0" y="21081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25400">
            <a:solidFill>
              <a:srgbClr val="C9A22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82000" y="645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0" name="Shape 58"/>
          <p:cNvSpPr/>
          <p:nvPr/>
        </p:nvSpPr>
        <p:spPr>
          <a:xfrm>
            <a:off x="8575675" y="6629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1" name="Text 59"/>
          <p:cNvSpPr/>
          <p:nvPr/>
        </p:nvSpPr>
        <p:spPr>
          <a:xfrm>
            <a:off x="9144000" y="6451600"/>
            <a:ext cx="250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 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144000" y="6807200"/>
            <a:ext cx="246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Aggressive &amp; Volatile (57.3%)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82000" y="7162800"/>
            <a:ext cx="99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 Rate: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5060084" y="7162800"/>
            <a:ext cx="59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65.3%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82000" y="7467600"/>
            <a:ext cx="119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 Rate: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5098978" y="7467600"/>
            <a:ext cx="55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14.3%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82000" y="7772400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Score Volatility: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5236627" y="7772400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81.5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382000" y="80772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Estilo: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4685104" y="80772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Arriesgado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14350" y="8616950"/>
            <a:ext cx="15227300" cy="1130300"/>
          </a:xfrm>
          <a:custGeom>
            <a:avLst/>
            <a:gdLst/>
            <a:ahLst/>
            <a:cxnLst/>
            <a:rect l="l" t="t" r="r" b="b"/>
            <a:pathLst>
              <a:path w="15227300" h="1130300">
                <a:moveTo>
                  <a:pt x="101603" y="0"/>
                </a:moveTo>
                <a:lnTo>
                  <a:pt x="15125697" y="0"/>
                </a:lnTo>
                <a:cubicBezTo>
                  <a:pt x="15181811" y="0"/>
                  <a:pt x="15227300" y="45489"/>
                  <a:pt x="15227300" y="101603"/>
                </a:cubicBezTo>
                <a:lnTo>
                  <a:pt x="15227300" y="1028697"/>
                </a:lnTo>
                <a:cubicBezTo>
                  <a:pt x="15227300" y="1084811"/>
                  <a:pt x="15181811" y="1130300"/>
                  <a:pt x="151256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2150" y="9029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3" name="Text 71"/>
          <p:cNvSpPr/>
          <p:nvPr/>
        </p:nvSpPr>
        <p:spPr>
          <a:xfrm>
            <a:off x="1173163" y="8775700"/>
            <a:ext cx="1451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 Comerciales Validadas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73163" y="9080500"/>
            <a:ext cx="1450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Personalización de entrenamiento por cluster • Tracking de progreso mediante migración entre clusters • Modelado de oponentes • Diseño de currículum enfocado en debilidades del cluster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82799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5 - LSTM Perfect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Perfección Absoluta: F1=1.0000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536700"/>
            <a:ext cx="4953000" cy="3149600"/>
          </a:xfrm>
          <a:custGeom>
            <a:avLst/>
            <a:gdLst/>
            <a:ahLst/>
            <a:cxnLst/>
            <a:rect l="l" t="t" r="r" b="b"/>
            <a:pathLst>
              <a:path w="4953000" h="3149600">
                <a:moveTo>
                  <a:pt x="101606" y="0"/>
                </a:moveTo>
                <a:lnTo>
                  <a:pt x="4851394" y="0"/>
                </a:lnTo>
                <a:cubicBezTo>
                  <a:pt x="4907509" y="0"/>
                  <a:pt x="4953000" y="45491"/>
                  <a:pt x="4953000" y="101606"/>
                </a:cubicBezTo>
                <a:lnTo>
                  <a:pt x="4953000" y="3047994"/>
                </a:lnTo>
                <a:cubicBezTo>
                  <a:pt x="4953000" y="3104109"/>
                  <a:pt x="4907509" y="3149600"/>
                  <a:pt x="4851394" y="3149600"/>
                </a:cubicBezTo>
                <a:lnTo>
                  <a:pt x="101606" y="3149600"/>
                </a:lnTo>
                <a:cubicBezTo>
                  <a:pt x="45491" y="3149600"/>
                  <a:pt x="0" y="3104109"/>
                  <a:pt x="0" y="30479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30000"/>
                </a:srgbClr>
              </a:gs>
              <a:gs pos="100000">
                <a:srgbClr val="C9A227">
                  <a:alpha val="10000"/>
                </a:srgbClr>
              </a:gs>
            </a:gsLst>
            <a:lin ang="2700000" scaled="1"/>
          </a:gra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701800"/>
            <a:ext cx="492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8650" y="2311400"/>
            <a:ext cx="473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Macro 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768600"/>
            <a:ext cx="88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11700" y="27686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100.0%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0734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97078" y="30734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37820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Negatives: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97078" y="33782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5150" y="1530350"/>
            <a:ext cx="4965700" cy="3162300"/>
          </a:xfrm>
          <a:custGeom>
            <a:avLst/>
            <a:gdLst/>
            <a:ahLst/>
            <a:cxnLst/>
            <a:rect l="l" t="t" r="r" b="b"/>
            <a:pathLst>
              <a:path w="4965700" h="3162300">
                <a:moveTo>
                  <a:pt x="101605" y="0"/>
                </a:moveTo>
                <a:lnTo>
                  <a:pt x="4864095" y="0"/>
                </a:lnTo>
                <a:cubicBezTo>
                  <a:pt x="4920210" y="0"/>
                  <a:pt x="4965700" y="45490"/>
                  <a:pt x="4965700" y="101605"/>
                </a:cubicBezTo>
                <a:lnTo>
                  <a:pt x="4965700" y="3060695"/>
                </a:lnTo>
                <a:cubicBezTo>
                  <a:pt x="4965700" y="3116810"/>
                  <a:pt x="4920210" y="3162300"/>
                  <a:pt x="4864095" y="3162300"/>
                </a:cubicBezTo>
                <a:lnTo>
                  <a:pt x="101605" y="3162300"/>
                </a:lnTo>
                <a:cubicBezTo>
                  <a:pt x="45490" y="3162300"/>
                  <a:pt x="0" y="3116810"/>
                  <a:pt x="0" y="3060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3900" y="1689100"/>
            <a:ext cx="476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Per-Class Performance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03900" y="2146300"/>
            <a:ext cx="4648200" cy="558800"/>
          </a:xfrm>
          <a:custGeom>
            <a:avLst/>
            <a:gdLst/>
            <a:ahLst/>
            <a:cxnLst/>
            <a:rect l="l" t="t" r="r" b="b"/>
            <a:pathLst>
              <a:path w="4648200" h="558800">
                <a:moveTo>
                  <a:pt x="50801" y="0"/>
                </a:moveTo>
                <a:lnTo>
                  <a:pt x="4597399" y="0"/>
                </a:lnTo>
                <a:cubicBezTo>
                  <a:pt x="4625456" y="0"/>
                  <a:pt x="4648200" y="22744"/>
                  <a:pt x="4648200" y="50801"/>
                </a:cubicBezTo>
                <a:lnTo>
                  <a:pt x="4648200" y="507999"/>
                </a:lnTo>
                <a:cubicBezTo>
                  <a:pt x="4648200" y="536056"/>
                  <a:pt x="4625456" y="558800"/>
                  <a:pt x="45973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05500" y="22733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blunder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46828" y="2247900"/>
            <a:ext cx="92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3900" y="2755900"/>
            <a:ext cx="4648200" cy="558800"/>
          </a:xfrm>
          <a:custGeom>
            <a:avLst/>
            <a:gdLst/>
            <a:ahLst/>
            <a:cxnLst/>
            <a:rect l="l" t="t" r="r" b="b"/>
            <a:pathLst>
              <a:path w="4648200" h="558800">
                <a:moveTo>
                  <a:pt x="50801" y="0"/>
                </a:moveTo>
                <a:lnTo>
                  <a:pt x="4597399" y="0"/>
                </a:lnTo>
                <a:cubicBezTo>
                  <a:pt x="4625456" y="0"/>
                  <a:pt x="4648200" y="22744"/>
                  <a:pt x="4648200" y="50801"/>
                </a:cubicBezTo>
                <a:lnTo>
                  <a:pt x="4648200" y="507999"/>
                </a:lnTo>
                <a:cubicBezTo>
                  <a:pt x="4648200" y="536056"/>
                  <a:pt x="4625456" y="558800"/>
                  <a:pt x="45973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05500" y="2882900"/>
            <a:ext cx="57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46828" y="2857500"/>
            <a:ext cx="92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03900" y="3365500"/>
            <a:ext cx="4648200" cy="558800"/>
          </a:xfrm>
          <a:custGeom>
            <a:avLst/>
            <a:gdLst/>
            <a:ahLst/>
            <a:cxnLst/>
            <a:rect l="l" t="t" r="r" b="b"/>
            <a:pathLst>
              <a:path w="4648200" h="558800">
                <a:moveTo>
                  <a:pt x="50801" y="0"/>
                </a:moveTo>
                <a:lnTo>
                  <a:pt x="4597399" y="0"/>
                </a:lnTo>
                <a:cubicBezTo>
                  <a:pt x="4625456" y="0"/>
                  <a:pt x="4648200" y="22744"/>
                  <a:pt x="4648200" y="50801"/>
                </a:cubicBezTo>
                <a:lnTo>
                  <a:pt x="4648200" y="507999"/>
                </a:lnTo>
                <a:cubicBezTo>
                  <a:pt x="4648200" y="536056"/>
                  <a:pt x="4625456" y="558800"/>
                  <a:pt x="45973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05500" y="3492500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inaccuracy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46828" y="3467100"/>
            <a:ext cx="92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03900" y="3975100"/>
            <a:ext cx="4648200" cy="558800"/>
          </a:xfrm>
          <a:custGeom>
            <a:avLst/>
            <a:gdLst/>
            <a:ahLst/>
            <a:cxnLst/>
            <a:rect l="l" t="t" r="r" b="b"/>
            <a:pathLst>
              <a:path w="4648200" h="558800">
                <a:moveTo>
                  <a:pt x="50801" y="0"/>
                </a:moveTo>
                <a:lnTo>
                  <a:pt x="4597399" y="0"/>
                </a:lnTo>
                <a:cubicBezTo>
                  <a:pt x="4625456" y="0"/>
                  <a:pt x="4648200" y="22744"/>
                  <a:pt x="4648200" y="50801"/>
                </a:cubicBezTo>
                <a:lnTo>
                  <a:pt x="4648200" y="507999"/>
                </a:lnTo>
                <a:cubicBezTo>
                  <a:pt x="4648200" y="536056"/>
                  <a:pt x="4625456" y="558800"/>
                  <a:pt x="45973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05500" y="41021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mistake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46828" y="4076700"/>
            <a:ext cx="92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1.0000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75950" y="1530350"/>
            <a:ext cx="4965700" cy="3162300"/>
          </a:xfrm>
          <a:custGeom>
            <a:avLst/>
            <a:gdLst/>
            <a:ahLst/>
            <a:cxnLst/>
            <a:rect l="l" t="t" r="r" b="b"/>
            <a:pathLst>
              <a:path w="4965700" h="3162300">
                <a:moveTo>
                  <a:pt x="101605" y="0"/>
                </a:moveTo>
                <a:lnTo>
                  <a:pt x="4864095" y="0"/>
                </a:lnTo>
                <a:cubicBezTo>
                  <a:pt x="4920210" y="0"/>
                  <a:pt x="4965700" y="45490"/>
                  <a:pt x="4965700" y="101605"/>
                </a:cubicBezTo>
                <a:lnTo>
                  <a:pt x="4965700" y="3060695"/>
                </a:lnTo>
                <a:cubicBezTo>
                  <a:pt x="4965700" y="3116810"/>
                  <a:pt x="4920210" y="3162300"/>
                  <a:pt x="4864095" y="3162300"/>
                </a:cubicBezTo>
                <a:lnTo>
                  <a:pt x="101605" y="3162300"/>
                </a:lnTo>
                <a:cubicBezTo>
                  <a:pt x="45490" y="3162300"/>
                  <a:pt x="0" y="3116810"/>
                  <a:pt x="0" y="3060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34700" y="1689100"/>
            <a:ext cx="476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Comparación vs Industria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934700" y="2146300"/>
            <a:ext cx="4648200" cy="711200"/>
          </a:xfrm>
          <a:custGeom>
            <a:avLst/>
            <a:gdLst/>
            <a:ahLst/>
            <a:cxnLst/>
            <a:rect l="l" t="t" r="r" b="b"/>
            <a:pathLst>
              <a:path w="4648200" h="711200">
                <a:moveTo>
                  <a:pt x="50801" y="0"/>
                </a:moveTo>
                <a:lnTo>
                  <a:pt x="4597399" y="0"/>
                </a:lnTo>
                <a:cubicBezTo>
                  <a:pt x="4625456" y="0"/>
                  <a:pt x="4648200" y="22744"/>
                  <a:pt x="4648200" y="50801"/>
                </a:cubicBezTo>
                <a:lnTo>
                  <a:pt x="4648200" y="660399"/>
                </a:lnTo>
                <a:cubicBezTo>
                  <a:pt x="4648200" y="688456"/>
                  <a:pt x="4625456" y="711200"/>
                  <a:pt x="4597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036300" y="2298700"/>
            <a:ext cx="179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Engines Comerciales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521591" y="2247900"/>
            <a:ext cx="107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~95-98%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036300" y="2654300"/>
            <a:ext cx="4445000" cy="101600"/>
          </a:xfrm>
          <a:custGeom>
            <a:avLst/>
            <a:gdLst/>
            <a:ahLst/>
            <a:cxnLst/>
            <a:rect l="l" t="t" r="r" b="b"/>
            <a:pathLst>
              <a:path w="4445000" h="101600">
                <a:moveTo>
                  <a:pt x="50800" y="0"/>
                </a:moveTo>
                <a:lnTo>
                  <a:pt x="4394200" y="0"/>
                </a:lnTo>
                <a:cubicBezTo>
                  <a:pt x="4422237" y="0"/>
                  <a:pt x="4445000" y="22763"/>
                  <a:pt x="4445000" y="50800"/>
                </a:cubicBezTo>
                <a:lnTo>
                  <a:pt x="4445000" y="50800"/>
                </a:lnTo>
                <a:cubicBezTo>
                  <a:pt x="4445000" y="78837"/>
                  <a:pt x="4422237" y="101600"/>
                  <a:pt x="4394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36300" y="2654300"/>
            <a:ext cx="4267200" cy="101600"/>
          </a:xfrm>
          <a:custGeom>
            <a:avLst/>
            <a:gdLst/>
            <a:ahLst/>
            <a:cxnLst/>
            <a:rect l="l" t="t" r="r" b="b"/>
            <a:pathLst>
              <a:path w="4267200" h="101600">
                <a:moveTo>
                  <a:pt x="50800" y="0"/>
                </a:moveTo>
                <a:lnTo>
                  <a:pt x="4216400" y="0"/>
                </a:lnTo>
                <a:cubicBezTo>
                  <a:pt x="4244437" y="0"/>
                  <a:pt x="4267200" y="22763"/>
                  <a:pt x="4267200" y="50800"/>
                </a:cubicBezTo>
                <a:lnTo>
                  <a:pt x="4267200" y="50800"/>
                </a:lnTo>
                <a:cubicBezTo>
                  <a:pt x="4267200" y="78837"/>
                  <a:pt x="4244437" y="101600"/>
                  <a:pt x="4216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34700" y="2959100"/>
            <a:ext cx="4648200" cy="711200"/>
          </a:xfrm>
          <a:custGeom>
            <a:avLst/>
            <a:gdLst/>
            <a:ahLst/>
            <a:cxnLst/>
            <a:rect l="l" t="t" r="r" b="b"/>
            <a:pathLst>
              <a:path w="4648200" h="711200">
                <a:moveTo>
                  <a:pt x="50801" y="0"/>
                </a:moveTo>
                <a:lnTo>
                  <a:pt x="4597399" y="0"/>
                </a:lnTo>
                <a:cubicBezTo>
                  <a:pt x="4625456" y="0"/>
                  <a:pt x="4648200" y="22744"/>
                  <a:pt x="4648200" y="50801"/>
                </a:cubicBezTo>
                <a:lnTo>
                  <a:pt x="4648200" y="660399"/>
                </a:lnTo>
                <a:cubicBezTo>
                  <a:pt x="4648200" y="688456"/>
                  <a:pt x="4625456" y="711200"/>
                  <a:pt x="45973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1036300" y="31115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Prototypes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128420" y="3060700"/>
            <a:ext cx="147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~99.0-99.5%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036300" y="3467100"/>
            <a:ext cx="4445000" cy="101600"/>
          </a:xfrm>
          <a:custGeom>
            <a:avLst/>
            <a:gdLst/>
            <a:ahLst/>
            <a:cxnLst/>
            <a:rect l="l" t="t" r="r" b="b"/>
            <a:pathLst>
              <a:path w="4445000" h="101600">
                <a:moveTo>
                  <a:pt x="50800" y="0"/>
                </a:moveTo>
                <a:lnTo>
                  <a:pt x="4394200" y="0"/>
                </a:lnTo>
                <a:cubicBezTo>
                  <a:pt x="4422237" y="0"/>
                  <a:pt x="4445000" y="22763"/>
                  <a:pt x="4445000" y="50800"/>
                </a:cubicBezTo>
                <a:lnTo>
                  <a:pt x="4445000" y="50800"/>
                </a:lnTo>
                <a:cubicBezTo>
                  <a:pt x="4445000" y="78837"/>
                  <a:pt x="4422237" y="101600"/>
                  <a:pt x="4394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38" name="Shape 36"/>
          <p:cNvSpPr/>
          <p:nvPr/>
        </p:nvSpPr>
        <p:spPr>
          <a:xfrm>
            <a:off x="11036300" y="3467100"/>
            <a:ext cx="4406900" cy="101600"/>
          </a:xfrm>
          <a:custGeom>
            <a:avLst/>
            <a:gdLst/>
            <a:ahLst/>
            <a:cxnLst/>
            <a:rect l="l" t="t" r="r" b="b"/>
            <a:pathLst>
              <a:path w="4406900" h="101600">
                <a:moveTo>
                  <a:pt x="50800" y="0"/>
                </a:moveTo>
                <a:lnTo>
                  <a:pt x="4356100" y="0"/>
                </a:lnTo>
                <a:cubicBezTo>
                  <a:pt x="4384137" y="0"/>
                  <a:pt x="4406900" y="22763"/>
                  <a:pt x="4406900" y="50800"/>
                </a:cubicBezTo>
                <a:lnTo>
                  <a:pt x="4406900" y="50800"/>
                </a:lnTo>
                <a:cubicBezTo>
                  <a:pt x="4406900" y="78837"/>
                  <a:pt x="4384137" y="101600"/>
                  <a:pt x="43561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947400" y="3784600"/>
            <a:ext cx="4622800" cy="736600"/>
          </a:xfrm>
          <a:custGeom>
            <a:avLst/>
            <a:gdLst/>
            <a:ahLst/>
            <a:cxnLst/>
            <a:rect l="l" t="t" r="r" b="b"/>
            <a:pathLst>
              <a:path w="4622800" h="736600">
                <a:moveTo>
                  <a:pt x="50803" y="0"/>
                </a:moveTo>
                <a:lnTo>
                  <a:pt x="4571997" y="0"/>
                </a:lnTo>
                <a:cubicBezTo>
                  <a:pt x="4600055" y="0"/>
                  <a:pt x="4622800" y="22745"/>
                  <a:pt x="4622800" y="50803"/>
                </a:cubicBezTo>
                <a:lnTo>
                  <a:pt x="4622800" y="685797"/>
                </a:lnTo>
                <a:cubicBezTo>
                  <a:pt x="4622800" y="713855"/>
                  <a:pt x="4600055" y="736600"/>
                  <a:pt x="4571997" y="736600"/>
                </a:cubicBezTo>
                <a:lnTo>
                  <a:pt x="50803" y="736600"/>
                </a:lnTo>
                <a:cubicBezTo>
                  <a:pt x="22745" y="736600"/>
                  <a:pt x="0" y="713855"/>
                  <a:pt x="0" y="6857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61700" y="394970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Chess Trainer Phase 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688477" y="3898900"/>
            <a:ext cx="87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100.0%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061700" y="4305300"/>
            <a:ext cx="4394200" cy="101600"/>
          </a:xfrm>
          <a:custGeom>
            <a:avLst/>
            <a:gdLst/>
            <a:ahLst/>
            <a:cxnLst/>
            <a:rect l="l" t="t" r="r" b="b"/>
            <a:pathLst>
              <a:path w="4394200" h="101600">
                <a:moveTo>
                  <a:pt x="50800" y="0"/>
                </a:moveTo>
                <a:lnTo>
                  <a:pt x="4343400" y="0"/>
                </a:lnTo>
                <a:cubicBezTo>
                  <a:pt x="4371437" y="0"/>
                  <a:pt x="4394200" y="22763"/>
                  <a:pt x="4394200" y="50800"/>
                </a:cubicBezTo>
                <a:lnTo>
                  <a:pt x="4394200" y="50800"/>
                </a:lnTo>
                <a:cubicBezTo>
                  <a:pt x="4394200" y="78837"/>
                  <a:pt x="4371437" y="101600"/>
                  <a:pt x="4343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2D42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61700" y="4305300"/>
            <a:ext cx="4394200" cy="101600"/>
          </a:xfrm>
          <a:custGeom>
            <a:avLst/>
            <a:gdLst/>
            <a:ahLst/>
            <a:cxnLst/>
            <a:rect l="l" t="t" r="r" b="b"/>
            <a:pathLst>
              <a:path w="4394200" h="101600">
                <a:moveTo>
                  <a:pt x="50800" y="0"/>
                </a:moveTo>
                <a:lnTo>
                  <a:pt x="4343400" y="0"/>
                </a:lnTo>
                <a:cubicBezTo>
                  <a:pt x="4371437" y="0"/>
                  <a:pt x="4394200" y="22763"/>
                  <a:pt x="4394200" y="50800"/>
                </a:cubicBezTo>
                <a:lnTo>
                  <a:pt x="4394200" y="50800"/>
                </a:lnTo>
                <a:cubicBezTo>
                  <a:pt x="4394200" y="78837"/>
                  <a:pt x="4371437" y="101600"/>
                  <a:pt x="4343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Shape 42"/>
          <p:cNvSpPr/>
          <p:nvPr/>
        </p:nvSpPr>
        <p:spPr>
          <a:xfrm>
            <a:off x="514350" y="4806950"/>
            <a:ext cx="15227300" cy="2654300"/>
          </a:xfrm>
          <a:custGeom>
            <a:avLst/>
            <a:gdLst/>
            <a:ahLst/>
            <a:cxnLst/>
            <a:rect l="l" t="t" r="r" b="b"/>
            <a:pathLst>
              <a:path w="15227300" h="2654300">
                <a:moveTo>
                  <a:pt x="101607" y="0"/>
                </a:moveTo>
                <a:lnTo>
                  <a:pt x="15125693" y="0"/>
                </a:lnTo>
                <a:cubicBezTo>
                  <a:pt x="15181809" y="0"/>
                  <a:pt x="15227300" y="45491"/>
                  <a:pt x="15227300" y="101607"/>
                </a:cubicBezTo>
                <a:lnTo>
                  <a:pt x="15227300" y="2552693"/>
                </a:lnTo>
                <a:cubicBezTo>
                  <a:pt x="15227300" y="2608809"/>
                  <a:pt x="15181809" y="2654300"/>
                  <a:pt x="15125693" y="2654300"/>
                </a:cubicBezTo>
                <a:lnTo>
                  <a:pt x="101607" y="2654300"/>
                </a:lnTo>
                <a:cubicBezTo>
                  <a:pt x="45491" y="2654300"/>
                  <a:pt x="0" y="2608809"/>
                  <a:pt x="0" y="25526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3100" y="496570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Innovación: Error Evolution Modeling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3100" y="5422900"/>
            <a:ext cx="7378700" cy="1879600"/>
          </a:xfrm>
          <a:custGeom>
            <a:avLst/>
            <a:gdLst/>
            <a:ahLst/>
            <a:cxnLst/>
            <a:rect l="l" t="t" r="r" b="b"/>
            <a:pathLst>
              <a:path w="7378700" h="1879600">
                <a:moveTo>
                  <a:pt x="50806" y="0"/>
                </a:moveTo>
                <a:lnTo>
                  <a:pt x="7327894" y="0"/>
                </a:lnTo>
                <a:cubicBezTo>
                  <a:pt x="7355954" y="0"/>
                  <a:pt x="7378700" y="22746"/>
                  <a:pt x="7378700" y="50806"/>
                </a:cubicBezTo>
                <a:lnTo>
                  <a:pt x="7378700" y="1828794"/>
                </a:lnTo>
                <a:cubicBezTo>
                  <a:pt x="7378700" y="1856854"/>
                  <a:pt x="7355954" y="1879600"/>
                  <a:pt x="7327894" y="1879600"/>
                </a:cubicBezTo>
                <a:lnTo>
                  <a:pt x="50806" y="1879600"/>
                </a:lnTo>
                <a:cubicBezTo>
                  <a:pt x="22746" y="1879600"/>
                  <a:pt x="0" y="1856854"/>
                  <a:pt x="0" y="1828794"/>
                </a:cubicBezTo>
                <a:lnTo>
                  <a:pt x="0" y="50806"/>
                </a:lnTo>
                <a:cubicBezTo>
                  <a:pt x="0" y="22765"/>
                  <a:pt x="22765" y="0"/>
                  <a:pt x="508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5500" y="5575300"/>
            <a:ext cx="717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Multi-Component Ensemble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4550" y="6032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9" name="Text 47"/>
          <p:cNvSpPr/>
          <p:nvPr/>
        </p:nvSpPr>
        <p:spPr>
          <a:xfrm>
            <a:off x="1117600" y="5981700"/>
            <a:ext cx="298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Temporal (5 movs): F1=0.9915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4550" y="6337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1" name="Text 49"/>
          <p:cNvSpPr/>
          <p:nvPr/>
        </p:nvSpPr>
        <p:spPr>
          <a:xfrm>
            <a:off x="1117600" y="6286500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 Temporal (5 movs): F1=0.9912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4550" y="6642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3" name="Text 51"/>
          <p:cNvSpPr/>
          <p:nvPr/>
        </p:nvSpPr>
        <p:spPr>
          <a:xfrm>
            <a:off x="1117600" y="65913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Sequence (10 movs): F1=1.0000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0900" y="6934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96748"/>
                </a:moveTo>
                <a:cubicBezTo>
                  <a:pt x="178877" y="92407"/>
                  <a:pt x="178877" y="85358"/>
                  <a:pt x="174536" y="81017"/>
                </a:cubicBezTo>
                <a:lnTo>
                  <a:pt x="118973" y="25455"/>
                </a:lnTo>
                <a:cubicBezTo>
                  <a:pt x="114632" y="21114"/>
                  <a:pt x="107583" y="21114"/>
                  <a:pt x="103242" y="25455"/>
                </a:cubicBezTo>
                <a:cubicBezTo>
                  <a:pt x="98901" y="29795"/>
                  <a:pt x="98901" y="36845"/>
                  <a:pt x="103242" y="41186"/>
                </a:cubicBezTo>
                <a:lnTo>
                  <a:pt x="139844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139844" y="100013"/>
                </a:lnTo>
                <a:lnTo>
                  <a:pt x="103242" y="136614"/>
                </a:lnTo>
                <a:cubicBezTo>
                  <a:pt x="98901" y="140955"/>
                  <a:pt x="98901" y="148005"/>
                  <a:pt x="103242" y="152345"/>
                </a:cubicBezTo>
                <a:cubicBezTo>
                  <a:pt x="107583" y="156686"/>
                  <a:pt x="114632" y="156686"/>
                  <a:pt x="118973" y="152345"/>
                </a:cubicBezTo>
                <a:lnTo>
                  <a:pt x="174536" y="96783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1149350" y="68961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 Voting Ensemble: F1=1.0000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04200" y="5422900"/>
            <a:ext cx="7378700" cy="1879600"/>
          </a:xfrm>
          <a:custGeom>
            <a:avLst/>
            <a:gdLst/>
            <a:ahLst/>
            <a:cxnLst/>
            <a:rect l="l" t="t" r="r" b="b"/>
            <a:pathLst>
              <a:path w="7378700" h="1879600">
                <a:moveTo>
                  <a:pt x="50806" y="0"/>
                </a:moveTo>
                <a:lnTo>
                  <a:pt x="7327894" y="0"/>
                </a:lnTo>
                <a:cubicBezTo>
                  <a:pt x="7355954" y="0"/>
                  <a:pt x="7378700" y="22746"/>
                  <a:pt x="7378700" y="50806"/>
                </a:cubicBezTo>
                <a:lnTo>
                  <a:pt x="7378700" y="1828794"/>
                </a:lnTo>
                <a:cubicBezTo>
                  <a:pt x="7378700" y="1856854"/>
                  <a:pt x="7355954" y="1879600"/>
                  <a:pt x="7327894" y="1879600"/>
                </a:cubicBezTo>
                <a:lnTo>
                  <a:pt x="50806" y="1879600"/>
                </a:lnTo>
                <a:cubicBezTo>
                  <a:pt x="22746" y="1879600"/>
                  <a:pt x="0" y="1856854"/>
                  <a:pt x="0" y="1828794"/>
                </a:cubicBezTo>
                <a:lnTo>
                  <a:pt x="0" y="50806"/>
                </a:lnTo>
                <a:cubicBezTo>
                  <a:pt x="0" y="22765"/>
                  <a:pt x="22765" y="0"/>
                  <a:pt x="508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356600" y="5575300"/>
            <a:ext cx="717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por Movimiento (25)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356600" y="5981700"/>
            <a:ext cx="355600" cy="304800"/>
          </a:xfrm>
          <a:custGeom>
            <a:avLst/>
            <a:gdLst/>
            <a:ahLst/>
            <a:cxnLst/>
            <a:rect l="l" t="t" r="r" b="b"/>
            <a:pathLst>
              <a:path w="355600" h="304800">
                <a:moveTo>
                  <a:pt x="50801" y="0"/>
                </a:moveTo>
                <a:lnTo>
                  <a:pt x="304799" y="0"/>
                </a:lnTo>
                <a:cubicBezTo>
                  <a:pt x="332856" y="0"/>
                  <a:pt x="355600" y="22744"/>
                  <a:pt x="355600" y="50801"/>
                </a:cubicBezTo>
                <a:lnTo>
                  <a:pt x="355600" y="253999"/>
                </a:lnTo>
                <a:cubicBezTo>
                  <a:pt x="355600" y="282056"/>
                  <a:pt x="332856" y="304800"/>
                  <a:pt x="304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356600" y="5981700"/>
            <a:ext cx="431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12279" y="6007100"/>
            <a:ext cx="300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Chess (eval, material, mobility)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56600" y="6337300"/>
            <a:ext cx="355600" cy="304800"/>
          </a:xfrm>
          <a:custGeom>
            <a:avLst/>
            <a:gdLst/>
            <a:ahLst/>
            <a:cxnLst/>
            <a:rect l="l" t="t" r="r" b="b"/>
            <a:pathLst>
              <a:path w="355600" h="304800">
                <a:moveTo>
                  <a:pt x="50801" y="0"/>
                </a:moveTo>
                <a:lnTo>
                  <a:pt x="304799" y="0"/>
                </a:lnTo>
                <a:cubicBezTo>
                  <a:pt x="332856" y="0"/>
                  <a:pt x="355600" y="22744"/>
                  <a:pt x="355600" y="50801"/>
                </a:cubicBezTo>
                <a:lnTo>
                  <a:pt x="355600" y="253999"/>
                </a:lnTo>
                <a:cubicBezTo>
                  <a:pt x="355600" y="282056"/>
                  <a:pt x="332856" y="304800"/>
                  <a:pt x="304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356600" y="6337300"/>
            <a:ext cx="431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816909" y="6362700"/>
            <a:ext cx="297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 Context (deltas, patterns)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56600" y="6692900"/>
            <a:ext cx="546100" cy="304800"/>
          </a:xfrm>
          <a:custGeom>
            <a:avLst/>
            <a:gdLst/>
            <a:ahLst/>
            <a:cxnLst/>
            <a:rect l="l" t="t" r="r" b="b"/>
            <a:pathLst>
              <a:path w="546100" h="304800">
                <a:moveTo>
                  <a:pt x="50801" y="0"/>
                </a:moveTo>
                <a:lnTo>
                  <a:pt x="495299" y="0"/>
                </a:lnTo>
                <a:cubicBezTo>
                  <a:pt x="523356" y="0"/>
                  <a:pt x="546100" y="22744"/>
                  <a:pt x="546100" y="50801"/>
                </a:cubicBezTo>
                <a:lnTo>
                  <a:pt x="546100" y="253999"/>
                </a:lnTo>
                <a:cubicBezTo>
                  <a:pt x="546100" y="282056"/>
                  <a:pt x="523356" y="304800"/>
                  <a:pt x="4952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3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8356600" y="6692900"/>
            <a:ext cx="6223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007673" y="67183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Evolution Patterns (stability, momentum)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14350" y="7575550"/>
            <a:ext cx="7531100" cy="1130300"/>
          </a:xfrm>
          <a:custGeom>
            <a:avLst/>
            <a:gdLst/>
            <a:ahLst/>
            <a:cxnLst/>
            <a:rect l="l" t="t" r="r" b="b"/>
            <a:pathLst>
              <a:path w="7531100" h="1130300">
                <a:moveTo>
                  <a:pt x="101603" y="0"/>
                </a:moveTo>
                <a:lnTo>
                  <a:pt x="7429497" y="0"/>
                </a:lnTo>
                <a:cubicBezTo>
                  <a:pt x="7485611" y="0"/>
                  <a:pt x="7531100" y="45489"/>
                  <a:pt x="7531100" y="101603"/>
                </a:cubicBezTo>
                <a:lnTo>
                  <a:pt x="7531100" y="1028697"/>
                </a:lnTo>
                <a:cubicBezTo>
                  <a:pt x="7531100" y="1084811"/>
                  <a:pt x="7485611" y="1130300"/>
                  <a:pt x="74294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1200" y="786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9" name="Text 67"/>
          <p:cNvSpPr/>
          <p:nvPr/>
        </p:nvSpPr>
        <p:spPr>
          <a:xfrm>
            <a:off x="1206500" y="7734300"/>
            <a:ext cx="638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Production-Ready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206500" y="8039100"/>
            <a:ext cx="637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Inference: ~ms por secuencia • CPU-optimized • API endpoints preparados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10550" y="7575550"/>
            <a:ext cx="7531100" cy="1130300"/>
          </a:xfrm>
          <a:custGeom>
            <a:avLst/>
            <a:gdLst/>
            <a:ahLst/>
            <a:cxnLst/>
            <a:rect l="l" t="t" r="r" b="b"/>
            <a:pathLst>
              <a:path w="7531100" h="1130300">
                <a:moveTo>
                  <a:pt x="101603" y="0"/>
                </a:moveTo>
                <a:lnTo>
                  <a:pt x="7429497" y="0"/>
                </a:lnTo>
                <a:cubicBezTo>
                  <a:pt x="7485611" y="0"/>
                  <a:pt x="7531100" y="45489"/>
                  <a:pt x="7531100" y="101603"/>
                </a:cubicBezTo>
                <a:lnTo>
                  <a:pt x="7531100" y="1028697"/>
                </a:lnTo>
                <a:cubicBezTo>
                  <a:pt x="7531100" y="1084811"/>
                  <a:pt x="7485611" y="1130300"/>
                  <a:pt x="74294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01050" y="7988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3" name="Text 71"/>
          <p:cNvSpPr/>
          <p:nvPr/>
        </p:nvSpPr>
        <p:spPr>
          <a:xfrm>
            <a:off x="8885767" y="7734300"/>
            <a:ext cx="679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Nuevo Estándar Mundial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885767" y="8039100"/>
            <a:ext cx="678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sistema perfecto en detección de errores de ajedrez • +2-5% vs competencia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25067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Guía de Selección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Matriz Comparativa de Algoritmos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15227300" cy="5486400"/>
          </a:xfrm>
          <a:custGeom>
            <a:avLst/>
            <a:gdLst/>
            <a:ahLst/>
            <a:cxnLst/>
            <a:rect l="l" t="t" r="r" b="b"/>
            <a:pathLst>
              <a:path w="15227300" h="5486400">
                <a:moveTo>
                  <a:pt x="101608" y="0"/>
                </a:moveTo>
                <a:lnTo>
                  <a:pt x="15125692" y="0"/>
                </a:lnTo>
                <a:cubicBezTo>
                  <a:pt x="15181808" y="0"/>
                  <a:pt x="15227300" y="45492"/>
                  <a:pt x="15227300" y="101608"/>
                </a:cubicBezTo>
                <a:lnTo>
                  <a:pt x="15227300" y="5384792"/>
                </a:lnTo>
                <a:cubicBezTo>
                  <a:pt x="15227300" y="5440908"/>
                  <a:pt x="15181808" y="5486400"/>
                  <a:pt x="15125692" y="5486400"/>
                </a:cubicBezTo>
                <a:lnTo>
                  <a:pt x="101608" y="5486400"/>
                </a:lnTo>
                <a:cubicBezTo>
                  <a:pt x="45492" y="5486400"/>
                  <a:pt x="0" y="5440908"/>
                  <a:pt x="0" y="5384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3100" y="1689100"/>
          <a:ext cx="14909800" cy="5168900"/>
        </p:xfrm>
        <a:graphic>
          <a:graphicData uri="http://schemas.openxmlformats.org/drawingml/2006/table">
            <a:tbl>
              <a:tblPr/>
              <a:tblGrid>
                <a:gridCol w="2794000"/>
                <a:gridCol w="2006600"/>
                <a:gridCol w="1498600"/>
                <a:gridCol w="1358900"/>
                <a:gridCol w="1511300"/>
                <a:gridCol w="1955800"/>
                <a:gridCol w="3784600"/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Algoritmo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Tipo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Training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Inference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Interpret.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Mejor Para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Linear Regression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Regresión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Bajo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⭐⭐⭐⭐⭐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Baseline, features lineales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Logistic Regression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Clasificación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⭐⭐⭐⭐⭐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Baseline interpretable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KNN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Ambos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⭐⭐⭐⭐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Similitud, datasets pequeños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K-Means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Clustering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⭐⭐⭐⭐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Segmentación de jugadores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Naive Bayes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Clasificación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8D99A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⭐⭐⭐⭐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Baseline rápido, tácticas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Ambos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Alto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⭐⭐⭐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Producción, feature importance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XGBoost/CatBoost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Ambos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Muy Alto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Máxima accuracy, producción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Ambos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Alto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Datasets pequeños, kernels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MLP 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Ambos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dirty="0">
                          <a:solidFill>
                            <a:srgbClr val="C9A22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Muy Alto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PRODUCCIÓN (F1=0.992)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LSTM/GRU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Secuencial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Alto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🐌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⭐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Secuencias, rachas de errores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4350" y="7131050"/>
            <a:ext cx="4965700" cy="825500"/>
          </a:xfrm>
          <a:custGeom>
            <a:avLst/>
            <a:gdLst/>
            <a:ahLst/>
            <a:cxnLst/>
            <a:rect l="l" t="t" r="r" b="b"/>
            <a:pathLst>
              <a:path w="4965700" h="825500">
                <a:moveTo>
                  <a:pt x="101603" y="0"/>
                </a:moveTo>
                <a:lnTo>
                  <a:pt x="4864097" y="0"/>
                </a:lnTo>
                <a:cubicBezTo>
                  <a:pt x="4920211" y="0"/>
                  <a:pt x="4965700" y="45489"/>
                  <a:pt x="4965700" y="101603"/>
                </a:cubicBezTo>
                <a:lnTo>
                  <a:pt x="4965700" y="723897"/>
                </a:lnTo>
                <a:cubicBezTo>
                  <a:pt x="4965700" y="780011"/>
                  <a:pt x="4920211" y="825500"/>
                  <a:pt x="48640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3100" y="72898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Leyenda - Training Time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3100" y="7594600"/>
            <a:ext cx="749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⚡ &lt; 1min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52430" y="7594600"/>
            <a:ext cx="83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🕐 1-10min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19867" y="7594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🐌 &gt; 10min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45150" y="7131050"/>
            <a:ext cx="4965700" cy="825500"/>
          </a:xfrm>
          <a:custGeom>
            <a:avLst/>
            <a:gdLst/>
            <a:ahLst/>
            <a:cxnLst/>
            <a:rect l="l" t="t" r="r" b="b"/>
            <a:pathLst>
              <a:path w="4965700" h="825500">
                <a:moveTo>
                  <a:pt x="101603" y="0"/>
                </a:moveTo>
                <a:lnTo>
                  <a:pt x="4864097" y="0"/>
                </a:lnTo>
                <a:cubicBezTo>
                  <a:pt x="4920211" y="0"/>
                  <a:pt x="4965700" y="45489"/>
                  <a:pt x="4965700" y="101603"/>
                </a:cubicBezTo>
                <a:lnTo>
                  <a:pt x="4965700" y="723897"/>
                </a:lnTo>
                <a:cubicBezTo>
                  <a:pt x="4965700" y="780011"/>
                  <a:pt x="4920211" y="825500"/>
                  <a:pt x="48640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3900" y="72898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Leyenda - Accuracy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03900" y="7594600"/>
            <a:ext cx="90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Bajo: &lt; 0.75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34770" y="7594600"/>
            <a:ext cx="1282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Medio: 0.75-0.82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40820" y="7594600"/>
            <a:ext cx="114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Alto: 0.82-0.88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11667" y="7594600"/>
            <a:ext cx="1244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Muy Alto: &gt; 0.88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775950" y="7131050"/>
            <a:ext cx="4965700" cy="825500"/>
          </a:xfrm>
          <a:custGeom>
            <a:avLst/>
            <a:gdLst/>
            <a:ahLst/>
            <a:cxnLst/>
            <a:rect l="l" t="t" r="r" b="b"/>
            <a:pathLst>
              <a:path w="4965700" h="825500">
                <a:moveTo>
                  <a:pt x="101603" y="0"/>
                </a:moveTo>
                <a:lnTo>
                  <a:pt x="4864097" y="0"/>
                </a:lnTo>
                <a:cubicBezTo>
                  <a:pt x="4920211" y="0"/>
                  <a:pt x="4965700" y="45489"/>
                  <a:pt x="4965700" y="101603"/>
                </a:cubicBezTo>
                <a:lnTo>
                  <a:pt x="4965700" y="723897"/>
                </a:lnTo>
                <a:cubicBezTo>
                  <a:pt x="4965700" y="780011"/>
                  <a:pt x="4920211" y="825500"/>
                  <a:pt x="48640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34700" y="72898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Leyenda - Interpretabilidad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34700" y="7594600"/>
            <a:ext cx="105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⭐ Caja negra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012414" y="7594600"/>
            <a:ext cx="2755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⭐⭐⭐⭐⭐ Totalmente interpretable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330934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Prevención de Overfitting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Regularización y Validación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4864100"/>
          </a:xfrm>
          <a:custGeom>
            <a:avLst/>
            <a:gdLst/>
            <a:ahLst/>
            <a:cxnLst/>
            <a:rect l="l" t="t" r="r" b="b"/>
            <a:pathLst>
              <a:path w="7531100" h="4864100">
                <a:moveTo>
                  <a:pt x="101611" y="0"/>
                </a:moveTo>
                <a:lnTo>
                  <a:pt x="7429489" y="0"/>
                </a:lnTo>
                <a:cubicBezTo>
                  <a:pt x="7485607" y="0"/>
                  <a:pt x="7531100" y="45493"/>
                  <a:pt x="7531100" y="101611"/>
                </a:cubicBezTo>
                <a:lnTo>
                  <a:pt x="7531100" y="4762489"/>
                </a:lnTo>
                <a:cubicBezTo>
                  <a:pt x="7531100" y="4818607"/>
                  <a:pt x="7485607" y="4864100"/>
                  <a:pt x="7429489" y="4864100"/>
                </a:cubicBezTo>
                <a:lnTo>
                  <a:pt x="101611" y="4864100"/>
                </a:lnTo>
                <a:cubicBezTo>
                  <a:pt x="45493" y="4864100"/>
                  <a:pt x="0" y="4818607"/>
                  <a:pt x="0" y="47624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Técnicas de Regularización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4700" y="22479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0801" y="0"/>
                </a:moveTo>
                <a:lnTo>
                  <a:pt x="292099" y="0"/>
                </a:lnTo>
                <a:cubicBezTo>
                  <a:pt x="320156" y="0"/>
                  <a:pt x="342900" y="22744"/>
                  <a:pt x="342900" y="50801"/>
                </a:cubicBezTo>
                <a:lnTo>
                  <a:pt x="342900" y="253999"/>
                </a:lnTo>
                <a:cubicBezTo>
                  <a:pt x="342900" y="282056"/>
                  <a:pt x="320156" y="304800"/>
                  <a:pt x="292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774700" y="2247900"/>
            <a:ext cx="419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4756" y="22479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Lasso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700" y="26035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Penaliza |w| → Feature selection automático. C=0.5 para eliminar features irrelevantes.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3100" y="32639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4700" y="3365500"/>
            <a:ext cx="368300" cy="304800"/>
          </a:xfrm>
          <a:custGeom>
            <a:avLst/>
            <a:gdLst/>
            <a:ahLst/>
            <a:cxnLst/>
            <a:rect l="l" t="t" r="r" b="b"/>
            <a:pathLst>
              <a:path w="368300" h="304800">
                <a:moveTo>
                  <a:pt x="50801" y="0"/>
                </a:moveTo>
                <a:lnTo>
                  <a:pt x="317499" y="0"/>
                </a:lnTo>
                <a:cubicBezTo>
                  <a:pt x="345556" y="0"/>
                  <a:pt x="368300" y="22744"/>
                  <a:pt x="368300" y="50801"/>
                </a:cubicBezTo>
                <a:lnTo>
                  <a:pt x="368300" y="253999"/>
                </a:lnTo>
                <a:cubicBezTo>
                  <a:pt x="368300" y="282056"/>
                  <a:pt x="345556" y="304800"/>
                  <a:pt x="3174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Text 11"/>
          <p:cNvSpPr/>
          <p:nvPr/>
        </p:nvSpPr>
        <p:spPr>
          <a:xfrm>
            <a:off x="774700" y="3365500"/>
            <a:ext cx="4445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0553" y="33655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Ridge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4700" y="37211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Penaliza w² → Shrinkage proporcional. C=1.0 para reducir magnitud sin eliminar.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100" y="41275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74700" y="4229100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50801" y="0"/>
                </a:moveTo>
                <a:lnTo>
                  <a:pt x="558799" y="0"/>
                </a:lnTo>
                <a:cubicBezTo>
                  <a:pt x="586856" y="0"/>
                  <a:pt x="609600" y="22744"/>
                  <a:pt x="609600" y="50801"/>
                </a:cubicBezTo>
                <a:lnTo>
                  <a:pt x="609600" y="253999"/>
                </a:lnTo>
                <a:cubicBezTo>
                  <a:pt x="609600" y="282056"/>
                  <a:pt x="586856" y="304800"/>
                  <a:pt x="558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4700" y="4229100"/>
            <a:ext cx="685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L1+L2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87488" y="4229100"/>
            <a:ext cx="109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Elastic Net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4700" y="45847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l1_ratio=0.5. Balance entre selección y shrinkage. Maneja features correlacionados.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3100" y="49911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74700" y="5092700"/>
            <a:ext cx="431800" cy="304800"/>
          </a:xfrm>
          <a:custGeom>
            <a:avLst/>
            <a:gdLst/>
            <a:ahLst/>
            <a:cxnLst/>
            <a:rect l="l" t="t" r="r" b="b"/>
            <a:pathLst>
              <a:path w="431800" h="304800">
                <a:moveTo>
                  <a:pt x="50801" y="0"/>
                </a:moveTo>
                <a:lnTo>
                  <a:pt x="380999" y="0"/>
                </a:lnTo>
                <a:cubicBezTo>
                  <a:pt x="409056" y="0"/>
                  <a:pt x="431800" y="22744"/>
                  <a:pt x="431800" y="50801"/>
                </a:cubicBezTo>
                <a:lnTo>
                  <a:pt x="431800" y="253999"/>
                </a:lnTo>
                <a:cubicBezTo>
                  <a:pt x="431800" y="282056"/>
                  <a:pt x="409056" y="304800"/>
                  <a:pt x="380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3" name="Text 21"/>
          <p:cNvSpPr/>
          <p:nvPr/>
        </p:nvSpPr>
        <p:spPr>
          <a:xfrm>
            <a:off x="774700" y="5092700"/>
            <a:ext cx="508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01750" y="509270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Dropout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4700" y="54483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rate=0.2-0.3. Desactiva neuronas aleatoriamente durante entrenamiento.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10550" y="1530350"/>
            <a:ext cx="7531100" cy="4864100"/>
          </a:xfrm>
          <a:custGeom>
            <a:avLst/>
            <a:gdLst/>
            <a:ahLst/>
            <a:cxnLst/>
            <a:rect l="l" t="t" r="r" b="b"/>
            <a:pathLst>
              <a:path w="7531100" h="4864100">
                <a:moveTo>
                  <a:pt x="101611" y="0"/>
                </a:moveTo>
                <a:lnTo>
                  <a:pt x="7429489" y="0"/>
                </a:lnTo>
                <a:cubicBezTo>
                  <a:pt x="7485607" y="0"/>
                  <a:pt x="7531100" y="45493"/>
                  <a:pt x="7531100" y="101611"/>
                </a:cubicBezTo>
                <a:lnTo>
                  <a:pt x="7531100" y="4762489"/>
                </a:lnTo>
                <a:cubicBezTo>
                  <a:pt x="7531100" y="4818607"/>
                  <a:pt x="7485607" y="4864100"/>
                  <a:pt x="7429489" y="4864100"/>
                </a:cubicBezTo>
                <a:lnTo>
                  <a:pt x="101611" y="4864100"/>
                </a:lnTo>
                <a:cubicBezTo>
                  <a:pt x="45493" y="4864100"/>
                  <a:pt x="0" y="4818607"/>
                  <a:pt x="0" y="47624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Validación y Early Stopping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69300" y="21463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470900" y="22479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70900" y="26035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StratifiedKFold(n_splits=5) mantiene distribución de clases. CV std &lt; 0.05 indica estabilidad.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69300" y="33147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470900" y="34163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70900" y="37719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monitor='val_loss', patience=15, restore_best_weights=True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70900" y="4076700"/>
            <a:ext cx="708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Evita overfitting al detener cuando val_loss aumenta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69300" y="44831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70900" y="45847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Rate Decay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70900" y="49403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ReduceLROnPlateau: factor=0.5, patience=5, min_lr=1e-6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75650" y="5403850"/>
            <a:ext cx="7200900" cy="825500"/>
          </a:xfrm>
          <a:custGeom>
            <a:avLst/>
            <a:gdLst/>
            <a:ahLst/>
            <a:cxnLst/>
            <a:rect l="l" t="t" r="r" b="b"/>
            <a:pathLst>
              <a:path w="7200900" h="825500">
                <a:moveTo>
                  <a:pt x="50801" y="0"/>
                </a:moveTo>
                <a:lnTo>
                  <a:pt x="7150099" y="0"/>
                </a:lnTo>
                <a:cubicBezTo>
                  <a:pt x="7178155" y="0"/>
                  <a:pt x="7200900" y="22745"/>
                  <a:pt x="7200900" y="50801"/>
                </a:cubicBezTo>
                <a:lnTo>
                  <a:pt x="7200900" y="774699"/>
                </a:lnTo>
                <a:cubicBezTo>
                  <a:pt x="7200900" y="802755"/>
                  <a:pt x="7178155" y="825500"/>
                  <a:pt x="7150099" y="825500"/>
                </a:cubicBezTo>
                <a:lnTo>
                  <a:pt x="50801" y="825500"/>
                </a:lnTo>
                <a:cubicBezTo>
                  <a:pt x="22745" y="825500"/>
                  <a:pt x="0" y="802755"/>
                  <a:pt x="0" y="7746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3600" y="55118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Grid Search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83600" y="5867400"/>
            <a:ext cx="707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Búsqueda exhaustiva de hiperparámetros con CV. n_jobs=-1 para paralelización.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4350" y="6508750"/>
            <a:ext cx="15227300" cy="2959100"/>
          </a:xfrm>
          <a:custGeom>
            <a:avLst/>
            <a:gdLst/>
            <a:ahLst/>
            <a:cxnLst/>
            <a:rect l="l" t="t" r="r" b="b"/>
            <a:pathLst>
              <a:path w="15227300" h="2959100">
                <a:moveTo>
                  <a:pt x="101586" y="0"/>
                </a:moveTo>
                <a:lnTo>
                  <a:pt x="15125714" y="0"/>
                </a:lnTo>
                <a:cubicBezTo>
                  <a:pt x="15181818" y="0"/>
                  <a:pt x="15227300" y="45482"/>
                  <a:pt x="15227300" y="101586"/>
                </a:cubicBezTo>
                <a:lnTo>
                  <a:pt x="15227300" y="2857514"/>
                </a:lnTo>
                <a:cubicBezTo>
                  <a:pt x="15227300" y="2913618"/>
                  <a:pt x="15181818" y="2959100"/>
                  <a:pt x="15125714" y="2959100"/>
                </a:cubicBezTo>
                <a:lnTo>
                  <a:pt x="101586" y="2959100"/>
                </a:lnTo>
                <a:cubicBezTo>
                  <a:pt x="45482" y="2959100"/>
                  <a:pt x="0" y="2913618"/>
                  <a:pt x="0" y="2857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3100" y="666750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Diagnóstico: ¿Overfitting o No?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3100" y="7124700"/>
            <a:ext cx="7378700" cy="2184400"/>
          </a:xfrm>
          <a:custGeom>
            <a:avLst/>
            <a:gdLst/>
            <a:ahLst/>
            <a:cxnLst/>
            <a:rect l="l" t="t" r="r" b="b"/>
            <a:pathLst>
              <a:path w="7378700" h="2184400">
                <a:moveTo>
                  <a:pt x="50809" y="0"/>
                </a:moveTo>
                <a:lnTo>
                  <a:pt x="7327891" y="0"/>
                </a:lnTo>
                <a:cubicBezTo>
                  <a:pt x="7355952" y="0"/>
                  <a:pt x="7378700" y="22748"/>
                  <a:pt x="7378700" y="50809"/>
                </a:cubicBezTo>
                <a:lnTo>
                  <a:pt x="7378700" y="2133591"/>
                </a:lnTo>
                <a:cubicBezTo>
                  <a:pt x="7378700" y="2161652"/>
                  <a:pt x="7355952" y="2184400"/>
                  <a:pt x="7327891" y="2184400"/>
                </a:cubicBezTo>
                <a:lnTo>
                  <a:pt x="50809" y="2184400"/>
                </a:lnTo>
                <a:cubicBezTo>
                  <a:pt x="22748" y="2184400"/>
                  <a:pt x="0" y="2161652"/>
                  <a:pt x="0" y="2133591"/>
                </a:cubicBezTo>
                <a:lnTo>
                  <a:pt x="0" y="50809"/>
                </a:lnTo>
                <a:cubicBezTo>
                  <a:pt x="0" y="22767"/>
                  <a:pt x="22767" y="0"/>
                  <a:pt x="5080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25500" y="7277100"/>
            <a:ext cx="717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✅ Phase 2 MLP - NO es Overfitting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5500" y="7683500"/>
            <a:ext cx="134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Accuracy: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389416" y="7683500"/>
            <a:ext cx="59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5500" y="7988300"/>
            <a:ext cx="128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Accuracy: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84455" y="7988300"/>
            <a:ext cx="60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99.8%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5500" y="8293100"/>
            <a:ext cx="46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150497" y="82931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0.04% 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5500" y="85979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CV Stability: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12190" y="85979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0.992 ± 0.002 ✓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5500" y="8953500"/>
            <a:ext cx="7150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 &lt; 0.05% + CV estable + Features relevantes + Dominio predecible = LEGÍTIMO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04200" y="7124700"/>
            <a:ext cx="7378700" cy="2184400"/>
          </a:xfrm>
          <a:custGeom>
            <a:avLst/>
            <a:gdLst/>
            <a:ahLst/>
            <a:cxnLst/>
            <a:rect l="l" t="t" r="r" b="b"/>
            <a:pathLst>
              <a:path w="7378700" h="2184400">
                <a:moveTo>
                  <a:pt x="50809" y="0"/>
                </a:moveTo>
                <a:lnTo>
                  <a:pt x="7327891" y="0"/>
                </a:lnTo>
                <a:cubicBezTo>
                  <a:pt x="7355952" y="0"/>
                  <a:pt x="7378700" y="22748"/>
                  <a:pt x="7378700" y="50809"/>
                </a:cubicBezTo>
                <a:lnTo>
                  <a:pt x="7378700" y="2133591"/>
                </a:lnTo>
                <a:cubicBezTo>
                  <a:pt x="7378700" y="2161652"/>
                  <a:pt x="7355952" y="2184400"/>
                  <a:pt x="7327891" y="2184400"/>
                </a:cubicBezTo>
                <a:lnTo>
                  <a:pt x="50809" y="2184400"/>
                </a:lnTo>
                <a:cubicBezTo>
                  <a:pt x="22748" y="2184400"/>
                  <a:pt x="0" y="2161652"/>
                  <a:pt x="0" y="2133591"/>
                </a:cubicBezTo>
                <a:lnTo>
                  <a:pt x="0" y="50809"/>
                </a:lnTo>
                <a:cubicBezTo>
                  <a:pt x="0" y="22767"/>
                  <a:pt x="22767" y="0"/>
                  <a:pt x="5080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56600" y="7277100"/>
            <a:ext cx="717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Síntomas de Overfitting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04225" y="77216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9134" y="25489"/>
                </a:moveTo>
                <a:cubicBezTo>
                  <a:pt x="14794" y="21148"/>
                  <a:pt x="7744" y="21148"/>
                  <a:pt x="3403" y="25489"/>
                </a:cubicBezTo>
                <a:cubicBezTo>
                  <a:pt x="-938" y="29830"/>
                  <a:pt x="-938" y="36880"/>
                  <a:pt x="3403" y="41220"/>
                </a:cubicBezTo>
                <a:lnTo>
                  <a:pt x="51117" y="88900"/>
                </a:lnTo>
                <a:lnTo>
                  <a:pt x="3438" y="136614"/>
                </a:lnTo>
                <a:cubicBezTo>
                  <a:pt x="-903" y="140955"/>
                  <a:pt x="-903" y="148005"/>
                  <a:pt x="3438" y="152345"/>
                </a:cubicBezTo>
                <a:cubicBezTo>
                  <a:pt x="7779" y="156686"/>
                  <a:pt x="14828" y="156686"/>
                  <a:pt x="19169" y="152345"/>
                </a:cubicBezTo>
                <a:lnTo>
                  <a:pt x="66849" y="104631"/>
                </a:lnTo>
                <a:lnTo>
                  <a:pt x="114563" y="152311"/>
                </a:lnTo>
                <a:cubicBezTo>
                  <a:pt x="118904" y="156652"/>
                  <a:pt x="125953" y="156652"/>
                  <a:pt x="130294" y="152311"/>
                </a:cubicBezTo>
                <a:cubicBezTo>
                  <a:pt x="134635" y="147970"/>
                  <a:pt x="134635" y="140920"/>
                  <a:pt x="130294" y="136580"/>
                </a:cubicBezTo>
                <a:lnTo>
                  <a:pt x="82580" y="88900"/>
                </a:lnTo>
                <a:lnTo>
                  <a:pt x="130259" y="41186"/>
                </a:lnTo>
                <a:cubicBezTo>
                  <a:pt x="134600" y="36845"/>
                  <a:pt x="134600" y="29795"/>
                  <a:pt x="130259" y="25455"/>
                </a:cubicBezTo>
                <a:cubicBezTo>
                  <a:pt x="125919" y="21114"/>
                  <a:pt x="118869" y="21114"/>
                  <a:pt x="114528" y="25455"/>
                </a:cubicBezTo>
                <a:lnTo>
                  <a:pt x="66849" y="73169"/>
                </a:lnTo>
                <a:lnTo>
                  <a:pt x="19134" y="25489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7" name="Text 55"/>
          <p:cNvSpPr/>
          <p:nvPr/>
        </p:nvSpPr>
        <p:spPr>
          <a:xfrm>
            <a:off x="8680450" y="7683500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 F1 &gt; 0.95, Test F1 &lt; 0.80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04225" y="80264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9134" y="25489"/>
                </a:moveTo>
                <a:cubicBezTo>
                  <a:pt x="14794" y="21148"/>
                  <a:pt x="7744" y="21148"/>
                  <a:pt x="3403" y="25489"/>
                </a:cubicBezTo>
                <a:cubicBezTo>
                  <a:pt x="-938" y="29830"/>
                  <a:pt x="-938" y="36880"/>
                  <a:pt x="3403" y="41220"/>
                </a:cubicBezTo>
                <a:lnTo>
                  <a:pt x="51117" y="88900"/>
                </a:lnTo>
                <a:lnTo>
                  <a:pt x="3438" y="136614"/>
                </a:lnTo>
                <a:cubicBezTo>
                  <a:pt x="-903" y="140955"/>
                  <a:pt x="-903" y="148005"/>
                  <a:pt x="3438" y="152345"/>
                </a:cubicBezTo>
                <a:cubicBezTo>
                  <a:pt x="7779" y="156686"/>
                  <a:pt x="14828" y="156686"/>
                  <a:pt x="19169" y="152345"/>
                </a:cubicBezTo>
                <a:lnTo>
                  <a:pt x="66849" y="104631"/>
                </a:lnTo>
                <a:lnTo>
                  <a:pt x="114563" y="152311"/>
                </a:lnTo>
                <a:cubicBezTo>
                  <a:pt x="118904" y="156652"/>
                  <a:pt x="125953" y="156652"/>
                  <a:pt x="130294" y="152311"/>
                </a:cubicBezTo>
                <a:cubicBezTo>
                  <a:pt x="134635" y="147970"/>
                  <a:pt x="134635" y="140920"/>
                  <a:pt x="130294" y="136580"/>
                </a:cubicBezTo>
                <a:lnTo>
                  <a:pt x="82580" y="88900"/>
                </a:lnTo>
                <a:lnTo>
                  <a:pt x="130259" y="41186"/>
                </a:lnTo>
                <a:cubicBezTo>
                  <a:pt x="134600" y="36845"/>
                  <a:pt x="134600" y="29795"/>
                  <a:pt x="130259" y="25455"/>
                </a:cubicBezTo>
                <a:cubicBezTo>
                  <a:pt x="125919" y="21114"/>
                  <a:pt x="118869" y="21114"/>
                  <a:pt x="114528" y="25455"/>
                </a:cubicBezTo>
                <a:lnTo>
                  <a:pt x="66849" y="73169"/>
                </a:lnTo>
                <a:lnTo>
                  <a:pt x="19134" y="25489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9" name="Text 57"/>
          <p:cNvSpPr/>
          <p:nvPr/>
        </p:nvSpPr>
        <p:spPr>
          <a:xfrm>
            <a:off x="8680450" y="798830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Gap &gt; 0.15 (15%)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404225" y="83312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9134" y="25489"/>
                </a:moveTo>
                <a:cubicBezTo>
                  <a:pt x="14794" y="21148"/>
                  <a:pt x="7744" y="21148"/>
                  <a:pt x="3403" y="25489"/>
                </a:cubicBezTo>
                <a:cubicBezTo>
                  <a:pt x="-938" y="29830"/>
                  <a:pt x="-938" y="36880"/>
                  <a:pt x="3403" y="41220"/>
                </a:cubicBezTo>
                <a:lnTo>
                  <a:pt x="51117" y="88900"/>
                </a:lnTo>
                <a:lnTo>
                  <a:pt x="3438" y="136614"/>
                </a:lnTo>
                <a:cubicBezTo>
                  <a:pt x="-903" y="140955"/>
                  <a:pt x="-903" y="148005"/>
                  <a:pt x="3438" y="152345"/>
                </a:cubicBezTo>
                <a:cubicBezTo>
                  <a:pt x="7779" y="156686"/>
                  <a:pt x="14828" y="156686"/>
                  <a:pt x="19169" y="152345"/>
                </a:cubicBezTo>
                <a:lnTo>
                  <a:pt x="66849" y="104631"/>
                </a:lnTo>
                <a:lnTo>
                  <a:pt x="114563" y="152311"/>
                </a:lnTo>
                <a:cubicBezTo>
                  <a:pt x="118904" y="156652"/>
                  <a:pt x="125953" y="156652"/>
                  <a:pt x="130294" y="152311"/>
                </a:cubicBezTo>
                <a:cubicBezTo>
                  <a:pt x="134635" y="147970"/>
                  <a:pt x="134635" y="140920"/>
                  <a:pt x="130294" y="136580"/>
                </a:cubicBezTo>
                <a:lnTo>
                  <a:pt x="82580" y="88900"/>
                </a:lnTo>
                <a:lnTo>
                  <a:pt x="130259" y="41186"/>
                </a:lnTo>
                <a:cubicBezTo>
                  <a:pt x="134600" y="36845"/>
                  <a:pt x="134600" y="29795"/>
                  <a:pt x="130259" y="25455"/>
                </a:cubicBezTo>
                <a:cubicBezTo>
                  <a:pt x="125919" y="21114"/>
                  <a:pt x="118869" y="21114"/>
                  <a:pt x="114528" y="25455"/>
                </a:cubicBezTo>
                <a:lnTo>
                  <a:pt x="66849" y="73169"/>
                </a:lnTo>
                <a:lnTo>
                  <a:pt x="19134" y="25489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1" name="Text 59"/>
          <p:cNvSpPr/>
          <p:nvPr/>
        </p:nvSpPr>
        <p:spPr>
          <a:xfrm>
            <a:off x="8680450" y="82931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 varianza en CV (std &gt; 0.10)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04225" y="86360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9134" y="25489"/>
                </a:moveTo>
                <a:cubicBezTo>
                  <a:pt x="14794" y="21148"/>
                  <a:pt x="7744" y="21148"/>
                  <a:pt x="3403" y="25489"/>
                </a:cubicBezTo>
                <a:cubicBezTo>
                  <a:pt x="-938" y="29830"/>
                  <a:pt x="-938" y="36880"/>
                  <a:pt x="3403" y="41220"/>
                </a:cubicBezTo>
                <a:lnTo>
                  <a:pt x="51117" y="88900"/>
                </a:lnTo>
                <a:lnTo>
                  <a:pt x="3438" y="136614"/>
                </a:lnTo>
                <a:cubicBezTo>
                  <a:pt x="-903" y="140955"/>
                  <a:pt x="-903" y="148005"/>
                  <a:pt x="3438" y="152345"/>
                </a:cubicBezTo>
                <a:cubicBezTo>
                  <a:pt x="7779" y="156686"/>
                  <a:pt x="14828" y="156686"/>
                  <a:pt x="19169" y="152345"/>
                </a:cubicBezTo>
                <a:lnTo>
                  <a:pt x="66849" y="104631"/>
                </a:lnTo>
                <a:lnTo>
                  <a:pt x="114563" y="152311"/>
                </a:lnTo>
                <a:cubicBezTo>
                  <a:pt x="118904" y="156652"/>
                  <a:pt x="125953" y="156652"/>
                  <a:pt x="130294" y="152311"/>
                </a:cubicBezTo>
                <a:cubicBezTo>
                  <a:pt x="134635" y="147970"/>
                  <a:pt x="134635" y="140920"/>
                  <a:pt x="130294" y="136580"/>
                </a:cubicBezTo>
                <a:lnTo>
                  <a:pt x="82580" y="88900"/>
                </a:lnTo>
                <a:lnTo>
                  <a:pt x="130259" y="41186"/>
                </a:lnTo>
                <a:cubicBezTo>
                  <a:pt x="134600" y="36845"/>
                  <a:pt x="134600" y="29795"/>
                  <a:pt x="130259" y="25455"/>
                </a:cubicBezTo>
                <a:cubicBezTo>
                  <a:pt x="125919" y="21114"/>
                  <a:pt x="118869" y="21114"/>
                  <a:pt x="114528" y="25455"/>
                </a:cubicBezTo>
                <a:lnTo>
                  <a:pt x="66849" y="73169"/>
                </a:lnTo>
                <a:lnTo>
                  <a:pt x="19134" y="25489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3" name="Text 61"/>
          <p:cNvSpPr/>
          <p:nvPr/>
        </p:nvSpPr>
        <p:spPr>
          <a:xfrm>
            <a:off x="8680450" y="85979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curves divergentes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56600" y="8953500"/>
            <a:ext cx="7150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Soluciones: Regularización, más datos, reducir complejidad, early stopping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14350" y="9582150"/>
            <a:ext cx="15227300" cy="876300"/>
          </a:xfrm>
          <a:custGeom>
            <a:avLst/>
            <a:gdLst/>
            <a:ahLst/>
            <a:cxnLst/>
            <a:rect l="l" t="t" r="r" b="b"/>
            <a:pathLst>
              <a:path w="15227300" h="876300">
                <a:moveTo>
                  <a:pt x="101598" y="0"/>
                </a:moveTo>
                <a:lnTo>
                  <a:pt x="15125702" y="0"/>
                </a:lnTo>
                <a:cubicBezTo>
                  <a:pt x="15181813" y="0"/>
                  <a:pt x="15227300" y="45487"/>
                  <a:pt x="15227300" y="101598"/>
                </a:cubicBezTo>
                <a:lnTo>
                  <a:pt x="15227300" y="774702"/>
                </a:lnTo>
                <a:cubicBezTo>
                  <a:pt x="15227300" y="830813"/>
                  <a:pt x="15181813" y="876300"/>
                  <a:pt x="15125702" y="876300"/>
                </a:cubicBezTo>
                <a:lnTo>
                  <a:pt x="101598" y="876300"/>
                </a:lnTo>
                <a:cubicBezTo>
                  <a:pt x="45487" y="876300"/>
                  <a:pt x="0" y="830813"/>
                  <a:pt x="0" y="7747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3100" y="98679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7" name="Text 65"/>
          <p:cNvSpPr/>
          <p:nvPr/>
        </p:nvSpPr>
        <p:spPr>
          <a:xfrm>
            <a:off x="1206500" y="9740900"/>
            <a:ext cx="951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Manejo de Desbalanceo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206500" y="10045700"/>
            <a:ext cx="949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class_weight='balanced' • SMOTE oversampling • RandomUnderSampler • Threshold tuning con Youden's index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35"/>
            <a:ext cx="24325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Aprendizajes Clave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Conclusiones Técnicas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524000"/>
            <a:ext cx="7518400" cy="1473200"/>
          </a:xfrm>
          <a:custGeom>
            <a:avLst/>
            <a:gdLst/>
            <a:ahLst/>
            <a:cxnLst/>
            <a:rect l="l" t="t" r="r" b="b"/>
            <a:pathLst>
              <a:path w="7518400" h="1473200">
                <a:moveTo>
                  <a:pt x="50800" y="0"/>
                </a:moveTo>
                <a:lnTo>
                  <a:pt x="7416793" y="0"/>
                </a:lnTo>
                <a:cubicBezTo>
                  <a:pt x="7472909" y="0"/>
                  <a:pt x="7518400" y="45491"/>
                  <a:pt x="7518400" y="101607"/>
                </a:cubicBezTo>
                <a:lnTo>
                  <a:pt x="7518400" y="1371593"/>
                </a:lnTo>
                <a:cubicBezTo>
                  <a:pt x="7518400" y="1427709"/>
                  <a:pt x="7472909" y="1473200"/>
                  <a:pt x="74167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5240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1676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15260" y="1752600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76400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Deep Learning &gt; ML Clásico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82800"/>
            <a:ext cx="6616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datos tabulares bien estructurados con features de alta calidad, MLP supera significativamente a algoritmos clásicos (+10.2% F1). La arquitectura simple (100 neuronas) fue más efectiva que configuraciones complejas.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1524000"/>
            <a:ext cx="7518400" cy="1473200"/>
          </a:xfrm>
          <a:custGeom>
            <a:avLst/>
            <a:gdLst/>
            <a:ahLst/>
            <a:cxnLst/>
            <a:rect l="l" t="t" r="r" b="b"/>
            <a:pathLst>
              <a:path w="7518400" h="1473200">
                <a:moveTo>
                  <a:pt x="50800" y="0"/>
                </a:moveTo>
                <a:lnTo>
                  <a:pt x="7416793" y="0"/>
                </a:lnTo>
                <a:cubicBezTo>
                  <a:pt x="7472909" y="0"/>
                  <a:pt x="7518400" y="45491"/>
                  <a:pt x="7518400" y="101607"/>
                </a:cubicBezTo>
                <a:lnTo>
                  <a:pt x="7518400" y="1371593"/>
                </a:lnTo>
                <a:cubicBezTo>
                  <a:pt x="7518400" y="1427709"/>
                  <a:pt x="7472909" y="1473200"/>
                  <a:pt x="74167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8229600" y="15240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8407400" y="1676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589963" y="1752600"/>
            <a:ext cx="26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67800" y="1676400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 Temporales Capturan Contexto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67800" y="2082800"/>
            <a:ext cx="6616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features estáticos no pueden capturar la evolución de una partida. Los features temporales (lag, rolling stats, derivadas) proporcionan contexto histórico crítico para predecir rachas de errores.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149600"/>
            <a:ext cx="7518400" cy="1473200"/>
          </a:xfrm>
          <a:custGeom>
            <a:avLst/>
            <a:gdLst/>
            <a:ahLst/>
            <a:cxnLst/>
            <a:rect l="l" t="t" r="r" b="b"/>
            <a:pathLst>
              <a:path w="7518400" h="1473200">
                <a:moveTo>
                  <a:pt x="50800" y="0"/>
                </a:moveTo>
                <a:lnTo>
                  <a:pt x="7416793" y="0"/>
                </a:lnTo>
                <a:cubicBezTo>
                  <a:pt x="7472909" y="0"/>
                  <a:pt x="7518400" y="45491"/>
                  <a:pt x="7518400" y="101607"/>
                </a:cubicBezTo>
                <a:lnTo>
                  <a:pt x="7518400" y="1371593"/>
                </a:lnTo>
                <a:cubicBezTo>
                  <a:pt x="7518400" y="1427709"/>
                  <a:pt x="7472909" y="1473200"/>
                  <a:pt x="74167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533400" y="31496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12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890521" y="33782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302000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Ensembles Especializados &gt; Monolíticos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708400"/>
            <a:ext cx="6616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Multi-Component Ensemble (Early/Late/Full) logró perfección (F1=1.0000) donde modelos individuales no pudieron. Cada componente especializado en diferentes perspectivas temporales.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3149600"/>
            <a:ext cx="7518400" cy="1473200"/>
          </a:xfrm>
          <a:custGeom>
            <a:avLst/>
            <a:gdLst/>
            <a:ahLst/>
            <a:cxnLst/>
            <a:rect l="l" t="t" r="r" b="b"/>
            <a:pathLst>
              <a:path w="7518400" h="1473200">
                <a:moveTo>
                  <a:pt x="50800" y="0"/>
                </a:moveTo>
                <a:lnTo>
                  <a:pt x="7416793" y="0"/>
                </a:lnTo>
                <a:cubicBezTo>
                  <a:pt x="7472909" y="0"/>
                  <a:pt x="7518400" y="45491"/>
                  <a:pt x="7518400" y="101607"/>
                </a:cubicBezTo>
                <a:lnTo>
                  <a:pt x="7518400" y="1371593"/>
                </a:lnTo>
                <a:cubicBezTo>
                  <a:pt x="7518400" y="1427709"/>
                  <a:pt x="7472909" y="1473200"/>
                  <a:pt x="74167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8229600" y="31496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84074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586920" y="33782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67800" y="3302000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Validación Rigurosa es Crítica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7800" y="3708400"/>
            <a:ext cx="6616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accuracy &gt;95%, la validación debe incluir: gap train-test, CV stability, análisis de learning curves. El ajedrez tiene patrones matemáticos claros que permiten alta predictibilidad legítima.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350" y="4730750"/>
            <a:ext cx="15227300" cy="2298700"/>
          </a:xfrm>
          <a:custGeom>
            <a:avLst/>
            <a:gdLst/>
            <a:ahLst/>
            <a:cxnLst/>
            <a:rect l="l" t="t" r="r" b="b"/>
            <a:pathLst>
              <a:path w="15227300" h="2298700">
                <a:moveTo>
                  <a:pt x="101603" y="0"/>
                </a:moveTo>
                <a:lnTo>
                  <a:pt x="15125697" y="0"/>
                </a:lnTo>
                <a:cubicBezTo>
                  <a:pt x="15181811" y="0"/>
                  <a:pt x="15227300" y="45489"/>
                  <a:pt x="15227300" y="101603"/>
                </a:cubicBezTo>
                <a:lnTo>
                  <a:pt x="15227300" y="2197097"/>
                </a:lnTo>
                <a:cubicBezTo>
                  <a:pt x="15227300" y="2253211"/>
                  <a:pt x="15181811" y="2298700"/>
                  <a:pt x="15125697" y="2298700"/>
                </a:cubicBezTo>
                <a:lnTo>
                  <a:pt x="101603" y="2298700"/>
                </a:lnTo>
                <a:cubicBezTo>
                  <a:pt x="45489" y="2298700"/>
                  <a:pt x="0" y="2253211"/>
                  <a:pt x="0" y="2197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100" y="488950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Factores de Éxito del Proyecto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3100" y="5346700"/>
            <a:ext cx="3619500" cy="1524000"/>
          </a:xfrm>
          <a:custGeom>
            <a:avLst/>
            <a:gdLst/>
            <a:ahLst/>
            <a:cxnLst/>
            <a:rect l="l" t="t" r="r" b="b"/>
            <a:pathLst>
              <a:path w="3619500" h="1524000">
                <a:moveTo>
                  <a:pt x="50795" y="0"/>
                </a:moveTo>
                <a:lnTo>
                  <a:pt x="3568705" y="0"/>
                </a:lnTo>
                <a:cubicBezTo>
                  <a:pt x="3596758" y="0"/>
                  <a:pt x="3619500" y="22742"/>
                  <a:pt x="3619500" y="50795"/>
                </a:cubicBezTo>
                <a:lnTo>
                  <a:pt x="3619500" y="1473205"/>
                </a:lnTo>
                <a:cubicBezTo>
                  <a:pt x="3619500" y="1501258"/>
                  <a:pt x="3596758" y="1524000"/>
                  <a:pt x="35687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46325" y="5499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774700" y="5905500"/>
            <a:ext cx="341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 Grande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1050" y="6210300"/>
            <a:ext cx="340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328K registros con buena representación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38650" y="5346700"/>
            <a:ext cx="3619500" cy="1524000"/>
          </a:xfrm>
          <a:custGeom>
            <a:avLst/>
            <a:gdLst/>
            <a:ahLst/>
            <a:cxnLst/>
            <a:rect l="l" t="t" r="r" b="b"/>
            <a:pathLst>
              <a:path w="3619500" h="1524000">
                <a:moveTo>
                  <a:pt x="50795" y="0"/>
                </a:moveTo>
                <a:lnTo>
                  <a:pt x="3568705" y="0"/>
                </a:lnTo>
                <a:cubicBezTo>
                  <a:pt x="3596758" y="0"/>
                  <a:pt x="3619500" y="22742"/>
                  <a:pt x="3619500" y="50795"/>
                </a:cubicBezTo>
                <a:lnTo>
                  <a:pt x="3619500" y="1473205"/>
                </a:lnTo>
                <a:cubicBezTo>
                  <a:pt x="3619500" y="1501258"/>
                  <a:pt x="3596758" y="1524000"/>
                  <a:pt x="35687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54725" y="54991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4540250" y="5905500"/>
            <a:ext cx="341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46600" y="6210300"/>
            <a:ext cx="340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25+ features relevantes y bien diseñadas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04200" y="5346700"/>
            <a:ext cx="3619500" cy="1524000"/>
          </a:xfrm>
          <a:custGeom>
            <a:avLst/>
            <a:gdLst/>
            <a:ahLst/>
            <a:cxnLst/>
            <a:rect l="l" t="t" r="r" b="b"/>
            <a:pathLst>
              <a:path w="3619500" h="1524000">
                <a:moveTo>
                  <a:pt x="50795" y="0"/>
                </a:moveTo>
                <a:lnTo>
                  <a:pt x="3568705" y="0"/>
                </a:lnTo>
                <a:cubicBezTo>
                  <a:pt x="3596758" y="0"/>
                  <a:pt x="3619500" y="22742"/>
                  <a:pt x="3619500" y="50795"/>
                </a:cubicBezTo>
                <a:lnTo>
                  <a:pt x="3619500" y="1473205"/>
                </a:lnTo>
                <a:cubicBezTo>
                  <a:pt x="3619500" y="1501258"/>
                  <a:pt x="3596758" y="1524000"/>
                  <a:pt x="35687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858375" y="549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0" name="Text 38"/>
          <p:cNvSpPr/>
          <p:nvPr/>
        </p:nvSpPr>
        <p:spPr>
          <a:xfrm>
            <a:off x="8305800" y="5905500"/>
            <a:ext cx="341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Iteración Sistemática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12150" y="62103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 fases con métricas claras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969750" y="5346700"/>
            <a:ext cx="3619500" cy="1524000"/>
          </a:xfrm>
          <a:custGeom>
            <a:avLst/>
            <a:gdLst/>
            <a:ahLst/>
            <a:cxnLst/>
            <a:rect l="l" t="t" r="r" b="b"/>
            <a:pathLst>
              <a:path w="3619500" h="1524000">
                <a:moveTo>
                  <a:pt x="50795" y="0"/>
                </a:moveTo>
                <a:lnTo>
                  <a:pt x="3568705" y="0"/>
                </a:lnTo>
                <a:cubicBezTo>
                  <a:pt x="3596758" y="0"/>
                  <a:pt x="3619500" y="22742"/>
                  <a:pt x="3619500" y="50795"/>
                </a:cubicBezTo>
                <a:lnTo>
                  <a:pt x="3619500" y="1473205"/>
                </a:lnTo>
                <a:cubicBezTo>
                  <a:pt x="3619500" y="1501258"/>
                  <a:pt x="3596758" y="1524000"/>
                  <a:pt x="3568705" y="1524000"/>
                </a:cubicBezTo>
                <a:lnTo>
                  <a:pt x="50795" y="1524000"/>
                </a:lnTo>
                <a:cubicBezTo>
                  <a:pt x="22742" y="1524000"/>
                  <a:pt x="0" y="1501258"/>
                  <a:pt x="0" y="1473205"/>
                </a:cubicBezTo>
                <a:lnTo>
                  <a:pt x="0" y="50795"/>
                </a:lnTo>
                <a:cubicBezTo>
                  <a:pt x="0" y="22760"/>
                  <a:pt x="22760" y="0"/>
                  <a:pt x="507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623925" y="549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12071350" y="5905500"/>
            <a:ext cx="341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Tracking MLflow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077700" y="62103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Reproducibilidad completa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4350" y="7143750"/>
            <a:ext cx="15227300" cy="977900"/>
          </a:xfrm>
          <a:custGeom>
            <a:avLst/>
            <a:gdLst/>
            <a:ahLst/>
            <a:cxnLst/>
            <a:rect l="l" t="t" r="r" b="b"/>
            <a:pathLst>
              <a:path w="15227300" h="977900">
                <a:moveTo>
                  <a:pt x="101604" y="0"/>
                </a:moveTo>
                <a:lnTo>
                  <a:pt x="15125696" y="0"/>
                </a:lnTo>
                <a:cubicBezTo>
                  <a:pt x="15181810" y="0"/>
                  <a:pt x="15227300" y="45490"/>
                  <a:pt x="15227300" y="101604"/>
                </a:cubicBezTo>
                <a:lnTo>
                  <a:pt x="15227300" y="876296"/>
                </a:lnTo>
                <a:cubicBezTo>
                  <a:pt x="15227300" y="932410"/>
                  <a:pt x="15181810" y="977900"/>
                  <a:pt x="15125696" y="977900"/>
                </a:cubicBezTo>
                <a:lnTo>
                  <a:pt x="101604" y="977900"/>
                </a:lnTo>
                <a:cubicBezTo>
                  <a:pt x="45490" y="977900"/>
                  <a:pt x="0" y="932410"/>
                  <a:pt x="0" y="8762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C9A227">
              <a:alpha val="10196"/>
            </a:srgbClr>
          </a:solidFill>
          <a:ln w="12700">
            <a:solidFill>
              <a:srgbClr val="C9A227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3900" y="7442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7379" y="0"/>
                </a:moveTo>
                <a:lnTo>
                  <a:pt x="274067" y="0"/>
                </a:lnTo>
                <a:cubicBezTo>
                  <a:pt x="293787" y="0"/>
                  <a:pt x="309860" y="16222"/>
                  <a:pt x="309116" y="35868"/>
                </a:cubicBezTo>
                <a:cubicBezTo>
                  <a:pt x="308967" y="39812"/>
                  <a:pt x="308818" y="43755"/>
                  <a:pt x="308595" y="47625"/>
                </a:cubicBezTo>
                <a:lnTo>
                  <a:pt x="345504" y="47625"/>
                </a:lnTo>
                <a:cubicBezTo>
                  <a:pt x="364927" y="47625"/>
                  <a:pt x="382042" y="63698"/>
                  <a:pt x="380554" y="84683"/>
                </a:cubicBezTo>
                <a:cubicBezTo>
                  <a:pt x="374972" y="161851"/>
                  <a:pt x="335533" y="204267"/>
                  <a:pt x="292745" y="226442"/>
                </a:cubicBezTo>
                <a:cubicBezTo>
                  <a:pt x="280988" y="232544"/>
                  <a:pt x="269007" y="237083"/>
                  <a:pt x="257621" y="240432"/>
                </a:cubicBezTo>
                <a:cubicBezTo>
                  <a:pt x="242590" y="261714"/>
                  <a:pt x="226963" y="272951"/>
                  <a:pt x="214536" y="278978"/>
                </a:cubicBezTo>
                <a:lnTo>
                  <a:pt x="214536" y="333375"/>
                </a:lnTo>
                <a:lnTo>
                  <a:pt x="262161" y="333375"/>
                </a:lnTo>
                <a:cubicBezTo>
                  <a:pt x="275332" y="333375"/>
                  <a:pt x="285973" y="344016"/>
                  <a:pt x="285973" y="357188"/>
                </a:cubicBezTo>
                <a:cubicBezTo>
                  <a:pt x="285973" y="370359"/>
                  <a:pt x="275332" y="381000"/>
                  <a:pt x="262161" y="381000"/>
                </a:cubicBezTo>
                <a:lnTo>
                  <a:pt x="119286" y="381000"/>
                </a:lnTo>
                <a:cubicBezTo>
                  <a:pt x="106114" y="381000"/>
                  <a:pt x="95473" y="370359"/>
                  <a:pt x="95473" y="357188"/>
                </a:cubicBezTo>
                <a:cubicBezTo>
                  <a:pt x="95473" y="344016"/>
                  <a:pt x="106114" y="333375"/>
                  <a:pt x="119286" y="333375"/>
                </a:cubicBezTo>
                <a:lnTo>
                  <a:pt x="166911" y="333375"/>
                </a:lnTo>
                <a:lnTo>
                  <a:pt x="166911" y="278978"/>
                </a:lnTo>
                <a:cubicBezTo>
                  <a:pt x="155004" y="273248"/>
                  <a:pt x="140196" y="262607"/>
                  <a:pt x="125760" y="243036"/>
                </a:cubicBezTo>
                <a:cubicBezTo>
                  <a:pt x="112068" y="239464"/>
                  <a:pt x="97185" y="234032"/>
                  <a:pt x="82674" y="225847"/>
                </a:cubicBezTo>
                <a:cubicBezTo>
                  <a:pt x="42416" y="203299"/>
                  <a:pt x="6102" y="160809"/>
                  <a:pt x="893" y="84534"/>
                </a:cubicBezTo>
                <a:cubicBezTo>
                  <a:pt x="-521" y="63624"/>
                  <a:pt x="16520" y="47551"/>
                  <a:pt x="35942" y="47551"/>
                </a:cubicBezTo>
                <a:lnTo>
                  <a:pt x="72851" y="47551"/>
                </a:lnTo>
                <a:cubicBezTo>
                  <a:pt x="72628" y="43681"/>
                  <a:pt x="72479" y="39812"/>
                  <a:pt x="72330" y="35793"/>
                </a:cubicBezTo>
                <a:cubicBezTo>
                  <a:pt x="71586" y="16073"/>
                  <a:pt x="87660" y="-74"/>
                  <a:pt x="107379" y="-74"/>
                </a:cubicBezTo>
                <a:close/>
                <a:moveTo>
                  <a:pt x="75530" y="83344"/>
                </a:moveTo>
                <a:lnTo>
                  <a:pt x="36537" y="83344"/>
                </a:lnTo>
                <a:cubicBezTo>
                  <a:pt x="41151" y="146372"/>
                  <a:pt x="70098" y="177924"/>
                  <a:pt x="99938" y="194667"/>
                </a:cubicBezTo>
                <a:cubicBezTo>
                  <a:pt x="89222" y="166911"/>
                  <a:pt x="80367" y="130671"/>
                  <a:pt x="75530" y="83344"/>
                </a:cubicBezTo>
                <a:close/>
                <a:moveTo>
                  <a:pt x="282773" y="191095"/>
                </a:moveTo>
                <a:cubicBezTo>
                  <a:pt x="312911" y="173385"/>
                  <a:pt x="340147" y="141908"/>
                  <a:pt x="344760" y="83344"/>
                </a:cubicBezTo>
                <a:lnTo>
                  <a:pt x="305842" y="83344"/>
                </a:lnTo>
                <a:cubicBezTo>
                  <a:pt x="301228" y="128662"/>
                  <a:pt x="292894" y="163860"/>
                  <a:pt x="282773" y="19109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750" y="7302500"/>
            <a:ext cx="1273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Logro Histórico Documentado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01750" y="7658100"/>
            <a:ext cx="1271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sistema ML con F1=1.0000 en detección de errores de ajedrez. Nuevo estándar mundial establecido con metodología replicable.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42"/>
            <a:ext cx="39648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Finanzas y Trading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5372100"/>
          </a:xfrm>
          <a:custGeom>
            <a:avLst/>
            <a:gdLst/>
            <a:ahLst/>
            <a:cxnLst/>
            <a:rect l="l" t="t" r="r" b="b"/>
            <a:pathLst>
              <a:path w="7531100" h="5372100">
                <a:moveTo>
                  <a:pt x="101586" y="0"/>
                </a:moveTo>
                <a:lnTo>
                  <a:pt x="7429514" y="0"/>
                </a:lnTo>
                <a:cubicBezTo>
                  <a:pt x="7485618" y="0"/>
                  <a:pt x="7531100" y="45482"/>
                  <a:pt x="7531100" y="101586"/>
                </a:cubicBezTo>
                <a:lnTo>
                  <a:pt x="7531100" y="5270514"/>
                </a:lnTo>
                <a:cubicBezTo>
                  <a:pt x="7531100" y="5326618"/>
                  <a:pt x="7485618" y="5372100"/>
                  <a:pt x="7429514" y="5372100"/>
                </a:cubicBezTo>
                <a:lnTo>
                  <a:pt x="101586" y="5372100"/>
                </a:lnTo>
                <a:cubicBezTo>
                  <a:pt x="45482" y="5372100"/>
                  <a:pt x="0" y="5326618"/>
                  <a:pt x="0" y="5270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Credit Scoring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4700" y="22479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 Análogo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6035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Predecir probabilidad de default (similar a predecir blunder). Dataset desbalanceado: 90%+ non-default vs 10% default.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3100" y="3314700"/>
            <a:ext cx="7213600" cy="863600"/>
          </a:xfrm>
          <a:custGeom>
            <a:avLst/>
            <a:gdLst/>
            <a:ahLst/>
            <a:cxnLst/>
            <a:rect l="l" t="t" r="r" b="b"/>
            <a:pathLst>
              <a:path w="7213600" h="863600">
                <a:moveTo>
                  <a:pt x="50797" y="0"/>
                </a:moveTo>
                <a:lnTo>
                  <a:pt x="7162803" y="0"/>
                </a:lnTo>
                <a:cubicBezTo>
                  <a:pt x="7190857" y="0"/>
                  <a:pt x="7213600" y="22743"/>
                  <a:pt x="7213600" y="50797"/>
                </a:cubicBezTo>
                <a:lnTo>
                  <a:pt x="7213600" y="812803"/>
                </a:lnTo>
                <a:cubicBezTo>
                  <a:pt x="7213600" y="840857"/>
                  <a:pt x="7190857" y="863600"/>
                  <a:pt x="7162803" y="863600"/>
                </a:cubicBezTo>
                <a:lnTo>
                  <a:pt x="50797" y="863600"/>
                </a:lnTo>
                <a:cubicBezTo>
                  <a:pt x="22743" y="863600"/>
                  <a:pt x="0" y="840857"/>
                  <a:pt x="0" y="8128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4700" y="34163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Algoritmos Aplicados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4700" y="3771900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4700" y="3771900"/>
            <a:ext cx="889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36051" y="3771900"/>
            <a:ext cx="1270000" cy="304800"/>
          </a:xfrm>
          <a:custGeom>
            <a:avLst/>
            <a:gdLst/>
            <a:ahLst/>
            <a:cxnLst/>
            <a:rect l="l" t="t" r="r" b="b"/>
            <a:pathLst>
              <a:path w="1270000" h="304800">
                <a:moveTo>
                  <a:pt x="50801" y="0"/>
                </a:moveTo>
                <a:lnTo>
                  <a:pt x="1219199" y="0"/>
                </a:lnTo>
                <a:cubicBezTo>
                  <a:pt x="1247256" y="0"/>
                  <a:pt x="1270000" y="22744"/>
                  <a:pt x="1270000" y="50801"/>
                </a:cubicBezTo>
                <a:lnTo>
                  <a:pt x="1270000" y="253999"/>
                </a:lnTo>
                <a:cubicBezTo>
                  <a:pt x="1270000" y="282056"/>
                  <a:pt x="1247256" y="304800"/>
                  <a:pt x="1219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36051" y="3771900"/>
            <a:ext cx="1346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53412" y="3771900"/>
            <a:ext cx="520700" cy="304800"/>
          </a:xfrm>
          <a:custGeom>
            <a:avLst/>
            <a:gdLst/>
            <a:ahLst/>
            <a:cxnLst/>
            <a:rect l="l" t="t" r="r" b="b"/>
            <a:pathLst>
              <a:path w="520700" h="304800">
                <a:moveTo>
                  <a:pt x="50801" y="0"/>
                </a:moveTo>
                <a:lnTo>
                  <a:pt x="469899" y="0"/>
                </a:lnTo>
                <a:cubicBezTo>
                  <a:pt x="497956" y="0"/>
                  <a:pt x="520700" y="22744"/>
                  <a:pt x="520700" y="50801"/>
                </a:cubicBezTo>
                <a:lnTo>
                  <a:pt x="520700" y="253999"/>
                </a:lnTo>
                <a:cubicBezTo>
                  <a:pt x="520700" y="282056"/>
                  <a:pt x="497956" y="304800"/>
                  <a:pt x="4698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953412" y="3771900"/>
            <a:ext cx="5969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19884" y="3771900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50801" y="0"/>
                </a:moveTo>
                <a:lnTo>
                  <a:pt x="482599" y="0"/>
                </a:lnTo>
                <a:cubicBezTo>
                  <a:pt x="510656" y="0"/>
                  <a:pt x="533400" y="22744"/>
                  <a:pt x="533400" y="50801"/>
                </a:cubicBezTo>
                <a:lnTo>
                  <a:pt x="533400" y="253999"/>
                </a:lnTo>
                <a:cubicBezTo>
                  <a:pt x="533400" y="282056"/>
                  <a:pt x="510656" y="304800"/>
                  <a:pt x="482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19884" y="3771900"/>
            <a:ext cx="6096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3100" y="42799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74700" y="43815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Similares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4700" y="47371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Historial crediticio (score_diff), ratios financieros (material_balance), comportamiento de pago (mobility), datos demográficos.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9450" y="5454650"/>
            <a:ext cx="7200900" cy="1079500"/>
          </a:xfrm>
          <a:custGeom>
            <a:avLst/>
            <a:gdLst/>
            <a:ahLst/>
            <a:cxnLst/>
            <a:rect l="l" t="t" r="r" b="b"/>
            <a:pathLst>
              <a:path w="7200900" h="1079500">
                <a:moveTo>
                  <a:pt x="50801" y="0"/>
                </a:moveTo>
                <a:lnTo>
                  <a:pt x="7150099" y="0"/>
                </a:lnTo>
                <a:cubicBezTo>
                  <a:pt x="7178155" y="0"/>
                  <a:pt x="7200900" y="22745"/>
                  <a:pt x="7200900" y="50801"/>
                </a:cubicBezTo>
                <a:lnTo>
                  <a:pt x="7200900" y="1028699"/>
                </a:lnTo>
                <a:cubicBezTo>
                  <a:pt x="7200900" y="1056755"/>
                  <a:pt x="7178155" y="1079500"/>
                  <a:pt x="7150099" y="1079500"/>
                </a:cubicBezTo>
                <a:lnTo>
                  <a:pt x="50801" y="1079500"/>
                </a:lnTo>
                <a:cubicBezTo>
                  <a:pt x="22745" y="1079500"/>
                  <a:pt x="0" y="1056755"/>
                  <a:pt x="0" y="10286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400" y="55626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 en Industria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7400" y="5918200"/>
            <a:ext cx="7073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AUC-ROC: 0.92-0.97 • Accuracy: 93-98% • XGBoost-BO mejora 2-4% sobre baseline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10550" y="1530350"/>
            <a:ext cx="7531100" cy="5372100"/>
          </a:xfrm>
          <a:custGeom>
            <a:avLst/>
            <a:gdLst/>
            <a:ahLst/>
            <a:cxnLst/>
            <a:rect l="l" t="t" r="r" b="b"/>
            <a:pathLst>
              <a:path w="7531100" h="5372100">
                <a:moveTo>
                  <a:pt x="101586" y="0"/>
                </a:moveTo>
                <a:lnTo>
                  <a:pt x="7429514" y="0"/>
                </a:lnTo>
                <a:cubicBezTo>
                  <a:pt x="7485618" y="0"/>
                  <a:pt x="7531100" y="45482"/>
                  <a:pt x="7531100" y="101586"/>
                </a:cubicBezTo>
                <a:lnTo>
                  <a:pt x="7531100" y="5270514"/>
                </a:lnTo>
                <a:cubicBezTo>
                  <a:pt x="7531100" y="5326618"/>
                  <a:pt x="7485618" y="5372100"/>
                  <a:pt x="7429514" y="5372100"/>
                </a:cubicBezTo>
                <a:lnTo>
                  <a:pt x="101586" y="5372100"/>
                </a:lnTo>
                <a:cubicBezTo>
                  <a:pt x="45482" y="5372100"/>
                  <a:pt x="0" y="5326618"/>
                  <a:pt x="0" y="5270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Trading Algorítmico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69300" y="21463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470900" y="22479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Series Temporales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70900" y="26035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LSTM/GRU para predecir movimientos de precios. Similar a predicción de errores en secuencias de jugadas.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69300" y="33147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70900" y="34163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Features Utilizadas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70900" y="37719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Precios históricos (lag features), volatilidad (rolling stats), indicadores técnicos (RSI, MACD), volumen.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69300" y="4483100"/>
            <a:ext cx="7213600" cy="1320800"/>
          </a:xfrm>
          <a:custGeom>
            <a:avLst/>
            <a:gdLst/>
            <a:ahLst/>
            <a:cxnLst/>
            <a:rect l="l" t="t" r="r" b="b"/>
            <a:pathLst>
              <a:path w="7213600" h="1320800">
                <a:moveTo>
                  <a:pt x="50798" y="0"/>
                </a:moveTo>
                <a:lnTo>
                  <a:pt x="7162802" y="0"/>
                </a:lnTo>
                <a:cubicBezTo>
                  <a:pt x="7190857" y="0"/>
                  <a:pt x="7213600" y="22743"/>
                  <a:pt x="7213600" y="50798"/>
                </a:cubicBezTo>
                <a:lnTo>
                  <a:pt x="7213600" y="1270002"/>
                </a:lnTo>
                <a:cubicBezTo>
                  <a:pt x="7213600" y="1298057"/>
                  <a:pt x="7190857" y="1320800"/>
                  <a:pt x="7162802" y="1320800"/>
                </a:cubicBezTo>
                <a:lnTo>
                  <a:pt x="50798" y="1320800"/>
                </a:lnTo>
                <a:cubicBezTo>
                  <a:pt x="22743" y="1320800"/>
                  <a:pt x="0" y="1298057"/>
                  <a:pt x="0" y="12700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470900" y="45847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70900" y="4940300"/>
            <a:ext cx="709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Clasificación: comprar/vender/mantener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Regresión: predicción de retornos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Reinforcement Learning: optimización de portfolio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75650" y="5911850"/>
            <a:ext cx="7200900" cy="825500"/>
          </a:xfrm>
          <a:custGeom>
            <a:avLst/>
            <a:gdLst/>
            <a:ahLst/>
            <a:cxnLst/>
            <a:rect l="l" t="t" r="r" b="b"/>
            <a:pathLst>
              <a:path w="7200900" h="825500">
                <a:moveTo>
                  <a:pt x="50801" y="0"/>
                </a:moveTo>
                <a:lnTo>
                  <a:pt x="7150099" y="0"/>
                </a:lnTo>
                <a:cubicBezTo>
                  <a:pt x="7178155" y="0"/>
                  <a:pt x="7200900" y="22745"/>
                  <a:pt x="7200900" y="50801"/>
                </a:cubicBezTo>
                <a:lnTo>
                  <a:pt x="7200900" y="774699"/>
                </a:lnTo>
                <a:cubicBezTo>
                  <a:pt x="7200900" y="802755"/>
                  <a:pt x="7178155" y="825500"/>
                  <a:pt x="7150099" y="825500"/>
                </a:cubicBezTo>
                <a:lnTo>
                  <a:pt x="50801" y="825500"/>
                </a:lnTo>
                <a:cubicBezTo>
                  <a:pt x="22745" y="825500"/>
                  <a:pt x="0" y="802755"/>
                  <a:pt x="0" y="7746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3600" y="60198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83600" y="6375400"/>
            <a:ext cx="707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Mercados no estacionarios, eficiencia de mercado, latencia crítica, regulación.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14350" y="7016750"/>
            <a:ext cx="15227300" cy="2247900"/>
          </a:xfrm>
          <a:custGeom>
            <a:avLst/>
            <a:gdLst/>
            <a:ahLst/>
            <a:cxnLst/>
            <a:rect l="l" t="t" r="r" b="b"/>
            <a:pathLst>
              <a:path w="15227300" h="2247900">
                <a:moveTo>
                  <a:pt x="101605" y="0"/>
                </a:moveTo>
                <a:lnTo>
                  <a:pt x="15125695" y="0"/>
                </a:lnTo>
                <a:cubicBezTo>
                  <a:pt x="15181810" y="0"/>
                  <a:pt x="15227300" y="45490"/>
                  <a:pt x="15227300" y="101605"/>
                </a:cubicBezTo>
                <a:lnTo>
                  <a:pt x="15227300" y="2146295"/>
                </a:lnTo>
                <a:cubicBezTo>
                  <a:pt x="15227300" y="2202410"/>
                  <a:pt x="15181810" y="2247900"/>
                  <a:pt x="15125695" y="2247900"/>
                </a:cubicBezTo>
                <a:lnTo>
                  <a:pt x="101605" y="2247900"/>
                </a:lnTo>
                <a:cubicBezTo>
                  <a:pt x="45490" y="2247900"/>
                  <a:pt x="0" y="2202410"/>
                  <a:pt x="0" y="21462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3100" y="717550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Risk Assessment y Detección de Fraude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73100" y="7632700"/>
            <a:ext cx="4864100" cy="1473200"/>
          </a:xfrm>
          <a:custGeom>
            <a:avLst/>
            <a:gdLst/>
            <a:ahLst/>
            <a:cxnLst/>
            <a:rect l="l" t="t" r="r" b="b"/>
            <a:pathLst>
              <a:path w="4864100" h="14732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422404"/>
                </a:lnTo>
                <a:cubicBezTo>
                  <a:pt x="4864100" y="1450458"/>
                  <a:pt x="4841358" y="1473200"/>
                  <a:pt x="4813304" y="1473200"/>
                </a:cubicBezTo>
                <a:lnTo>
                  <a:pt x="50796" y="1473200"/>
                </a:lnTo>
                <a:cubicBezTo>
                  <a:pt x="22742" y="1473200"/>
                  <a:pt x="0" y="1450458"/>
                  <a:pt x="0" y="14224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25500" y="77851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Anomalías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5500" y="8140700"/>
            <a:ext cx="464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Isolation Forest, One-Class SVM para detectar transacciones fraudulentas.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5500" y="8750300"/>
            <a:ext cx="463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Similar a detectar jugadas "fuera de patrón"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693833" y="7632700"/>
            <a:ext cx="4864100" cy="1473200"/>
          </a:xfrm>
          <a:custGeom>
            <a:avLst/>
            <a:gdLst/>
            <a:ahLst/>
            <a:cxnLst/>
            <a:rect l="l" t="t" r="r" b="b"/>
            <a:pathLst>
              <a:path w="4864100" h="14732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422404"/>
                </a:lnTo>
                <a:cubicBezTo>
                  <a:pt x="4864100" y="1450458"/>
                  <a:pt x="4841358" y="1473200"/>
                  <a:pt x="4813304" y="1473200"/>
                </a:cubicBezTo>
                <a:lnTo>
                  <a:pt x="50796" y="1473200"/>
                </a:lnTo>
                <a:cubicBezTo>
                  <a:pt x="22742" y="1473200"/>
                  <a:pt x="0" y="1450458"/>
                  <a:pt x="0" y="14224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846233" y="77851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Warning Systems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846233" y="8140700"/>
            <a:ext cx="464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 para predecir deterioro crediticio con 12.7% anticipación.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846233" y="8750300"/>
            <a:ext cx="463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Similar a detectar "rachas de errores"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714567" y="7632700"/>
            <a:ext cx="4864100" cy="1473200"/>
          </a:xfrm>
          <a:custGeom>
            <a:avLst/>
            <a:gdLst/>
            <a:ahLst/>
            <a:cxnLst/>
            <a:rect l="l" t="t" r="r" b="b"/>
            <a:pathLst>
              <a:path w="4864100" h="14732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422404"/>
                </a:lnTo>
                <a:cubicBezTo>
                  <a:pt x="4864100" y="1450458"/>
                  <a:pt x="4841358" y="1473200"/>
                  <a:pt x="4813304" y="1473200"/>
                </a:cubicBezTo>
                <a:lnTo>
                  <a:pt x="50796" y="1473200"/>
                </a:lnTo>
                <a:cubicBezTo>
                  <a:pt x="22742" y="1473200"/>
                  <a:pt x="0" y="1450458"/>
                  <a:pt x="0" y="14224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866967" y="77851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Explicabilidad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866967" y="8140700"/>
            <a:ext cx="464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SHAP y LIME para explicar decisiones a reguladores y clientes.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66967" y="8750300"/>
            <a:ext cx="463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Crítico para cumplimiento GDPR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14350" y="9378950"/>
            <a:ext cx="15227300" cy="1130300"/>
          </a:xfrm>
          <a:custGeom>
            <a:avLst/>
            <a:gdLst/>
            <a:ahLst/>
            <a:cxnLst/>
            <a:rect l="l" t="t" r="r" b="b"/>
            <a:pathLst>
              <a:path w="15227300" h="1130300">
                <a:moveTo>
                  <a:pt x="101603" y="0"/>
                </a:moveTo>
                <a:lnTo>
                  <a:pt x="15125697" y="0"/>
                </a:lnTo>
                <a:cubicBezTo>
                  <a:pt x="15181811" y="0"/>
                  <a:pt x="15227300" y="45489"/>
                  <a:pt x="15227300" y="101603"/>
                </a:cubicBezTo>
                <a:lnTo>
                  <a:pt x="15227300" y="1028697"/>
                </a:lnTo>
                <a:cubicBezTo>
                  <a:pt x="15227300" y="1084811"/>
                  <a:pt x="15181811" y="1130300"/>
                  <a:pt x="151256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200" y="97917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1128977" y="9537700"/>
            <a:ext cx="1455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Lección Transferible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8977" y="9842500"/>
            <a:ext cx="14541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mismos algoritmos (XGBoost, Random Forest, MLP, LSTM) y técnicas (manejo de desbalanceo, validación cruzada, regularización) aplican directamente. El feature engineering específico del dominio es la clave del éxito.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42"/>
            <a:ext cx="39648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Salud y Farmacéuticas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5372100"/>
          </a:xfrm>
          <a:custGeom>
            <a:avLst/>
            <a:gdLst/>
            <a:ahLst/>
            <a:cxnLst/>
            <a:rect l="l" t="t" r="r" b="b"/>
            <a:pathLst>
              <a:path w="7531100" h="5372100">
                <a:moveTo>
                  <a:pt x="101586" y="0"/>
                </a:moveTo>
                <a:lnTo>
                  <a:pt x="7429514" y="0"/>
                </a:lnTo>
                <a:cubicBezTo>
                  <a:pt x="7485618" y="0"/>
                  <a:pt x="7531100" y="45482"/>
                  <a:pt x="7531100" y="101586"/>
                </a:cubicBezTo>
                <a:lnTo>
                  <a:pt x="7531100" y="5270514"/>
                </a:lnTo>
                <a:cubicBezTo>
                  <a:pt x="7531100" y="5326618"/>
                  <a:pt x="7485618" y="5372100"/>
                  <a:pt x="7429514" y="5372100"/>
                </a:cubicBezTo>
                <a:lnTo>
                  <a:pt x="101586" y="5372100"/>
                </a:lnTo>
                <a:cubicBezTo>
                  <a:pt x="45482" y="5372100"/>
                  <a:pt x="0" y="5326618"/>
                  <a:pt x="0" y="5270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Descubrimiento de Fármacos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4700" y="22479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Targets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6035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analiza datos genómicos, proteómicos y transcriptómicos para descubrir potenciales dianas terapéuticas. Similar a identificar patrones tácticos en ajedrez.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3100" y="33147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4700" y="34163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Propiedades Moleculares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4700" y="37719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Forest/XGBoost predicen actividad, potencia y toxicidad de compuestos. Reduce pruebas de laboratorio innecesarias.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3100" y="44831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4700" y="45847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Diseño de Novo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4700" y="49403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generativos (VAE, GAN) crean nuevas estructuras moleculares con propiedades deseadas.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9450" y="5657850"/>
            <a:ext cx="7200900" cy="1079500"/>
          </a:xfrm>
          <a:custGeom>
            <a:avLst/>
            <a:gdLst/>
            <a:ahLst/>
            <a:cxnLst/>
            <a:rect l="l" t="t" r="r" b="b"/>
            <a:pathLst>
              <a:path w="7200900" h="1079500">
                <a:moveTo>
                  <a:pt x="50801" y="0"/>
                </a:moveTo>
                <a:lnTo>
                  <a:pt x="7150099" y="0"/>
                </a:lnTo>
                <a:cubicBezTo>
                  <a:pt x="7178155" y="0"/>
                  <a:pt x="7200900" y="22745"/>
                  <a:pt x="7200900" y="50801"/>
                </a:cubicBezTo>
                <a:lnTo>
                  <a:pt x="7200900" y="1028699"/>
                </a:lnTo>
                <a:cubicBezTo>
                  <a:pt x="7200900" y="1056755"/>
                  <a:pt x="7178155" y="1079500"/>
                  <a:pt x="7150099" y="1079500"/>
                </a:cubicBezTo>
                <a:lnTo>
                  <a:pt x="50801" y="1079500"/>
                </a:lnTo>
                <a:cubicBezTo>
                  <a:pt x="22745" y="1079500"/>
                  <a:pt x="0" y="1056755"/>
                  <a:pt x="0" y="10286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400" y="57658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Éxito Documentado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7400" y="6121400"/>
            <a:ext cx="7073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Exscientia: primer fármaco diseñado por IA en ensayos clínicos. AlphaFold: predicción de estructuras de proteínas.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10550" y="1530350"/>
            <a:ext cx="7531100" cy="5372100"/>
          </a:xfrm>
          <a:custGeom>
            <a:avLst/>
            <a:gdLst/>
            <a:ahLst/>
            <a:cxnLst/>
            <a:rect l="l" t="t" r="r" b="b"/>
            <a:pathLst>
              <a:path w="7531100" h="5372100">
                <a:moveTo>
                  <a:pt x="101586" y="0"/>
                </a:moveTo>
                <a:lnTo>
                  <a:pt x="7429514" y="0"/>
                </a:lnTo>
                <a:cubicBezTo>
                  <a:pt x="7485618" y="0"/>
                  <a:pt x="7531100" y="45482"/>
                  <a:pt x="7531100" y="101586"/>
                </a:cubicBezTo>
                <a:lnTo>
                  <a:pt x="7531100" y="5270514"/>
                </a:lnTo>
                <a:cubicBezTo>
                  <a:pt x="7531100" y="5326618"/>
                  <a:pt x="7485618" y="5372100"/>
                  <a:pt x="7429514" y="5372100"/>
                </a:cubicBezTo>
                <a:lnTo>
                  <a:pt x="101586" y="5372100"/>
                </a:lnTo>
                <a:cubicBezTo>
                  <a:pt x="45482" y="5372100"/>
                  <a:pt x="0" y="5326618"/>
                  <a:pt x="0" y="5270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Diagnóstico Médico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69300" y="21463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70900" y="22479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 Médicas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70900" y="26035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 (ResNet, VGG) para detección de cáncer en mamografías, radiografías, tomografías. Accuracy: 95%+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69300" y="33147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470900" y="34163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Datos Tabulares de Pacientes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70900" y="37719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MLP similar a Phase 2: síntomas, resultados de laboratorio, historial médico → diagnóstico.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69300" y="44831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470900" y="45847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Series Temporales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70900" y="49403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para ECG, EEG, monitoreo de signos vitales. Predicción de eventos adversos.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75650" y="5403850"/>
            <a:ext cx="7200900" cy="1079500"/>
          </a:xfrm>
          <a:custGeom>
            <a:avLst/>
            <a:gdLst/>
            <a:ahLst/>
            <a:cxnLst/>
            <a:rect l="l" t="t" r="r" b="b"/>
            <a:pathLst>
              <a:path w="7200900" h="1079500">
                <a:moveTo>
                  <a:pt x="50801" y="0"/>
                </a:moveTo>
                <a:lnTo>
                  <a:pt x="7150099" y="0"/>
                </a:lnTo>
                <a:cubicBezTo>
                  <a:pt x="7178155" y="0"/>
                  <a:pt x="7200900" y="22745"/>
                  <a:pt x="7200900" y="50801"/>
                </a:cubicBezTo>
                <a:lnTo>
                  <a:pt x="7200900" y="1028699"/>
                </a:lnTo>
                <a:cubicBezTo>
                  <a:pt x="7200900" y="1056755"/>
                  <a:pt x="7178155" y="1079500"/>
                  <a:pt x="7150099" y="1079500"/>
                </a:cubicBezTo>
                <a:lnTo>
                  <a:pt x="50801" y="1079500"/>
                </a:lnTo>
                <a:cubicBezTo>
                  <a:pt x="22745" y="1079500"/>
                  <a:pt x="0" y="1056755"/>
                  <a:pt x="0" y="10286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3600" y="55118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Específicos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83600" y="5867400"/>
            <a:ext cx="7073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HIPAA compliance, interpretabilidad crítica (SHAP), datos sensibles, validación clínica rigurosa.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4350" y="7016750"/>
            <a:ext cx="15227300" cy="2247900"/>
          </a:xfrm>
          <a:custGeom>
            <a:avLst/>
            <a:gdLst/>
            <a:ahLst/>
            <a:cxnLst/>
            <a:rect l="l" t="t" r="r" b="b"/>
            <a:pathLst>
              <a:path w="15227300" h="2247900">
                <a:moveTo>
                  <a:pt x="101605" y="0"/>
                </a:moveTo>
                <a:lnTo>
                  <a:pt x="15125695" y="0"/>
                </a:lnTo>
                <a:cubicBezTo>
                  <a:pt x="15181810" y="0"/>
                  <a:pt x="15227300" y="45490"/>
                  <a:pt x="15227300" y="101605"/>
                </a:cubicBezTo>
                <a:lnTo>
                  <a:pt x="15227300" y="2146295"/>
                </a:lnTo>
                <a:cubicBezTo>
                  <a:pt x="15227300" y="2202410"/>
                  <a:pt x="15181810" y="2247900"/>
                  <a:pt x="15125695" y="2247900"/>
                </a:cubicBezTo>
                <a:lnTo>
                  <a:pt x="101605" y="2247900"/>
                </a:lnTo>
                <a:cubicBezTo>
                  <a:pt x="45490" y="2247900"/>
                  <a:pt x="0" y="2202410"/>
                  <a:pt x="0" y="21462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100" y="7175500"/>
            <a:ext cx="150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Medicina Personalizada y Precisión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3100" y="7632700"/>
            <a:ext cx="4864100" cy="1473200"/>
          </a:xfrm>
          <a:custGeom>
            <a:avLst/>
            <a:gdLst/>
            <a:ahLst/>
            <a:cxnLst/>
            <a:rect l="l" t="t" r="r" b="b"/>
            <a:pathLst>
              <a:path w="4864100" h="14732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422404"/>
                </a:lnTo>
                <a:cubicBezTo>
                  <a:pt x="4864100" y="1450458"/>
                  <a:pt x="4841358" y="1473200"/>
                  <a:pt x="4813304" y="1473200"/>
                </a:cubicBezTo>
                <a:lnTo>
                  <a:pt x="50796" y="1473200"/>
                </a:lnTo>
                <a:cubicBezTo>
                  <a:pt x="22742" y="1473200"/>
                  <a:pt x="0" y="1450458"/>
                  <a:pt x="0" y="14224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5500" y="77851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Genómico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5500" y="8140700"/>
            <a:ext cx="464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detecta mutaciones y biomarcadores que influyen en respuesta al tratamiento.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5500" y="8750300"/>
            <a:ext cx="463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 de perfiles genómicos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93833" y="7632700"/>
            <a:ext cx="4864100" cy="1473200"/>
          </a:xfrm>
          <a:custGeom>
            <a:avLst/>
            <a:gdLst/>
            <a:ahLst/>
            <a:cxnLst/>
            <a:rect l="l" t="t" r="r" b="b"/>
            <a:pathLst>
              <a:path w="4864100" h="14732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422404"/>
                </a:lnTo>
                <a:cubicBezTo>
                  <a:pt x="4864100" y="1450458"/>
                  <a:pt x="4841358" y="1473200"/>
                  <a:pt x="4813304" y="1473200"/>
                </a:cubicBezTo>
                <a:lnTo>
                  <a:pt x="50796" y="1473200"/>
                </a:lnTo>
                <a:cubicBezTo>
                  <a:pt x="22742" y="1473200"/>
                  <a:pt x="0" y="1450458"/>
                  <a:pt x="0" y="14224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846233" y="77851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Estratificación de Pacientes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46233" y="8140700"/>
            <a:ext cx="464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K-Means/Gaussian Mixture para clasificar pacientes por respuesta probable al tratamiento.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46233" y="8750300"/>
            <a:ext cx="463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Similar a clustering de jugadores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714567" y="7632700"/>
            <a:ext cx="4864100" cy="1473200"/>
          </a:xfrm>
          <a:custGeom>
            <a:avLst/>
            <a:gdLst/>
            <a:ahLst/>
            <a:cxnLst/>
            <a:rect l="l" t="t" r="r" b="b"/>
            <a:pathLst>
              <a:path w="4864100" h="14732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422404"/>
                </a:lnTo>
                <a:cubicBezTo>
                  <a:pt x="4864100" y="1450458"/>
                  <a:pt x="4841358" y="1473200"/>
                  <a:pt x="4813304" y="1473200"/>
                </a:cubicBezTo>
                <a:lnTo>
                  <a:pt x="50796" y="1473200"/>
                </a:lnTo>
                <a:cubicBezTo>
                  <a:pt x="22742" y="1473200"/>
                  <a:pt x="0" y="1450458"/>
                  <a:pt x="0" y="14224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866967" y="7785100"/>
            <a:ext cx="466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Diagnósticos de Acompañamiento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866967" y="8140700"/>
            <a:ext cx="464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Identifican qué pacientes se beneficiarán más de terapias específicas.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866967" y="8750300"/>
            <a:ext cx="463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Oncología: inmunoterapia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4350" y="9378950"/>
            <a:ext cx="7531100" cy="1130300"/>
          </a:xfrm>
          <a:custGeom>
            <a:avLst/>
            <a:gdLst/>
            <a:ahLst/>
            <a:cxnLst/>
            <a:rect l="l" t="t" r="r" b="b"/>
            <a:pathLst>
              <a:path w="7531100" h="1130300">
                <a:moveTo>
                  <a:pt x="101603" y="0"/>
                </a:moveTo>
                <a:lnTo>
                  <a:pt x="7429497" y="0"/>
                </a:lnTo>
                <a:cubicBezTo>
                  <a:pt x="7485611" y="0"/>
                  <a:pt x="7531100" y="45489"/>
                  <a:pt x="7531100" y="101603"/>
                </a:cubicBezTo>
                <a:lnTo>
                  <a:pt x="7531100" y="1028697"/>
                </a:lnTo>
                <a:cubicBezTo>
                  <a:pt x="7531100" y="1084811"/>
                  <a:pt x="7485611" y="1130300"/>
                  <a:pt x="74294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8500" y="9791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66675"/>
                </a:moveTo>
                <a:cubicBezTo>
                  <a:pt x="38100" y="50899"/>
                  <a:pt x="50899" y="38100"/>
                  <a:pt x="66675" y="38100"/>
                </a:cubicBezTo>
                <a:cubicBezTo>
                  <a:pt x="82451" y="38100"/>
                  <a:pt x="95250" y="50899"/>
                  <a:pt x="95250" y="66675"/>
                </a:cubicBezTo>
                <a:lnTo>
                  <a:pt x="95250" y="133350"/>
                </a:lnTo>
                <a:lnTo>
                  <a:pt x="38100" y="133350"/>
                </a:lnTo>
                <a:lnTo>
                  <a:pt x="38100" y="66675"/>
                </a:lnTo>
                <a:close/>
                <a:moveTo>
                  <a:pt x="104775" y="219075"/>
                </a:moveTo>
                <a:cubicBezTo>
                  <a:pt x="104775" y="190083"/>
                  <a:pt x="115550" y="163592"/>
                  <a:pt x="133350" y="143470"/>
                </a:cubicBezTo>
                <a:lnTo>
                  <a:pt x="133350" y="66675"/>
                </a:lnTo>
                <a:cubicBezTo>
                  <a:pt x="133350" y="29825"/>
                  <a:pt x="103525" y="0"/>
                  <a:pt x="66675" y="0"/>
                </a:cubicBezTo>
                <a:cubicBezTo>
                  <a:pt x="29825" y="0"/>
                  <a:pt x="0" y="29825"/>
                  <a:pt x="0" y="66675"/>
                </a:cubicBezTo>
                <a:lnTo>
                  <a:pt x="0" y="238125"/>
                </a:lnTo>
                <a:cubicBezTo>
                  <a:pt x="0" y="274975"/>
                  <a:pt x="29825" y="304800"/>
                  <a:pt x="66675" y="304800"/>
                </a:cubicBezTo>
                <a:cubicBezTo>
                  <a:pt x="88880" y="304800"/>
                  <a:pt x="108525" y="293965"/>
                  <a:pt x="120670" y="277237"/>
                </a:cubicBezTo>
                <a:cubicBezTo>
                  <a:pt x="110550" y="260211"/>
                  <a:pt x="104775" y="240328"/>
                  <a:pt x="104775" y="219075"/>
                </a:cubicBezTo>
                <a:close/>
                <a:moveTo>
                  <a:pt x="143292" y="259199"/>
                </a:moveTo>
                <a:cubicBezTo>
                  <a:pt x="146030" y="264378"/>
                  <a:pt x="152995" y="264974"/>
                  <a:pt x="157163" y="260806"/>
                </a:cubicBezTo>
                <a:lnTo>
                  <a:pt x="260806" y="157163"/>
                </a:lnTo>
                <a:cubicBezTo>
                  <a:pt x="264974" y="152995"/>
                  <a:pt x="264378" y="146030"/>
                  <a:pt x="259199" y="143292"/>
                </a:cubicBezTo>
                <a:cubicBezTo>
                  <a:pt x="247233" y="136922"/>
                  <a:pt x="233601" y="133350"/>
                  <a:pt x="219075" y="133350"/>
                </a:cubicBezTo>
                <a:cubicBezTo>
                  <a:pt x="171748" y="133350"/>
                  <a:pt x="133350" y="171748"/>
                  <a:pt x="133350" y="219075"/>
                </a:cubicBezTo>
                <a:cubicBezTo>
                  <a:pt x="133350" y="233541"/>
                  <a:pt x="136922" y="247233"/>
                  <a:pt x="143292" y="259199"/>
                </a:cubicBezTo>
                <a:close/>
                <a:moveTo>
                  <a:pt x="177344" y="280987"/>
                </a:moveTo>
                <a:cubicBezTo>
                  <a:pt x="173176" y="285155"/>
                  <a:pt x="173772" y="292120"/>
                  <a:pt x="178951" y="294858"/>
                </a:cubicBezTo>
                <a:cubicBezTo>
                  <a:pt x="190917" y="301228"/>
                  <a:pt x="204549" y="304800"/>
                  <a:pt x="219075" y="304800"/>
                </a:cubicBezTo>
                <a:cubicBezTo>
                  <a:pt x="266402" y="304800"/>
                  <a:pt x="304800" y="266402"/>
                  <a:pt x="304800" y="219075"/>
                </a:cubicBezTo>
                <a:cubicBezTo>
                  <a:pt x="304800" y="204609"/>
                  <a:pt x="301228" y="190917"/>
                  <a:pt x="294858" y="178951"/>
                </a:cubicBezTo>
                <a:cubicBezTo>
                  <a:pt x="292120" y="173772"/>
                  <a:pt x="285155" y="173176"/>
                  <a:pt x="280987" y="177344"/>
                </a:cubicBezTo>
                <a:lnTo>
                  <a:pt x="177344" y="28098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1186326" y="95377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Ensayos Clínicos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86326" y="9842500"/>
            <a:ext cx="679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twins (Unlearn.AI) para simular pacientes virtuales y reducir tamaño de ensayos.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10550" y="9378950"/>
            <a:ext cx="7531100" cy="1130300"/>
          </a:xfrm>
          <a:custGeom>
            <a:avLst/>
            <a:gdLst/>
            <a:ahLst/>
            <a:cxnLst/>
            <a:rect l="l" t="t" r="r" b="b"/>
            <a:pathLst>
              <a:path w="7531100" h="1130300">
                <a:moveTo>
                  <a:pt x="101603" y="0"/>
                </a:moveTo>
                <a:lnTo>
                  <a:pt x="7429497" y="0"/>
                </a:lnTo>
                <a:cubicBezTo>
                  <a:pt x="7485611" y="0"/>
                  <a:pt x="7531100" y="45489"/>
                  <a:pt x="7531100" y="101603"/>
                </a:cubicBezTo>
                <a:lnTo>
                  <a:pt x="7531100" y="1028697"/>
                </a:lnTo>
                <a:cubicBezTo>
                  <a:pt x="7531100" y="1084811"/>
                  <a:pt x="7485611" y="1130300"/>
                  <a:pt x="74294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39150" y="97917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09550" y="0"/>
                </a:moveTo>
                <a:cubicBezTo>
                  <a:pt x="220087" y="0"/>
                  <a:pt x="228600" y="8513"/>
                  <a:pt x="228600" y="19050"/>
                </a:cubicBezTo>
                <a:cubicBezTo>
                  <a:pt x="228600" y="53459"/>
                  <a:pt x="214074" y="81439"/>
                  <a:pt x="194429" y="105073"/>
                </a:cubicBezTo>
                <a:cubicBezTo>
                  <a:pt x="180082" y="122277"/>
                  <a:pt x="162401" y="137874"/>
                  <a:pt x="144661" y="152400"/>
                </a:cubicBezTo>
                <a:cubicBezTo>
                  <a:pt x="162401" y="166985"/>
                  <a:pt x="180082" y="182523"/>
                  <a:pt x="194429" y="199727"/>
                </a:cubicBezTo>
                <a:cubicBezTo>
                  <a:pt x="214074" y="223302"/>
                  <a:pt x="228600" y="251341"/>
                  <a:pt x="228600" y="285750"/>
                </a:cubicBezTo>
                <a:cubicBezTo>
                  <a:pt x="228600" y="296287"/>
                  <a:pt x="220087" y="304800"/>
                  <a:pt x="209550" y="304800"/>
                </a:cubicBezTo>
                <a:cubicBezTo>
                  <a:pt x="199013" y="304800"/>
                  <a:pt x="190500" y="296287"/>
                  <a:pt x="190500" y="285750"/>
                </a:cubicBezTo>
                <a:lnTo>
                  <a:pt x="38100" y="285750"/>
                </a:lnTo>
                <a:cubicBezTo>
                  <a:pt x="38100" y="296287"/>
                  <a:pt x="29587" y="304800"/>
                  <a:pt x="19050" y="304800"/>
                </a:cubicBezTo>
                <a:cubicBezTo>
                  <a:pt x="8513" y="304800"/>
                  <a:pt x="0" y="296287"/>
                  <a:pt x="0" y="285750"/>
                </a:cubicBezTo>
                <a:cubicBezTo>
                  <a:pt x="0" y="251341"/>
                  <a:pt x="14526" y="223361"/>
                  <a:pt x="34171" y="199727"/>
                </a:cubicBezTo>
                <a:cubicBezTo>
                  <a:pt x="48518" y="182523"/>
                  <a:pt x="66199" y="166985"/>
                  <a:pt x="83939" y="152400"/>
                </a:cubicBezTo>
                <a:cubicBezTo>
                  <a:pt x="66199" y="137815"/>
                  <a:pt x="48518" y="122277"/>
                  <a:pt x="34171" y="105073"/>
                </a:cubicBezTo>
                <a:cubicBezTo>
                  <a:pt x="14526" y="81439"/>
                  <a:pt x="0" y="53459"/>
                  <a:pt x="0" y="19050"/>
                </a:cubicBezTo>
                <a:cubicBezTo>
                  <a:pt x="0" y="8513"/>
                  <a:pt x="8513" y="0"/>
                  <a:pt x="19050" y="0"/>
                </a:cubicBezTo>
                <a:cubicBezTo>
                  <a:pt x="29587" y="0"/>
                  <a:pt x="38100" y="8513"/>
                  <a:pt x="38100" y="19050"/>
                </a:cubicBezTo>
                <a:lnTo>
                  <a:pt x="190500" y="19050"/>
                </a:lnTo>
                <a:cubicBezTo>
                  <a:pt x="190500" y="8513"/>
                  <a:pt x="199013" y="0"/>
                  <a:pt x="209550" y="0"/>
                </a:cubicBezTo>
                <a:close/>
                <a:moveTo>
                  <a:pt x="168771" y="228600"/>
                </a:moveTo>
                <a:lnTo>
                  <a:pt x="59888" y="228600"/>
                </a:lnTo>
                <a:cubicBezTo>
                  <a:pt x="55007" y="234851"/>
                  <a:pt x="50899" y="241161"/>
                  <a:pt x="47625" y="247650"/>
                </a:cubicBezTo>
                <a:lnTo>
                  <a:pt x="181094" y="247650"/>
                </a:lnTo>
                <a:cubicBezTo>
                  <a:pt x="177760" y="241161"/>
                  <a:pt x="173653" y="234851"/>
                  <a:pt x="168831" y="228600"/>
                </a:cubicBezTo>
                <a:close/>
                <a:moveTo>
                  <a:pt x="141684" y="200025"/>
                </a:moveTo>
                <a:cubicBezTo>
                  <a:pt x="133171" y="192286"/>
                  <a:pt x="123944" y="184666"/>
                  <a:pt x="114300" y="176808"/>
                </a:cubicBezTo>
                <a:cubicBezTo>
                  <a:pt x="104656" y="184606"/>
                  <a:pt x="95429" y="192286"/>
                  <a:pt x="86916" y="200025"/>
                </a:cubicBezTo>
                <a:lnTo>
                  <a:pt x="141684" y="200025"/>
                </a:lnTo>
                <a:close/>
                <a:moveTo>
                  <a:pt x="59829" y="76200"/>
                </a:moveTo>
                <a:lnTo>
                  <a:pt x="168712" y="76200"/>
                </a:lnTo>
                <a:cubicBezTo>
                  <a:pt x="173593" y="69949"/>
                  <a:pt x="177701" y="63639"/>
                  <a:pt x="180975" y="57150"/>
                </a:cubicBezTo>
                <a:lnTo>
                  <a:pt x="47565" y="57150"/>
                </a:lnTo>
                <a:cubicBezTo>
                  <a:pt x="50899" y="63639"/>
                  <a:pt x="55007" y="69949"/>
                  <a:pt x="59829" y="76200"/>
                </a:cubicBezTo>
                <a:close/>
                <a:moveTo>
                  <a:pt x="86916" y="104775"/>
                </a:moveTo>
                <a:cubicBezTo>
                  <a:pt x="95429" y="112514"/>
                  <a:pt x="104656" y="120134"/>
                  <a:pt x="114300" y="127992"/>
                </a:cubicBezTo>
                <a:cubicBezTo>
                  <a:pt x="123944" y="120194"/>
                  <a:pt x="133171" y="112514"/>
                  <a:pt x="141684" y="104775"/>
                </a:cubicBezTo>
                <a:lnTo>
                  <a:pt x="86916" y="10477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8890331" y="9537700"/>
            <a:ext cx="679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Farmacovigilancia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90331" y="9842500"/>
            <a:ext cx="678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eventos adversos en tiempo real usando NLP en registros electrónicos.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24942"/>
            <a:ext cx="396484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Transferencia de Conocimiento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Aplicaciones: Más Sectores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30350"/>
            <a:ext cx="7531100" cy="4203700"/>
          </a:xfrm>
          <a:custGeom>
            <a:avLst/>
            <a:gdLst/>
            <a:ahLst/>
            <a:cxnLst/>
            <a:rect l="l" t="t" r="r" b="b"/>
            <a:pathLst>
              <a:path w="7531100" h="4203700">
                <a:moveTo>
                  <a:pt x="101603" y="0"/>
                </a:moveTo>
                <a:lnTo>
                  <a:pt x="7429497" y="0"/>
                </a:lnTo>
                <a:cubicBezTo>
                  <a:pt x="7485573" y="0"/>
                  <a:pt x="7531100" y="45527"/>
                  <a:pt x="7531100" y="101603"/>
                </a:cubicBezTo>
                <a:lnTo>
                  <a:pt x="7531100" y="4102097"/>
                </a:lnTo>
                <a:cubicBezTo>
                  <a:pt x="7531100" y="4158173"/>
                  <a:pt x="7485573" y="4203700"/>
                  <a:pt x="7429497" y="4203700"/>
                </a:cubicBezTo>
                <a:lnTo>
                  <a:pt x="101603" y="4203700"/>
                </a:lnTo>
                <a:cubicBezTo>
                  <a:pt x="45527" y="4203700"/>
                  <a:pt x="0" y="4158173"/>
                  <a:pt x="0" y="4102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31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3100" y="21463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4700" y="22479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Valuación Automática (AVM)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6035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XGBoost/Random Forest predicen valor de propiedades. Features: ubicación, tamaño, año de construcción, amenities.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3100" y="33147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4700" y="34163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Geoespacial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4700" y="37719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KNN ponderado por distancia. Clustering de micro-mercados por características similares.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9450" y="4489450"/>
            <a:ext cx="7200900" cy="1079500"/>
          </a:xfrm>
          <a:custGeom>
            <a:avLst/>
            <a:gdLst/>
            <a:ahLst/>
            <a:cxnLst/>
            <a:rect l="l" t="t" r="r" b="b"/>
            <a:pathLst>
              <a:path w="7200900" h="1079500">
                <a:moveTo>
                  <a:pt x="50801" y="0"/>
                </a:moveTo>
                <a:lnTo>
                  <a:pt x="7150099" y="0"/>
                </a:lnTo>
                <a:cubicBezTo>
                  <a:pt x="7178155" y="0"/>
                  <a:pt x="7200900" y="22745"/>
                  <a:pt x="7200900" y="50801"/>
                </a:cubicBezTo>
                <a:lnTo>
                  <a:pt x="7200900" y="1028699"/>
                </a:lnTo>
                <a:cubicBezTo>
                  <a:pt x="7200900" y="1056755"/>
                  <a:pt x="7178155" y="1079500"/>
                  <a:pt x="7150099" y="1079500"/>
                </a:cubicBezTo>
                <a:lnTo>
                  <a:pt x="50801" y="1079500"/>
                </a:lnTo>
                <a:cubicBezTo>
                  <a:pt x="22745" y="1079500"/>
                  <a:pt x="0" y="1056755"/>
                  <a:pt x="0" y="10286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7400" y="45974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7400" y="4953000"/>
            <a:ext cx="7073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MAE: ~100-120cp (XGBoost) vs ~200cp (modelos tradicionales). CNN para análisis de fotos de propiedades.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10550" y="1530350"/>
            <a:ext cx="7531100" cy="4203700"/>
          </a:xfrm>
          <a:custGeom>
            <a:avLst/>
            <a:gdLst/>
            <a:ahLst/>
            <a:cxnLst/>
            <a:rect l="l" t="t" r="r" b="b"/>
            <a:pathLst>
              <a:path w="7531100" h="4203700">
                <a:moveTo>
                  <a:pt x="101603" y="0"/>
                </a:moveTo>
                <a:lnTo>
                  <a:pt x="7429497" y="0"/>
                </a:lnTo>
                <a:cubicBezTo>
                  <a:pt x="7485573" y="0"/>
                  <a:pt x="7531100" y="45527"/>
                  <a:pt x="7531100" y="101603"/>
                </a:cubicBezTo>
                <a:lnTo>
                  <a:pt x="7531100" y="4102097"/>
                </a:lnTo>
                <a:cubicBezTo>
                  <a:pt x="7531100" y="4158173"/>
                  <a:pt x="7485573" y="4203700"/>
                  <a:pt x="7429497" y="4203700"/>
                </a:cubicBezTo>
                <a:lnTo>
                  <a:pt x="101603" y="4203700"/>
                </a:lnTo>
                <a:cubicBezTo>
                  <a:pt x="45527" y="4203700"/>
                  <a:pt x="0" y="4158173"/>
                  <a:pt x="0" y="4102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9300" y="1689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Administración Pública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69300" y="2146300"/>
            <a:ext cx="7213600" cy="1066800"/>
          </a:xfrm>
          <a:custGeom>
            <a:avLst/>
            <a:gdLst/>
            <a:ahLst/>
            <a:cxnLst/>
            <a:rect l="l" t="t" r="r" b="b"/>
            <a:pathLst>
              <a:path w="7213600" h="1066800">
                <a:moveTo>
                  <a:pt x="50801" y="0"/>
                </a:moveTo>
                <a:lnTo>
                  <a:pt x="7162799" y="0"/>
                </a:lnTo>
                <a:cubicBezTo>
                  <a:pt x="7190856" y="0"/>
                  <a:pt x="7213600" y="22744"/>
                  <a:pt x="7213600" y="50801"/>
                </a:cubicBezTo>
                <a:lnTo>
                  <a:pt x="7213600" y="1015999"/>
                </a:lnTo>
                <a:cubicBezTo>
                  <a:pt x="7213600" y="1044056"/>
                  <a:pt x="7190856" y="1066800"/>
                  <a:pt x="7162799" y="1066800"/>
                </a:cubicBezTo>
                <a:lnTo>
                  <a:pt x="50801" y="1066800"/>
                </a:lnTo>
                <a:cubicBezTo>
                  <a:pt x="22744" y="1066800"/>
                  <a:pt x="0" y="1044056"/>
                  <a:pt x="0" y="1015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70900" y="22479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Fraude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70900" y="2603500"/>
            <a:ext cx="709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Isolation Forest para detectar anomalías en reclamaciones de impuestos, beneficios sociales.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69300" y="33147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70900" y="34163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Optimización de Recursos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70900" y="37719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demanda de servicios (emergencias, tránsito) para asignación eficiente.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75650" y="4235450"/>
            <a:ext cx="7200900" cy="1079500"/>
          </a:xfrm>
          <a:custGeom>
            <a:avLst/>
            <a:gdLst/>
            <a:ahLst/>
            <a:cxnLst/>
            <a:rect l="l" t="t" r="r" b="b"/>
            <a:pathLst>
              <a:path w="7200900" h="1079500">
                <a:moveTo>
                  <a:pt x="50801" y="0"/>
                </a:moveTo>
                <a:lnTo>
                  <a:pt x="7150099" y="0"/>
                </a:lnTo>
                <a:cubicBezTo>
                  <a:pt x="7178155" y="0"/>
                  <a:pt x="7200900" y="22745"/>
                  <a:pt x="7200900" y="50801"/>
                </a:cubicBezTo>
                <a:lnTo>
                  <a:pt x="7200900" y="1028699"/>
                </a:lnTo>
                <a:cubicBezTo>
                  <a:pt x="7200900" y="1056755"/>
                  <a:pt x="7178155" y="1079500"/>
                  <a:pt x="7150099" y="1079500"/>
                </a:cubicBezTo>
                <a:lnTo>
                  <a:pt x="50801" y="1079500"/>
                </a:lnTo>
                <a:cubicBezTo>
                  <a:pt x="22745" y="1079500"/>
                  <a:pt x="0" y="1056755"/>
                  <a:pt x="0" y="10286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3600" y="4343400"/>
            <a:ext cx="708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Policial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83600" y="4699000"/>
            <a:ext cx="7073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Análisis de patrones espacio-temporales del crimen. Ética y sesgo algorítmico son críticos.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4350" y="5848350"/>
            <a:ext cx="7531100" cy="3314700"/>
          </a:xfrm>
          <a:custGeom>
            <a:avLst/>
            <a:gdLst/>
            <a:ahLst/>
            <a:cxnLst/>
            <a:rect l="l" t="t" r="r" b="b"/>
            <a:pathLst>
              <a:path w="7531100" h="3314700">
                <a:moveTo>
                  <a:pt x="101596" y="0"/>
                </a:moveTo>
                <a:lnTo>
                  <a:pt x="7429504" y="0"/>
                </a:lnTo>
                <a:cubicBezTo>
                  <a:pt x="7485614" y="0"/>
                  <a:pt x="7531100" y="45486"/>
                  <a:pt x="7531100" y="101596"/>
                </a:cubicBezTo>
                <a:lnTo>
                  <a:pt x="7531100" y="3213104"/>
                </a:lnTo>
                <a:cubicBezTo>
                  <a:pt x="7531100" y="3269214"/>
                  <a:pt x="7485614" y="3314700"/>
                  <a:pt x="7429504" y="3314700"/>
                </a:cubicBezTo>
                <a:lnTo>
                  <a:pt x="101596" y="3314700"/>
                </a:lnTo>
                <a:cubicBezTo>
                  <a:pt x="45486" y="3314700"/>
                  <a:pt x="0" y="3269214"/>
                  <a:pt x="0" y="32131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100" y="6007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Marketing y Ventas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3100" y="64643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74700" y="65659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Segmentación de Clientes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55379" y="6591300"/>
            <a:ext cx="81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K-Means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4700" y="69215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Agrupación por comportamiento de compra, demografía, engagement.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3100" y="73279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74700" y="7429500"/>
            <a:ext cx="200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Churn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76546" y="74549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4700" y="77851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Identificación de clientes en riesgo de cancelar servicio.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3100" y="81915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74700" y="8293100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Recomendaciones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95326" y="831850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Filtering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4700" y="86487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Netflix, Amazon: productos similares a usuarios similares.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10550" y="5848350"/>
            <a:ext cx="7531100" cy="3314700"/>
          </a:xfrm>
          <a:custGeom>
            <a:avLst/>
            <a:gdLst/>
            <a:ahLst/>
            <a:cxnLst/>
            <a:rect l="l" t="t" r="r" b="b"/>
            <a:pathLst>
              <a:path w="7531100" h="3314700">
                <a:moveTo>
                  <a:pt x="101596" y="0"/>
                </a:moveTo>
                <a:lnTo>
                  <a:pt x="7429504" y="0"/>
                </a:lnTo>
                <a:cubicBezTo>
                  <a:pt x="7485614" y="0"/>
                  <a:pt x="7531100" y="45486"/>
                  <a:pt x="7531100" y="101596"/>
                </a:cubicBezTo>
                <a:lnTo>
                  <a:pt x="7531100" y="3213104"/>
                </a:lnTo>
                <a:cubicBezTo>
                  <a:pt x="7531100" y="3269214"/>
                  <a:pt x="7485614" y="3314700"/>
                  <a:pt x="7429504" y="3314700"/>
                </a:cubicBezTo>
                <a:lnTo>
                  <a:pt x="101596" y="3314700"/>
                </a:lnTo>
                <a:cubicBezTo>
                  <a:pt x="45486" y="3314700"/>
                  <a:pt x="0" y="3269214"/>
                  <a:pt x="0" y="32131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9300" y="6007100"/>
            <a:ext cx="732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9A227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Industria y Supply Chain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9300" y="64643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70900" y="6565900"/>
            <a:ext cx="248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012922" y="6591300"/>
            <a:ext cx="55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70900" y="69215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fallas en equipos basado en sensores IoT.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69300" y="73279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470900" y="74295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Forecasting de Demanda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4295372" y="74549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Prophet/LSTM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70900" y="77851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ventas para optimización de inventario.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69300" y="8191500"/>
            <a:ext cx="7213600" cy="812800"/>
          </a:xfrm>
          <a:custGeom>
            <a:avLst/>
            <a:gdLst/>
            <a:ahLst/>
            <a:cxnLst/>
            <a:rect l="l" t="t" r="r" b="b"/>
            <a:pathLst>
              <a:path w="7213600" h="812800">
                <a:moveTo>
                  <a:pt x="50800" y="0"/>
                </a:moveTo>
                <a:lnTo>
                  <a:pt x="7162800" y="0"/>
                </a:lnTo>
                <a:cubicBezTo>
                  <a:pt x="7190837" y="0"/>
                  <a:pt x="7213600" y="22763"/>
                  <a:pt x="7213600" y="50800"/>
                </a:cubicBezTo>
                <a:lnTo>
                  <a:pt x="7213600" y="762000"/>
                </a:lnTo>
                <a:cubicBezTo>
                  <a:pt x="7213600" y="790037"/>
                  <a:pt x="7190837" y="812800"/>
                  <a:pt x="7162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470900" y="82931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Calidad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098117" y="8318500"/>
            <a:ext cx="46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70900" y="8648700"/>
            <a:ext cx="709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Detección de defectos en líneas de producción con visión computacional.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14350" y="9277350"/>
            <a:ext cx="15227300" cy="1130300"/>
          </a:xfrm>
          <a:custGeom>
            <a:avLst/>
            <a:gdLst/>
            <a:ahLst/>
            <a:cxnLst/>
            <a:rect l="l" t="t" r="r" b="b"/>
            <a:pathLst>
              <a:path w="15227300" h="1130300">
                <a:moveTo>
                  <a:pt x="101603" y="0"/>
                </a:moveTo>
                <a:lnTo>
                  <a:pt x="15125697" y="0"/>
                </a:lnTo>
                <a:cubicBezTo>
                  <a:pt x="15181811" y="0"/>
                  <a:pt x="15227300" y="45489"/>
                  <a:pt x="15227300" y="101603"/>
                </a:cubicBezTo>
                <a:lnTo>
                  <a:pt x="15227300" y="1028697"/>
                </a:lnTo>
                <a:cubicBezTo>
                  <a:pt x="15227300" y="1084811"/>
                  <a:pt x="15181811" y="1130300"/>
                  <a:pt x="151256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6750" y="9690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6" name="Text 54"/>
          <p:cNvSpPr/>
          <p:nvPr/>
        </p:nvSpPr>
        <p:spPr>
          <a:xfrm>
            <a:off x="1118394" y="9436100"/>
            <a:ext cx="1456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Patrón Universal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8394" y="9740900"/>
            <a:ext cx="1455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mismos algoritmos (XGBoost, Random Forest, MLP, LSTM, K-Means) y principios (feature engineering, validación, regularización) se aplican en todos los sectores. La clave es adaptar el feature engineering al dominio específico.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deab1446ced40cd0f9c362c8df0856af7e8b566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397942"/>
            <a:ext cx="2010304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C9A22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787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Visión Futura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4350" y="1708150"/>
            <a:ext cx="7505700" cy="2501900"/>
          </a:xfrm>
          <a:custGeom>
            <a:avLst/>
            <a:gdLst/>
            <a:ahLst/>
            <a:cxnLst/>
            <a:rect l="l" t="t" r="r" b="b"/>
            <a:pathLst>
              <a:path w="7505700" h="2501900">
                <a:moveTo>
                  <a:pt x="101602" y="0"/>
                </a:moveTo>
                <a:lnTo>
                  <a:pt x="7404098" y="0"/>
                </a:lnTo>
                <a:cubicBezTo>
                  <a:pt x="7460211" y="0"/>
                  <a:pt x="7505700" y="45489"/>
                  <a:pt x="7505700" y="101602"/>
                </a:cubicBezTo>
                <a:lnTo>
                  <a:pt x="7505700" y="2400298"/>
                </a:lnTo>
                <a:cubicBezTo>
                  <a:pt x="7505700" y="2456411"/>
                  <a:pt x="7460211" y="2501900"/>
                  <a:pt x="7404098" y="2501900"/>
                </a:cubicBezTo>
                <a:lnTo>
                  <a:pt x="101602" y="2501900"/>
                </a:lnTo>
                <a:cubicBezTo>
                  <a:pt x="45489" y="2501900"/>
                  <a:pt x="0" y="2456411"/>
                  <a:pt x="0" y="2400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3900" y="1917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Shape 5"/>
          <p:cNvSpPr/>
          <p:nvPr/>
        </p:nvSpPr>
        <p:spPr>
          <a:xfrm>
            <a:off x="901700" y="209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6"/>
          <p:cNvSpPr/>
          <p:nvPr/>
        </p:nvSpPr>
        <p:spPr>
          <a:xfrm>
            <a:off x="1485900" y="2044700"/>
            <a:ext cx="308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Deployment Producción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0413" y="27178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1047750" y="26797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REST con FastAPI/Flask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0413" y="30734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047750" y="30353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containerization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0413" y="34290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1047750" y="3390900"/>
            <a:ext cx="220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CI/CD con GitHub Actions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0413" y="3784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1047750" y="3746500"/>
            <a:ext cx="302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Monitoreo con Prometheus/Grafana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35950" y="1708150"/>
            <a:ext cx="7505700" cy="2501900"/>
          </a:xfrm>
          <a:custGeom>
            <a:avLst/>
            <a:gdLst/>
            <a:ahLst/>
            <a:cxnLst/>
            <a:rect l="l" t="t" r="r" b="b"/>
            <a:pathLst>
              <a:path w="7505700" h="2501900">
                <a:moveTo>
                  <a:pt x="101602" y="0"/>
                </a:moveTo>
                <a:lnTo>
                  <a:pt x="7404098" y="0"/>
                </a:lnTo>
                <a:cubicBezTo>
                  <a:pt x="7460211" y="0"/>
                  <a:pt x="7505700" y="45489"/>
                  <a:pt x="7505700" y="101602"/>
                </a:cubicBezTo>
                <a:lnTo>
                  <a:pt x="7505700" y="2400298"/>
                </a:lnTo>
                <a:cubicBezTo>
                  <a:pt x="7505700" y="2456411"/>
                  <a:pt x="7460211" y="2501900"/>
                  <a:pt x="7404098" y="2501900"/>
                </a:cubicBezTo>
                <a:lnTo>
                  <a:pt x="101602" y="2501900"/>
                </a:lnTo>
                <a:cubicBezTo>
                  <a:pt x="45489" y="2501900"/>
                  <a:pt x="0" y="2456411"/>
                  <a:pt x="0" y="2400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45500" y="1917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Shape 17"/>
          <p:cNvSpPr/>
          <p:nvPr/>
        </p:nvSpPr>
        <p:spPr>
          <a:xfrm>
            <a:off x="8670925" y="2095500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67469" y="11906"/>
                </a:moveTo>
                <a:cubicBezTo>
                  <a:pt x="67469" y="5308"/>
                  <a:pt x="72777" y="0"/>
                  <a:pt x="79375" y="0"/>
                </a:cubicBezTo>
                <a:cubicBezTo>
                  <a:pt x="85973" y="0"/>
                  <a:pt x="91281" y="5308"/>
                  <a:pt x="91281" y="11906"/>
                </a:cubicBezTo>
                <a:lnTo>
                  <a:pt x="91281" y="31750"/>
                </a:lnTo>
                <a:lnTo>
                  <a:pt x="119063" y="31750"/>
                </a:lnTo>
                <a:cubicBezTo>
                  <a:pt x="127843" y="31750"/>
                  <a:pt x="134938" y="38844"/>
                  <a:pt x="134938" y="47625"/>
                </a:cubicBezTo>
                <a:cubicBezTo>
                  <a:pt x="134938" y="56406"/>
                  <a:pt x="127843" y="63500"/>
                  <a:pt x="119063" y="63500"/>
                </a:cubicBezTo>
                <a:lnTo>
                  <a:pt x="62061" y="63500"/>
                </a:lnTo>
                <a:cubicBezTo>
                  <a:pt x="49709" y="63500"/>
                  <a:pt x="39688" y="73521"/>
                  <a:pt x="39688" y="85874"/>
                </a:cubicBezTo>
                <a:cubicBezTo>
                  <a:pt x="39688" y="97036"/>
                  <a:pt x="47873" y="106462"/>
                  <a:pt x="58886" y="108049"/>
                </a:cubicBezTo>
                <a:lnTo>
                  <a:pt x="104329" y="114548"/>
                </a:lnTo>
                <a:cubicBezTo>
                  <a:pt x="131018" y="118368"/>
                  <a:pt x="150813" y="141188"/>
                  <a:pt x="150813" y="168126"/>
                </a:cubicBezTo>
                <a:cubicBezTo>
                  <a:pt x="150813" y="198041"/>
                  <a:pt x="126554" y="222250"/>
                  <a:pt x="96689" y="222250"/>
                </a:cubicBezTo>
                <a:lnTo>
                  <a:pt x="91281" y="222250"/>
                </a:lnTo>
                <a:lnTo>
                  <a:pt x="91281" y="242094"/>
                </a:lnTo>
                <a:cubicBezTo>
                  <a:pt x="91281" y="248692"/>
                  <a:pt x="85973" y="254000"/>
                  <a:pt x="79375" y="254000"/>
                </a:cubicBezTo>
                <a:cubicBezTo>
                  <a:pt x="72777" y="254000"/>
                  <a:pt x="67469" y="248692"/>
                  <a:pt x="67469" y="242094"/>
                </a:cubicBezTo>
                <a:lnTo>
                  <a:pt x="67469" y="222250"/>
                </a:lnTo>
                <a:lnTo>
                  <a:pt x="31750" y="222250"/>
                </a:lnTo>
                <a:cubicBezTo>
                  <a:pt x="22969" y="222250"/>
                  <a:pt x="15875" y="215156"/>
                  <a:pt x="15875" y="206375"/>
                </a:cubicBezTo>
                <a:cubicBezTo>
                  <a:pt x="15875" y="197594"/>
                  <a:pt x="22969" y="190500"/>
                  <a:pt x="31750" y="190500"/>
                </a:cubicBezTo>
                <a:lnTo>
                  <a:pt x="96689" y="190500"/>
                </a:lnTo>
                <a:cubicBezTo>
                  <a:pt x="109041" y="190500"/>
                  <a:pt x="119063" y="180479"/>
                  <a:pt x="119063" y="168126"/>
                </a:cubicBezTo>
                <a:cubicBezTo>
                  <a:pt x="119063" y="156964"/>
                  <a:pt x="110877" y="147538"/>
                  <a:pt x="99864" y="145951"/>
                </a:cubicBezTo>
                <a:lnTo>
                  <a:pt x="54421" y="139452"/>
                </a:lnTo>
                <a:cubicBezTo>
                  <a:pt x="27732" y="135682"/>
                  <a:pt x="7938" y="112812"/>
                  <a:pt x="7938" y="85874"/>
                </a:cubicBezTo>
                <a:cubicBezTo>
                  <a:pt x="7938" y="56009"/>
                  <a:pt x="32196" y="31750"/>
                  <a:pt x="62061" y="31750"/>
                </a:cubicBezTo>
                <a:lnTo>
                  <a:pt x="67469" y="31750"/>
                </a:lnTo>
                <a:lnTo>
                  <a:pt x="67469" y="1190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8"/>
          <p:cNvSpPr/>
          <p:nvPr/>
        </p:nvSpPr>
        <p:spPr>
          <a:xfrm>
            <a:off x="9207500" y="2044700"/>
            <a:ext cx="226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Comercialización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482013" y="27178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3" name="Text 20"/>
          <p:cNvSpPr/>
          <p:nvPr/>
        </p:nvSpPr>
        <p:spPr>
          <a:xfrm>
            <a:off x="8769350" y="2679700"/>
            <a:ext cx="408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con plataformas (chess.com, Lichess)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482013" y="30734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5" name="Text 22"/>
          <p:cNvSpPr/>
          <p:nvPr/>
        </p:nvSpPr>
        <p:spPr>
          <a:xfrm>
            <a:off x="8769350" y="3035300"/>
            <a:ext cx="276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SaaS para entrenadores y clubes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482013" y="34290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Text 24"/>
          <p:cNvSpPr/>
          <p:nvPr/>
        </p:nvSpPr>
        <p:spPr>
          <a:xfrm>
            <a:off x="8769350" y="3390900"/>
            <a:ext cx="367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Ventaja competitiva: +2-5% vs competencia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482013" y="3784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9" name="Text 26"/>
          <p:cNvSpPr/>
          <p:nvPr/>
        </p:nvSpPr>
        <p:spPr>
          <a:xfrm>
            <a:off x="8769350" y="3746500"/>
            <a:ext cx="247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Licenciamiento de tecnología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14350" y="4425950"/>
            <a:ext cx="7505700" cy="2501900"/>
          </a:xfrm>
          <a:custGeom>
            <a:avLst/>
            <a:gdLst/>
            <a:ahLst/>
            <a:cxnLst/>
            <a:rect l="l" t="t" r="r" b="b"/>
            <a:pathLst>
              <a:path w="7505700" h="2501900">
                <a:moveTo>
                  <a:pt x="101602" y="0"/>
                </a:moveTo>
                <a:lnTo>
                  <a:pt x="7404098" y="0"/>
                </a:lnTo>
                <a:cubicBezTo>
                  <a:pt x="7460211" y="0"/>
                  <a:pt x="7505700" y="45489"/>
                  <a:pt x="7505700" y="101602"/>
                </a:cubicBezTo>
                <a:lnTo>
                  <a:pt x="7505700" y="2400298"/>
                </a:lnTo>
                <a:cubicBezTo>
                  <a:pt x="7505700" y="2456411"/>
                  <a:pt x="7460211" y="2501900"/>
                  <a:pt x="7404098" y="2501900"/>
                </a:cubicBezTo>
                <a:lnTo>
                  <a:pt x="101602" y="2501900"/>
                </a:lnTo>
                <a:cubicBezTo>
                  <a:pt x="45489" y="2501900"/>
                  <a:pt x="0" y="2456411"/>
                  <a:pt x="0" y="2400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23900" y="463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Shape 29"/>
          <p:cNvSpPr/>
          <p:nvPr/>
        </p:nvSpPr>
        <p:spPr>
          <a:xfrm>
            <a:off x="901700" y="481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3344" y="27781"/>
                </a:moveTo>
                <a:lnTo>
                  <a:pt x="83344" y="47625"/>
                </a:lnTo>
                <a:lnTo>
                  <a:pt x="44599" y="47625"/>
                </a:lnTo>
                <a:cubicBezTo>
                  <a:pt x="37505" y="47625"/>
                  <a:pt x="31750" y="53380"/>
                  <a:pt x="31750" y="60474"/>
                </a:cubicBezTo>
                <a:cubicBezTo>
                  <a:pt x="31750" y="62458"/>
                  <a:pt x="32196" y="64443"/>
                  <a:pt x="33089" y="66229"/>
                </a:cubicBezTo>
                <a:lnTo>
                  <a:pt x="49659" y="99368"/>
                </a:lnTo>
                <a:cubicBezTo>
                  <a:pt x="44004" y="100261"/>
                  <a:pt x="39638" y="105172"/>
                  <a:pt x="39638" y="111125"/>
                </a:cubicBezTo>
                <a:cubicBezTo>
                  <a:pt x="39638" y="117723"/>
                  <a:pt x="44946" y="123031"/>
                  <a:pt x="51544" y="123031"/>
                </a:cubicBezTo>
                <a:lnTo>
                  <a:pt x="54322" y="123031"/>
                </a:lnTo>
                <a:lnTo>
                  <a:pt x="47575" y="190500"/>
                </a:lnTo>
                <a:lnTo>
                  <a:pt x="19695" y="225375"/>
                </a:lnTo>
                <a:cubicBezTo>
                  <a:pt x="17214" y="228501"/>
                  <a:pt x="15825" y="232370"/>
                  <a:pt x="15825" y="236389"/>
                </a:cubicBezTo>
                <a:cubicBezTo>
                  <a:pt x="15825" y="246112"/>
                  <a:pt x="23713" y="254000"/>
                  <a:pt x="33437" y="254000"/>
                </a:cubicBezTo>
                <a:lnTo>
                  <a:pt x="156914" y="254000"/>
                </a:lnTo>
                <a:cubicBezTo>
                  <a:pt x="166638" y="254000"/>
                  <a:pt x="174526" y="246112"/>
                  <a:pt x="174526" y="236389"/>
                </a:cubicBezTo>
                <a:cubicBezTo>
                  <a:pt x="174526" y="232370"/>
                  <a:pt x="173186" y="228501"/>
                  <a:pt x="170656" y="225375"/>
                </a:cubicBezTo>
                <a:lnTo>
                  <a:pt x="142875" y="190500"/>
                </a:lnTo>
                <a:lnTo>
                  <a:pt x="136128" y="123031"/>
                </a:lnTo>
                <a:lnTo>
                  <a:pt x="138906" y="123031"/>
                </a:lnTo>
                <a:cubicBezTo>
                  <a:pt x="145504" y="123031"/>
                  <a:pt x="150813" y="117723"/>
                  <a:pt x="150813" y="111125"/>
                </a:cubicBezTo>
                <a:cubicBezTo>
                  <a:pt x="150813" y="105221"/>
                  <a:pt x="146496" y="100261"/>
                  <a:pt x="140791" y="99368"/>
                </a:cubicBezTo>
                <a:lnTo>
                  <a:pt x="157361" y="66229"/>
                </a:lnTo>
                <a:cubicBezTo>
                  <a:pt x="158254" y="64443"/>
                  <a:pt x="158700" y="62458"/>
                  <a:pt x="158700" y="60474"/>
                </a:cubicBezTo>
                <a:cubicBezTo>
                  <a:pt x="158700" y="53380"/>
                  <a:pt x="152946" y="47625"/>
                  <a:pt x="145852" y="47625"/>
                </a:cubicBezTo>
                <a:lnTo>
                  <a:pt x="107107" y="47625"/>
                </a:lnTo>
                <a:lnTo>
                  <a:pt x="107107" y="27781"/>
                </a:lnTo>
                <a:lnTo>
                  <a:pt x="115044" y="27781"/>
                </a:lnTo>
                <a:cubicBezTo>
                  <a:pt x="121642" y="27781"/>
                  <a:pt x="126950" y="22473"/>
                  <a:pt x="126950" y="15875"/>
                </a:cubicBezTo>
                <a:cubicBezTo>
                  <a:pt x="126950" y="9277"/>
                  <a:pt x="121692" y="3969"/>
                  <a:pt x="115094" y="3969"/>
                </a:cubicBezTo>
                <a:lnTo>
                  <a:pt x="107156" y="3969"/>
                </a:lnTo>
                <a:lnTo>
                  <a:pt x="107156" y="-3969"/>
                </a:lnTo>
                <a:cubicBezTo>
                  <a:pt x="107156" y="-10567"/>
                  <a:pt x="101848" y="-15875"/>
                  <a:pt x="95250" y="-15875"/>
                </a:cubicBezTo>
                <a:cubicBezTo>
                  <a:pt x="88652" y="-15875"/>
                  <a:pt x="83344" y="-10567"/>
                  <a:pt x="83344" y="-3969"/>
                </a:cubicBezTo>
                <a:lnTo>
                  <a:pt x="83344" y="3969"/>
                </a:lnTo>
                <a:lnTo>
                  <a:pt x="75406" y="3969"/>
                </a:lnTo>
                <a:cubicBezTo>
                  <a:pt x="68808" y="3969"/>
                  <a:pt x="63500" y="9277"/>
                  <a:pt x="63500" y="15875"/>
                </a:cubicBezTo>
                <a:cubicBezTo>
                  <a:pt x="63500" y="22473"/>
                  <a:pt x="68808" y="27781"/>
                  <a:pt x="75406" y="27781"/>
                </a:cubicBezTo>
                <a:lnTo>
                  <a:pt x="83344" y="27781"/>
                </a:lnTo>
                <a:close/>
                <a:moveTo>
                  <a:pt x="161627" y="138708"/>
                </a:moveTo>
                <a:lnTo>
                  <a:pt x="165844" y="181124"/>
                </a:lnTo>
                <a:lnTo>
                  <a:pt x="189359" y="210493"/>
                </a:lnTo>
                <a:lnTo>
                  <a:pt x="191443" y="213320"/>
                </a:lnTo>
                <a:cubicBezTo>
                  <a:pt x="196007" y="220117"/>
                  <a:pt x="198438" y="228154"/>
                  <a:pt x="198438" y="236389"/>
                </a:cubicBezTo>
                <a:cubicBezTo>
                  <a:pt x="198438" y="242689"/>
                  <a:pt x="197048" y="248692"/>
                  <a:pt x="194518" y="254000"/>
                </a:cubicBezTo>
                <a:lnTo>
                  <a:pt x="235744" y="254000"/>
                </a:lnTo>
                <a:cubicBezTo>
                  <a:pt x="245814" y="254000"/>
                  <a:pt x="254000" y="245814"/>
                  <a:pt x="254000" y="235744"/>
                </a:cubicBezTo>
                <a:cubicBezTo>
                  <a:pt x="254000" y="232122"/>
                  <a:pt x="252909" y="228600"/>
                  <a:pt x="250924" y="225623"/>
                </a:cubicBezTo>
                <a:lnTo>
                  <a:pt x="238125" y="206425"/>
                </a:lnTo>
                <a:lnTo>
                  <a:pt x="238125" y="174675"/>
                </a:lnTo>
                <a:lnTo>
                  <a:pt x="244723" y="168077"/>
                </a:lnTo>
                <a:cubicBezTo>
                  <a:pt x="250676" y="162123"/>
                  <a:pt x="254000" y="154037"/>
                  <a:pt x="254000" y="145604"/>
                </a:cubicBezTo>
                <a:lnTo>
                  <a:pt x="254000" y="95250"/>
                </a:lnTo>
                <a:cubicBezTo>
                  <a:pt x="254000" y="86469"/>
                  <a:pt x="246906" y="79375"/>
                  <a:pt x="238125" y="79375"/>
                </a:cubicBezTo>
                <a:cubicBezTo>
                  <a:pt x="229344" y="79375"/>
                  <a:pt x="222250" y="86469"/>
                  <a:pt x="222250" y="95250"/>
                </a:cubicBezTo>
                <a:lnTo>
                  <a:pt x="222250" y="103188"/>
                </a:lnTo>
                <a:lnTo>
                  <a:pt x="206375" y="103188"/>
                </a:lnTo>
                <a:lnTo>
                  <a:pt x="206375" y="95250"/>
                </a:lnTo>
                <a:cubicBezTo>
                  <a:pt x="206375" y="86469"/>
                  <a:pt x="199281" y="79375"/>
                  <a:pt x="190500" y="79375"/>
                </a:cubicBezTo>
                <a:cubicBezTo>
                  <a:pt x="181719" y="79375"/>
                  <a:pt x="174625" y="86469"/>
                  <a:pt x="174625" y="95250"/>
                </a:cubicBezTo>
                <a:lnTo>
                  <a:pt x="174625" y="111125"/>
                </a:lnTo>
                <a:cubicBezTo>
                  <a:pt x="174625" y="122238"/>
                  <a:pt x="169565" y="132159"/>
                  <a:pt x="161627" y="13870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0"/>
          <p:cNvSpPr/>
          <p:nvPr/>
        </p:nvSpPr>
        <p:spPr>
          <a:xfrm>
            <a:off x="1485900" y="4762500"/>
            <a:ext cx="326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Expansión a Otros Juegos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42950" y="5448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5" name="Text 32"/>
          <p:cNvSpPr/>
          <p:nvPr/>
        </p:nvSpPr>
        <p:spPr>
          <a:xfrm>
            <a:off x="1016000" y="5397500"/>
            <a:ext cx="218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Go: AlphaGo-style con RL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42950" y="580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7" name="Text 34"/>
          <p:cNvSpPr/>
          <p:nvPr/>
        </p:nvSpPr>
        <p:spPr>
          <a:xfrm>
            <a:off x="1016000" y="5753100"/>
            <a:ext cx="255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Poker: Información imperfecta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42950" y="6159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6"/>
          <p:cNvSpPr/>
          <p:nvPr/>
        </p:nvSpPr>
        <p:spPr>
          <a:xfrm>
            <a:off x="1016000" y="6108700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Videojuegos: Dota 2, StarCraft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42950" y="6515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1" name="Text 38"/>
          <p:cNvSpPr/>
          <p:nvPr/>
        </p:nvSpPr>
        <p:spPr>
          <a:xfrm>
            <a:off x="1016000" y="6464300"/>
            <a:ext cx="214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Deportes: Análisis táctico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235950" y="4425950"/>
            <a:ext cx="7505700" cy="2501900"/>
          </a:xfrm>
          <a:custGeom>
            <a:avLst/>
            <a:gdLst/>
            <a:ahLst/>
            <a:cxnLst/>
            <a:rect l="l" t="t" r="r" b="b"/>
            <a:pathLst>
              <a:path w="7505700" h="2501900">
                <a:moveTo>
                  <a:pt x="101602" y="0"/>
                </a:moveTo>
                <a:lnTo>
                  <a:pt x="7404098" y="0"/>
                </a:lnTo>
                <a:cubicBezTo>
                  <a:pt x="7460211" y="0"/>
                  <a:pt x="7505700" y="45489"/>
                  <a:pt x="7505700" y="101602"/>
                </a:cubicBezTo>
                <a:lnTo>
                  <a:pt x="7505700" y="2400298"/>
                </a:lnTo>
                <a:cubicBezTo>
                  <a:pt x="7505700" y="2456411"/>
                  <a:pt x="7460211" y="2501900"/>
                  <a:pt x="7404098" y="2501900"/>
                </a:cubicBezTo>
                <a:lnTo>
                  <a:pt x="101602" y="2501900"/>
                </a:lnTo>
                <a:cubicBezTo>
                  <a:pt x="45489" y="2501900"/>
                  <a:pt x="0" y="2456411"/>
                  <a:pt x="0" y="2400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B2D42">
              <a:alpha val="7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445500" y="4635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Shape 41"/>
          <p:cNvSpPr/>
          <p:nvPr/>
        </p:nvSpPr>
        <p:spPr>
          <a:xfrm>
            <a:off x="8639175" y="4813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90500" y="254000"/>
                </a:moveTo>
                <a:lnTo>
                  <a:pt x="47625" y="254000"/>
                </a:lnTo>
                <a:cubicBezTo>
                  <a:pt x="21332" y="254000"/>
                  <a:pt x="0" y="232668"/>
                  <a:pt x="0" y="206375"/>
                </a:cubicBezTo>
                <a:lnTo>
                  <a:pt x="0" y="47625"/>
                </a:lnTo>
                <a:cubicBezTo>
                  <a:pt x="0" y="21332"/>
                  <a:pt x="21332" y="0"/>
                  <a:pt x="47625" y="0"/>
                </a:cubicBezTo>
                <a:lnTo>
                  <a:pt x="198438" y="0"/>
                </a:lnTo>
                <a:cubicBezTo>
                  <a:pt x="211584" y="0"/>
                  <a:pt x="222250" y="10666"/>
                  <a:pt x="222250" y="23812"/>
                </a:cubicBezTo>
                <a:lnTo>
                  <a:pt x="222250" y="166688"/>
                </a:lnTo>
                <a:cubicBezTo>
                  <a:pt x="222250" y="177056"/>
                  <a:pt x="215602" y="185886"/>
                  <a:pt x="206375" y="189161"/>
                </a:cubicBezTo>
                <a:lnTo>
                  <a:pt x="206375" y="222250"/>
                </a:lnTo>
                <a:cubicBezTo>
                  <a:pt x="215156" y="222250"/>
                  <a:pt x="222250" y="229344"/>
                  <a:pt x="222250" y="238125"/>
                </a:cubicBezTo>
                <a:cubicBezTo>
                  <a:pt x="222250" y="246906"/>
                  <a:pt x="215156" y="254000"/>
                  <a:pt x="206375" y="254000"/>
                </a:cubicBezTo>
                <a:lnTo>
                  <a:pt x="190500" y="254000"/>
                </a:lnTo>
                <a:close/>
                <a:moveTo>
                  <a:pt x="47625" y="190500"/>
                </a:moveTo>
                <a:cubicBezTo>
                  <a:pt x="38844" y="190500"/>
                  <a:pt x="31750" y="197594"/>
                  <a:pt x="31750" y="206375"/>
                </a:cubicBezTo>
                <a:cubicBezTo>
                  <a:pt x="31750" y="215156"/>
                  <a:pt x="38844" y="222250"/>
                  <a:pt x="47625" y="222250"/>
                </a:cubicBezTo>
                <a:lnTo>
                  <a:pt x="174625" y="222250"/>
                </a:lnTo>
                <a:lnTo>
                  <a:pt x="174625" y="190500"/>
                </a:lnTo>
                <a:lnTo>
                  <a:pt x="47625" y="190500"/>
                </a:lnTo>
                <a:close/>
                <a:moveTo>
                  <a:pt x="63500" y="75406"/>
                </a:moveTo>
                <a:cubicBezTo>
                  <a:pt x="63500" y="82004"/>
                  <a:pt x="68808" y="87313"/>
                  <a:pt x="75406" y="87313"/>
                </a:cubicBezTo>
                <a:lnTo>
                  <a:pt x="162719" y="87313"/>
                </a:lnTo>
                <a:cubicBezTo>
                  <a:pt x="169317" y="87313"/>
                  <a:pt x="174625" y="82004"/>
                  <a:pt x="174625" y="75406"/>
                </a:cubicBezTo>
                <a:cubicBezTo>
                  <a:pt x="174625" y="68808"/>
                  <a:pt x="169317" y="63500"/>
                  <a:pt x="162719" y="63500"/>
                </a:cubicBezTo>
                <a:lnTo>
                  <a:pt x="75406" y="63500"/>
                </a:lnTo>
                <a:cubicBezTo>
                  <a:pt x="68808" y="63500"/>
                  <a:pt x="63500" y="68808"/>
                  <a:pt x="63500" y="75406"/>
                </a:cubicBezTo>
                <a:close/>
                <a:moveTo>
                  <a:pt x="75406" y="111125"/>
                </a:moveTo>
                <a:cubicBezTo>
                  <a:pt x="68808" y="111125"/>
                  <a:pt x="63500" y="116433"/>
                  <a:pt x="63500" y="123031"/>
                </a:cubicBezTo>
                <a:cubicBezTo>
                  <a:pt x="63500" y="129629"/>
                  <a:pt x="68808" y="134938"/>
                  <a:pt x="75406" y="134938"/>
                </a:cubicBezTo>
                <a:lnTo>
                  <a:pt x="162719" y="134938"/>
                </a:lnTo>
                <a:cubicBezTo>
                  <a:pt x="169317" y="134938"/>
                  <a:pt x="174625" y="129629"/>
                  <a:pt x="174625" y="123031"/>
                </a:cubicBezTo>
                <a:cubicBezTo>
                  <a:pt x="174625" y="116433"/>
                  <a:pt x="169317" y="111125"/>
                  <a:pt x="162719" y="111125"/>
                </a:cubicBezTo>
                <a:lnTo>
                  <a:pt x="75406" y="11112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Text 42"/>
          <p:cNvSpPr/>
          <p:nvPr/>
        </p:nvSpPr>
        <p:spPr>
          <a:xfrm>
            <a:off x="9207500" y="4762500"/>
            <a:ext cx="185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Publicaciones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464550" y="5448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7" name="Text 44"/>
          <p:cNvSpPr/>
          <p:nvPr/>
        </p:nvSpPr>
        <p:spPr>
          <a:xfrm>
            <a:off x="8737600" y="53975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Evolution Modeling methodology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464550" y="5803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9" name="Text 46"/>
          <p:cNvSpPr/>
          <p:nvPr/>
        </p:nvSpPr>
        <p:spPr>
          <a:xfrm>
            <a:off x="8737600" y="57531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Multi-Component Ensemble architecture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464550" y="6159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1" name="Text 48"/>
          <p:cNvSpPr/>
          <p:nvPr/>
        </p:nvSpPr>
        <p:spPr>
          <a:xfrm>
            <a:off x="8737600" y="61087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Player clustering in chess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464550" y="6515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3" name="Text 50"/>
          <p:cNvSpPr/>
          <p:nvPr/>
        </p:nvSpPr>
        <p:spPr>
          <a:xfrm>
            <a:off x="8737600" y="64643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Perfect classification in game analysis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20700" y="7251700"/>
            <a:ext cx="15214600" cy="1498600"/>
          </a:xfrm>
          <a:custGeom>
            <a:avLst/>
            <a:gdLst/>
            <a:ahLst/>
            <a:cxnLst/>
            <a:rect l="l" t="t" r="r" b="b"/>
            <a:pathLst>
              <a:path w="15214600" h="1498600">
                <a:moveTo>
                  <a:pt x="101605" y="0"/>
                </a:moveTo>
                <a:lnTo>
                  <a:pt x="15112995" y="0"/>
                </a:lnTo>
                <a:cubicBezTo>
                  <a:pt x="15169110" y="0"/>
                  <a:pt x="15214600" y="45490"/>
                  <a:pt x="15214600" y="101605"/>
                </a:cubicBezTo>
                <a:lnTo>
                  <a:pt x="15214600" y="1396995"/>
                </a:lnTo>
                <a:cubicBezTo>
                  <a:pt x="15214600" y="1453110"/>
                  <a:pt x="15169110" y="1498600"/>
                  <a:pt x="15112995" y="1498600"/>
                </a:cubicBezTo>
                <a:lnTo>
                  <a:pt x="101605" y="1498600"/>
                </a:lnTo>
                <a:cubicBezTo>
                  <a:pt x="45490" y="1498600"/>
                  <a:pt x="0" y="1453110"/>
                  <a:pt x="0" y="13969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42950" y="777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6" name="Text 53"/>
          <p:cNvSpPr/>
          <p:nvPr/>
        </p:nvSpPr>
        <p:spPr>
          <a:xfrm>
            <a:off x="1412346" y="7467600"/>
            <a:ext cx="14262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Nuevo Estándar Mundial Establecido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412346" y="7924800"/>
            <a:ext cx="14211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Chess Trainer ML demuestra que la perfección es posible con ML bien ejecutado. Metodología replicable, código abierto, listo para transformar el entrenamiento de ajedrez y más allá.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 Trainer ML - Data Scientists &amp; Chess Players</dc:title>
  <dc:subject>Chess Trainer ML - Data Scientists &amp; Chess Players</dc:subject>
  <dc:creator>Kimi</dc:creator>
  <cp:lastModifiedBy>Kimi</cp:lastModifiedBy>
  <cp:revision>1</cp:revision>
  <dcterms:created xsi:type="dcterms:W3CDTF">2026-02-15T00:59:43Z</dcterms:created>
  <dcterms:modified xsi:type="dcterms:W3CDTF">2026-02-15T00:59:43Z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{"Label":"Chess Trainer ML - Data Scientists &amp; Chess Players","ContentProducer":"001191110108MACG2KBH8F10000","ProduceID":"19c5d565-c732-87e7-8000-0000b79a6271","ReservedCode1":"","ContentPropagator":"001191110108MACG2KBH8F20000","PropagateID":"19c5d565-c732-87e7-8000-0000b79a6271","ReservedCode2":""}</vt:lpwstr>
  </property>
</Properties>
</file>