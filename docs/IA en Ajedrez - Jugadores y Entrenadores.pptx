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MiSans" charset="-122" pitchFamily="34"/>
      <p:regular r:id="rId22"/>
    </p:embeddedFont>
    <p:embeddedFont>
      <p:font typeface="Alimama ShuHeiTi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3edfd1506fbc6071b4c83ebb15e7621f288999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4227" b="2422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0910" y="1191185"/>
            <a:ext cx="2496056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 de Vanguardia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0910" y="156493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Inteligencia Artificial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 el Ajedrez Moderno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0910" y="3221961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la IA Revoluciona el Entrenamiento y Análisis de Partidas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0910" y="398378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1447549" y="3869531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Precisión: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• Decisiones Analizadas: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328,283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491" y="4749072"/>
            <a:ext cx="1664512" cy="921562"/>
          </a:xfrm>
          <a:custGeom>
            <a:avLst/>
            <a:gdLst/>
            <a:ahLst/>
            <a:cxnLst/>
            <a:rect l="l" t="t" r="r" b="b"/>
            <a:pathLst>
              <a:path w="1664512" h="921562">
                <a:moveTo>
                  <a:pt x="76204" y="0"/>
                </a:moveTo>
                <a:lnTo>
                  <a:pt x="1588308" y="0"/>
                </a:lnTo>
                <a:cubicBezTo>
                  <a:pt x="1630394" y="0"/>
                  <a:pt x="1664512" y="34118"/>
                  <a:pt x="1664512" y="76204"/>
                </a:cubicBezTo>
                <a:lnTo>
                  <a:pt x="1664512" y="845358"/>
                </a:lnTo>
                <a:cubicBezTo>
                  <a:pt x="1664512" y="887444"/>
                  <a:pt x="1630394" y="921562"/>
                  <a:pt x="1588308" y="921562"/>
                </a:cubicBezTo>
                <a:lnTo>
                  <a:pt x="76204" y="921562"/>
                </a:lnTo>
                <a:cubicBezTo>
                  <a:pt x="34118" y="921562"/>
                  <a:pt x="0" y="887444"/>
                  <a:pt x="0" y="845358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574" y="4904950"/>
            <a:ext cx="137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Fases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6574" y="528586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Desarrollo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81099" y="4749072"/>
            <a:ext cx="1921687" cy="921562"/>
          </a:xfrm>
          <a:custGeom>
            <a:avLst/>
            <a:gdLst/>
            <a:ahLst/>
            <a:cxnLst/>
            <a:rect l="l" t="t" r="r" b="b"/>
            <a:pathLst>
              <a:path w="1921687" h="921562">
                <a:moveTo>
                  <a:pt x="76204" y="0"/>
                </a:moveTo>
                <a:lnTo>
                  <a:pt x="1845483" y="0"/>
                </a:lnTo>
                <a:cubicBezTo>
                  <a:pt x="1887569" y="0"/>
                  <a:pt x="1921687" y="34118"/>
                  <a:pt x="1921687" y="76204"/>
                </a:cubicBezTo>
                <a:lnTo>
                  <a:pt x="1921687" y="845358"/>
                </a:lnTo>
                <a:cubicBezTo>
                  <a:pt x="1921687" y="887444"/>
                  <a:pt x="1887569" y="921562"/>
                  <a:pt x="1845483" y="921562"/>
                </a:cubicBezTo>
                <a:lnTo>
                  <a:pt x="76204" y="921562"/>
                </a:lnTo>
                <a:cubicBezTo>
                  <a:pt x="34118" y="921562"/>
                  <a:pt x="0" y="887444"/>
                  <a:pt x="0" y="845358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3181" y="4904950"/>
            <a:ext cx="1628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Perfiles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13181" y="528586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Jugadores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40673" y="4749072"/>
            <a:ext cx="1474012" cy="921562"/>
          </a:xfrm>
          <a:custGeom>
            <a:avLst/>
            <a:gdLst/>
            <a:ahLst/>
            <a:cxnLst/>
            <a:rect l="l" t="t" r="r" b="b"/>
            <a:pathLst>
              <a:path w="1474012" h="921562">
                <a:moveTo>
                  <a:pt x="76204" y="0"/>
                </a:moveTo>
                <a:lnTo>
                  <a:pt x="1397808" y="0"/>
                </a:lnTo>
                <a:cubicBezTo>
                  <a:pt x="1439894" y="0"/>
                  <a:pt x="1474012" y="34118"/>
                  <a:pt x="1474012" y="76204"/>
                </a:cubicBezTo>
                <a:lnTo>
                  <a:pt x="1474012" y="845358"/>
                </a:lnTo>
                <a:cubicBezTo>
                  <a:pt x="1474012" y="887444"/>
                  <a:pt x="1439894" y="921562"/>
                  <a:pt x="1397808" y="921562"/>
                </a:cubicBezTo>
                <a:lnTo>
                  <a:pt x="76204" y="921562"/>
                </a:lnTo>
                <a:cubicBezTo>
                  <a:pt x="34118" y="921562"/>
                  <a:pt x="0" y="887444"/>
                  <a:pt x="0" y="845358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72755" y="4904950"/>
            <a:ext cx="118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72755" y="528586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Final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866" y="341162"/>
            <a:ext cx="1604187" cy="176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spc="53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Conceptos Básicos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866" y="602740"/>
            <a:ext cx="11672835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4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es el Machine Learning?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8014" y="1007649"/>
            <a:ext cx="5700362" cy="2962186"/>
          </a:xfrm>
          <a:custGeom>
            <a:avLst/>
            <a:gdLst/>
            <a:ahLst/>
            <a:cxnLst/>
            <a:rect l="l" t="t" r="r" b="b"/>
            <a:pathLst>
              <a:path w="5700362" h="2962186">
                <a:moveTo>
                  <a:pt x="66975" y="0"/>
                </a:moveTo>
                <a:lnTo>
                  <a:pt x="5633387" y="0"/>
                </a:lnTo>
                <a:cubicBezTo>
                  <a:pt x="5670376" y="0"/>
                  <a:pt x="5700362" y="29986"/>
                  <a:pt x="5700362" y="66975"/>
                </a:cubicBezTo>
                <a:lnTo>
                  <a:pt x="5700362" y="2895211"/>
                </a:lnTo>
                <a:cubicBezTo>
                  <a:pt x="5700362" y="2932200"/>
                  <a:pt x="5670376" y="2962186"/>
                  <a:pt x="5633387" y="2962186"/>
                </a:cubicBezTo>
                <a:lnTo>
                  <a:pt x="66975" y="2962186"/>
                </a:lnTo>
                <a:cubicBezTo>
                  <a:pt x="29986" y="2962186"/>
                  <a:pt x="0" y="2932200"/>
                  <a:pt x="0" y="2895211"/>
                </a:cubicBezTo>
                <a:lnTo>
                  <a:pt x="0" y="66975"/>
                </a:lnTo>
                <a:cubicBezTo>
                  <a:pt x="0" y="30011"/>
                  <a:pt x="30011" y="0"/>
                  <a:pt x="6697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1603" y="1111237"/>
            <a:ext cx="557683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Definición Simple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603" y="1412558"/>
            <a:ext cx="5501473" cy="770374"/>
          </a:xfrm>
          <a:custGeom>
            <a:avLst/>
            <a:gdLst/>
            <a:ahLst/>
            <a:cxnLst/>
            <a:rect l="l" t="t" r="r" b="b"/>
            <a:pathLst>
              <a:path w="5501473" h="770374">
                <a:moveTo>
                  <a:pt x="33496" y="0"/>
                </a:moveTo>
                <a:lnTo>
                  <a:pt x="5467977" y="0"/>
                </a:lnTo>
                <a:cubicBezTo>
                  <a:pt x="5486476" y="0"/>
                  <a:pt x="5501473" y="14997"/>
                  <a:pt x="5501473" y="33496"/>
                </a:cubicBezTo>
                <a:lnTo>
                  <a:pt x="5501473" y="736878"/>
                </a:lnTo>
                <a:cubicBezTo>
                  <a:pt x="5501473" y="755377"/>
                  <a:pt x="5486476" y="770374"/>
                  <a:pt x="5467977" y="770374"/>
                </a:cubicBezTo>
                <a:lnTo>
                  <a:pt x="33496" y="770374"/>
                </a:lnTo>
                <a:cubicBezTo>
                  <a:pt x="14997" y="770374"/>
                  <a:pt x="0" y="755377"/>
                  <a:pt x="0" y="736878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2043" y="1512998"/>
            <a:ext cx="5367495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Aprende de Ejemplos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043" y="1747424"/>
            <a:ext cx="5359121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Como un estudiante que aprende de partidas, la IA analiza millones de ejemplos y descubre patrones automáticamente. No necesita reglas programadas.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1603" y="2249626"/>
            <a:ext cx="5501473" cy="770374"/>
          </a:xfrm>
          <a:custGeom>
            <a:avLst/>
            <a:gdLst/>
            <a:ahLst/>
            <a:cxnLst/>
            <a:rect l="l" t="t" r="r" b="b"/>
            <a:pathLst>
              <a:path w="5501473" h="770374">
                <a:moveTo>
                  <a:pt x="33496" y="0"/>
                </a:moveTo>
                <a:lnTo>
                  <a:pt x="5467977" y="0"/>
                </a:lnTo>
                <a:cubicBezTo>
                  <a:pt x="5486476" y="0"/>
                  <a:pt x="5501473" y="14997"/>
                  <a:pt x="5501473" y="33496"/>
                </a:cubicBezTo>
                <a:lnTo>
                  <a:pt x="5501473" y="736878"/>
                </a:lnTo>
                <a:cubicBezTo>
                  <a:pt x="5501473" y="755377"/>
                  <a:pt x="5486476" y="770374"/>
                  <a:pt x="5467977" y="770374"/>
                </a:cubicBezTo>
                <a:lnTo>
                  <a:pt x="33496" y="770374"/>
                </a:lnTo>
                <a:cubicBezTo>
                  <a:pt x="14997" y="770374"/>
                  <a:pt x="0" y="755377"/>
                  <a:pt x="0" y="736878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2043" y="2350065"/>
            <a:ext cx="5367495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 El Entrenador Experto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043" y="2584492"/>
            <a:ext cx="5359121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Imagina un entrenador que ha visto millones de partidas y reconoce patrones de error. La IA hace exactamente eso, pero con precisión matemática.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4751" y="3089841"/>
            <a:ext cx="5491021" cy="776670"/>
          </a:xfrm>
          <a:custGeom>
            <a:avLst/>
            <a:gdLst/>
            <a:ahLst/>
            <a:cxnLst/>
            <a:rect l="l" t="t" r="r" b="b"/>
            <a:pathLst>
              <a:path w="5491021" h="776670">
                <a:moveTo>
                  <a:pt x="33498" y="0"/>
                </a:moveTo>
                <a:lnTo>
                  <a:pt x="5457523" y="0"/>
                </a:lnTo>
                <a:cubicBezTo>
                  <a:pt x="5476024" y="0"/>
                  <a:pt x="5491021" y="14997"/>
                  <a:pt x="5491021" y="33498"/>
                </a:cubicBezTo>
                <a:lnTo>
                  <a:pt x="5491021" y="743172"/>
                </a:lnTo>
                <a:cubicBezTo>
                  <a:pt x="5491021" y="761672"/>
                  <a:pt x="5476024" y="776670"/>
                  <a:pt x="5457523" y="776670"/>
                </a:cubicBezTo>
                <a:lnTo>
                  <a:pt x="33498" y="776670"/>
                </a:lnTo>
                <a:cubicBezTo>
                  <a:pt x="14997" y="776670"/>
                  <a:pt x="0" y="761672"/>
                  <a:pt x="0" y="743172"/>
                </a:cubicBezTo>
                <a:lnTo>
                  <a:pt x="0" y="33498"/>
                </a:lnTo>
                <a:cubicBezTo>
                  <a:pt x="0" y="15010"/>
                  <a:pt x="15010" y="0"/>
                  <a:pt x="3349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339" y="3193429"/>
            <a:ext cx="5350747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Beneficio Clave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339" y="3427855"/>
            <a:ext cx="5342374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objetivo sin sesgos humanos. La IA no se cansa, no tiene favoritos, y evalúa cada posición con la misma precisión.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49283" y="1007649"/>
            <a:ext cx="5708736" cy="2962186"/>
          </a:xfrm>
          <a:custGeom>
            <a:avLst/>
            <a:gdLst/>
            <a:ahLst/>
            <a:cxnLst/>
            <a:rect l="l" t="t" r="r" b="b"/>
            <a:pathLst>
              <a:path w="5708736" h="2962186">
                <a:moveTo>
                  <a:pt x="66975" y="0"/>
                </a:moveTo>
                <a:lnTo>
                  <a:pt x="5641760" y="0"/>
                </a:lnTo>
                <a:cubicBezTo>
                  <a:pt x="5678750" y="0"/>
                  <a:pt x="5708736" y="29986"/>
                  <a:pt x="5708736" y="66975"/>
                </a:cubicBezTo>
                <a:lnTo>
                  <a:pt x="5708736" y="2895211"/>
                </a:lnTo>
                <a:cubicBezTo>
                  <a:pt x="5708736" y="2932200"/>
                  <a:pt x="5678750" y="2962186"/>
                  <a:pt x="5641760" y="2962186"/>
                </a:cubicBezTo>
                <a:lnTo>
                  <a:pt x="66975" y="2962186"/>
                </a:lnTo>
                <a:cubicBezTo>
                  <a:pt x="29986" y="2962186"/>
                  <a:pt x="0" y="2932200"/>
                  <a:pt x="0" y="2895211"/>
                </a:cubicBezTo>
                <a:lnTo>
                  <a:pt x="0" y="66975"/>
                </a:lnTo>
                <a:cubicBezTo>
                  <a:pt x="0" y="30011"/>
                  <a:pt x="30011" y="0"/>
                  <a:pt x="6697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2872" y="1111237"/>
            <a:ext cx="557683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¿Cómo Funciona?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2872" y="1446005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33978" y="0"/>
                </a:moveTo>
                <a:lnTo>
                  <a:pt x="133978" y="0"/>
                </a:lnTo>
                <a:cubicBezTo>
                  <a:pt x="207923" y="0"/>
                  <a:pt x="267956" y="60034"/>
                  <a:pt x="267956" y="133978"/>
                </a:cubicBezTo>
                <a:lnTo>
                  <a:pt x="267956" y="133978"/>
                </a:lnTo>
                <a:cubicBezTo>
                  <a:pt x="267956" y="207923"/>
                  <a:pt x="207923" y="267956"/>
                  <a:pt x="133978" y="267956"/>
                </a:cubicBezTo>
                <a:lnTo>
                  <a:pt x="133978" y="267956"/>
                </a:lnTo>
                <a:cubicBezTo>
                  <a:pt x="60034" y="267956"/>
                  <a:pt x="0" y="207923"/>
                  <a:pt x="0" y="133978"/>
                </a:cubicBezTo>
                <a:lnTo>
                  <a:pt x="0" y="133978"/>
                </a:lnTo>
                <a:cubicBezTo>
                  <a:pt x="0" y="60034"/>
                  <a:pt x="60034" y="0"/>
                  <a:pt x="13397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363739" y="1496176"/>
            <a:ext cx="10885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1185" y="1412558"/>
            <a:ext cx="520002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Entrenamiento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1185" y="1613537"/>
            <a:ext cx="5191648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analiza 328,283 jugadas etiquetadas por expertos como buenas, imprecisiones, errores o graves errores.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2872" y="2048744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33978" y="0"/>
                </a:moveTo>
                <a:lnTo>
                  <a:pt x="133978" y="0"/>
                </a:lnTo>
                <a:cubicBezTo>
                  <a:pt x="207923" y="0"/>
                  <a:pt x="267956" y="60034"/>
                  <a:pt x="267956" y="133978"/>
                </a:cubicBezTo>
                <a:lnTo>
                  <a:pt x="267956" y="133978"/>
                </a:lnTo>
                <a:cubicBezTo>
                  <a:pt x="267956" y="207923"/>
                  <a:pt x="207923" y="267956"/>
                  <a:pt x="133978" y="267956"/>
                </a:cubicBezTo>
                <a:lnTo>
                  <a:pt x="133978" y="267956"/>
                </a:lnTo>
                <a:cubicBezTo>
                  <a:pt x="60034" y="267956"/>
                  <a:pt x="0" y="207923"/>
                  <a:pt x="0" y="133978"/>
                </a:cubicBezTo>
                <a:lnTo>
                  <a:pt x="0" y="133978"/>
                </a:lnTo>
                <a:cubicBezTo>
                  <a:pt x="0" y="60034"/>
                  <a:pt x="60034" y="0"/>
                  <a:pt x="13397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353804" y="2098916"/>
            <a:ext cx="125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1185" y="2015298"/>
            <a:ext cx="520002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de Patrones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1185" y="2216276"/>
            <a:ext cx="5191648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Descubre qué características predicen cada tipo de error: material, posición, tiempo, complejidad.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2872" y="2651485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33978" y="0"/>
                </a:moveTo>
                <a:lnTo>
                  <a:pt x="133978" y="0"/>
                </a:lnTo>
                <a:cubicBezTo>
                  <a:pt x="207923" y="0"/>
                  <a:pt x="267956" y="60034"/>
                  <a:pt x="267956" y="133978"/>
                </a:cubicBezTo>
                <a:lnTo>
                  <a:pt x="267956" y="133978"/>
                </a:lnTo>
                <a:cubicBezTo>
                  <a:pt x="267956" y="207923"/>
                  <a:pt x="207923" y="267956"/>
                  <a:pt x="133978" y="267956"/>
                </a:cubicBezTo>
                <a:lnTo>
                  <a:pt x="133978" y="267956"/>
                </a:lnTo>
                <a:cubicBezTo>
                  <a:pt x="60034" y="267956"/>
                  <a:pt x="0" y="207923"/>
                  <a:pt x="0" y="133978"/>
                </a:cubicBezTo>
                <a:lnTo>
                  <a:pt x="0" y="133978"/>
                </a:lnTo>
                <a:cubicBezTo>
                  <a:pt x="0" y="60034"/>
                  <a:pt x="60034" y="0"/>
                  <a:pt x="13397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352328" y="2701655"/>
            <a:ext cx="125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1185" y="2618037"/>
            <a:ext cx="520002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1185" y="2819016"/>
            <a:ext cx="5191648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ver una nueva posición, predice la probabilidad de cada tipo de error basándose en patrones aprendidos.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8014" y="4046236"/>
            <a:ext cx="11520032" cy="1655900"/>
          </a:xfrm>
          <a:custGeom>
            <a:avLst/>
            <a:gdLst/>
            <a:ahLst/>
            <a:cxnLst/>
            <a:rect l="l" t="t" r="r" b="b"/>
            <a:pathLst>
              <a:path w="11520032" h="1655900">
                <a:moveTo>
                  <a:pt x="66981" y="0"/>
                </a:moveTo>
                <a:lnTo>
                  <a:pt x="11453051" y="0"/>
                </a:lnTo>
                <a:cubicBezTo>
                  <a:pt x="11490044" y="0"/>
                  <a:pt x="11520032" y="29988"/>
                  <a:pt x="11520032" y="66981"/>
                </a:cubicBezTo>
                <a:lnTo>
                  <a:pt x="11520032" y="1588919"/>
                </a:lnTo>
                <a:cubicBezTo>
                  <a:pt x="11520032" y="1625912"/>
                  <a:pt x="11490044" y="1655900"/>
                  <a:pt x="11453051" y="1655900"/>
                </a:cubicBezTo>
                <a:lnTo>
                  <a:pt x="66981" y="1655900"/>
                </a:lnTo>
                <a:cubicBezTo>
                  <a:pt x="29988" y="1655900"/>
                  <a:pt x="0" y="1625912"/>
                  <a:pt x="0" y="1588919"/>
                </a:cubicBezTo>
                <a:lnTo>
                  <a:pt x="0" y="66981"/>
                </a:lnTo>
                <a:cubicBezTo>
                  <a:pt x="0" y="30013"/>
                  <a:pt x="30013" y="0"/>
                  <a:pt x="6698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1603" y="4149824"/>
            <a:ext cx="11388132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Diferencia con Motores Tradicionales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1603" y="4451145"/>
            <a:ext cx="5601956" cy="1147187"/>
          </a:xfrm>
          <a:custGeom>
            <a:avLst/>
            <a:gdLst/>
            <a:ahLst/>
            <a:cxnLst/>
            <a:rect l="l" t="t" r="r" b="b"/>
            <a:pathLst>
              <a:path w="5601956" h="1147187">
                <a:moveTo>
                  <a:pt x="33498" y="0"/>
                </a:moveTo>
                <a:lnTo>
                  <a:pt x="5568458" y="0"/>
                </a:lnTo>
                <a:cubicBezTo>
                  <a:pt x="5586959" y="0"/>
                  <a:pt x="5601956" y="14998"/>
                  <a:pt x="5601956" y="33498"/>
                </a:cubicBezTo>
                <a:lnTo>
                  <a:pt x="5601956" y="1113689"/>
                </a:lnTo>
                <a:cubicBezTo>
                  <a:pt x="5601956" y="1132189"/>
                  <a:pt x="5586959" y="1147187"/>
                  <a:pt x="5568458" y="1147187"/>
                </a:cubicBezTo>
                <a:lnTo>
                  <a:pt x="33498" y="1147187"/>
                </a:lnTo>
                <a:cubicBezTo>
                  <a:pt x="14998" y="1147187"/>
                  <a:pt x="0" y="1132189"/>
                  <a:pt x="0" y="1113689"/>
                </a:cubicBezTo>
                <a:lnTo>
                  <a:pt x="0" y="33498"/>
                </a:lnTo>
                <a:cubicBezTo>
                  <a:pt x="0" y="15010"/>
                  <a:pt x="15010" y="0"/>
                  <a:pt x="3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2043" y="4551586"/>
            <a:ext cx="546797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Motores Tradicionales (Stockfish)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2043" y="4819459"/>
            <a:ext cx="5459604" cy="66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Calculan todas las jugadas posibles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Usan reglas programadas por humanos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Evalúan posiciones numéricamente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 aprenden de experiencia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49283" y="4454293"/>
            <a:ext cx="5599878" cy="1145109"/>
          </a:xfrm>
          <a:custGeom>
            <a:avLst/>
            <a:gdLst/>
            <a:ahLst/>
            <a:cxnLst/>
            <a:rect l="l" t="t" r="r" b="b"/>
            <a:pathLst>
              <a:path w="5599878" h="1145109">
                <a:moveTo>
                  <a:pt x="33494" y="0"/>
                </a:moveTo>
                <a:lnTo>
                  <a:pt x="5566384" y="0"/>
                </a:lnTo>
                <a:cubicBezTo>
                  <a:pt x="5584882" y="0"/>
                  <a:pt x="5599878" y="14996"/>
                  <a:pt x="5599878" y="33494"/>
                </a:cubicBezTo>
                <a:lnTo>
                  <a:pt x="5599878" y="1111615"/>
                </a:lnTo>
                <a:cubicBezTo>
                  <a:pt x="5599878" y="1130113"/>
                  <a:pt x="5584882" y="1145109"/>
                  <a:pt x="5566384" y="1145109"/>
                </a:cubicBezTo>
                <a:lnTo>
                  <a:pt x="33494" y="1145109"/>
                </a:lnTo>
                <a:cubicBezTo>
                  <a:pt x="14996" y="1145109"/>
                  <a:pt x="0" y="1130113"/>
                  <a:pt x="0" y="1111615"/>
                </a:cubicBezTo>
                <a:lnTo>
                  <a:pt x="0" y="33494"/>
                </a:lnTo>
                <a:cubicBezTo>
                  <a:pt x="0" y="15008"/>
                  <a:pt x="15008" y="0"/>
                  <a:pt x="33494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2872" y="4557881"/>
            <a:ext cx="545960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(Chess Trainer)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2872" y="4825755"/>
            <a:ext cx="5451231" cy="66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Aprenden de millones de ejemplos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Descubren patrones automáticamente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Clasifican decisiones cualitativamente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Mejoran con más datos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8014" y="5779002"/>
            <a:ext cx="11520032" cy="575703"/>
          </a:xfrm>
          <a:custGeom>
            <a:avLst/>
            <a:gdLst/>
            <a:ahLst/>
            <a:cxnLst/>
            <a:rect l="l" t="t" r="r" b="b"/>
            <a:pathLst>
              <a:path w="11520032" h="575703">
                <a:moveTo>
                  <a:pt x="66989" y="0"/>
                </a:moveTo>
                <a:lnTo>
                  <a:pt x="11453043" y="0"/>
                </a:lnTo>
                <a:cubicBezTo>
                  <a:pt x="11490040" y="0"/>
                  <a:pt x="11520032" y="29992"/>
                  <a:pt x="11520032" y="66989"/>
                </a:cubicBezTo>
                <a:lnTo>
                  <a:pt x="11520032" y="508714"/>
                </a:lnTo>
                <a:cubicBezTo>
                  <a:pt x="11520032" y="545711"/>
                  <a:pt x="11490040" y="575703"/>
                  <a:pt x="11453043" y="575703"/>
                </a:cubicBezTo>
                <a:lnTo>
                  <a:pt x="66989" y="575703"/>
                </a:lnTo>
                <a:cubicBezTo>
                  <a:pt x="30017" y="575703"/>
                  <a:pt x="0" y="545686"/>
                  <a:pt x="0" y="508714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844" y="5966307"/>
            <a:ext cx="150725" cy="200967"/>
          </a:xfrm>
          <a:custGeom>
            <a:avLst/>
            <a:gdLst/>
            <a:ahLst/>
            <a:cxnLst/>
            <a:rect l="l" t="t" r="r" b="b"/>
            <a:pathLst>
              <a:path w="150725" h="200967">
                <a:moveTo>
                  <a:pt x="114967" y="150725"/>
                </a:moveTo>
                <a:cubicBezTo>
                  <a:pt x="117833" y="141972"/>
                  <a:pt x="123563" y="134043"/>
                  <a:pt x="130040" y="127214"/>
                </a:cubicBezTo>
                <a:cubicBezTo>
                  <a:pt x="142875" y="113711"/>
                  <a:pt x="150725" y="95459"/>
                  <a:pt x="150725" y="75363"/>
                </a:cubicBezTo>
                <a:cubicBezTo>
                  <a:pt x="150725" y="33756"/>
                  <a:pt x="116969" y="0"/>
                  <a:pt x="75363" y="0"/>
                </a:cubicBezTo>
                <a:cubicBezTo>
                  <a:pt x="33756" y="0"/>
                  <a:pt x="0" y="33756"/>
                  <a:pt x="0" y="75363"/>
                </a:cubicBezTo>
                <a:cubicBezTo>
                  <a:pt x="0" y="95459"/>
                  <a:pt x="7850" y="113711"/>
                  <a:pt x="20685" y="127214"/>
                </a:cubicBezTo>
                <a:cubicBezTo>
                  <a:pt x="27162" y="134043"/>
                  <a:pt x="32932" y="141972"/>
                  <a:pt x="35758" y="150725"/>
                </a:cubicBezTo>
                <a:lnTo>
                  <a:pt x="114928" y="150725"/>
                </a:lnTo>
                <a:close/>
                <a:moveTo>
                  <a:pt x="113044" y="169566"/>
                </a:moveTo>
                <a:lnTo>
                  <a:pt x="37681" y="169566"/>
                </a:lnTo>
                <a:lnTo>
                  <a:pt x="37681" y="175846"/>
                </a:lnTo>
                <a:cubicBezTo>
                  <a:pt x="37681" y="193195"/>
                  <a:pt x="51733" y="207247"/>
                  <a:pt x="69082" y="207247"/>
                </a:cubicBezTo>
                <a:lnTo>
                  <a:pt x="81643" y="207247"/>
                </a:lnTo>
                <a:cubicBezTo>
                  <a:pt x="98992" y="207247"/>
                  <a:pt x="113044" y="193195"/>
                  <a:pt x="113044" y="175846"/>
                </a:cubicBezTo>
                <a:lnTo>
                  <a:pt x="113044" y="169566"/>
                </a:lnTo>
                <a:close/>
                <a:moveTo>
                  <a:pt x="72223" y="43962"/>
                </a:moveTo>
                <a:cubicBezTo>
                  <a:pt x="56600" y="43962"/>
                  <a:pt x="43962" y="56600"/>
                  <a:pt x="43962" y="72223"/>
                </a:cubicBezTo>
                <a:cubicBezTo>
                  <a:pt x="43962" y="77443"/>
                  <a:pt x="39762" y="81643"/>
                  <a:pt x="34541" y="81643"/>
                </a:cubicBezTo>
                <a:cubicBezTo>
                  <a:pt x="29321" y="81643"/>
                  <a:pt x="25121" y="77443"/>
                  <a:pt x="25121" y="72223"/>
                </a:cubicBezTo>
                <a:cubicBezTo>
                  <a:pt x="25121" y="46199"/>
                  <a:pt x="46199" y="25121"/>
                  <a:pt x="72223" y="25121"/>
                </a:cubicBezTo>
                <a:cubicBezTo>
                  <a:pt x="77443" y="25121"/>
                  <a:pt x="81643" y="29321"/>
                  <a:pt x="81643" y="34541"/>
                </a:cubicBezTo>
                <a:cubicBezTo>
                  <a:pt x="81643" y="39762"/>
                  <a:pt x="77443" y="43962"/>
                  <a:pt x="72223" y="4396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793193" y="5882591"/>
            <a:ext cx="1054239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Ventaja de la IA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93193" y="6083570"/>
            <a:ext cx="10534022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Mientras los motores tradicionales te dicen "esta jugada pierde 2 peones", la IA te dice "esta jugada es un error grave porque viola patrones que han llevado a derrotas en 90% de casos similares".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0" y="388072"/>
            <a:ext cx="1614165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Chess Trainer ML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10" y="68561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Un Sistema de Clase Mundial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491" y="1146199"/>
            <a:ext cx="5655487" cy="3007537"/>
          </a:xfrm>
          <a:custGeom>
            <a:avLst/>
            <a:gdLst/>
            <a:ahLst/>
            <a:cxnLst/>
            <a:rect l="l" t="t" r="r" b="b"/>
            <a:pathLst>
              <a:path w="5655487" h="3007537">
                <a:moveTo>
                  <a:pt x="76211" y="0"/>
                </a:moveTo>
                <a:lnTo>
                  <a:pt x="5579276" y="0"/>
                </a:lnTo>
                <a:cubicBezTo>
                  <a:pt x="5621366" y="0"/>
                  <a:pt x="5655487" y="34121"/>
                  <a:pt x="5655487" y="76211"/>
                </a:cubicBezTo>
                <a:lnTo>
                  <a:pt x="5655487" y="2931326"/>
                </a:lnTo>
                <a:cubicBezTo>
                  <a:pt x="5655487" y="2973416"/>
                  <a:pt x="5621366" y="3007537"/>
                  <a:pt x="5579276" y="3007537"/>
                </a:cubicBezTo>
                <a:lnTo>
                  <a:pt x="76211" y="3007537"/>
                </a:lnTo>
                <a:cubicBezTo>
                  <a:pt x="34121" y="3007537"/>
                  <a:pt x="0" y="2973416"/>
                  <a:pt x="0" y="2931326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323" y="1264031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Hace el Sistema?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323" y="1606783"/>
            <a:ext cx="5419725" cy="800100"/>
          </a:xfrm>
          <a:custGeom>
            <a:avLst/>
            <a:gdLst/>
            <a:ahLst/>
            <a:cxnLst/>
            <a:rect l="l" t="t" r="r" b="b"/>
            <a:pathLst>
              <a:path w="5419725" h="800100">
                <a:moveTo>
                  <a:pt x="38101" y="0"/>
                </a:moveTo>
                <a:lnTo>
                  <a:pt x="5381624" y="0"/>
                </a:lnTo>
                <a:cubicBezTo>
                  <a:pt x="5402667" y="0"/>
                  <a:pt x="5419725" y="17058"/>
                  <a:pt x="5419725" y="38101"/>
                </a:cubicBezTo>
                <a:lnTo>
                  <a:pt x="5419725" y="761999"/>
                </a:lnTo>
                <a:cubicBezTo>
                  <a:pt x="5419725" y="783042"/>
                  <a:pt x="5402667" y="800100"/>
                  <a:pt x="53816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78415" y="1682876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Masivo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8415" y="1949536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Analiza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328,283 jugadas reales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jugadores de todos los niveles, desde principiantes hasta maestros.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323" y="2482632"/>
            <a:ext cx="5419725" cy="609600"/>
          </a:xfrm>
          <a:custGeom>
            <a:avLst/>
            <a:gdLst/>
            <a:ahLst/>
            <a:cxnLst/>
            <a:rect l="l" t="t" r="r" b="b"/>
            <a:pathLst>
              <a:path w="5419725" h="609600">
                <a:moveTo>
                  <a:pt x="38100" y="0"/>
                </a:moveTo>
                <a:lnTo>
                  <a:pt x="5381625" y="0"/>
                </a:lnTo>
                <a:cubicBezTo>
                  <a:pt x="5402653" y="0"/>
                  <a:pt x="5419725" y="17072"/>
                  <a:pt x="5419725" y="38100"/>
                </a:cubicBezTo>
                <a:lnTo>
                  <a:pt x="5419725" y="571500"/>
                </a:lnTo>
                <a:cubicBezTo>
                  <a:pt x="5419725" y="592528"/>
                  <a:pt x="5402653" y="609600"/>
                  <a:pt x="53816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8415" y="2558724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en 4 Categorías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8415" y="2825385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jugada se clasifica como: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Buena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Imprecisión, Error, o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Grave Error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323" y="3168024"/>
            <a:ext cx="5419725" cy="800100"/>
          </a:xfrm>
          <a:custGeom>
            <a:avLst/>
            <a:gdLst/>
            <a:ahLst/>
            <a:cxnLst/>
            <a:rect l="l" t="t" r="r" b="b"/>
            <a:pathLst>
              <a:path w="5419725" h="800100">
                <a:moveTo>
                  <a:pt x="38101" y="0"/>
                </a:moveTo>
                <a:lnTo>
                  <a:pt x="5381624" y="0"/>
                </a:lnTo>
                <a:cubicBezTo>
                  <a:pt x="5402667" y="0"/>
                  <a:pt x="5419725" y="17058"/>
                  <a:pt x="5419725" y="38101"/>
                </a:cubicBezTo>
                <a:lnTo>
                  <a:pt x="5419725" y="761999"/>
                </a:lnTo>
                <a:cubicBezTo>
                  <a:pt x="5419725" y="783042"/>
                  <a:pt x="5402667" y="800100"/>
                  <a:pt x="53816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8415" y="3244117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del Sistema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8415" y="3510776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de precisión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(F1=1.0000). Los mejores jugadores humanos tienen 85-90% de precisión en análisis manual.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56673" y="1146199"/>
            <a:ext cx="5655487" cy="3007537"/>
          </a:xfrm>
          <a:custGeom>
            <a:avLst/>
            <a:gdLst/>
            <a:ahLst/>
            <a:cxnLst/>
            <a:rect l="l" t="t" r="r" b="b"/>
            <a:pathLst>
              <a:path w="5655487" h="3007537">
                <a:moveTo>
                  <a:pt x="76211" y="0"/>
                </a:moveTo>
                <a:lnTo>
                  <a:pt x="5579276" y="0"/>
                </a:lnTo>
                <a:cubicBezTo>
                  <a:pt x="5621366" y="0"/>
                  <a:pt x="5655487" y="34121"/>
                  <a:pt x="5655487" y="76211"/>
                </a:cubicBezTo>
                <a:lnTo>
                  <a:pt x="5655487" y="2931326"/>
                </a:lnTo>
                <a:cubicBezTo>
                  <a:pt x="5655487" y="2973416"/>
                  <a:pt x="5621366" y="3007537"/>
                  <a:pt x="5579276" y="3007537"/>
                </a:cubicBezTo>
                <a:lnTo>
                  <a:pt x="76211" y="3007537"/>
                </a:lnTo>
                <a:cubicBezTo>
                  <a:pt x="34121" y="3007537"/>
                  <a:pt x="0" y="2973416"/>
                  <a:pt x="0" y="2931326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4504" y="1264031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Las 4 Clases de Decisiones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74504" y="1606783"/>
            <a:ext cx="5419725" cy="571500"/>
          </a:xfrm>
          <a:custGeom>
            <a:avLst/>
            <a:gdLst/>
            <a:ahLst/>
            <a:cxnLst/>
            <a:rect l="l" t="t" r="r" b="b"/>
            <a:pathLst>
              <a:path w="5419725" h="571500">
                <a:moveTo>
                  <a:pt x="38102" y="0"/>
                </a:moveTo>
                <a:lnTo>
                  <a:pt x="5381623" y="0"/>
                </a:lnTo>
                <a:cubicBezTo>
                  <a:pt x="5402666" y="0"/>
                  <a:pt x="5419725" y="17059"/>
                  <a:pt x="5419725" y="38102"/>
                </a:cubicBezTo>
                <a:lnTo>
                  <a:pt x="5419725" y="533398"/>
                </a:lnTo>
                <a:cubicBezTo>
                  <a:pt x="5419725" y="554441"/>
                  <a:pt x="5402666" y="571500"/>
                  <a:pt x="53816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50597" y="1701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875" y="18161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6845758" y="16828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 (84.7%)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45758" y="191149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Jugada correcta, mantiene o mejora la posición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74504" y="2216083"/>
            <a:ext cx="5419725" cy="571500"/>
          </a:xfrm>
          <a:custGeom>
            <a:avLst/>
            <a:gdLst/>
            <a:ahLst/>
            <a:cxnLst/>
            <a:rect l="l" t="t" r="r" b="b"/>
            <a:pathLst>
              <a:path w="5419725" h="571500">
                <a:moveTo>
                  <a:pt x="38102" y="0"/>
                </a:moveTo>
                <a:lnTo>
                  <a:pt x="5381623" y="0"/>
                </a:lnTo>
                <a:cubicBezTo>
                  <a:pt x="5402666" y="0"/>
                  <a:pt x="5419725" y="17059"/>
                  <a:pt x="5419725" y="38102"/>
                </a:cubicBezTo>
                <a:lnTo>
                  <a:pt x="5419725" y="533398"/>
                </a:lnTo>
                <a:cubicBezTo>
                  <a:pt x="5419725" y="554441"/>
                  <a:pt x="5402666" y="571500"/>
                  <a:pt x="53816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50597" y="2311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64875" y="24254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5758" y="2292176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INACCURACY (7.6%)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45758" y="252079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Imprecisión, pierde pequeña ventaja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74504" y="2825385"/>
            <a:ext cx="5419725" cy="571500"/>
          </a:xfrm>
          <a:custGeom>
            <a:avLst/>
            <a:gdLst/>
            <a:ahLst/>
            <a:cxnLst/>
            <a:rect l="l" t="t" r="r" b="b"/>
            <a:pathLst>
              <a:path w="5419725" h="571500">
                <a:moveTo>
                  <a:pt x="38102" y="0"/>
                </a:moveTo>
                <a:lnTo>
                  <a:pt x="5381623" y="0"/>
                </a:lnTo>
                <a:cubicBezTo>
                  <a:pt x="5402666" y="0"/>
                  <a:pt x="5419725" y="17059"/>
                  <a:pt x="5419725" y="38102"/>
                </a:cubicBezTo>
                <a:lnTo>
                  <a:pt x="5419725" y="533398"/>
                </a:lnTo>
                <a:cubicBezTo>
                  <a:pt x="5419725" y="554441"/>
                  <a:pt x="5402666" y="571500"/>
                  <a:pt x="53816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50597" y="292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4875" y="30347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6845758" y="2901476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MISTAKE (6.2%)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45758" y="3130090"/>
            <a:ext cx="2790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significativo, pierde material o posición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81666" y="3441846"/>
            <a:ext cx="5405473" cy="585823"/>
          </a:xfrm>
          <a:custGeom>
            <a:avLst/>
            <a:gdLst/>
            <a:ahLst/>
            <a:cxnLst/>
            <a:rect l="l" t="t" r="r" b="b"/>
            <a:pathLst>
              <a:path w="5405473" h="585823">
                <a:moveTo>
                  <a:pt x="38102" y="0"/>
                </a:moveTo>
                <a:lnTo>
                  <a:pt x="5367371" y="0"/>
                </a:lnTo>
                <a:cubicBezTo>
                  <a:pt x="5388414" y="0"/>
                  <a:pt x="5405473" y="17059"/>
                  <a:pt x="5405473" y="38102"/>
                </a:cubicBezTo>
                <a:lnTo>
                  <a:pt x="5405473" y="547721"/>
                </a:lnTo>
                <a:cubicBezTo>
                  <a:pt x="5405473" y="568764"/>
                  <a:pt x="5388414" y="585823"/>
                  <a:pt x="5367371" y="585823"/>
                </a:cubicBezTo>
                <a:lnTo>
                  <a:pt x="38102" y="585823"/>
                </a:lnTo>
                <a:cubicBezTo>
                  <a:pt x="17059" y="585823"/>
                  <a:pt x="0" y="568764"/>
                  <a:pt x="0" y="547721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C9A227">
              <a:alpha val="30196"/>
            </a:srgbClr>
          </a:solidFill>
          <a:ln w="19098">
            <a:solidFill>
              <a:srgbClr val="C9A2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4920" y="35441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6479198" y="36583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6860081" y="352510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 (1.4%)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60081" y="3753714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Grave error, puede costar la partida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491" y="4235671"/>
            <a:ext cx="11427637" cy="1407337"/>
          </a:xfrm>
          <a:custGeom>
            <a:avLst/>
            <a:gdLst/>
            <a:ahLst/>
            <a:cxnLst/>
            <a:rect l="l" t="t" r="r" b="b"/>
            <a:pathLst>
              <a:path w="11427637" h="1407337">
                <a:moveTo>
                  <a:pt x="76193" y="0"/>
                </a:moveTo>
                <a:lnTo>
                  <a:pt x="11351443" y="0"/>
                </a:lnTo>
                <a:cubicBezTo>
                  <a:pt x="11393524" y="0"/>
                  <a:pt x="11427637" y="34113"/>
                  <a:pt x="11427637" y="76193"/>
                </a:cubicBezTo>
                <a:lnTo>
                  <a:pt x="11427637" y="1331143"/>
                </a:lnTo>
                <a:cubicBezTo>
                  <a:pt x="11427637" y="1373224"/>
                  <a:pt x="11393524" y="1407337"/>
                  <a:pt x="11351443" y="1407337"/>
                </a:cubicBezTo>
                <a:lnTo>
                  <a:pt x="76193" y="1407337"/>
                </a:lnTo>
                <a:cubicBezTo>
                  <a:pt x="34113" y="1407337"/>
                  <a:pt x="0" y="1373224"/>
                  <a:pt x="0" y="1331143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323" y="4353502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Comparación con Expertos Humanos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323" y="4696255"/>
            <a:ext cx="3657600" cy="828675"/>
          </a:xfrm>
          <a:custGeom>
            <a:avLst/>
            <a:gdLst/>
            <a:ahLst/>
            <a:cxnLst/>
            <a:rect l="l" t="t" r="r" b="b"/>
            <a:pathLst>
              <a:path w="3657600" h="828675">
                <a:moveTo>
                  <a:pt x="38102" y="0"/>
                </a:moveTo>
                <a:lnTo>
                  <a:pt x="3619498" y="0"/>
                </a:lnTo>
                <a:cubicBezTo>
                  <a:pt x="3640541" y="0"/>
                  <a:pt x="3657600" y="17059"/>
                  <a:pt x="3657600" y="38102"/>
                </a:cubicBezTo>
                <a:lnTo>
                  <a:pt x="3657600" y="790573"/>
                </a:lnTo>
                <a:cubicBezTo>
                  <a:pt x="3657600" y="811616"/>
                  <a:pt x="3640541" y="828675"/>
                  <a:pt x="3619498" y="828675"/>
                </a:cubicBezTo>
                <a:lnTo>
                  <a:pt x="38102" y="828675"/>
                </a:lnTo>
                <a:cubicBezTo>
                  <a:pt x="17059" y="828675"/>
                  <a:pt x="0" y="811616"/>
                  <a:pt x="0" y="7905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5136" y="4810504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85-90%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3236" y="5191416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de expertos humanos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76626" y="4703417"/>
            <a:ext cx="3633823" cy="814423"/>
          </a:xfrm>
          <a:custGeom>
            <a:avLst/>
            <a:gdLst/>
            <a:ahLst/>
            <a:cxnLst/>
            <a:rect l="l" t="t" r="r" b="b"/>
            <a:pathLst>
              <a:path w="3633823" h="814423">
                <a:moveTo>
                  <a:pt x="38099" y="0"/>
                </a:moveTo>
                <a:lnTo>
                  <a:pt x="3595725" y="0"/>
                </a:lnTo>
                <a:cubicBezTo>
                  <a:pt x="3616766" y="0"/>
                  <a:pt x="3633823" y="17057"/>
                  <a:pt x="3633823" y="38099"/>
                </a:cubicBezTo>
                <a:lnTo>
                  <a:pt x="3633823" y="776325"/>
                </a:lnTo>
                <a:cubicBezTo>
                  <a:pt x="3633823" y="797366"/>
                  <a:pt x="3616766" y="814423"/>
                  <a:pt x="3595725" y="814423"/>
                </a:cubicBezTo>
                <a:lnTo>
                  <a:pt x="38099" y="814423"/>
                </a:lnTo>
                <a:cubicBezTo>
                  <a:pt x="17057" y="814423"/>
                  <a:pt x="0" y="797366"/>
                  <a:pt x="0" y="776325"/>
                </a:cubicBezTo>
                <a:lnTo>
                  <a:pt x="0" y="38099"/>
                </a:lnTo>
                <a:cubicBezTo>
                  <a:pt x="0" y="17071"/>
                  <a:pt x="17071" y="0"/>
                  <a:pt x="3809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9098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26601" y="4824829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364701" y="5205738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de Chess Trainer ML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36607" y="4696255"/>
            <a:ext cx="3657600" cy="828675"/>
          </a:xfrm>
          <a:custGeom>
            <a:avLst/>
            <a:gdLst/>
            <a:ahLst/>
            <a:cxnLst/>
            <a:rect l="l" t="t" r="r" b="b"/>
            <a:pathLst>
              <a:path w="3657600" h="828675">
                <a:moveTo>
                  <a:pt x="38102" y="0"/>
                </a:moveTo>
                <a:lnTo>
                  <a:pt x="3619498" y="0"/>
                </a:lnTo>
                <a:cubicBezTo>
                  <a:pt x="3640541" y="0"/>
                  <a:pt x="3657600" y="17059"/>
                  <a:pt x="3657600" y="38102"/>
                </a:cubicBezTo>
                <a:lnTo>
                  <a:pt x="3657600" y="790573"/>
                </a:lnTo>
                <a:cubicBezTo>
                  <a:pt x="3657600" y="811616"/>
                  <a:pt x="3640541" y="828675"/>
                  <a:pt x="3619498" y="828675"/>
                </a:cubicBezTo>
                <a:lnTo>
                  <a:pt x="38102" y="828675"/>
                </a:lnTo>
                <a:cubicBezTo>
                  <a:pt x="17059" y="828675"/>
                  <a:pt x="0" y="811616"/>
                  <a:pt x="0" y="7905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079420" y="4810504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17520" y="5191416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de análisis por posición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491" y="5725855"/>
            <a:ext cx="11427637" cy="654862"/>
          </a:xfrm>
          <a:custGeom>
            <a:avLst/>
            <a:gdLst/>
            <a:ahLst/>
            <a:cxnLst/>
            <a:rect l="l" t="t" r="r" b="b"/>
            <a:pathLst>
              <a:path w="11427637" h="654862">
                <a:moveTo>
                  <a:pt x="76200" y="0"/>
                </a:moveTo>
                <a:lnTo>
                  <a:pt x="11351437" y="0"/>
                </a:lnTo>
                <a:cubicBezTo>
                  <a:pt x="11393521" y="0"/>
                  <a:pt x="11427637" y="34116"/>
                  <a:pt x="11427637" y="76200"/>
                </a:cubicBezTo>
                <a:lnTo>
                  <a:pt x="11427637" y="578662"/>
                </a:lnTo>
                <a:cubicBezTo>
                  <a:pt x="11427637" y="620746"/>
                  <a:pt x="11393521" y="654862"/>
                  <a:pt x="11351437" y="654862"/>
                </a:cubicBezTo>
                <a:lnTo>
                  <a:pt x="76200" y="654862"/>
                </a:lnTo>
                <a:cubicBezTo>
                  <a:pt x="34116" y="654862"/>
                  <a:pt x="0" y="620746"/>
                  <a:pt x="0" y="578662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898" y="59389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0" name="Text 48"/>
          <p:cNvSpPr/>
          <p:nvPr/>
        </p:nvSpPr>
        <p:spPr>
          <a:xfrm>
            <a:off x="902256" y="5843685"/>
            <a:ext cx="719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Logro Histórico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2256" y="6072299"/>
            <a:ext cx="718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sistema de IA con perfección absoluta en análisis de errores de ajedrez. Nuevo estándar mundial establecido.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0" y="388072"/>
            <a:ext cx="2083701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Posiciones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10" y="68561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Analiza el Sistema?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491" y="1146199"/>
            <a:ext cx="3721912" cy="2674162"/>
          </a:xfrm>
          <a:custGeom>
            <a:avLst/>
            <a:gdLst/>
            <a:ahLst/>
            <a:cxnLst/>
            <a:rect l="l" t="t" r="r" b="b"/>
            <a:pathLst>
              <a:path w="3721912" h="2674162">
                <a:moveTo>
                  <a:pt x="76187" y="0"/>
                </a:moveTo>
                <a:lnTo>
                  <a:pt x="3645725" y="0"/>
                </a:lnTo>
                <a:cubicBezTo>
                  <a:pt x="3687802" y="0"/>
                  <a:pt x="3721912" y="34110"/>
                  <a:pt x="3721912" y="76187"/>
                </a:cubicBezTo>
                <a:lnTo>
                  <a:pt x="3721912" y="2597975"/>
                </a:lnTo>
                <a:cubicBezTo>
                  <a:pt x="3721912" y="2640052"/>
                  <a:pt x="3687802" y="2674162"/>
                  <a:pt x="3645725" y="2674162"/>
                </a:cubicBezTo>
                <a:lnTo>
                  <a:pt x="76187" y="2674162"/>
                </a:lnTo>
                <a:cubicBezTo>
                  <a:pt x="34110" y="2674162"/>
                  <a:pt x="0" y="2640052"/>
                  <a:pt x="0" y="2597975"/>
                </a:cubicBezTo>
                <a:lnTo>
                  <a:pt x="0" y="76187"/>
                </a:lnTo>
                <a:cubicBezTo>
                  <a:pt x="0" y="34110"/>
                  <a:pt x="34110" y="0"/>
                  <a:pt x="7618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323" y="1264032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Posicionales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323" y="1606783"/>
            <a:ext cx="3495675" cy="800100"/>
          </a:xfrm>
          <a:custGeom>
            <a:avLst/>
            <a:gdLst/>
            <a:ahLst/>
            <a:cxnLst/>
            <a:rect l="l" t="t" r="r" b="b"/>
            <a:pathLst>
              <a:path w="3495675" h="800100">
                <a:moveTo>
                  <a:pt x="38101" y="0"/>
                </a:moveTo>
                <a:lnTo>
                  <a:pt x="3457574" y="0"/>
                </a:lnTo>
                <a:cubicBezTo>
                  <a:pt x="3478617" y="0"/>
                  <a:pt x="3495675" y="17058"/>
                  <a:pt x="3495675" y="38101"/>
                </a:cubicBezTo>
                <a:lnTo>
                  <a:pt x="3495675" y="761999"/>
                </a:lnTo>
                <a:cubicBezTo>
                  <a:pt x="3495675" y="783042"/>
                  <a:pt x="3478617" y="800100"/>
                  <a:pt x="345757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8415" y="172092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44963" y="1682876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Material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8415" y="1949537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Comparación de peones y piezas entre ambos bandos.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323" y="2444586"/>
            <a:ext cx="3495675" cy="609600"/>
          </a:xfrm>
          <a:custGeom>
            <a:avLst/>
            <a:gdLst/>
            <a:ahLst/>
            <a:cxnLst/>
            <a:rect l="l" t="t" r="r" b="b"/>
            <a:pathLst>
              <a:path w="3495675" h="6096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571500"/>
                </a:lnTo>
                <a:cubicBezTo>
                  <a:pt x="3495675" y="592528"/>
                  <a:pt x="3478603" y="609600"/>
                  <a:pt x="34575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7465" y="2558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44963" y="2520679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Posicional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8415" y="2787339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Ventaja en centipawns (1 peón = 100 cp).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323" y="3091932"/>
            <a:ext cx="3495675" cy="609600"/>
          </a:xfrm>
          <a:custGeom>
            <a:avLst/>
            <a:gdLst/>
            <a:ahLst/>
            <a:cxnLst/>
            <a:rect l="l" t="t" r="r" b="b"/>
            <a:pathLst>
              <a:path w="3495675" h="6096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571500"/>
                </a:lnTo>
                <a:cubicBezTo>
                  <a:pt x="3495675" y="592528"/>
                  <a:pt x="3478603" y="609600"/>
                  <a:pt x="34575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6990" y="320607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28575"/>
                </a:moveTo>
                <a:lnTo>
                  <a:pt x="38100" y="47625"/>
                </a:lnTo>
                <a:lnTo>
                  <a:pt x="57150" y="47625"/>
                </a:lnTo>
                <a:lnTo>
                  <a:pt x="57150" y="28575"/>
                </a:lnTo>
                <a:lnTo>
                  <a:pt x="76200" y="28575"/>
                </a:lnTo>
                <a:lnTo>
                  <a:pt x="76200" y="47625"/>
                </a:lnTo>
                <a:lnTo>
                  <a:pt x="95250" y="47625"/>
                </a:lnTo>
                <a:lnTo>
                  <a:pt x="95250" y="28575"/>
                </a:lnTo>
                <a:lnTo>
                  <a:pt x="114300" y="28575"/>
                </a:lnTo>
                <a:lnTo>
                  <a:pt x="114300" y="47625"/>
                </a:lnTo>
                <a:lnTo>
                  <a:pt x="95250" y="47625"/>
                </a:lnTo>
                <a:lnTo>
                  <a:pt x="95250" y="66675"/>
                </a:lnTo>
                <a:lnTo>
                  <a:pt x="114300" y="66675"/>
                </a:lnTo>
                <a:lnTo>
                  <a:pt x="114300" y="85725"/>
                </a:lnTo>
                <a:lnTo>
                  <a:pt x="95250" y="85725"/>
                </a:lnTo>
                <a:lnTo>
                  <a:pt x="95250" y="104775"/>
                </a:lnTo>
                <a:lnTo>
                  <a:pt x="114300" y="104775"/>
                </a:lnTo>
                <a:lnTo>
                  <a:pt x="114300" y="123825"/>
                </a:lnTo>
                <a:lnTo>
                  <a:pt x="95250" y="123825"/>
                </a:lnTo>
                <a:lnTo>
                  <a:pt x="95250" y="104775"/>
                </a:lnTo>
                <a:lnTo>
                  <a:pt x="76200" y="104775"/>
                </a:lnTo>
                <a:lnTo>
                  <a:pt x="76200" y="123825"/>
                </a:lnTo>
                <a:lnTo>
                  <a:pt x="57150" y="123825"/>
                </a:lnTo>
                <a:lnTo>
                  <a:pt x="57150" y="104775"/>
                </a:lnTo>
                <a:lnTo>
                  <a:pt x="38100" y="104775"/>
                </a:lnTo>
                <a:lnTo>
                  <a:pt x="38100" y="123825"/>
                </a:lnTo>
                <a:lnTo>
                  <a:pt x="19050" y="123825"/>
                </a:lnTo>
                <a:lnTo>
                  <a:pt x="19050" y="104775"/>
                </a:lnTo>
                <a:lnTo>
                  <a:pt x="38100" y="104775"/>
                </a:lnTo>
                <a:lnTo>
                  <a:pt x="38100" y="85725"/>
                </a:lnTo>
                <a:lnTo>
                  <a:pt x="19050" y="85725"/>
                </a:lnTo>
                <a:lnTo>
                  <a:pt x="19050" y="66675"/>
                </a:lnTo>
                <a:lnTo>
                  <a:pt x="38100" y="66675"/>
                </a:lnTo>
                <a:lnTo>
                  <a:pt x="38100" y="47625"/>
                </a:lnTo>
                <a:lnTo>
                  <a:pt x="19050" y="47625"/>
                </a:lnTo>
                <a:lnTo>
                  <a:pt x="19050" y="28575"/>
                </a:lnTo>
                <a:lnTo>
                  <a:pt x="38100" y="28575"/>
                </a:lnTo>
                <a:close/>
                <a:moveTo>
                  <a:pt x="57150" y="66675"/>
                </a:moveTo>
                <a:lnTo>
                  <a:pt x="76200" y="66675"/>
                </a:lnTo>
                <a:lnTo>
                  <a:pt x="76200" y="47625"/>
                </a:lnTo>
                <a:lnTo>
                  <a:pt x="57150" y="47625"/>
                </a:lnTo>
                <a:lnTo>
                  <a:pt x="57150" y="66675"/>
                </a:lnTo>
                <a:close/>
                <a:moveTo>
                  <a:pt x="57150" y="85725"/>
                </a:moveTo>
                <a:lnTo>
                  <a:pt x="57150" y="66675"/>
                </a:lnTo>
                <a:lnTo>
                  <a:pt x="38100" y="66675"/>
                </a:lnTo>
                <a:lnTo>
                  <a:pt x="38100" y="85725"/>
                </a:lnTo>
                <a:lnTo>
                  <a:pt x="57150" y="85725"/>
                </a:lnTo>
                <a:close/>
                <a:moveTo>
                  <a:pt x="76200" y="85725"/>
                </a:moveTo>
                <a:lnTo>
                  <a:pt x="57150" y="85725"/>
                </a:lnTo>
                <a:lnTo>
                  <a:pt x="57150" y="104775"/>
                </a:lnTo>
                <a:lnTo>
                  <a:pt x="76200" y="104775"/>
                </a:lnTo>
                <a:lnTo>
                  <a:pt x="76200" y="85725"/>
                </a:lnTo>
                <a:close/>
                <a:moveTo>
                  <a:pt x="76200" y="85725"/>
                </a:moveTo>
                <a:lnTo>
                  <a:pt x="95250" y="85725"/>
                </a:lnTo>
                <a:lnTo>
                  <a:pt x="95250" y="66675"/>
                </a:lnTo>
                <a:lnTo>
                  <a:pt x="76200" y="66675"/>
                </a:lnTo>
                <a:lnTo>
                  <a:pt x="76200" y="8572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63" y="316802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del Centro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8415" y="3434686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Dominio de las casillas centrales (e4, d4, e5, d5).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2538" y="1146199"/>
            <a:ext cx="3731437" cy="2674162"/>
          </a:xfrm>
          <a:custGeom>
            <a:avLst/>
            <a:gdLst/>
            <a:ahLst/>
            <a:cxnLst/>
            <a:rect l="l" t="t" r="r" b="b"/>
            <a:pathLst>
              <a:path w="3731437" h="2674162">
                <a:moveTo>
                  <a:pt x="76187" y="0"/>
                </a:moveTo>
                <a:lnTo>
                  <a:pt x="3655250" y="0"/>
                </a:lnTo>
                <a:cubicBezTo>
                  <a:pt x="3697327" y="0"/>
                  <a:pt x="3731437" y="34110"/>
                  <a:pt x="3731437" y="76187"/>
                </a:cubicBezTo>
                <a:lnTo>
                  <a:pt x="3731437" y="2597975"/>
                </a:lnTo>
                <a:cubicBezTo>
                  <a:pt x="3731437" y="2640052"/>
                  <a:pt x="3697327" y="2674162"/>
                  <a:pt x="3655250" y="2674162"/>
                </a:cubicBezTo>
                <a:lnTo>
                  <a:pt x="76187" y="2674162"/>
                </a:lnTo>
                <a:cubicBezTo>
                  <a:pt x="34110" y="2674162"/>
                  <a:pt x="0" y="2640052"/>
                  <a:pt x="0" y="2597975"/>
                </a:cubicBezTo>
                <a:lnTo>
                  <a:pt x="0" y="76187"/>
                </a:lnTo>
                <a:cubicBezTo>
                  <a:pt x="0" y="34110"/>
                  <a:pt x="34110" y="0"/>
                  <a:pt x="7618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0369" y="1264032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de Complejidad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50369" y="1606783"/>
            <a:ext cx="3495675" cy="609600"/>
          </a:xfrm>
          <a:custGeom>
            <a:avLst/>
            <a:gdLst/>
            <a:ahLst/>
            <a:cxnLst/>
            <a:rect l="l" t="t" r="r" b="b"/>
            <a:pathLst>
              <a:path w="3495675" h="6096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571500"/>
                </a:lnTo>
                <a:cubicBezTo>
                  <a:pt x="3495675" y="592528"/>
                  <a:pt x="3478603" y="609600"/>
                  <a:pt x="34575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445512" y="1720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693009" y="1682876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 de Ramificación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26462" y="1949537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Número de jugadas legales disponibles.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50369" y="2254130"/>
            <a:ext cx="3495675" cy="609600"/>
          </a:xfrm>
          <a:custGeom>
            <a:avLst/>
            <a:gdLst/>
            <a:ahLst/>
            <a:cxnLst/>
            <a:rect l="l" t="t" r="r" b="b"/>
            <a:pathLst>
              <a:path w="3495675" h="6096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571500"/>
                </a:lnTo>
                <a:cubicBezTo>
                  <a:pt x="3495675" y="592528"/>
                  <a:pt x="3478603" y="609600"/>
                  <a:pt x="34575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45512" y="23682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2927" y="2798"/>
                </a:moveTo>
                <a:cubicBezTo>
                  <a:pt x="79206" y="-923"/>
                  <a:pt x="73164" y="-923"/>
                  <a:pt x="69443" y="2798"/>
                </a:cubicBezTo>
                <a:lnTo>
                  <a:pt x="50393" y="21848"/>
                </a:lnTo>
                <a:cubicBezTo>
                  <a:pt x="47655" y="24586"/>
                  <a:pt x="46851" y="28664"/>
                  <a:pt x="48339" y="32236"/>
                </a:cubicBezTo>
                <a:cubicBezTo>
                  <a:pt x="49828" y="35808"/>
                  <a:pt x="53310" y="38100"/>
                  <a:pt x="57150" y="38100"/>
                </a:cubicBezTo>
                <a:lnTo>
                  <a:pt x="66675" y="38100"/>
                </a:lnTo>
                <a:lnTo>
                  <a:pt x="66675" y="66675"/>
                </a:lnTo>
                <a:lnTo>
                  <a:pt x="38100" y="66675"/>
                </a:lnTo>
                <a:lnTo>
                  <a:pt x="38100" y="57150"/>
                </a:lnTo>
                <a:cubicBezTo>
                  <a:pt x="38100" y="53310"/>
                  <a:pt x="35778" y="49828"/>
                  <a:pt x="32206" y="48339"/>
                </a:cubicBezTo>
                <a:cubicBezTo>
                  <a:pt x="28635" y="46851"/>
                  <a:pt x="24557" y="47685"/>
                  <a:pt x="21818" y="50393"/>
                </a:cubicBezTo>
                <a:lnTo>
                  <a:pt x="2768" y="69443"/>
                </a:lnTo>
                <a:cubicBezTo>
                  <a:pt x="-952" y="73164"/>
                  <a:pt x="-952" y="79206"/>
                  <a:pt x="2768" y="82927"/>
                </a:cubicBezTo>
                <a:lnTo>
                  <a:pt x="21818" y="101977"/>
                </a:lnTo>
                <a:cubicBezTo>
                  <a:pt x="24557" y="104715"/>
                  <a:pt x="28635" y="105519"/>
                  <a:pt x="32206" y="104031"/>
                </a:cubicBezTo>
                <a:cubicBezTo>
                  <a:pt x="35778" y="102543"/>
                  <a:pt x="38100" y="99090"/>
                  <a:pt x="38100" y="95250"/>
                </a:cubicBezTo>
                <a:lnTo>
                  <a:pt x="38100" y="85725"/>
                </a:lnTo>
                <a:lnTo>
                  <a:pt x="66675" y="85725"/>
                </a:lnTo>
                <a:lnTo>
                  <a:pt x="66675" y="114300"/>
                </a:lnTo>
                <a:lnTo>
                  <a:pt x="57150" y="114300"/>
                </a:lnTo>
                <a:cubicBezTo>
                  <a:pt x="53310" y="114300"/>
                  <a:pt x="49828" y="116622"/>
                  <a:pt x="48339" y="120194"/>
                </a:cubicBezTo>
                <a:cubicBezTo>
                  <a:pt x="46851" y="123765"/>
                  <a:pt x="47685" y="127843"/>
                  <a:pt x="50393" y="130582"/>
                </a:cubicBezTo>
                <a:lnTo>
                  <a:pt x="69443" y="149632"/>
                </a:lnTo>
                <a:cubicBezTo>
                  <a:pt x="73164" y="153353"/>
                  <a:pt x="79206" y="153353"/>
                  <a:pt x="82927" y="149632"/>
                </a:cubicBezTo>
                <a:lnTo>
                  <a:pt x="101977" y="130582"/>
                </a:lnTo>
                <a:cubicBezTo>
                  <a:pt x="104715" y="127843"/>
                  <a:pt x="105519" y="123765"/>
                  <a:pt x="104031" y="120194"/>
                </a:cubicBezTo>
                <a:cubicBezTo>
                  <a:pt x="102543" y="116622"/>
                  <a:pt x="99090" y="114300"/>
                  <a:pt x="95250" y="114300"/>
                </a:cubicBezTo>
                <a:lnTo>
                  <a:pt x="85725" y="114300"/>
                </a:lnTo>
                <a:lnTo>
                  <a:pt x="85725" y="85725"/>
                </a:lnTo>
                <a:lnTo>
                  <a:pt x="114300" y="85725"/>
                </a:lnTo>
                <a:lnTo>
                  <a:pt x="114300" y="95250"/>
                </a:lnTo>
                <a:cubicBezTo>
                  <a:pt x="114300" y="99090"/>
                  <a:pt x="116622" y="102572"/>
                  <a:pt x="120194" y="104061"/>
                </a:cubicBezTo>
                <a:cubicBezTo>
                  <a:pt x="123765" y="105549"/>
                  <a:pt x="127843" y="104715"/>
                  <a:pt x="130582" y="102007"/>
                </a:cubicBezTo>
                <a:lnTo>
                  <a:pt x="149632" y="82957"/>
                </a:lnTo>
                <a:cubicBezTo>
                  <a:pt x="153353" y="79236"/>
                  <a:pt x="153353" y="73194"/>
                  <a:pt x="149632" y="69473"/>
                </a:cubicBezTo>
                <a:lnTo>
                  <a:pt x="130582" y="50423"/>
                </a:lnTo>
                <a:cubicBezTo>
                  <a:pt x="127843" y="47685"/>
                  <a:pt x="123765" y="46881"/>
                  <a:pt x="120194" y="48369"/>
                </a:cubicBezTo>
                <a:cubicBezTo>
                  <a:pt x="116622" y="49857"/>
                  <a:pt x="114300" y="53310"/>
                  <a:pt x="114300" y="57150"/>
                </a:cubicBezTo>
                <a:lnTo>
                  <a:pt x="114300" y="66675"/>
                </a:lnTo>
                <a:lnTo>
                  <a:pt x="85725" y="66675"/>
                </a:lnTo>
                <a:lnTo>
                  <a:pt x="85725" y="38100"/>
                </a:lnTo>
                <a:lnTo>
                  <a:pt x="95250" y="38100"/>
                </a:lnTo>
                <a:cubicBezTo>
                  <a:pt x="99090" y="38100"/>
                  <a:pt x="102572" y="35778"/>
                  <a:pt x="104061" y="32206"/>
                </a:cubicBezTo>
                <a:cubicBezTo>
                  <a:pt x="105549" y="28635"/>
                  <a:pt x="104715" y="24557"/>
                  <a:pt x="102007" y="21818"/>
                </a:cubicBezTo>
                <a:lnTo>
                  <a:pt x="82957" y="276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4693009" y="2330223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Movilidad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26462" y="2596883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Casillas controladas por cada bando.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50369" y="2901476"/>
            <a:ext cx="3495675" cy="609600"/>
          </a:xfrm>
          <a:custGeom>
            <a:avLst/>
            <a:gdLst/>
            <a:ahLst/>
            <a:cxnLst/>
            <a:rect l="l" t="t" r="r" b="b"/>
            <a:pathLst>
              <a:path w="3495675" h="6096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571500"/>
                </a:lnTo>
                <a:cubicBezTo>
                  <a:pt x="3495675" y="592528"/>
                  <a:pt x="3478603" y="609600"/>
                  <a:pt x="34575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45512" y="30156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4693009" y="2977569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Presión de Tiempo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26462" y="3244230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restante en el reloj.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80696" y="1146199"/>
            <a:ext cx="3731437" cy="2674162"/>
          </a:xfrm>
          <a:custGeom>
            <a:avLst/>
            <a:gdLst/>
            <a:ahLst/>
            <a:cxnLst/>
            <a:rect l="l" t="t" r="r" b="b"/>
            <a:pathLst>
              <a:path w="3731437" h="2674162">
                <a:moveTo>
                  <a:pt x="76187" y="0"/>
                </a:moveTo>
                <a:lnTo>
                  <a:pt x="3655250" y="0"/>
                </a:lnTo>
                <a:cubicBezTo>
                  <a:pt x="3697327" y="0"/>
                  <a:pt x="3731437" y="34110"/>
                  <a:pt x="3731437" y="76187"/>
                </a:cubicBezTo>
                <a:lnTo>
                  <a:pt x="3731437" y="2597975"/>
                </a:lnTo>
                <a:cubicBezTo>
                  <a:pt x="3731437" y="2640052"/>
                  <a:pt x="3697327" y="2674162"/>
                  <a:pt x="3655250" y="2674162"/>
                </a:cubicBezTo>
                <a:lnTo>
                  <a:pt x="76187" y="2674162"/>
                </a:lnTo>
                <a:cubicBezTo>
                  <a:pt x="34110" y="2674162"/>
                  <a:pt x="0" y="2640052"/>
                  <a:pt x="0" y="2597975"/>
                </a:cubicBezTo>
                <a:lnTo>
                  <a:pt x="0" y="76187"/>
                </a:lnTo>
                <a:cubicBezTo>
                  <a:pt x="0" y="34110"/>
                  <a:pt x="34110" y="0"/>
                  <a:pt x="7618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8527" y="1264032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Patrones Tácticos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98527" y="1606783"/>
            <a:ext cx="3495675" cy="381000"/>
          </a:xfrm>
          <a:custGeom>
            <a:avLst/>
            <a:gdLst/>
            <a:ahLst/>
            <a:cxnLst/>
            <a:rect l="l" t="t" r="r" b="b"/>
            <a:pathLst>
              <a:path w="3495675" h="3810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342900"/>
                </a:lnTo>
                <a:cubicBezTo>
                  <a:pt x="3495675" y="363928"/>
                  <a:pt x="3478603" y="381000"/>
                  <a:pt x="34575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93670" y="1720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8541168" y="1682876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Amenazas de Mate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98527" y="2025630"/>
            <a:ext cx="3495675" cy="381000"/>
          </a:xfrm>
          <a:custGeom>
            <a:avLst/>
            <a:gdLst/>
            <a:ahLst/>
            <a:cxnLst/>
            <a:rect l="l" t="t" r="r" b="b"/>
            <a:pathLst>
              <a:path w="3495675" h="3810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342900"/>
                </a:lnTo>
                <a:cubicBezTo>
                  <a:pt x="3495675" y="363928"/>
                  <a:pt x="3478603" y="381000"/>
                  <a:pt x="34575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84145" y="2139767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80468" y="19050"/>
                  <a:pt x="76200" y="23318"/>
                  <a:pt x="76200" y="28575"/>
                </a:cubicBezTo>
                <a:cubicBezTo>
                  <a:pt x="76200" y="33832"/>
                  <a:pt x="80468" y="38100"/>
                  <a:pt x="85725" y="38100"/>
                </a:cubicBezTo>
                <a:cubicBezTo>
                  <a:pt x="90982" y="38100"/>
                  <a:pt x="95250" y="33832"/>
                  <a:pt x="95250" y="28575"/>
                </a:cubicBezTo>
                <a:cubicBezTo>
                  <a:pt x="95250" y="23318"/>
                  <a:pt x="90982" y="19050"/>
                  <a:pt x="85725" y="19050"/>
                </a:cubicBezTo>
                <a:close/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cubicBezTo>
                  <a:pt x="114300" y="41017"/>
                  <a:pt x="106353" y="51614"/>
                  <a:pt x="95250" y="55513"/>
                </a:cubicBezTo>
                <a:lnTo>
                  <a:pt x="95250" y="132278"/>
                </a:lnTo>
                <a:cubicBezTo>
                  <a:pt x="113973" y="128022"/>
                  <a:pt x="128052" y="111532"/>
                  <a:pt x="128558" y="91648"/>
                </a:cubicBezTo>
                <a:lnTo>
                  <a:pt x="123765" y="95845"/>
                </a:lnTo>
                <a:cubicBezTo>
                  <a:pt x="120789" y="98435"/>
                  <a:pt x="116294" y="98137"/>
                  <a:pt x="113675" y="95161"/>
                </a:cubicBezTo>
                <a:cubicBezTo>
                  <a:pt x="111056" y="92184"/>
                  <a:pt x="111383" y="87690"/>
                  <a:pt x="114360" y="85070"/>
                </a:cubicBezTo>
                <a:lnTo>
                  <a:pt x="133410" y="68401"/>
                </a:lnTo>
                <a:cubicBezTo>
                  <a:pt x="136088" y="66050"/>
                  <a:pt x="140137" y="66050"/>
                  <a:pt x="142815" y="68401"/>
                </a:cubicBezTo>
                <a:lnTo>
                  <a:pt x="161865" y="85070"/>
                </a:lnTo>
                <a:cubicBezTo>
                  <a:pt x="164842" y="87660"/>
                  <a:pt x="165140" y="92184"/>
                  <a:pt x="162550" y="95161"/>
                </a:cubicBezTo>
                <a:cubicBezTo>
                  <a:pt x="159960" y="98137"/>
                  <a:pt x="155436" y="98435"/>
                  <a:pt x="152460" y="95845"/>
                </a:cubicBezTo>
                <a:lnTo>
                  <a:pt x="147638" y="91648"/>
                </a:lnTo>
                <a:cubicBezTo>
                  <a:pt x="147012" y="125313"/>
                  <a:pt x="119539" y="152400"/>
                  <a:pt x="85725" y="152400"/>
                </a:cubicBezTo>
                <a:cubicBezTo>
                  <a:pt x="51911" y="152400"/>
                  <a:pt x="24438" y="125313"/>
                  <a:pt x="23813" y="91648"/>
                </a:cubicBezTo>
                <a:lnTo>
                  <a:pt x="18990" y="95875"/>
                </a:lnTo>
                <a:cubicBezTo>
                  <a:pt x="16014" y="98465"/>
                  <a:pt x="11519" y="98167"/>
                  <a:pt x="8900" y="95190"/>
                </a:cubicBezTo>
                <a:cubicBezTo>
                  <a:pt x="6281" y="92214"/>
                  <a:pt x="6608" y="87719"/>
                  <a:pt x="9585" y="85100"/>
                </a:cubicBezTo>
                <a:lnTo>
                  <a:pt x="28635" y="68431"/>
                </a:lnTo>
                <a:cubicBezTo>
                  <a:pt x="31313" y="66080"/>
                  <a:pt x="35362" y="66080"/>
                  <a:pt x="38040" y="68431"/>
                </a:cubicBezTo>
                <a:lnTo>
                  <a:pt x="57090" y="85100"/>
                </a:lnTo>
                <a:cubicBezTo>
                  <a:pt x="60067" y="87690"/>
                  <a:pt x="60365" y="92214"/>
                  <a:pt x="57775" y="95190"/>
                </a:cubicBezTo>
                <a:cubicBezTo>
                  <a:pt x="55185" y="98167"/>
                  <a:pt x="50661" y="98465"/>
                  <a:pt x="47685" y="95875"/>
                </a:cubicBezTo>
                <a:lnTo>
                  <a:pt x="42892" y="91678"/>
                </a:lnTo>
                <a:cubicBezTo>
                  <a:pt x="43428" y="111562"/>
                  <a:pt x="57507" y="128052"/>
                  <a:pt x="76200" y="132308"/>
                </a:cubicBezTo>
                <a:lnTo>
                  <a:pt x="76200" y="55543"/>
                </a:lnTo>
                <a:cubicBezTo>
                  <a:pt x="65097" y="51614"/>
                  <a:pt x="57150" y="41047"/>
                  <a:pt x="57150" y="2860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8541168" y="2101723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Clavadas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98527" y="2444474"/>
            <a:ext cx="3495675" cy="381000"/>
          </a:xfrm>
          <a:custGeom>
            <a:avLst/>
            <a:gdLst/>
            <a:ahLst/>
            <a:cxnLst/>
            <a:rect l="l" t="t" r="r" b="b"/>
            <a:pathLst>
              <a:path w="3495675" h="3810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342900"/>
                </a:lnTo>
                <a:cubicBezTo>
                  <a:pt x="3495675" y="363928"/>
                  <a:pt x="3478603" y="381000"/>
                  <a:pt x="34575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93670" y="25586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20" y="4286"/>
                </a:moveTo>
                <a:cubicBezTo>
                  <a:pt x="18782" y="1845"/>
                  <a:pt x="16728" y="0"/>
                  <a:pt x="14288" y="0"/>
                </a:cubicBezTo>
                <a:cubicBezTo>
                  <a:pt x="11847" y="0"/>
                  <a:pt x="9793" y="1845"/>
                  <a:pt x="9525" y="4256"/>
                </a:cubicBezTo>
                <a:lnTo>
                  <a:pt x="5328" y="44559"/>
                </a:lnTo>
                <a:cubicBezTo>
                  <a:pt x="4941" y="46345"/>
                  <a:pt x="4763" y="48161"/>
                  <a:pt x="4763" y="49976"/>
                </a:cubicBezTo>
                <a:cubicBezTo>
                  <a:pt x="4763" y="63639"/>
                  <a:pt x="15210" y="74861"/>
                  <a:pt x="28575" y="76081"/>
                </a:cubicBezTo>
                <a:lnTo>
                  <a:pt x="28575" y="142875"/>
                </a:lnTo>
                <a:cubicBezTo>
                  <a:pt x="28575" y="148144"/>
                  <a:pt x="32831" y="152400"/>
                  <a:pt x="38100" y="152400"/>
                </a:cubicBezTo>
                <a:cubicBezTo>
                  <a:pt x="43369" y="152400"/>
                  <a:pt x="47625" y="148144"/>
                  <a:pt x="47625" y="142875"/>
                </a:cubicBezTo>
                <a:lnTo>
                  <a:pt x="47625" y="76081"/>
                </a:lnTo>
                <a:cubicBezTo>
                  <a:pt x="60990" y="74861"/>
                  <a:pt x="71438" y="63639"/>
                  <a:pt x="71438" y="49976"/>
                </a:cubicBezTo>
                <a:cubicBezTo>
                  <a:pt x="71438" y="48161"/>
                  <a:pt x="71259" y="46345"/>
                  <a:pt x="70872" y="44559"/>
                </a:cubicBezTo>
                <a:lnTo>
                  <a:pt x="66645" y="4256"/>
                </a:lnTo>
                <a:cubicBezTo>
                  <a:pt x="66407" y="1845"/>
                  <a:pt x="64353" y="0"/>
                  <a:pt x="61912" y="0"/>
                </a:cubicBezTo>
                <a:cubicBezTo>
                  <a:pt x="59472" y="0"/>
                  <a:pt x="57418" y="1845"/>
                  <a:pt x="57180" y="4286"/>
                </a:cubicBezTo>
                <a:lnTo>
                  <a:pt x="53132" y="44619"/>
                </a:lnTo>
                <a:cubicBezTo>
                  <a:pt x="52953" y="46315"/>
                  <a:pt x="51524" y="47625"/>
                  <a:pt x="49828" y="47625"/>
                </a:cubicBezTo>
                <a:cubicBezTo>
                  <a:pt x="48101" y="47625"/>
                  <a:pt x="46673" y="46315"/>
                  <a:pt x="46494" y="44589"/>
                </a:cubicBezTo>
                <a:lnTo>
                  <a:pt x="42833" y="4346"/>
                </a:lnTo>
                <a:cubicBezTo>
                  <a:pt x="42624" y="1875"/>
                  <a:pt x="40571" y="0"/>
                  <a:pt x="38100" y="0"/>
                </a:cubicBezTo>
                <a:cubicBezTo>
                  <a:pt x="35629" y="0"/>
                  <a:pt x="33576" y="1875"/>
                  <a:pt x="33367" y="4346"/>
                </a:cubicBezTo>
                <a:lnTo>
                  <a:pt x="29706" y="44589"/>
                </a:lnTo>
                <a:cubicBezTo>
                  <a:pt x="29557" y="46315"/>
                  <a:pt x="28099" y="47625"/>
                  <a:pt x="26372" y="47625"/>
                </a:cubicBezTo>
                <a:cubicBezTo>
                  <a:pt x="24646" y="47625"/>
                  <a:pt x="23217" y="46315"/>
                  <a:pt x="23068" y="44619"/>
                </a:cubicBezTo>
                <a:lnTo>
                  <a:pt x="19020" y="4286"/>
                </a:lnTo>
                <a:close/>
                <a:moveTo>
                  <a:pt x="133350" y="0"/>
                </a:moveTo>
                <a:cubicBezTo>
                  <a:pt x="128588" y="0"/>
                  <a:pt x="95250" y="9525"/>
                  <a:pt x="95250" y="52388"/>
                </a:cubicBezTo>
                <a:lnTo>
                  <a:pt x="95250" y="85725"/>
                </a:lnTo>
                <a:cubicBezTo>
                  <a:pt x="95250" y="96232"/>
                  <a:pt x="103793" y="104775"/>
                  <a:pt x="114300" y="104775"/>
                </a:cubicBezTo>
                <a:lnTo>
                  <a:pt x="123825" y="104775"/>
                </a:lnTo>
                <a:lnTo>
                  <a:pt x="123825" y="142875"/>
                </a:lnTo>
                <a:cubicBezTo>
                  <a:pt x="123825" y="148144"/>
                  <a:pt x="128081" y="152400"/>
                  <a:pt x="133350" y="152400"/>
                </a:cubicBezTo>
                <a:cubicBezTo>
                  <a:pt x="138619" y="152400"/>
                  <a:pt x="142875" y="148144"/>
                  <a:pt x="142875" y="142875"/>
                </a:cubicBezTo>
                <a:lnTo>
                  <a:pt x="142875" y="9525"/>
                </a:lnTo>
                <a:cubicBezTo>
                  <a:pt x="142875" y="4256"/>
                  <a:pt x="138619" y="0"/>
                  <a:pt x="13335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8541168" y="2520567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Tenedores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98527" y="2863318"/>
            <a:ext cx="3495675" cy="381000"/>
          </a:xfrm>
          <a:custGeom>
            <a:avLst/>
            <a:gdLst/>
            <a:ahLst/>
            <a:cxnLst/>
            <a:rect l="l" t="t" r="r" b="b"/>
            <a:pathLst>
              <a:path w="3495675" h="3810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342900"/>
                </a:lnTo>
                <a:cubicBezTo>
                  <a:pt x="3495675" y="363928"/>
                  <a:pt x="3478603" y="381000"/>
                  <a:pt x="34575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84145" y="297745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8541168" y="2939411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Ataques Descubiertos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98527" y="3282165"/>
            <a:ext cx="3495675" cy="381000"/>
          </a:xfrm>
          <a:custGeom>
            <a:avLst/>
            <a:gdLst/>
            <a:ahLst/>
            <a:cxnLst/>
            <a:rect l="l" t="t" r="r" b="b"/>
            <a:pathLst>
              <a:path w="3495675" h="381000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342900"/>
                </a:lnTo>
                <a:cubicBezTo>
                  <a:pt x="3495675" y="363928"/>
                  <a:pt x="3478603" y="381000"/>
                  <a:pt x="34575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293670" y="33963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8541168" y="335825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Rayos X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491" y="3902317"/>
            <a:ext cx="11427637" cy="1340662"/>
          </a:xfrm>
          <a:custGeom>
            <a:avLst/>
            <a:gdLst/>
            <a:ahLst/>
            <a:cxnLst/>
            <a:rect l="l" t="t" r="r" b="b"/>
            <a:pathLst>
              <a:path w="11427637" h="1340662">
                <a:moveTo>
                  <a:pt x="76203" y="0"/>
                </a:moveTo>
                <a:lnTo>
                  <a:pt x="11351433" y="0"/>
                </a:lnTo>
                <a:cubicBezTo>
                  <a:pt x="11393519" y="0"/>
                  <a:pt x="11427637" y="34117"/>
                  <a:pt x="11427637" y="76203"/>
                </a:cubicBezTo>
                <a:lnTo>
                  <a:pt x="11427637" y="1264458"/>
                </a:lnTo>
                <a:cubicBezTo>
                  <a:pt x="11427637" y="1306544"/>
                  <a:pt x="11393519" y="1340662"/>
                  <a:pt x="11351433" y="1340662"/>
                </a:cubicBezTo>
                <a:lnTo>
                  <a:pt x="76203" y="1340662"/>
                </a:lnTo>
                <a:cubicBezTo>
                  <a:pt x="34117" y="1340662"/>
                  <a:pt x="0" y="1306544"/>
                  <a:pt x="0" y="1264458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323" y="402015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Contexto Temporal (Innovación Clave)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2323" y="4362901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59424" y="4477152"/>
            <a:ext cx="2600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83236" y="4820017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Jugadas de contexto analizadas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327707" y="4362901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384808" y="4477152"/>
            <a:ext cx="2600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408621" y="4820017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temporales nuevos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53092" y="4362901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210192" y="4477152"/>
            <a:ext cx="2600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34005" y="4820017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en rachas de errores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978476" y="4362901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035577" y="4477152"/>
            <a:ext cx="2600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~50ms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059389" y="4820017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de análisis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84491" y="5325809"/>
            <a:ext cx="11427637" cy="654862"/>
          </a:xfrm>
          <a:custGeom>
            <a:avLst/>
            <a:gdLst/>
            <a:ahLst/>
            <a:cxnLst/>
            <a:rect l="l" t="t" r="r" b="b"/>
            <a:pathLst>
              <a:path w="11427637" h="654862">
                <a:moveTo>
                  <a:pt x="76200" y="0"/>
                </a:moveTo>
                <a:lnTo>
                  <a:pt x="11351437" y="0"/>
                </a:lnTo>
                <a:cubicBezTo>
                  <a:pt x="11393521" y="0"/>
                  <a:pt x="11427637" y="34116"/>
                  <a:pt x="11427637" y="76200"/>
                </a:cubicBezTo>
                <a:lnTo>
                  <a:pt x="11427637" y="578662"/>
                </a:lnTo>
                <a:cubicBezTo>
                  <a:pt x="11427637" y="620746"/>
                  <a:pt x="11393521" y="654862"/>
                  <a:pt x="11351437" y="654862"/>
                </a:cubicBezTo>
                <a:lnTo>
                  <a:pt x="76200" y="654862"/>
                </a:lnTo>
                <a:cubicBezTo>
                  <a:pt x="34116" y="654862"/>
                  <a:pt x="0" y="620746"/>
                  <a:pt x="0" y="578662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5185" y="553886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5" name="Text 63"/>
          <p:cNvSpPr/>
          <p:nvPr/>
        </p:nvSpPr>
        <p:spPr>
          <a:xfrm>
            <a:off x="902256" y="5443640"/>
            <a:ext cx="1022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Velocidad de Análisis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2256" y="5672254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 esto en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milisegundos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Una partida completa de 40 jugadas se analiza en menos de 2 segundos. Un experto humano tardaría 10-20 minutos en el mismo análisis.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770" y="334951"/>
            <a:ext cx="1745933" cy="17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spc="52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Progresión Histórica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770" y="591766"/>
            <a:ext cx="11682287" cy="32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Evolución del Sistema: De Bueno a Perfecto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860" y="989304"/>
            <a:ext cx="11524045" cy="1683301"/>
          </a:xfrm>
          <a:custGeom>
            <a:avLst/>
            <a:gdLst/>
            <a:ahLst/>
            <a:cxnLst/>
            <a:rect l="l" t="t" r="r" b="b"/>
            <a:pathLst>
              <a:path w="11524045" h="1683301">
                <a:moveTo>
                  <a:pt x="65767" y="0"/>
                </a:moveTo>
                <a:lnTo>
                  <a:pt x="11458279" y="0"/>
                </a:lnTo>
                <a:cubicBezTo>
                  <a:pt x="11494600" y="0"/>
                  <a:pt x="11524045" y="29445"/>
                  <a:pt x="11524045" y="65767"/>
                </a:cubicBezTo>
                <a:lnTo>
                  <a:pt x="11524045" y="1617534"/>
                </a:lnTo>
                <a:cubicBezTo>
                  <a:pt x="11524045" y="1653856"/>
                  <a:pt x="11494600" y="1683301"/>
                  <a:pt x="11458279" y="1683301"/>
                </a:cubicBezTo>
                <a:lnTo>
                  <a:pt x="65767" y="1683301"/>
                </a:lnTo>
                <a:cubicBezTo>
                  <a:pt x="29445" y="1683301"/>
                  <a:pt x="0" y="1653856"/>
                  <a:pt x="0" y="1617534"/>
                </a:cubicBezTo>
                <a:lnTo>
                  <a:pt x="0" y="65767"/>
                </a:lnTo>
                <a:cubicBezTo>
                  <a:pt x="0" y="29445"/>
                  <a:pt x="29445" y="0"/>
                  <a:pt x="6576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pic>
        <p:nvPicPr>
          <p:cNvPr id="5" name="Image 0" descr="https://kimi-img.moonshot.cn/pub/slides/26-02-15-03:13:26-d68cilg52ceqe1re7d60.png">    </p:cNvPr>
          <p:cNvPicPr>
            <a:picLocks noChangeAspect="1"/>
          </p:cNvPicPr>
          <p:nvPr/>
        </p:nvPicPr>
        <p:blipFill>
          <a:blip r:embed="rId1"/>
          <a:srcRect l="60" r="60" t="0" b="0"/>
          <a:stretch/>
        </p:blipFill>
        <p:spPr>
          <a:xfrm>
            <a:off x="433563" y="1091005"/>
            <a:ext cx="9659879" cy="1479811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31860" y="2744320"/>
            <a:ext cx="2250562" cy="1033828"/>
          </a:xfrm>
          <a:custGeom>
            <a:avLst/>
            <a:gdLst/>
            <a:ahLst/>
            <a:cxnLst/>
            <a:rect l="l" t="t" r="r" b="b"/>
            <a:pathLst>
              <a:path w="2250562" h="1033828">
                <a:moveTo>
                  <a:pt x="65772" y="0"/>
                </a:moveTo>
                <a:lnTo>
                  <a:pt x="2184790" y="0"/>
                </a:lnTo>
                <a:cubicBezTo>
                  <a:pt x="2221114" y="0"/>
                  <a:pt x="2250562" y="29447"/>
                  <a:pt x="2250562" y="65772"/>
                </a:cubicBezTo>
                <a:lnTo>
                  <a:pt x="2250562" y="968056"/>
                </a:lnTo>
                <a:cubicBezTo>
                  <a:pt x="2250562" y="1004381"/>
                  <a:pt x="2221114" y="1033828"/>
                  <a:pt x="2184790" y="1033828"/>
                </a:cubicBezTo>
                <a:lnTo>
                  <a:pt x="65772" y="1033828"/>
                </a:lnTo>
                <a:cubicBezTo>
                  <a:pt x="29447" y="1033828"/>
                  <a:pt x="0" y="1004381"/>
                  <a:pt x="0" y="968056"/>
                </a:cubicBezTo>
                <a:lnTo>
                  <a:pt x="0" y="65772"/>
                </a:lnTo>
                <a:cubicBezTo>
                  <a:pt x="0" y="29472"/>
                  <a:pt x="29472" y="0"/>
                  <a:pt x="6577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9522" y="2813086"/>
            <a:ext cx="2195053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89%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5964" y="30431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0628" y="3207436"/>
            <a:ext cx="217039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Básico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0628" y="3404660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tradicionales de ML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0628" y="35689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+0.0% vs baseline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51309" y="2744320"/>
            <a:ext cx="2250562" cy="1033828"/>
          </a:xfrm>
          <a:custGeom>
            <a:avLst/>
            <a:gdLst/>
            <a:ahLst/>
            <a:cxnLst/>
            <a:rect l="l" t="t" r="r" b="b"/>
            <a:pathLst>
              <a:path w="2250562" h="1033828">
                <a:moveTo>
                  <a:pt x="65772" y="0"/>
                </a:moveTo>
                <a:lnTo>
                  <a:pt x="2184790" y="0"/>
                </a:lnTo>
                <a:cubicBezTo>
                  <a:pt x="2221114" y="0"/>
                  <a:pt x="2250562" y="29447"/>
                  <a:pt x="2250562" y="65772"/>
                </a:cubicBezTo>
                <a:lnTo>
                  <a:pt x="2250562" y="968056"/>
                </a:lnTo>
                <a:cubicBezTo>
                  <a:pt x="2250562" y="1004381"/>
                  <a:pt x="2221114" y="1033828"/>
                  <a:pt x="2184790" y="1033828"/>
                </a:cubicBezTo>
                <a:lnTo>
                  <a:pt x="65772" y="1033828"/>
                </a:lnTo>
                <a:cubicBezTo>
                  <a:pt x="29447" y="1033828"/>
                  <a:pt x="0" y="1004381"/>
                  <a:pt x="0" y="968056"/>
                </a:cubicBezTo>
                <a:lnTo>
                  <a:pt x="0" y="65772"/>
                </a:lnTo>
                <a:cubicBezTo>
                  <a:pt x="0" y="29472"/>
                  <a:pt x="29472" y="0"/>
                  <a:pt x="6577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8970" y="2813086"/>
            <a:ext cx="2195053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99.2%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95413" y="30431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20076" y="3207436"/>
            <a:ext cx="217039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20076" y="3404660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breakthrough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720076" y="35689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+10.2% vs Fase 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70758" y="2744320"/>
            <a:ext cx="2250562" cy="1033828"/>
          </a:xfrm>
          <a:custGeom>
            <a:avLst/>
            <a:gdLst/>
            <a:ahLst/>
            <a:cxnLst/>
            <a:rect l="l" t="t" r="r" b="b"/>
            <a:pathLst>
              <a:path w="2250562" h="1033828">
                <a:moveTo>
                  <a:pt x="65772" y="0"/>
                </a:moveTo>
                <a:lnTo>
                  <a:pt x="2184790" y="0"/>
                </a:lnTo>
                <a:cubicBezTo>
                  <a:pt x="2221114" y="0"/>
                  <a:pt x="2250562" y="29447"/>
                  <a:pt x="2250562" y="65772"/>
                </a:cubicBezTo>
                <a:lnTo>
                  <a:pt x="2250562" y="968056"/>
                </a:lnTo>
                <a:cubicBezTo>
                  <a:pt x="2250562" y="1004381"/>
                  <a:pt x="2221114" y="1033828"/>
                  <a:pt x="2184790" y="1033828"/>
                </a:cubicBezTo>
                <a:lnTo>
                  <a:pt x="65772" y="1033828"/>
                </a:lnTo>
                <a:cubicBezTo>
                  <a:pt x="29447" y="1033828"/>
                  <a:pt x="0" y="1004381"/>
                  <a:pt x="0" y="968056"/>
                </a:cubicBezTo>
                <a:lnTo>
                  <a:pt x="0" y="65772"/>
                </a:lnTo>
                <a:cubicBezTo>
                  <a:pt x="0" y="29472"/>
                  <a:pt x="29472" y="0"/>
                  <a:pt x="6577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98419" y="2813086"/>
            <a:ext cx="2195053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99.88%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14862" y="30431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39525" y="3207436"/>
            <a:ext cx="217039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Secuencias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39525" y="3404660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temporal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39525" y="35689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+0.68% vs Fase 2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290206" y="2744320"/>
            <a:ext cx="2250562" cy="1033828"/>
          </a:xfrm>
          <a:custGeom>
            <a:avLst/>
            <a:gdLst/>
            <a:ahLst/>
            <a:cxnLst/>
            <a:rect l="l" t="t" r="r" b="b"/>
            <a:pathLst>
              <a:path w="2250562" h="1033828">
                <a:moveTo>
                  <a:pt x="65772" y="0"/>
                </a:moveTo>
                <a:lnTo>
                  <a:pt x="2184790" y="0"/>
                </a:lnTo>
                <a:cubicBezTo>
                  <a:pt x="2221114" y="0"/>
                  <a:pt x="2250562" y="29447"/>
                  <a:pt x="2250562" y="65772"/>
                </a:cubicBezTo>
                <a:lnTo>
                  <a:pt x="2250562" y="968056"/>
                </a:lnTo>
                <a:cubicBezTo>
                  <a:pt x="2250562" y="1004381"/>
                  <a:pt x="2221114" y="1033828"/>
                  <a:pt x="2184790" y="1033828"/>
                </a:cubicBezTo>
                <a:lnTo>
                  <a:pt x="65772" y="1033828"/>
                </a:lnTo>
                <a:cubicBezTo>
                  <a:pt x="29447" y="1033828"/>
                  <a:pt x="0" y="1004381"/>
                  <a:pt x="0" y="968056"/>
                </a:cubicBezTo>
                <a:lnTo>
                  <a:pt x="0" y="65772"/>
                </a:lnTo>
                <a:cubicBezTo>
                  <a:pt x="0" y="29472"/>
                  <a:pt x="29472" y="0"/>
                  <a:pt x="6577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7868" y="2813086"/>
            <a:ext cx="2195053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34310" y="30431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58974" y="3207436"/>
            <a:ext cx="217039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Estilos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358974" y="3404660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Perfiles de jugadores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358974" y="3568949"/>
            <a:ext cx="2162169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Insights conductuales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612746" y="2747411"/>
            <a:ext cx="2240301" cy="1031788"/>
          </a:xfrm>
          <a:custGeom>
            <a:avLst/>
            <a:gdLst/>
            <a:ahLst/>
            <a:cxnLst/>
            <a:rect l="l" t="t" r="r" b="b"/>
            <a:pathLst>
              <a:path w="2240301" h="1031788">
                <a:moveTo>
                  <a:pt x="65766" y="0"/>
                </a:moveTo>
                <a:lnTo>
                  <a:pt x="2174534" y="0"/>
                </a:lnTo>
                <a:cubicBezTo>
                  <a:pt x="2210856" y="0"/>
                  <a:pt x="2240301" y="29445"/>
                  <a:pt x="2240301" y="65766"/>
                </a:cubicBezTo>
                <a:lnTo>
                  <a:pt x="2240301" y="966022"/>
                </a:lnTo>
                <a:cubicBezTo>
                  <a:pt x="2240301" y="1002344"/>
                  <a:pt x="2210856" y="1031788"/>
                  <a:pt x="2174534" y="1031788"/>
                </a:cubicBezTo>
                <a:lnTo>
                  <a:pt x="65766" y="1031788"/>
                </a:lnTo>
                <a:cubicBezTo>
                  <a:pt x="29445" y="1031788"/>
                  <a:pt x="0" y="1002344"/>
                  <a:pt x="0" y="966022"/>
                </a:cubicBezTo>
                <a:lnTo>
                  <a:pt x="0" y="65766"/>
                </a:lnTo>
                <a:cubicBezTo>
                  <a:pt x="0" y="29445"/>
                  <a:pt x="29445" y="0"/>
                  <a:pt x="65766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19098">
            <a:solidFill>
              <a:srgbClr val="C9A2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43498" y="2819268"/>
            <a:ext cx="2178611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659941" y="3049329"/>
            <a:ext cx="2145726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684604" y="3213618"/>
            <a:ext cx="2153947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Perfección Absoluta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684604" y="3410842"/>
            <a:ext cx="2145726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 multi-componente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684604" y="3575129"/>
            <a:ext cx="2145726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7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 errores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31860" y="3853386"/>
            <a:ext cx="5711676" cy="2036811"/>
          </a:xfrm>
          <a:custGeom>
            <a:avLst/>
            <a:gdLst/>
            <a:ahLst/>
            <a:cxnLst/>
            <a:rect l="l" t="t" r="r" b="b"/>
            <a:pathLst>
              <a:path w="5711676" h="2036811">
                <a:moveTo>
                  <a:pt x="65769" y="0"/>
                </a:moveTo>
                <a:lnTo>
                  <a:pt x="5645907" y="0"/>
                </a:lnTo>
                <a:cubicBezTo>
                  <a:pt x="5682206" y="0"/>
                  <a:pt x="5711676" y="29470"/>
                  <a:pt x="5711676" y="65769"/>
                </a:cubicBezTo>
                <a:lnTo>
                  <a:pt x="5711676" y="1971043"/>
                </a:lnTo>
                <a:cubicBezTo>
                  <a:pt x="5711676" y="2007341"/>
                  <a:pt x="5682206" y="2036811"/>
                  <a:pt x="5645907" y="2036811"/>
                </a:cubicBezTo>
                <a:lnTo>
                  <a:pt x="65769" y="2036811"/>
                </a:lnTo>
                <a:cubicBezTo>
                  <a:pt x="29470" y="2036811"/>
                  <a:pt x="0" y="2007341"/>
                  <a:pt x="0" y="1971043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3563" y="3955089"/>
            <a:ext cx="5582177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Aprendimos en Cada Fase?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33563" y="4250923"/>
            <a:ext cx="230193" cy="197308"/>
          </a:xfrm>
          <a:custGeom>
            <a:avLst/>
            <a:gdLst/>
            <a:ahLst/>
            <a:cxnLst/>
            <a:rect l="l" t="t" r="r" b="b"/>
            <a:pathLst>
              <a:path w="230193" h="197308">
                <a:moveTo>
                  <a:pt x="32885" y="0"/>
                </a:moveTo>
                <a:lnTo>
                  <a:pt x="197308" y="0"/>
                </a:lnTo>
                <a:cubicBezTo>
                  <a:pt x="215470" y="0"/>
                  <a:pt x="230193" y="14723"/>
                  <a:pt x="230193" y="32885"/>
                </a:cubicBezTo>
                <a:lnTo>
                  <a:pt x="230193" y="164423"/>
                </a:lnTo>
                <a:cubicBezTo>
                  <a:pt x="230193" y="182585"/>
                  <a:pt x="215470" y="197308"/>
                  <a:pt x="197308" y="197308"/>
                </a:cubicBezTo>
                <a:lnTo>
                  <a:pt x="32885" y="197308"/>
                </a:lnTo>
                <a:cubicBezTo>
                  <a:pt x="14723" y="197308"/>
                  <a:pt x="0" y="182585"/>
                  <a:pt x="0" y="164423"/>
                </a:cubicBezTo>
                <a:lnTo>
                  <a:pt x="0" y="32885"/>
                </a:lnTo>
                <a:cubicBezTo>
                  <a:pt x="0" y="14723"/>
                  <a:pt x="14723" y="0"/>
                  <a:pt x="3288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6"/>
          <p:cNvSpPr/>
          <p:nvPr/>
        </p:nvSpPr>
        <p:spPr>
          <a:xfrm>
            <a:off x="433563" y="4250923"/>
            <a:ext cx="279520" cy="197308"/>
          </a:xfrm>
          <a:prstGeom prst="rect">
            <a:avLst/>
          </a:prstGeom>
          <a:noFill/>
          <a:ln/>
        </p:spPr>
        <p:txBody>
          <a:bodyPr wrap="square" lIns="65769" tIns="32885" rIns="65769" bIns="32885" rtlCol="0" anchor="ctr"/>
          <a:lstStyle/>
          <a:p>
            <a:pPr>
              <a:lnSpc>
                <a:spcPct val="110000"/>
              </a:lnSpc>
            </a:pPr>
            <a:r>
              <a:rPr lang="en-US" sz="77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25631" y="4250923"/>
            <a:ext cx="4587415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algoritmos tradicionales tienen un límite (~89%). Necesitamos algo más poderoso.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33563" y="4480887"/>
            <a:ext cx="246635" cy="197308"/>
          </a:xfrm>
          <a:custGeom>
            <a:avLst/>
            <a:gdLst/>
            <a:ahLst/>
            <a:cxnLst/>
            <a:rect l="l" t="t" r="r" b="b"/>
            <a:pathLst>
              <a:path w="246635" h="197308">
                <a:moveTo>
                  <a:pt x="32885" y="0"/>
                </a:moveTo>
                <a:lnTo>
                  <a:pt x="213750" y="0"/>
                </a:lnTo>
                <a:cubicBezTo>
                  <a:pt x="231912" y="0"/>
                  <a:pt x="246635" y="14723"/>
                  <a:pt x="246635" y="32885"/>
                </a:cubicBezTo>
                <a:lnTo>
                  <a:pt x="246635" y="164423"/>
                </a:lnTo>
                <a:cubicBezTo>
                  <a:pt x="246635" y="182585"/>
                  <a:pt x="231912" y="197308"/>
                  <a:pt x="213750" y="197308"/>
                </a:cubicBezTo>
                <a:lnTo>
                  <a:pt x="32885" y="197308"/>
                </a:lnTo>
                <a:cubicBezTo>
                  <a:pt x="14723" y="197308"/>
                  <a:pt x="0" y="182585"/>
                  <a:pt x="0" y="164423"/>
                </a:cubicBezTo>
                <a:lnTo>
                  <a:pt x="0" y="32885"/>
                </a:lnTo>
                <a:cubicBezTo>
                  <a:pt x="0" y="14723"/>
                  <a:pt x="14723" y="0"/>
                  <a:pt x="3288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39"/>
          <p:cNvSpPr/>
          <p:nvPr/>
        </p:nvSpPr>
        <p:spPr>
          <a:xfrm>
            <a:off x="433563" y="4480887"/>
            <a:ext cx="295962" cy="197308"/>
          </a:xfrm>
          <a:prstGeom prst="rect">
            <a:avLst/>
          </a:prstGeom>
          <a:noFill/>
          <a:ln/>
        </p:spPr>
        <p:txBody>
          <a:bodyPr wrap="square" lIns="65769" tIns="32885" rIns="65769" bIns="32885" rtlCol="0" anchor="ctr"/>
          <a:lstStyle/>
          <a:p>
            <a:pPr>
              <a:lnSpc>
                <a:spcPct val="110000"/>
              </a:lnSpc>
            </a:pPr>
            <a:r>
              <a:rPr lang="en-US" sz="77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F2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42339" y="4480887"/>
            <a:ext cx="5253330" cy="32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redes neuronales capturan patrones complejos que los humanos no pueden expresar en reglas.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33563" y="4842496"/>
            <a:ext cx="246635" cy="197308"/>
          </a:xfrm>
          <a:custGeom>
            <a:avLst/>
            <a:gdLst/>
            <a:ahLst/>
            <a:cxnLst/>
            <a:rect l="l" t="t" r="r" b="b"/>
            <a:pathLst>
              <a:path w="246635" h="197308">
                <a:moveTo>
                  <a:pt x="32885" y="0"/>
                </a:moveTo>
                <a:lnTo>
                  <a:pt x="213750" y="0"/>
                </a:lnTo>
                <a:cubicBezTo>
                  <a:pt x="231912" y="0"/>
                  <a:pt x="246635" y="14723"/>
                  <a:pt x="246635" y="32885"/>
                </a:cubicBezTo>
                <a:lnTo>
                  <a:pt x="246635" y="164423"/>
                </a:lnTo>
                <a:cubicBezTo>
                  <a:pt x="246635" y="182585"/>
                  <a:pt x="231912" y="197308"/>
                  <a:pt x="213750" y="197308"/>
                </a:cubicBezTo>
                <a:lnTo>
                  <a:pt x="32885" y="197308"/>
                </a:lnTo>
                <a:cubicBezTo>
                  <a:pt x="14723" y="197308"/>
                  <a:pt x="0" y="182585"/>
                  <a:pt x="0" y="164423"/>
                </a:cubicBezTo>
                <a:lnTo>
                  <a:pt x="0" y="32885"/>
                </a:lnTo>
                <a:cubicBezTo>
                  <a:pt x="0" y="14723"/>
                  <a:pt x="14723" y="0"/>
                  <a:pt x="3288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5" name="Text 42"/>
          <p:cNvSpPr/>
          <p:nvPr/>
        </p:nvSpPr>
        <p:spPr>
          <a:xfrm>
            <a:off x="433563" y="4842496"/>
            <a:ext cx="295962" cy="197308"/>
          </a:xfrm>
          <a:prstGeom prst="rect">
            <a:avLst/>
          </a:prstGeom>
          <a:noFill/>
          <a:ln/>
        </p:spPr>
        <p:txBody>
          <a:bodyPr wrap="square" lIns="65769" tIns="32885" rIns="65769" bIns="32885" rtlCol="0" anchor="ctr"/>
          <a:lstStyle/>
          <a:p>
            <a:pPr>
              <a:lnSpc>
                <a:spcPct val="110000"/>
              </a:lnSpc>
            </a:pPr>
            <a:r>
              <a:rPr lang="en-US" sz="77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F3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4851" y="4842496"/>
            <a:ext cx="3732413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contexto histórico importa: una jugada no se evalúa en aislamiento.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433563" y="5072460"/>
            <a:ext cx="246635" cy="197308"/>
          </a:xfrm>
          <a:custGeom>
            <a:avLst/>
            <a:gdLst/>
            <a:ahLst/>
            <a:cxnLst/>
            <a:rect l="l" t="t" r="r" b="b"/>
            <a:pathLst>
              <a:path w="246635" h="197308">
                <a:moveTo>
                  <a:pt x="32885" y="0"/>
                </a:moveTo>
                <a:lnTo>
                  <a:pt x="213750" y="0"/>
                </a:lnTo>
                <a:cubicBezTo>
                  <a:pt x="231912" y="0"/>
                  <a:pt x="246635" y="14723"/>
                  <a:pt x="246635" y="32885"/>
                </a:cubicBezTo>
                <a:lnTo>
                  <a:pt x="246635" y="164423"/>
                </a:lnTo>
                <a:cubicBezTo>
                  <a:pt x="246635" y="182585"/>
                  <a:pt x="231912" y="197308"/>
                  <a:pt x="213750" y="197308"/>
                </a:cubicBezTo>
                <a:lnTo>
                  <a:pt x="32885" y="197308"/>
                </a:lnTo>
                <a:cubicBezTo>
                  <a:pt x="14723" y="197308"/>
                  <a:pt x="0" y="182585"/>
                  <a:pt x="0" y="164423"/>
                </a:cubicBezTo>
                <a:lnTo>
                  <a:pt x="0" y="32885"/>
                </a:lnTo>
                <a:cubicBezTo>
                  <a:pt x="0" y="14723"/>
                  <a:pt x="14723" y="0"/>
                  <a:pt x="32885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5"/>
          <p:cNvSpPr/>
          <p:nvPr/>
        </p:nvSpPr>
        <p:spPr>
          <a:xfrm>
            <a:off x="433563" y="5072460"/>
            <a:ext cx="295962" cy="197308"/>
          </a:xfrm>
          <a:prstGeom prst="rect">
            <a:avLst/>
          </a:prstGeom>
          <a:noFill/>
          <a:ln/>
        </p:spPr>
        <p:txBody>
          <a:bodyPr wrap="square" lIns="65769" tIns="32885" rIns="65769" bIns="32885" rtlCol="0" anchor="ctr"/>
          <a:lstStyle/>
          <a:p>
            <a:pPr>
              <a:lnSpc>
                <a:spcPct val="110000"/>
              </a:lnSpc>
            </a:pPr>
            <a:r>
              <a:rPr lang="en-US" sz="77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F5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45817" y="5072460"/>
            <a:ext cx="3707749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Combinar múltiples perspectivas (Early/Late/Full) alcanza perfección.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146949" y="3853386"/>
            <a:ext cx="5711676" cy="2036811"/>
          </a:xfrm>
          <a:custGeom>
            <a:avLst/>
            <a:gdLst/>
            <a:ahLst/>
            <a:cxnLst/>
            <a:rect l="l" t="t" r="r" b="b"/>
            <a:pathLst>
              <a:path w="5711676" h="2036811">
                <a:moveTo>
                  <a:pt x="65769" y="0"/>
                </a:moveTo>
                <a:lnTo>
                  <a:pt x="5645907" y="0"/>
                </a:lnTo>
                <a:cubicBezTo>
                  <a:pt x="5682206" y="0"/>
                  <a:pt x="5711676" y="29470"/>
                  <a:pt x="5711676" y="65769"/>
                </a:cubicBezTo>
                <a:lnTo>
                  <a:pt x="5711676" y="1971043"/>
                </a:lnTo>
                <a:cubicBezTo>
                  <a:pt x="5711676" y="2007341"/>
                  <a:pt x="5682206" y="2036811"/>
                  <a:pt x="5645907" y="2036811"/>
                </a:cubicBezTo>
                <a:lnTo>
                  <a:pt x="65769" y="2036811"/>
                </a:lnTo>
                <a:cubicBezTo>
                  <a:pt x="29470" y="2036811"/>
                  <a:pt x="0" y="2007341"/>
                  <a:pt x="0" y="1971043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48652" y="3955089"/>
            <a:ext cx="5582177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Comparación con la Competencia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248652" y="4250923"/>
            <a:ext cx="5508186" cy="460386"/>
          </a:xfrm>
          <a:custGeom>
            <a:avLst/>
            <a:gdLst/>
            <a:ahLst/>
            <a:cxnLst/>
            <a:rect l="l" t="t" r="r" b="b"/>
            <a:pathLst>
              <a:path w="5508186" h="460386">
                <a:moveTo>
                  <a:pt x="32885" y="0"/>
                </a:moveTo>
                <a:lnTo>
                  <a:pt x="5475301" y="0"/>
                </a:lnTo>
                <a:cubicBezTo>
                  <a:pt x="5493463" y="0"/>
                  <a:pt x="5508186" y="14723"/>
                  <a:pt x="5508186" y="32885"/>
                </a:cubicBezTo>
                <a:lnTo>
                  <a:pt x="5508186" y="427500"/>
                </a:lnTo>
                <a:cubicBezTo>
                  <a:pt x="5508186" y="445662"/>
                  <a:pt x="5493463" y="460386"/>
                  <a:pt x="5475301" y="460386"/>
                </a:cubicBezTo>
                <a:lnTo>
                  <a:pt x="32885" y="460386"/>
                </a:lnTo>
                <a:cubicBezTo>
                  <a:pt x="14723" y="460386"/>
                  <a:pt x="0" y="445662"/>
                  <a:pt x="0" y="427500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6314328" y="4349438"/>
            <a:ext cx="1175628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Motores Comerciales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068643" y="4316600"/>
            <a:ext cx="698800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~95-98%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14328" y="4579595"/>
            <a:ext cx="5376647" cy="65769"/>
          </a:xfrm>
          <a:custGeom>
            <a:avLst/>
            <a:gdLst/>
            <a:ahLst/>
            <a:cxnLst/>
            <a:rect l="l" t="t" r="r" b="b"/>
            <a:pathLst>
              <a:path w="5376647" h="65769">
                <a:moveTo>
                  <a:pt x="32885" y="0"/>
                </a:moveTo>
                <a:lnTo>
                  <a:pt x="5343763" y="0"/>
                </a:lnTo>
                <a:cubicBezTo>
                  <a:pt x="5361924" y="0"/>
                  <a:pt x="5376647" y="14723"/>
                  <a:pt x="5376647" y="32885"/>
                </a:cubicBezTo>
                <a:lnTo>
                  <a:pt x="5376647" y="32885"/>
                </a:lnTo>
                <a:cubicBezTo>
                  <a:pt x="5376647" y="51046"/>
                  <a:pt x="5361924" y="65769"/>
                  <a:pt x="5343763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56" name="Shape 53"/>
          <p:cNvSpPr/>
          <p:nvPr/>
        </p:nvSpPr>
        <p:spPr>
          <a:xfrm>
            <a:off x="6314328" y="4579595"/>
            <a:ext cx="5162897" cy="65769"/>
          </a:xfrm>
          <a:custGeom>
            <a:avLst/>
            <a:gdLst/>
            <a:ahLst/>
            <a:cxnLst/>
            <a:rect l="l" t="t" r="r" b="b"/>
            <a:pathLst>
              <a:path w="5162897" h="65769">
                <a:moveTo>
                  <a:pt x="32885" y="0"/>
                </a:moveTo>
                <a:lnTo>
                  <a:pt x="5130012" y="0"/>
                </a:lnTo>
                <a:cubicBezTo>
                  <a:pt x="5148174" y="0"/>
                  <a:pt x="5162897" y="14723"/>
                  <a:pt x="5162897" y="32885"/>
                </a:cubicBezTo>
                <a:lnTo>
                  <a:pt x="5162897" y="32885"/>
                </a:lnTo>
                <a:cubicBezTo>
                  <a:pt x="5162897" y="51046"/>
                  <a:pt x="5148174" y="65769"/>
                  <a:pt x="5130012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7" name="Shape 54"/>
          <p:cNvSpPr/>
          <p:nvPr/>
        </p:nvSpPr>
        <p:spPr>
          <a:xfrm>
            <a:off x="6248652" y="4776626"/>
            <a:ext cx="5508186" cy="460386"/>
          </a:xfrm>
          <a:custGeom>
            <a:avLst/>
            <a:gdLst/>
            <a:ahLst/>
            <a:cxnLst/>
            <a:rect l="l" t="t" r="r" b="b"/>
            <a:pathLst>
              <a:path w="5508186" h="460386">
                <a:moveTo>
                  <a:pt x="32885" y="0"/>
                </a:moveTo>
                <a:lnTo>
                  <a:pt x="5475301" y="0"/>
                </a:lnTo>
                <a:cubicBezTo>
                  <a:pt x="5493463" y="0"/>
                  <a:pt x="5508186" y="14723"/>
                  <a:pt x="5508186" y="32885"/>
                </a:cubicBezTo>
                <a:lnTo>
                  <a:pt x="5508186" y="427500"/>
                </a:lnTo>
                <a:cubicBezTo>
                  <a:pt x="5508186" y="445662"/>
                  <a:pt x="5493463" y="460386"/>
                  <a:pt x="5475301" y="460386"/>
                </a:cubicBezTo>
                <a:lnTo>
                  <a:pt x="32885" y="460386"/>
                </a:lnTo>
                <a:cubicBezTo>
                  <a:pt x="14723" y="460386"/>
                  <a:pt x="0" y="445662"/>
                  <a:pt x="0" y="427500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6314328" y="4875142"/>
            <a:ext cx="1488032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Prototipos de Investigación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0814146" y="4842303"/>
            <a:ext cx="953656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~99.0-99.5%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14328" y="5105298"/>
            <a:ext cx="5376647" cy="65769"/>
          </a:xfrm>
          <a:custGeom>
            <a:avLst/>
            <a:gdLst/>
            <a:ahLst/>
            <a:cxnLst/>
            <a:rect l="l" t="t" r="r" b="b"/>
            <a:pathLst>
              <a:path w="5376647" h="65769">
                <a:moveTo>
                  <a:pt x="32885" y="0"/>
                </a:moveTo>
                <a:lnTo>
                  <a:pt x="5343763" y="0"/>
                </a:lnTo>
                <a:cubicBezTo>
                  <a:pt x="5361924" y="0"/>
                  <a:pt x="5376647" y="14723"/>
                  <a:pt x="5376647" y="32885"/>
                </a:cubicBezTo>
                <a:lnTo>
                  <a:pt x="5376647" y="32885"/>
                </a:lnTo>
                <a:cubicBezTo>
                  <a:pt x="5376647" y="51046"/>
                  <a:pt x="5361924" y="65769"/>
                  <a:pt x="5343763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61" name="Shape 58"/>
          <p:cNvSpPr/>
          <p:nvPr/>
        </p:nvSpPr>
        <p:spPr>
          <a:xfrm>
            <a:off x="6314328" y="5105298"/>
            <a:ext cx="5319099" cy="65769"/>
          </a:xfrm>
          <a:custGeom>
            <a:avLst/>
            <a:gdLst/>
            <a:ahLst/>
            <a:cxnLst/>
            <a:rect l="l" t="t" r="r" b="b"/>
            <a:pathLst>
              <a:path w="5319099" h="65769">
                <a:moveTo>
                  <a:pt x="32885" y="0"/>
                </a:moveTo>
                <a:lnTo>
                  <a:pt x="5286214" y="0"/>
                </a:lnTo>
                <a:cubicBezTo>
                  <a:pt x="5304376" y="0"/>
                  <a:pt x="5319099" y="14723"/>
                  <a:pt x="5319099" y="32885"/>
                </a:cubicBezTo>
                <a:lnTo>
                  <a:pt x="5319099" y="32885"/>
                </a:lnTo>
                <a:cubicBezTo>
                  <a:pt x="5319099" y="51046"/>
                  <a:pt x="5304376" y="65769"/>
                  <a:pt x="5286214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2" name="Shape 59"/>
          <p:cNvSpPr/>
          <p:nvPr/>
        </p:nvSpPr>
        <p:spPr>
          <a:xfrm>
            <a:off x="6254833" y="5308511"/>
            <a:ext cx="5495885" cy="472748"/>
          </a:xfrm>
          <a:custGeom>
            <a:avLst/>
            <a:gdLst/>
            <a:ahLst/>
            <a:cxnLst/>
            <a:rect l="l" t="t" r="r" b="b"/>
            <a:pathLst>
              <a:path w="5495885" h="472748">
                <a:moveTo>
                  <a:pt x="32884" y="0"/>
                </a:moveTo>
                <a:lnTo>
                  <a:pt x="5463001" y="0"/>
                </a:lnTo>
                <a:cubicBezTo>
                  <a:pt x="5481162" y="0"/>
                  <a:pt x="5495885" y="14723"/>
                  <a:pt x="5495885" y="32884"/>
                </a:cubicBezTo>
                <a:lnTo>
                  <a:pt x="5495885" y="439864"/>
                </a:lnTo>
                <a:cubicBezTo>
                  <a:pt x="5495885" y="458026"/>
                  <a:pt x="5481162" y="472748"/>
                  <a:pt x="5463001" y="472748"/>
                </a:cubicBezTo>
                <a:lnTo>
                  <a:pt x="32884" y="472748"/>
                </a:lnTo>
                <a:cubicBezTo>
                  <a:pt x="14723" y="472748"/>
                  <a:pt x="0" y="458026"/>
                  <a:pt x="0" y="439864"/>
                </a:cubicBezTo>
                <a:lnTo>
                  <a:pt x="0" y="32884"/>
                </a:lnTo>
                <a:cubicBezTo>
                  <a:pt x="0" y="14723"/>
                  <a:pt x="14723" y="0"/>
                  <a:pt x="32884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9098">
            <a:solidFill>
              <a:srgbClr val="C9A22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326691" y="5413207"/>
            <a:ext cx="1167407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Chess Trainer Fase 5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1180777" y="5380369"/>
            <a:ext cx="567261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100.0%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326691" y="5643364"/>
            <a:ext cx="5351984" cy="65769"/>
          </a:xfrm>
          <a:custGeom>
            <a:avLst/>
            <a:gdLst/>
            <a:ahLst/>
            <a:cxnLst/>
            <a:rect l="l" t="t" r="r" b="b"/>
            <a:pathLst>
              <a:path w="5351984" h="65769">
                <a:moveTo>
                  <a:pt x="32885" y="0"/>
                </a:moveTo>
                <a:lnTo>
                  <a:pt x="5319099" y="0"/>
                </a:lnTo>
                <a:cubicBezTo>
                  <a:pt x="5337261" y="0"/>
                  <a:pt x="5351984" y="14723"/>
                  <a:pt x="5351984" y="32885"/>
                </a:cubicBezTo>
                <a:lnTo>
                  <a:pt x="5351984" y="32885"/>
                </a:lnTo>
                <a:cubicBezTo>
                  <a:pt x="5351984" y="51046"/>
                  <a:pt x="5337261" y="65769"/>
                  <a:pt x="5319099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66" name="Shape 63"/>
          <p:cNvSpPr/>
          <p:nvPr/>
        </p:nvSpPr>
        <p:spPr>
          <a:xfrm>
            <a:off x="6326691" y="5643364"/>
            <a:ext cx="5351984" cy="65769"/>
          </a:xfrm>
          <a:custGeom>
            <a:avLst/>
            <a:gdLst/>
            <a:ahLst/>
            <a:cxnLst/>
            <a:rect l="l" t="t" r="r" b="b"/>
            <a:pathLst>
              <a:path w="5351984" h="65769">
                <a:moveTo>
                  <a:pt x="32885" y="0"/>
                </a:moveTo>
                <a:lnTo>
                  <a:pt x="5319099" y="0"/>
                </a:lnTo>
                <a:cubicBezTo>
                  <a:pt x="5337261" y="0"/>
                  <a:pt x="5351984" y="14723"/>
                  <a:pt x="5351984" y="32885"/>
                </a:cubicBezTo>
                <a:lnTo>
                  <a:pt x="5351984" y="32885"/>
                </a:lnTo>
                <a:cubicBezTo>
                  <a:pt x="5351984" y="51046"/>
                  <a:pt x="5337261" y="65769"/>
                  <a:pt x="5319099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7" name="Shape 64"/>
          <p:cNvSpPr/>
          <p:nvPr/>
        </p:nvSpPr>
        <p:spPr>
          <a:xfrm>
            <a:off x="331860" y="5960641"/>
            <a:ext cx="11524045" cy="565221"/>
          </a:xfrm>
          <a:custGeom>
            <a:avLst/>
            <a:gdLst/>
            <a:ahLst/>
            <a:cxnLst/>
            <a:rect l="l" t="t" r="r" b="b"/>
            <a:pathLst>
              <a:path w="11524045" h="565221">
                <a:moveTo>
                  <a:pt x="65769" y="0"/>
                </a:moveTo>
                <a:lnTo>
                  <a:pt x="11458276" y="0"/>
                </a:lnTo>
                <a:cubicBezTo>
                  <a:pt x="11494599" y="0"/>
                  <a:pt x="11524045" y="29446"/>
                  <a:pt x="11524045" y="65769"/>
                </a:cubicBezTo>
                <a:lnTo>
                  <a:pt x="11524045" y="499452"/>
                </a:lnTo>
                <a:cubicBezTo>
                  <a:pt x="11524045" y="535775"/>
                  <a:pt x="11494599" y="565221"/>
                  <a:pt x="11458276" y="565221"/>
                </a:cubicBezTo>
                <a:lnTo>
                  <a:pt x="65769" y="565221"/>
                </a:lnTo>
                <a:cubicBezTo>
                  <a:pt x="29446" y="565221"/>
                  <a:pt x="0" y="535775"/>
                  <a:pt x="0" y="499452"/>
                </a:cubicBezTo>
                <a:lnTo>
                  <a:pt x="0" y="65769"/>
                </a:lnTo>
                <a:cubicBezTo>
                  <a:pt x="0" y="29446"/>
                  <a:pt x="29446" y="0"/>
                  <a:pt x="6576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82890" y="6144536"/>
            <a:ext cx="147981" cy="197308"/>
          </a:xfrm>
          <a:custGeom>
            <a:avLst/>
            <a:gdLst/>
            <a:ahLst/>
            <a:cxnLst/>
            <a:rect l="l" t="t" r="r" b="b"/>
            <a:pathLst>
              <a:path w="147981" h="197308">
                <a:moveTo>
                  <a:pt x="112874" y="147981"/>
                </a:moveTo>
                <a:cubicBezTo>
                  <a:pt x="115687" y="139387"/>
                  <a:pt x="121314" y="131603"/>
                  <a:pt x="127672" y="124898"/>
                </a:cubicBezTo>
                <a:cubicBezTo>
                  <a:pt x="140274" y="111641"/>
                  <a:pt x="147981" y="93721"/>
                  <a:pt x="147981" y="73991"/>
                </a:cubicBezTo>
                <a:cubicBezTo>
                  <a:pt x="147981" y="33142"/>
                  <a:pt x="114840" y="0"/>
                  <a:pt x="73991" y="0"/>
                </a:cubicBezTo>
                <a:cubicBezTo>
                  <a:pt x="33142" y="0"/>
                  <a:pt x="0" y="33142"/>
                  <a:pt x="0" y="73991"/>
                </a:cubicBezTo>
                <a:cubicBezTo>
                  <a:pt x="0" y="93721"/>
                  <a:pt x="7707" y="111641"/>
                  <a:pt x="20309" y="124898"/>
                </a:cubicBezTo>
                <a:cubicBezTo>
                  <a:pt x="26667" y="131603"/>
                  <a:pt x="32332" y="139387"/>
                  <a:pt x="35107" y="147981"/>
                </a:cubicBezTo>
                <a:lnTo>
                  <a:pt x="112836" y="147981"/>
                </a:lnTo>
                <a:close/>
                <a:moveTo>
                  <a:pt x="110986" y="166479"/>
                </a:moveTo>
                <a:lnTo>
                  <a:pt x="36995" y="166479"/>
                </a:lnTo>
                <a:lnTo>
                  <a:pt x="36995" y="172645"/>
                </a:lnTo>
                <a:cubicBezTo>
                  <a:pt x="36995" y="189678"/>
                  <a:pt x="50791" y="203474"/>
                  <a:pt x="67825" y="203474"/>
                </a:cubicBezTo>
                <a:lnTo>
                  <a:pt x="80156" y="203474"/>
                </a:lnTo>
                <a:cubicBezTo>
                  <a:pt x="97190" y="203474"/>
                  <a:pt x="110986" y="189678"/>
                  <a:pt x="110986" y="172645"/>
                </a:cubicBezTo>
                <a:lnTo>
                  <a:pt x="110986" y="166479"/>
                </a:lnTo>
                <a:close/>
                <a:moveTo>
                  <a:pt x="70908" y="43161"/>
                </a:moveTo>
                <a:cubicBezTo>
                  <a:pt x="55570" y="43161"/>
                  <a:pt x="43161" y="55570"/>
                  <a:pt x="43161" y="70908"/>
                </a:cubicBezTo>
                <a:cubicBezTo>
                  <a:pt x="43161" y="76033"/>
                  <a:pt x="39038" y="80156"/>
                  <a:pt x="33912" y="80156"/>
                </a:cubicBezTo>
                <a:cubicBezTo>
                  <a:pt x="28787" y="80156"/>
                  <a:pt x="24664" y="76033"/>
                  <a:pt x="24664" y="70908"/>
                </a:cubicBezTo>
                <a:cubicBezTo>
                  <a:pt x="24664" y="45358"/>
                  <a:pt x="45358" y="24664"/>
                  <a:pt x="70908" y="24664"/>
                </a:cubicBezTo>
                <a:cubicBezTo>
                  <a:pt x="76033" y="24664"/>
                  <a:pt x="80156" y="28787"/>
                  <a:pt x="80156" y="33912"/>
                </a:cubicBezTo>
                <a:cubicBezTo>
                  <a:pt x="80156" y="39038"/>
                  <a:pt x="76033" y="43161"/>
                  <a:pt x="70908" y="4316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9" name="Text 66"/>
          <p:cNvSpPr/>
          <p:nvPr/>
        </p:nvSpPr>
        <p:spPr>
          <a:xfrm>
            <a:off x="778751" y="6062343"/>
            <a:ext cx="8295164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 para el Entrenamiento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778751" y="6259663"/>
            <a:ext cx="8286943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fase incorporó mejoras basadas en el aprendizaje anterior. El desarrollo iterativo con métricas claras es la clave del éxito, tanto en IA como en ajedrez.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25" y="323393"/>
            <a:ext cx="1395493" cy="1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 Clave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425" y="57134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Detección de Rachas de Errores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409" y="955166"/>
            <a:ext cx="5728906" cy="2331656"/>
          </a:xfrm>
          <a:custGeom>
            <a:avLst/>
            <a:gdLst/>
            <a:ahLst/>
            <a:cxnLst/>
            <a:rect l="l" t="t" r="r" b="b"/>
            <a:pathLst>
              <a:path w="5728906" h="2331656">
                <a:moveTo>
                  <a:pt x="63491" y="0"/>
                </a:moveTo>
                <a:lnTo>
                  <a:pt x="5665415" y="0"/>
                </a:lnTo>
                <a:cubicBezTo>
                  <a:pt x="5700480" y="0"/>
                  <a:pt x="5728906" y="28426"/>
                  <a:pt x="5728906" y="63491"/>
                </a:cubicBezTo>
                <a:lnTo>
                  <a:pt x="5728906" y="2268165"/>
                </a:lnTo>
                <a:cubicBezTo>
                  <a:pt x="5728906" y="2303230"/>
                  <a:pt x="5700480" y="2331656"/>
                  <a:pt x="5665415" y="2331656"/>
                </a:cubicBezTo>
                <a:lnTo>
                  <a:pt x="63491" y="2331656"/>
                </a:lnTo>
                <a:cubicBezTo>
                  <a:pt x="28426" y="2331656"/>
                  <a:pt x="0" y="2303230"/>
                  <a:pt x="0" y="2268165"/>
                </a:cubicBezTo>
                <a:lnTo>
                  <a:pt x="0" y="63491"/>
                </a:lnTo>
                <a:cubicBezTo>
                  <a:pt x="0" y="28426"/>
                  <a:pt x="28426" y="0"/>
                  <a:pt x="63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8602" y="1053358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Problema de las Rachas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602" y="1338988"/>
            <a:ext cx="5532438" cy="571500"/>
          </a:xfrm>
          <a:custGeom>
            <a:avLst/>
            <a:gdLst/>
            <a:ahLst/>
            <a:cxnLst/>
            <a:rect l="l" t="t" r="r" b="b"/>
            <a:pathLst>
              <a:path w="5532438" h="571500">
                <a:moveTo>
                  <a:pt x="31753" y="0"/>
                </a:moveTo>
                <a:lnTo>
                  <a:pt x="5500685" y="0"/>
                </a:lnTo>
                <a:cubicBezTo>
                  <a:pt x="5518221" y="0"/>
                  <a:pt x="5532438" y="14216"/>
                  <a:pt x="5532438" y="31753"/>
                </a:cubicBezTo>
                <a:lnTo>
                  <a:pt x="5532438" y="539747"/>
                </a:lnTo>
                <a:cubicBezTo>
                  <a:pt x="5532438" y="557284"/>
                  <a:pt x="5518221" y="571500"/>
                  <a:pt x="5500685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3811" y="1434195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es una Racha de Errores?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3811" y="1656411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 secuencia de 2 o más errores consecutivos. El sistema detecta cuándo estás en "zona de riesgo".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602" y="1973744"/>
            <a:ext cx="5532438" cy="571500"/>
          </a:xfrm>
          <a:custGeom>
            <a:avLst/>
            <a:gdLst/>
            <a:ahLst/>
            <a:cxnLst/>
            <a:rect l="l" t="t" r="r" b="b"/>
            <a:pathLst>
              <a:path w="5532438" h="571500">
                <a:moveTo>
                  <a:pt x="31753" y="0"/>
                </a:moveTo>
                <a:lnTo>
                  <a:pt x="5500685" y="0"/>
                </a:lnTo>
                <a:cubicBezTo>
                  <a:pt x="5518221" y="0"/>
                  <a:pt x="5532438" y="14216"/>
                  <a:pt x="5532438" y="31753"/>
                </a:cubicBezTo>
                <a:lnTo>
                  <a:pt x="5532438" y="539747"/>
                </a:lnTo>
                <a:cubicBezTo>
                  <a:pt x="5532438" y="557284"/>
                  <a:pt x="5518221" y="571500"/>
                  <a:pt x="5500685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13811" y="2068951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3811" y="2291170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error suele generar presión psicológica que lleva a más errores. Es un efecto cascada.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1586" y="2611488"/>
            <a:ext cx="5522531" cy="577468"/>
          </a:xfrm>
          <a:custGeom>
            <a:avLst/>
            <a:gdLst/>
            <a:ahLst/>
            <a:cxnLst/>
            <a:rect l="l" t="t" r="r" b="b"/>
            <a:pathLst>
              <a:path w="5522531" h="577468">
                <a:moveTo>
                  <a:pt x="31749" y="0"/>
                </a:moveTo>
                <a:lnTo>
                  <a:pt x="5490781" y="0"/>
                </a:lnTo>
                <a:cubicBezTo>
                  <a:pt x="5508316" y="0"/>
                  <a:pt x="5522531" y="14215"/>
                  <a:pt x="5522531" y="31749"/>
                </a:cubicBezTo>
                <a:lnTo>
                  <a:pt x="5522531" y="545719"/>
                </a:lnTo>
                <a:cubicBezTo>
                  <a:pt x="5522531" y="563253"/>
                  <a:pt x="5508316" y="577468"/>
                  <a:pt x="5490781" y="577468"/>
                </a:cubicBezTo>
                <a:lnTo>
                  <a:pt x="31749" y="577468"/>
                </a:lnTo>
                <a:cubicBezTo>
                  <a:pt x="14215" y="577468"/>
                  <a:pt x="0" y="563253"/>
                  <a:pt x="0" y="545719"/>
                </a:cubicBezTo>
                <a:lnTo>
                  <a:pt x="0" y="31749"/>
                </a:lnTo>
                <a:cubicBezTo>
                  <a:pt x="0" y="14215"/>
                  <a:pt x="14215" y="0"/>
                  <a:pt x="3174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779" y="2709680"/>
            <a:ext cx="5389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Solución de la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779" y="2931895"/>
            <a:ext cx="538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puede predecir cuándo estás en 'zona de riesgo' y alertarte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antes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que ocurra el siguiente error.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46527" y="955166"/>
            <a:ext cx="5728906" cy="2331656"/>
          </a:xfrm>
          <a:custGeom>
            <a:avLst/>
            <a:gdLst/>
            <a:ahLst/>
            <a:cxnLst/>
            <a:rect l="l" t="t" r="r" b="b"/>
            <a:pathLst>
              <a:path w="5728906" h="2331656">
                <a:moveTo>
                  <a:pt x="63491" y="0"/>
                </a:moveTo>
                <a:lnTo>
                  <a:pt x="5665415" y="0"/>
                </a:lnTo>
                <a:cubicBezTo>
                  <a:pt x="5700480" y="0"/>
                  <a:pt x="5728906" y="28426"/>
                  <a:pt x="5728906" y="63491"/>
                </a:cubicBezTo>
                <a:lnTo>
                  <a:pt x="5728906" y="2268165"/>
                </a:lnTo>
                <a:cubicBezTo>
                  <a:pt x="5728906" y="2303230"/>
                  <a:pt x="5700480" y="2331656"/>
                  <a:pt x="5665415" y="2331656"/>
                </a:cubicBezTo>
                <a:lnTo>
                  <a:pt x="63491" y="2331656"/>
                </a:lnTo>
                <a:cubicBezTo>
                  <a:pt x="28426" y="2331656"/>
                  <a:pt x="0" y="2303230"/>
                  <a:pt x="0" y="2268165"/>
                </a:cubicBezTo>
                <a:lnTo>
                  <a:pt x="0" y="63491"/>
                </a:lnTo>
                <a:cubicBezTo>
                  <a:pt x="0" y="28426"/>
                  <a:pt x="28426" y="0"/>
                  <a:pt x="63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4720" y="1053358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Estadísticas de Rachas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4720" y="1338988"/>
            <a:ext cx="5532438" cy="381000"/>
          </a:xfrm>
          <a:custGeom>
            <a:avLst/>
            <a:gdLst/>
            <a:ahLst/>
            <a:cxnLst/>
            <a:rect l="l" t="t" r="r" b="b"/>
            <a:pathLst>
              <a:path w="5532438" h="381000">
                <a:moveTo>
                  <a:pt x="31749" y="0"/>
                </a:moveTo>
                <a:lnTo>
                  <a:pt x="5500689" y="0"/>
                </a:lnTo>
                <a:cubicBezTo>
                  <a:pt x="5518223" y="0"/>
                  <a:pt x="5532438" y="14214"/>
                  <a:pt x="5532438" y="31749"/>
                </a:cubicBezTo>
                <a:lnTo>
                  <a:pt x="5532438" y="349251"/>
                </a:lnTo>
                <a:cubicBezTo>
                  <a:pt x="5532438" y="366786"/>
                  <a:pt x="5518223" y="381000"/>
                  <a:pt x="550068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08130" y="1434102"/>
            <a:ext cx="138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en detección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36301" y="1402399"/>
            <a:ext cx="46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4720" y="1783232"/>
            <a:ext cx="5532438" cy="381000"/>
          </a:xfrm>
          <a:custGeom>
            <a:avLst/>
            <a:gdLst/>
            <a:ahLst/>
            <a:cxnLst/>
            <a:rect l="l" t="t" r="r" b="b"/>
            <a:pathLst>
              <a:path w="5532438" h="381000">
                <a:moveTo>
                  <a:pt x="31749" y="0"/>
                </a:moveTo>
                <a:lnTo>
                  <a:pt x="5500689" y="0"/>
                </a:lnTo>
                <a:cubicBezTo>
                  <a:pt x="5518223" y="0"/>
                  <a:pt x="5532438" y="14214"/>
                  <a:pt x="5532438" y="31749"/>
                </a:cubicBezTo>
                <a:lnTo>
                  <a:pt x="5532438" y="349251"/>
                </a:lnTo>
                <a:cubicBezTo>
                  <a:pt x="5532438" y="366786"/>
                  <a:pt x="5518223" y="381000"/>
                  <a:pt x="550068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08130" y="1878350"/>
            <a:ext cx="167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promedio por racha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40743" y="1846643"/>
            <a:ext cx="36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4720" y="2227480"/>
            <a:ext cx="5532438" cy="381000"/>
          </a:xfrm>
          <a:custGeom>
            <a:avLst/>
            <a:gdLst/>
            <a:ahLst/>
            <a:cxnLst/>
            <a:rect l="l" t="t" r="r" b="b"/>
            <a:pathLst>
              <a:path w="5532438" h="381000">
                <a:moveTo>
                  <a:pt x="31749" y="0"/>
                </a:moveTo>
                <a:lnTo>
                  <a:pt x="5500689" y="0"/>
                </a:lnTo>
                <a:cubicBezTo>
                  <a:pt x="5518223" y="0"/>
                  <a:pt x="5532438" y="14214"/>
                  <a:pt x="5532438" y="31749"/>
                </a:cubicBezTo>
                <a:lnTo>
                  <a:pt x="5532438" y="349251"/>
                </a:lnTo>
                <a:cubicBezTo>
                  <a:pt x="5532438" y="366786"/>
                  <a:pt x="5518223" y="381000"/>
                  <a:pt x="550068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08130" y="2322595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Precedidas por time pressure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20543" y="2290891"/>
            <a:ext cx="484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68%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4720" y="2671725"/>
            <a:ext cx="5532438" cy="381000"/>
          </a:xfrm>
          <a:custGeom>
            <a:avLst/>
            <a:gdLst/>
            <a:ahLst/>
            <a:cxnLst/>
            <a:rect l="l" t="t" r="r" b="b"/>
            <a:pathLst>
              <a:path w="5532438" h="381000">
                <a:moveTo>
                  <a:pt x="31749" y="0"/>
                </a:moveTo>
                <a:lnTo>
                  <a:pt x="5500689" y="0"/>
                </a:lnTo>
                <a:cubicBezTo>
                  <a:pt x="5518223" y="0"/>
                  <a:pt x="5532438" y="14214"/>
                  <a:pt x="5532438" y="31749"/>
                </a:cubicBezTo>
                <a:lnTo>
                  <a:pt x="5532438" y="349251"/>
                </a:lnTo>
                <a:cubicBezTo>
                  <a:pt x="5532438" y="366786"/>
                  <a:pt x="5518223" y="381000"/>
                  <a:pt x="550068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8130" y="2766843"/>
            <a:ext cx="113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Ocurren en finales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21289" y="2735135"/>
            <a:ext cx="484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409" y="3359357"/>
            <a:ext cx="11555031" cy="2315781"/>
          </a:xfrm>
          <a:custGeom>
            <a:avLst/>
            <a:gdLst/>
            <a:ahLst/>
            <a:cxnLst/>
            <a:rect l="l" t="t" r="r" b="b"/>
            <a:pathLst>
              <a:path w="11555031" h="2315781">
                <a:moveTo>
                  <a:pt x="63499" y="0"/>
                </a:moveTo>
                <a:lnTo>
                  <a:pt x="11491532" y="0"/>
                </a:lnTo>
                <a:cubicBezTo>
                  <a:pt x="11526601" y="0"/>
                  <a:pt x="11555031" y="28429"/>
                  <a:pt x="11555031" y="63499"/>
                </a:cubicBezTo>
                <a:lnTo>
                  <a:pt x="11555031" y="2252282"/>
                </a:lnTo>
                <a:cubicBezTo>
                  <a:pt x="11555031" y="2287351"/>
                  <a:pt x="11526601" y="2315781"/>
                  <a:pt x="11491532" y="2315781"/>
                </a:cubicBezTo>
                <a:lnTo>
                  <a:pt x="63499" y="2315781"/>
                </a:lnTo>
                <a:cubicBezTo>
                  <a:pt x="28429" y="2315781"/>
                  <a:pt x="0" y="2287351"/>
                  <a:pt x="0" y="2252282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602" y="3457549"/>
            <a:ext cx="1143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Ejemplo de Racha Detectada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8602" y="3743175"/>
            <a:ext cx="11358563" cy="1833563"/>
          </a:xfrm>
          <a:custGeom>
            <a:avLst/>
            <a:gdLst/>
            <a:ahLst/>
            <a:cxnLst/>
            <a:rect l="l" t="t" r="r" b="b"/>
            <a:pathLst>
              <a:path w="11358563" h="1833563">
                <a:moveTo>
                  <a:pt x="31757" y="0"/>
                </a:moveTo>
                <a:lnTo>
                  <a:pt x="11326805" y="0"/>
                </a:lnTo>
                <a:cubicBezTo>
                  <a:pt x="11344344" y="0"/>
                  <a:pt x="11358563" y="14218"/>
                  <a:pt x="11358563" y="31757"/>
                </a:cubicBezTo>
                <a:lnTo>
                  <a:pt x="11358563" y="1801805"/>
                </a:lnTo>
                <a:cubicBezTo>
                  <a:pt x="11358563" y="1819344"/>
                  <a:pt x="11344344" y="1833563"/>
                  <a:pt x="11326805" y="1833562"/>
                </a:cubicBezTo>
                <a:lnTo>
                  <a:pt x="31757" y="1833563"/>
                </a:lnTo>
                <a:cubicBezTo>
                  <a:pt x="14218" y="1833562"/>
                  <a:pt x="0" y="1819344"/>
                  <a:pt x="0" y="1801805"/>
                </a:cubicBezTo>
                <a:lnTo>
                  <a:pt x="0" y="31757"/>
                </a:lnTo>
                <a:cubicBezTo>
                  <a:pt x="0" y="14230"/>
                  <a:pt x="14230" y="0"/>
                  <a:pt x="317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13811" y="3838386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Secuencia de Jugadas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06300" y="3854238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Jugador: 1800 ELO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3811" y="412401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482061" y="4124012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2942" y="4092308"/>
            <a:ext cx="10818813" cy="317500"/>
          </a:xfrm>
          <a:custGeom>
            <a:avLst/>
            <a:gdLst/>
            <a:ahLst/>
            <a:cxnLst/>
            <a:rect l="l" t="t" r="r" b="b"/>
            <a:pathLst>
              <a:path w="10818813" h="317500">
                <a:moveTo>
                  <a:pt x="31750" y="0"/>
                </a:moveTo>
                <a:lnTo>
                  <a:pt x="10787063" y="0"/>
                </a:lnTo>
                <a:cubicBezTo>
                  <a:pt x="10804586" y="0"/>
                  <a:pt x="10818813" y="14227"/>
                  <a:pt x="10818813" y="31750"/>
                </a:cubicBezTo>
                <a:lnTo>
                  <a:pt x="10818813" y="285750"/>
                </a:lnTo>
                <a:cubicBezTo>
                  <a:pt x="10818813" y="303273"/>
                  <a:pt x="10804586" y="317500"/>
                  <a:pt x="107870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926352" y="4179590"/>
            <a:ext cx="611430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Jugada 25: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82371" y="4179590"/>
            <a:ext cx="392850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019810" y="4179590"/>
            <a:ext cx="880924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Posición estable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3811" y="447304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482061" y="4473049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2942" y="4441345"/>
            <a:ext cx="10818813" cy="317500"/>
          </a:xfrm>
          <a:custGeom>
            <a:avLst/>
            <a:gdLst/>
            <a:ahLst/>
            <a:cxnLst/>
            <a:rect l="l" t="t" r="r" b="b"/>
            <a:pathLst>
              <a:path w="10818813" h="317500">
                <a:moveTo>
                  <a:pt x="31750" y="0"/>
                </a:moveTo>
                <a:lnTo>
                  <a:pt x="10787063" y="0"/>
                </a:lnTo>
                <a:cubicBezTo>
                  <a:pt x="10804586" y="0"/>
                  <a:pt x="10818813" y="14227"/>
                  <a:pt x="10818813" y="31750"/>
                </a:cubicBezTo>
                <a:lnTo>
                  <a:pt x="10818813" y="285750"/>
                </a:lnTo>
                <a:cubicBezTo>
                  <a:pt x="10818813" y="303273"/>
                  <a:pt x="10804586" y="317500"/>
                  <a:pt x="107870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926352" y="4528627"/>
            <a:ext cx="611896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Jugada 26: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82837" y="4528627"/>
            <a:ext cx="757554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INACCURACY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384980" y="4528627"/>
            <a:ext cx="671204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Pierde peón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3811" y="482805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7" name="Text 45"/>
          <p:cNvSpPr/>
          <p:nvPr/>
        </p:nvSpPr>
        <p:spPr>
          <a:xfrm>
            <a:off x="482061" y="4828054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65926" y="4793366"/>
            <a:ext cx="10808906" cy="323468"/>
          </a:xfrm>
          <a:custGeom>
            <a:avLst/>
            <a:gdLst/>
            <a:ahLst/>
            <a:cxnLst/>
            <a:rect l="l" t="t" r="r" b="b"/>
            <a:pathLst>
              <a:path w="10808906" h="323468">
                <a:moveTo>
                  <a:pt x="31748" y="0"/>
                </a:moveTo>
                <a:lnTo>
                  <a:pt x="10777157" y="0"/>
                </a:lnTo>
                <a:cubicBezTo>
                  <a:pt x="10794691" y="0"/>
                  <a:pt x="10808906" y="14214"/>
                  <a:pt x="10808906" y="31748"/>
                </a:cubicBezTo>
                <a:lnTo>
                  <a:pt x="10808906" y="291720"/>
                </a:lnTo>
                <a:cubicBezTo>
                  <a:pt x="10808906" y="309254"/>
                  <a:pt x="10794691" y="323468"/>
                  <a:pt x="10777157" y="323468"/>
                </a:cubicBezTo>
                <a:lnTo>
                  <a:pt x="31748" y="323468"/>
                </a:lnTo>
                <a:cubicBezTo>
                  <a:pt x="14214" y="323468"/>
                  <a:pt x="0" y="309254"/>
                  <a:pt x="0" y="291720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321" y="4883632"/>
            <a:ext cx="602664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Jugada 27: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79574" y="4883632"/>
            <a:ext cx="567975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192138" y="4883632"/>
            <a:ext cx="2012895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⚠️ ALERTA: Zona de riesgo detectada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13811" y="518902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3" name="Text 51"/>
          <p:cNvSpPr/>
          <p:nvPr/>
        </p:nvSpPr>
        <p:spPr>
          <a:xfrm>
            <a:off x="482061" y="518902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65926" y="5154340"/>
            <a:ext cx="10808906" cy="323468"/>
          </a:xfrm>
          <a:custGeom>
            <a:avLst/>
            <a:gdLst/>
            <a:ahLst/>
            <a:cxnLst/>
            <a:rect l="l" t="t" r="r" b="b"/>
            <a:pathLst>
              <a:path w="10808906" h="323468">
                <a:moveTo>
                  <a:pt x="31748" y="0"/>
                </a:moveTo>
                <a:lnTo>
                  <a:pt x="10777157" y="0"/>
                </a:lnTo>
                <a:cubicBezTo>
                  <a:pt x="10794691" y="0"/>
                  <a:pt x="10808906" y="14214"/>
                  <a:pt x="10808906" y="31748"/>
                </a:cubicBezTo>
                <a:lnTo>
                  <a:pt x="10808906" y="291720"/>
                </a:lnTo>
                <a:cubicBezTo>
                  <a:pt x="10808906" y="309254"/>
                  <a:pt x="10794691" y="323468"/>
                  <a:pt x="10777157" y="323468"/>
                </a:cubicBezTo>
                <a:lnTo>
                  <a:pt x="31748" y="323468"/>
                </a:lnTo>
                <a:cubicBezTo>
                  <a:pt x="14214" y="323468"/>
                  <a:pt x="0" y="309254"/>
                  <a:pt x="0" y="291720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321" y="5244606"/>
            <a:ext cx="614321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Jugada 28: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591230" y="5244606"/>
            <a:ext cx="522655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MISTAKE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158474" y="5244606"/>
            <a:ext cx="2190910" cy="14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Racha confirmada: 3 errores consecutivos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20409" y="5743405"/>
            <a:ext cx="11555031" cy="545718"/>
          </a:xfrm>
          <a:custGeom>
            <a:avLst/>
            <a:gdLst/>
            <a:ahLst/>
            <a:cxnLst/>
            <a:rect l="l" t="t" r="r" b="b"/>
            <a:pathLst>
              <a:path w="11555031" h="545718">
                <a:moveTo>
                  <a:pt x="63500" y="0"/>
                </a:moveTo>
                <a:lnTo>
                  <a:pt x="11491531" y="0"/>
                </a:lnTo>
                <a:cubicBezTo>
                  <a:pt x="11526601" y="0"/>
                  <a:pt x="11555031" y="28430"/>
                  <a:pt x="11555031" y="63500"/>
                </a:cubicBezTo>
                <a:lnTo>
                  <a:pt x="11555031" y="482218"/>
                </a:lnTo>
                <a:cubicBezTo>
                  <a:pt x="11555031" y="517288"/>
                  <a:pt x="11526601" y="545718"/>
                  <a:pt x="11491531" y="545718"/>
                </a:cubicBezTo>
                <a:lnTo>
                  <a:pt x="63500" y="545718"/>
                </a:lnTo>
                <a:cubicBezTo>
                  <a:pt x="28430" y="545718"/>
                  <a:pt x="0" y="517288"/>
                  <a:pt x="0" y="48221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2415" y="59209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0" name="Text 58"/>
          <p:cNvSpPr/>
          <p:nvPr/>
        </p:nvSpPr>
        <p:spPr>
          <a:xfrm>
            <a:off x="751880" y="5841597"/>
            <a:ext cx="942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 Práctica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51880" y="6032109"/>
            <a:ext cx="941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Durante una partida online, el sistema puede alertarte: "Has cometido 2 errores seguidos. Tómate 30 segundos adicionales para la próxima jugada." Esto interrumpe el patrón de racha.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327" y="341633"/>
            <a:ext cx="1623042" cy="17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spc="53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Perfiles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327" y="603571"/>
            <a:ext cx="11672121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7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Dos Tipos de Jugadores Identificados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632" y="1012190"/>
            <a:ext cx="5697737" cy="2796477"/>
          </a:xfrm>
          <a:custGeom>
            <a:avLst/>
            <a:gdLst/>
            <a:ahLst/>
            <a:cxnLst/>
            <a:rect l="l" t="t" r="r" b="b"/>
            <a:pathLst>
              <a:path w="5697737" h="2796477">
                <a:moveTo>
                  <a:pt x="67087" y="0"/>
                </a:moveTo>
                <a:lnTo>
                  <a:pt x="5630650" y="0"/>
                </a:lnTo>
                <a:cubicBezTo>
                  <a:pt x="5667701" y="0"/>
                  <a:pt x="5697737" y="30036"/>
                  <a:pt x="5697737" y="67087"/>
                </a:cubicBezTo>
                <a:lnTo>
                  <a:pt x="5697737" y="2729390"/>
                </a:lnTo>
                <a:cubicBezTo>
                  <a:pt x="5697737" y="2766441"/>
                  <a:pt x="5667701" y="2796477"/>
                  <a:pt x="5630650" y="2796477"/>
                </a:cubicBezTo>
                <a:lnTo>
                  <a:pt x="67087" y="2796477"/>
                </a:lnTo>
                <a:cubicBezTo>
                  <a:pt x="30036" y="2796477"/>
                  <a:pt x="0" y="2766441"/>
                  <a:pt x="0" y="2729390"/>
                </a:cubicBezTo>
                <a:lnTo>
                  <a:pt x="0" y="67087"/>
                </a:lnTo>
                <a:cubicBezTo>
                  <a:pt x="0" y="30061"/>
                  <a:pt x="30061" y="0"/>
                  <a:pt x="6708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9098">
            <a:solidFill>
              <a:srgbClr val="4A6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515" y="1119073"/>
            <a:ext cx="469568" cy="469568"/>
          </a:xfrm>
          <a:custGeom>
            <a:avLst/>
            <a:gdLst/>
            <a:ahLst/>
            <a:cxnLst/>
            <a:rect l="l" t="t" r="r" b="b"/>
            <a:pathLst>
              <a:path w="469568" h="469568">
                <a:moveTo>
                  <a:pt x="234784" y="0"/>
                </a:moveTo>
                <a:lnTo>
                  <a:pt x="234784" y="0"/>
                </a:lnTo>
                <a:cubicBezTo>
                  <a:pt x="364452" y="0"/>
                  <a:pt x="469568" y="105116"/>
                  <a:pt x="469568" y="234784"/>
                </a:cubicBezTo>
                <a:lnTo>
                  <a:pt x="469568" y="234784"/>
                </a:lnTo>
                <a:cubicBezTo>
                  <a:pt x="469568" y="364452"/>
                  <a:pt x="364452" y="469568"/>
                  <a:pt x="234784" y="469568"/>
                </a:cubicBezTo>
                <a:lnTo>
                  <a:pt x="234784" y="469568"/>
                </a:lnTo>
                <a:cubicBezTo>
                  <a:pt x="105116" y="469568"/>
                  <a:pt x="0" y="364452"/>
                  <a:pt x="0" y="234784"/>
                </a:cubicBezTo>
                <a:lnTo>
                  <a:pt x="0" y="234784"/>
                </a:lnTo>
                <a:cubicBezTo>
                  <a:pt x="0" y="105116"/>
                  <a:pt x="105116" y="0"/>
                  <a:pt x="23478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582622" y="1253141"/>
            <a:ext cx="201243" cy="201243"/>
          </a:xfrm>
          <a:custGeom>
            <a:avLst/>
            <a:gdLst/>
            <a:ahLst/>
            <a:cxnLst/>
            <a:rect l="l" t="t" r="r" b="b"/>
            <a:pathLst>
              <a:path w="201243" h="201243">
                <a:moveTo>
                  <a:pt x="100622" y="0"/>
                </a:moveTo>
                <a:cubicBezTo>
                  <a:pt x="102430" y="0"/>
                  <a:pt x="104238" y="393"/>
                  <a:pt x="105889" y="1140"/>
                </a:cubicBezTo>
                <a:lnTo>
                  <a:pt x="179940" y="32545"/>
                </a:lnTo>
                <a:cubicBezTo>
                  <a:pt x="188587" y="36200"/>
                  <a:pt x="195033" y="44730"/>
                  <a:pt x="194994" y="55028"/>
                </a:cubicBezTo>
                <a:cubicBezTo>
                  <a:pt x="194797" y="94018"/>
                  <a:pt x="178761" y="165358"/>
                  <a:pt x="111038" y="197785"/>
                </a:cubicBezTo>
                <a:cubicBezTo>
                  <a:pt x="104474" y="200929"/>
                  <a:pt x="96848" y="200929"/>
                  <a:pt x="90284" y="197785"/>
                </a:cubicBezTo>
                <a:cubicBezTo>
                  <a:pt x="22522" y="165358"/>
                  <a:pt x="6525" y="94018"/>
                  <a:pt x="6328" y="55028"/>
                </a:cubicBezTo>
                <a:cubicBezTo>
                  <a:pt x="6289" y="44730"/>
                  <a:pt x="12735" y="36200"/>
                  <a:pt x="21382" y="32545"/>
                </a:cubicBezTo>
                <a:lnTo>
                  <a:pt x="95394" y="1140"/>
                </a:lnTo>
                <a:cubicBezTo>
                  <a:pt x="97045" y="393"/>
                  <a:pt x="98814" y="0"/>
                  <a:pt x="100622" y="0"/>
                </a:cubicBezTo>
                <a:close/>
                <a:moveTo>
                  <a:pt x="100622" y="26256"/>
                </a:moveTo>
                <a:lnTo>
                  <a:pt x="100622" y="174870"/>
                </a:lnTo>
                <a:cubicBezTo>
                  <a:pt x="154863" y="148614"/>
                  <a:pt x="169445" y="90442"/>
                  <a:pt x="169799" y="55617"/>
                </a:cubicBezTo>
                <a:lnTo>
                  <a:pt x="100622" y="26295"/>
                </a:lnTo>
                <a:lnTo>
                  <a:pt x="100622" y="26295"/>
                </a:ln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1018590" y="1135819"/>
            <a:ext cx="1777651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Jugadores Sólidos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8590" y="1404160"/>
            <a:ext cx="1735725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0 (42.7%)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515" y="1655554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15501" y="1756037"/>
            <a:ext cx="1383549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jugadas buenas: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4532" y="1722541"/>
            <a:ext cx="49472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75.5%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8515" y="2091262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5501" y="2191745"/>
            <a:ext cx="131646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errores graves: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18217" y="2158249"/>
            <a:ext cx="42764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515" y="2526971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5501" y="2627453"/>
            <a:ext cx="65404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Volatilidad: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90227" y="2593958"/>
            <a:ext cx="352176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31.4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515" y="2962679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5501" y="3063161"/>
            <a:ext cx="37733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Estilo: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6265" y="3029666"/>
            <a:ext cx="955906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Conservador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515" y="3398387"/>
            <a:ext cx="5483884" cy="301865"/>
          </a:xfrm>
          <a:custGeom>
            <a:avLst/>
            <a:gdLst/>
            <a:ahLst/>
            <a:cxnLst/>
            <a:rect l="l" t="t" r="r" b="b"/>
            <a:pathLst>
              <a:path w="5483884" h="301865">
                <a:moveTo>
                  <a:pt x="33540" y="0"/>
                </a:moveTo>
                <a:lnTo>
                  <a:pt x="5450344" y="0"/>
                </a:lnTo>
                <a:cubicBezTo>
                  <a:pt x="5468868" y="0"/>
                  <a:pt x="5483884" y="15016"/>
                  <a:pt x="5483884" y="33540"/>
                </a:cubicBezTo>
                <a:lnTo>
                  <a:pt x="5483884" y="268325"/>
                </a:lnTo>
                <a:cubicBezTo>
                  <a:pt x="5483884" y="286849"/>
                  <a:pt x="5468868" y="301865"/>
                  <a:pt x="5450344" y="301865"/>
                </a:cubicBezTo>
                <a:lnTo>
                  <a:pt x="33540" y="301865"/>
                </a:lnTo>
                <a:cubicBezTo>
                  <a:pt x="15016" y="301865"/>
                  <a:pt x="0" y="286849"/>
                  <a:pt x="0" y="268325"/>
                </a:cubicBezTo>
                <a:lnTo>
                  <a:pt x="0" y="33540"/>
                </a:lnTo>
                <a:cubicBezTo>
                  <a:pt x="0" y="15016"/>
                  <a:pt x="15016" y="0"/>
                  <a:pt x="3354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5501" y="3465374"/>
            <a:ext cx="540841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Características:</a:t>
            </a:r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Juego estable, evitan riesgos, posiciones sólidas, buenos en finales técnicos.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3506" y="1012190"/>
            <a:ext cx="5697737" cy="2796477"/>
          </a:xfrm>
          <a:custGeom>
            <a:avLst/>
            <a:gdLst/>
            <a:ahLst/>
            <a:cxnLst/>
            <a:rect l="l" t="t" r="r" b="b"/>
            <a:pathLst>
              <a:path w="5697737" h="2796477">
                <a:moveTo>
                  <a:pt x="67087" y="0"/>
                </a:moveTo>
                <a:lnTo>
                  <a:pt x="5630650" y="0"/>
                </a:lnTo>
                <a:cubicBezTo>
                  <a:pt x="5667701" y="0"/>
                  <a:pt x="5697737" y="30036"/>
                  <a:pt x="5697737" y="67087"/>
                </a:cubicBezTo>
                <a:lnTo>
                  <a:pt x="5697737" y="2729390"/>
                </a:lnTo>
                <a:cubicBezTo>
                  <a:pt x="5697737" y="2766441"/>
                  <a:pt x="5667701" y="2796477"/>
                  <a:pt x="5630650" y="2796477"/>
                </a:cubicBezTo>
                <a:lnTo>
                  <a:pt x="67087" y="2796477"/>
                </a:lnTo>
                <a:cubicBezTo>
                  <a:pt x="30036" y="2796477"/>
                  <a:pt x="0" y="2766441"/>
                  <a:pt x="0" y="2729390"/>
                </a:cubicBezTo>
                <a:lnTo>
                  <a:pt x="0" y="67087"/>
                </a:lnTo>
                <a:cubicBezTo>
                  <a:pt x="0" y="30061"/>
                  <a:pt x="30061" y="0"/>
                  <a:pt x="67087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19098">
            <a:solidFill>
              <a:srgbClr val="C9A2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0389" y="1119073"/>
            <a:ext cx="469568" cy="469568"/>
          </a:xfrm>
          <a:custGeom>
            <a:avLst/>
            <a:gdLst/>
            <a:ahLst/>
            <a:cxnLst/>
            <a:rect l="l" t="t" r="r" b="b"/>
            <a:pathLst>
              <a:path w="469568" h="469568">
                <a:moveTo>
                  <a:pt x="234784" y="0"/>
                </a:moveTo>
                <a:lnTo>
                  <a:pt x="234784" y="0"/>
                </a:lnTo>
                <a:cubicBezTo>
                  <a:pt x="364452" y="0"/>
                  <a:pt x="469568" y="105116"/>
                  <a:pt x="469568" y="234784"/>
                </a:cubicBezTo>
                <a:lnTo>
                  <a:pt x="469568" y="234784"/>
                </a:lnTo>
                <a:cubicBezTo>
                  <a:pt x="469568" y="364452"/>
                  <a:pt x="364452" y="469568"/>
                  <a:pt x="234784" y="469568"/>
                </a:cubicBezTo>
                <a:lnTo>
                  <a:pt x="234784" y="469568"/>
                </a:lnTo>
                <a:cubicBezTo>
                  <a:pt x="105116" y="469568"/>
                  <a:pt x="0" y="364452"/>
                  <a:pt x="0" y="234784"/>
                </a:cubicBezTo>
                <a:lnTo>
                  <a:pt x="0" y="234784"/>
                </a:lnTo>
                <a:cubicBezTo>
                  <a:pt x="0" y="105116"/>
                  <a:pt x="105116" y="0"/>
                  <a:pt x="234784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7074" y="1253141"/>
            <a:ext cx="176088" cy="201243"/>
          </a:xfrm>
          <a:custGeom>
            <a:avLst/>
            <a:gdLst/>
            <a:ahLst/>
            <a:cxnLst/>
            <a:rect l="l" t="t" r="r" b="b"/>
            <a:pathLst>
              <a:path w="176088" h="201243">
                <a:moveTo>
                  <a:pt x="133167" y="-3891"/>
                </a:moveTo>
                <a:cubicBezTo>
                  <a:pt x="137844" y="-511"/>
                  <a:pt x="139573" y="5621"/>
                  <a:pt x="137451" y="10966"/>
                </a:cubicBezTo>
                <a:lnTo>
                  <a:pt x="106635" y="88044"/>
                </a:lnTo>
                <a:lnTo>
                  <a:pt x="163510" y="88044"/>
                </a:lnTo>
                <a:cubicBezTo>
                  <a:pt x="168817" y="88044"/>
                  <a:pt x="173533" y="91346"/>
                  <a:pt x="175341" y="96337"/>
                </a:cubicBezTo>
                <a:cubicBezTo>
                  <a:pt x="177149" y="101329"/>
                  <a:pt x="175616" y="106911"/>
                  <a:pt x="171568" y="110291"/>
                </a:cubicBezTo>
                <a:lnTo>
                  <a:pt x="58368" y="204624"/>
                </a:lnTo>
                <a:cubicBezTo>
                  <a:pt x="53927" y="208318"/>
                  <a:pt x="47599" y="208515"/>
                  <a:pt x="42921" y="205135"/>
                </a:cubicBezTo>
                <a:cubicBezTo>
                  <a:pt x="38244" y="201754"/>
                  <a:pt x="36515" y="195623"/>
                  <a:pt x="38637" y="190277"/>
                </a:cubicBezTo>
                <a:lnTo>
                  <a:pt x="69453" y="113199"/>
                </a:lnTo>
                <a:lnTo>
                  <a:pt x="12578" y="113199"/>
                </a:lnTo>
                <a:cubicBezTo>
                  <a:pt x="7271" y="113199"/>
                  <a:pt x="2555" y="109898"/>
                  <a:pt x="747" y="104906"/>
                </a:cubicBezTo>
                <a:cubicBezTo>
                  <a:pt x="-1061" y="99914"/>
                  <a:pt x="472" y="94333"/>
                  <a:pt x="4520" y="90953"/>
                </a:cubicBezTo>
                <a:lnTo>
                  <a:pt x="117720" y="-3380"/>
                </a:lnTo>
                <a:cubicBezTo>
                  <a:pt x="122161" y="-7075"/>
                  <a:pt x="128489" y="-7271"/>
                  <a:pt x="133167" y="-389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465" y="1135819"/>
            <a:ext cx="2012435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Jugadores Agresivos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30465" y="1404160"/>
            <a:ext cx="1970509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1 (57.3%)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0389" y="1655554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27376" y="1756037"/>
            <a:ext cx="1383549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jugadas buenas: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245275" y="1722541"/>
            <a:ext cx="51149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65.3%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0389" y="2091262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27376" y="2191745"/>
            <a:ext cx="131646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errores graves: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78275" y="2158249"/>
            <a:ext cx="47795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14.3%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0389" y="2526971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27376" y="2627453"/>
            <a:ext cx="65404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Volatilidad: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95107" y="2593958"/>
            <a:ext cx="36056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81.5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0389" y="2962679"/>
            <a:ext cx="5483884" cy="368946"/>
          </a:xfrm>
          <a:custGeom>
            <a:avLst/>
            <a:gdLst/>
            <a:ahLst/>
            <a:cxnLst/>
            <a:rect l="l" t="t" r="r" b="b"/>
            <a:pathLst>
              <a:path w="5483884" h="368946">
                <a:moveTo>
                  <a:pt x="33541" y="0"/>
                </a:moveTo>
                <a:lnTo>
                  <a:pt x="5450344" y="0"/>
                </a:lnTo>
                <a:cubicBezTo>
                  <a:pt x="5468868" y="0"/>
                  <a:pt x="5483884" y="15017"/>
                  <a:pt x="5483884" y="33541"/>
                </a:cubicBezTo>
                <a:lnTo>
                  <a:pt x="5483884" y="335405"/>
                </a:lnTo>
                <a:cubicBezTo>
                  <a:pt x="5483884" y="353930"/>
                  <a:pt x="5468868" y="368946"/>
                  <a:pt x="5450344" y="368946"/>
                </a:cubicBezTo>
                <a:lnTo>
                  <a:pt x="33541" y="368946"/>
                </a:lnTo>
                <a:cubicBezTo>
                  <a:pt x="15017" y="368946"/>
                  <a:pt x="0" y="353930"/>
                  <a:pt x="0" y="335405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27376" y="3063161"/>
            <a:ext cx="37733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Estilo: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26891" y="3029666"/>
            <a:ext cx="830129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Arriesgado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60389" y="3398387"/>
            <a:ext cx="5483884" cy="301865"/>
          </a:xfrm>
          <a:custGeom>
            <a:avLst/>
            <a:gdLst/>
            <a:ahLst/>
            <a:cxnLst/>
            <a:rect l="l" t="t" r="r" b="b"/>
            <a:pathLst>
              <a:path w="5483884" h="301865">
                <a:moveTo>
                  <a:pt x="33540" y="0"/>
                </a:moveTo>
                <a:lnTo>
                  <a:pt x="5450344" y="0"/>
                </a:lnTo>
                <a:cubicBezTo>
                  <a:pt x="5468868" y="0"/>
                  <a:pt x="5483884" y="15016"/>
                  <a:pt x="5483884" y="33540"/>
                </a:cubicBezTo>
                <a:lnTo>
                  <a:pt x="5483884" y="268325"/>
                </a:lnTo>
                <a:cubicBezTo>
                  <a:pt x="5483884" y="286849"/>
                  <a:pt x="5468868" y="301865"/>
                  <a:pt x="5450344" y="301865"/>
                </a:cubicBezTo>
                <a:lnTo>
                  <a:pt x="33540" y="301865"/>
                </a:lnTo>
                <a:cubicBezTo>
                  <a:pt x="15016" y="301865"/>
                  <a:pt x="0" y="286849"/>
                  <a:pt x="0" y="268325"/>
                </a:cubicBezTo>
                <a:lnTo>
                  <a:pt x="0" y="33540"/>
                </a:lnTo>
                <a:cubicBezTo>
                  <a:pt x="0" y="15016"/>
                  <a:pt x="15016" y="0"/>
                  <a:pt x="33540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27376" y="3465374"/>
            <a:ext cx="540841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Características:</a:t>
            </a:r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Juego dinámico, buscan tácticas complejas, mayor variabilidad en resultados.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38479" y="3883353"/>
            <a:ext cx="11519108" cy="1649793"/>
          </a:xfrm>
          <a:custGeom>
            <a:avLst/>
            <a:gdLst/>
            <a:ahLst/>
            <a:cxnLst/>
            <a:rect l="l" t="t" r="r" b="b"/>
            <a:pathLst>
              <a:path w="11519108" h="1649793">
                <a:moveTo>
                  <a:pt x="67081" y="0"/>
                </a:moveTo>
                <a:lnTo>
                  <a:pt x="11452027" y="0"/>
                </a:lnTo>
                <a:cubicBezTo>
                  <a:pt x="11489075" y="0"/>
                  <a:pt x="11519108" y="30033"/>
                  <a:pt x="11519108" y="67081"/>
                </a:cubicBezTo>
                <a:lnTo>
                  <a:pt x="11519108" y="1582712"/>
                </a:lnTo>
                <a:cubicBezTo>
                  <a:pt x="11519108" y="1619760"/>
                  <a:pt x="11489075" y="1649793"/>
                  <a:pt x="11452027" y="1649793"/>
                </a:cubicBezTo>
                <a:lnTo>
                  <a:pt x="67081" y="1649793"/>
                </a:lnTo>
                <a:cubicBezTo>
                  <a:pt x="30058" y="1649793"/>
                  <a:pt x="0" y="1619735"/>
                  <a:pt x="0" y="1582712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2210" y="3987083"/>
            <a:ext cx="11387026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¿Cuál Eres Tú?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2210" y="4288817"/>
            <a:ext cx="3706234" cy="1140380"/>
          </a:xfrm>
          <a:custGeom>
            <a:avLst/>
            <a:gdLst/>
            <a:ahLst/>
            <a:cxnLst/>
            <a:rect l="l" t="t" r="r" b="b"/>
            <a:pathLst>
              <a:path w="3706234" h="1140380">
                <a:moveTo>
                  <a:pt x="33539" y="0"/>
                </a:moveTo>
                <a:lnTo>
                  <a:pt x="3672695" y="0"/>
                </a:lnTo>
                <a:cubicBezTo>
                  <a:pt x="3691218" y="0"/>
                  <a:pt x="3706234" y="15016"/>
                  <a:pt x="3706234" y="33539"/>
                </a:cubicBezTo>
                <a:lnTo>
                  <a:pt x="3706234" y="1106841"/>
                </a:lnTo>
                <a:cubicBezTo>
                  <a:pt x="3706234" y="1125364"/>
                  <a:pt x="3691218" y="1140380"/>
                  <a:pt x="3672695" y="1140380"/>
                </a:cubicBezTo>
                <a:lnTo>
                  <a:pt x="33539" y="1140380"/>
                </a:lnTo>
                <a:cubicBezTo>
                  <a:pt x="15016" y="1140380"/>
                  <a:pt x="0" y="1125364"/>
                  <a:pt x="0" y="1106841"/>
                </a:cubicBezTo>
                <a:lnTo>
                  <a:pt x="0" y="33539"/>
                </a:lnTo>
                <a:cubicBezTo>
                  <a:pt x="0" y="15016"/>
                  <a:pt x="15016" y="0"/>
                  <a:pt x="335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2788" y="4389394"/>
            <a:ext cx="357207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de Sólido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2788" y="4657637"/>
            <a:ext cx="3563686" cy="67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Prefieres posiciones cerradas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Evitas complicaciones innecesarias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Bueno en finales técnicos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Raramente pierdes partidas ganadas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45472" y="4288817"/>
            <a:ext cx="3706234" cy="1140380"/>
          </a:xfrm>
          <a:custGeom>
            <a:avLst/>
            <a:gdLst/>
            <a:ahLst/>
            <a:cxnLst/>
            <a:rect l="l" t="t" r="r" b="b"/>
            <a:pathLst>
              <a:path w="3706234" h="1140380">
                <a:moveTo>
                  <a:pt x="33539" y="0"/>
                </a:moveTo>
                <a:lnTo>
                  <a:pt x="3672695" y="0"/>
                </a:lnTo>
                <a:cubicBezTo>
                  <a:pt x="3691218" y="0"/>
                  <a:pt x="3706234" y="15016"/>
                  <a:pt x="3706234" y="33539"/>
                </a:cubicBezTo>
                <a:lnTo>
                  <a:pt x="3706234" y="1106841"/>
                </a:lnTo>
                <a:cubicBezTo>
                  <a:pt x="3706234" y="1125364"/>
                  <a:pt x="3691218" y="1140380"/>
                  <a:pt x="3672695" y="1140380"/>
                </a:cubicBezTo>
                <a:lnTo>
                  <a:pt x="33539" y="1140380"/>
                </a:lnTo>
                <a:cubicBezTo>
                  <a:pt x="15016" y="1140380"/>
                  <a:pt x="0" y="1125364"/>
                  <a:pt x="0" y="1106841"/>
                </a:cubicBezTo>
                <a:lnTo>
                  <a:pt x="0" y="33539"/>
                </a:lnTo>
                <a:cubicBezTo>
                  <a:pt x="0" y="15016"/>
                  <a:pt x="15016" y="0"/>
                  <a:pt x="335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346050" y="4389394"/>
            <a:ext cx="357207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de Agresivo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46050" y="4657637"/>
            <a:ext cx="3563686" cy="67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Prefieres posiciones abiertas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Buscas tácticas complejas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 veces ganas partidas perdidas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Mayor variabilidad en resultados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51985" y="4291969"/>
            <a:ext cx="3695768" cy="1129914"/>
          </a:xfrm>
          <a:custGeom>
            <a:avLst/>
            <a:gdLst/>
            <a:ahLst/>
            <a:cxnLst/>
            <a:rect l="l" t="t" r="r" b="b"/>
            <a:pathLst>
              <a:path w="3695768" h="1129914">
                <a:moveTo>
                  <a:pt x="33536" y="0"/>
                </a:moveTo>
                <a:lnTo>
                  <a:pt x="3662232" y="0"/>
                </a:lnTo>
                <a:cubicBezTo>
                  <a:pt x="3680754" y="0"/>
                  <a:pt x="3695768" y="15015"/>
                  <a:pt x="3695768" y="33536"/>
                </a:cubicBezTo>
                <a:lnTo>
                  <a:pt x="3695768" y="1096378"/>
                </a:lnTo>
                <a:cubicBezTo>
                  <a:pt x="3695768" y="1114899"/>
                  <a:pt x="3680754" y="1129914"/>
                  <a:pt x="3662232" y="1129914"/>
                </a:cubicBezTo>
                <a:lnTo>
                  <a:pt x="33536" y="1129914"/>
                </a:lnTo>
                <a:cubicBezTo>
                  <a:pt x="15015" y="1129914"/>
                  <a:pt x="0" y="1114899"/>
                  <a:pt x="0" y="1096378"/>
                </a:cubicBezTo>
                <a:lnTo>
                  <a:pt x="0" y="33536"/>
                </a:lnTo>
                <a:cubicBezTo>
                  <a:pt x="0" y="15015"/>
                  <a:pt x="15015" y="0"/>
                  <a:pt x="33536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5715" y="4395699"/>
            <a:ext cx="3555301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Puede Identificarte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55715" y="4663942"/>
            <a:ext cx="3546916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Analizando 10-20 de tus partidas, el sistema determina tu perfil con 85%+ precisión y recomienda entrenamiento específico.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8479" y="5605890"/>
            <a:ext cx="11519108" cy="576494"/>
          </a:xfrm>
          <a:custGeom>
            <a:avLst/>
            <a:gdLst/>
            <a:ahLst/>
            <a:cxnLst/>
            <a:rect l="l" t="t" r="r" b="b"/>
            <a:pathLst>
              <a:path w="11519108" h="576494">
                <a:moveTo>
                  <a:pt x="67081" y="0"/>
                </a:moveTo>
                <a:lnTo>
                  <a:pt x="11452027" y="0"/>
                </a:lnTo>
                <a:cubicBezTo>
                  <a:pt x="11489075" y="0"/>
                  <a:pt x="11519108" y="30033"/>
                  <a:pt x="11519108" y="67081"/>
                </a:cubicBezTo>
                <a:lnTo>
                  <a:pt x="11519108" y="509414"/>
                </a:lnTo>
                <a:cubicBezTo>
                  <a:pt x="11519108" y="546461"/>
                  <a:pt x="11489075" y="576494"/>
                  <a:pt x="11452027" y="576494"/>
                </a:cubicBezTo>
                <a:lnTo>
                  <a:pt x="67081" y="576494"/>
                </a:lnTo>
                <a:cubicBezTo>
                  <a:pt x="30033" y="576494"/>
                  <a:pt x="0" y="546461"/>
                  <a:pt x="0" y="509414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2210" y="5793455"/>
            <a:ext cx="251554" cy="201243"/>
          </a:xfrm>
          <a:custGeom>
            <a:avLst/>
            <a:gdLst/>
            <a:ahLst/>
            <a:cxnLst/>
            <a:rect l="l" t="t" r="r" b="b"/>
            <a:pathLst>
              <a:path w="251554" h="201243">
                <a:moveTo>
                  <a:pt x="53455" y="50311"/>
                </a:moveTo>
                <a:cubicBezTo>
                  <a:pt x="53455" y="24279"/>
                  <a:pt x="74590" y="3144"/>
                  <a:pt x="100622" y="3144"/>
                </a:cubicBezTo>
                <a:cubicBezTo>
                  <a:pt x="126654" y="3144"/>
                  <a:pt x="147788" y="24279"/>
                  <a:pt x="147788" y="50311"/>
                </a:cubicBezTo>
                <a:cubicBezTo>
                  <a:pt x="147788" y="76343"/>
                  <a:pt x="126654" y="97477"/>
                  <a:pt x="100622" y="97477"/>
                </a:cubicBezTo>
                <a:cubicBezTo>
                  <a:pt x="74590" y="97477"/>
                  <a:pt x="53455" y="76343"/>
                  <a:pt x="53455" y="50311"/>
                </a:cubicBezTo>
                <a:close/>
                <a:moveTo>
                  <a:pt x="18867" y="189570"/>
                </a:moveTo>
                <a:cubicBezTo>
                  <a:pt x="18867" y="150854"/>
                  <a:pt x="50232" y="119488"/>
                  <a:pt x="88948" y="119488"/>
                </a:cubicBezTo>
                <a:lnTo>
                  <a:pt x="112295" y="119488"/>
                </a:lnTo>
                <a:cubicBezTo>
                  <a:pt x="151011" y="119488"/>
                  <a:pt x="182377" y="150854"/>
                  <a:pt x="182377" y="189570"/>
                </a:cubicBezTo>
                <a:cubicBezTo>
                  <a:pt x="182377" y="196016"/>
                  <a:pt x="177149" y="201243"/>
                  <a:pt x="170703" y="201243"/>
                </a:cubicBezTo>
                <a:lnTo>
                  <a:pt x="30540" y="201243"/>
                </a:lnTo>
                <a:cubicBezTo>
                  <a:pt x="24094" y="201243"/>
                  <a:pt x="18867" y="196016"/>
                  <a:pt x="18867" y="189570"/>
                </a:cubicBezTo>
                <a:close/>
                <a:moveTo>
                  <a:pt x="240706" y="52158"/>
                </a:moveTo>
                <a:lnTo>
                  <a:pt x="209262" y="102469"/>
                </a:lnTo>
                <a:cubicBezTo>
                  <a:pt x="207611" y="105103"/>
                  <a:pt x="204781" y="106753"/>
                  <a:pt x="201676" y="106911"/>
                </a:cubicBezTo>
                <a:cubicBezTo>
                  <a:pt x="198571" y="107068"/>
                  <a:pt x="195583" y="105653"/>
                  <a:pt x="193736" y="103137"/>
                </a:cubicBezTo>
                <a:lnTo>
                  <a:pt x="174870" y="77982"/>
                </a:lnTo>
                <a:cubicBezTo>
                  <a:pt x="171725" y="73815"/>
                  <a:pt x="172590" y="67920"/>
                  <a:pt x="176756" y="64775"/>
                </a:cubicBezTo>
                <a:cubicBezTo>
                  <a:pt x="180923" y="61631"/>
                  <a:pt x="186818" y="62496"/>
                  <a:pt x="189963" y="66662"/>
                </a:cubicBezTo>
                <a:lnTo>
                  <a:pt x="200575" y="80812"/>
                </a:lnTo>
                <a:lnTo>
                  <a:pt x="224709" y="42175"/>
                </a:lnTo>
                <a:cubicBezTo>
                  <a:pt x="227460" y="37772"/>
                  <a:pt x="233277" y="36397"/>
                  <a:pt x="237719" y="39187"/>
                </a:cubicBezTo>
                <a:cubicBezTo>
                  <a:pt x="242160" y="41978"/>
                  <a:pt x="243497" y="47756"/>
                  <a:pt x="240706" y="5219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794284" y="5709624"/>
            <a:ext cx="9844160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Hay Perfil "Mejor"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94284" y="5910876"/>
            <a:ext cx="983577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Ambos estilos pueden alcanzar alto nivel. Kasparov era agresivo, Karpov era sólido. Ambos campeones mundiales. La clave es conocer tu perfil y entrenar tus debilidades específicas.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08" y="359953"/>
            <a:ext cx="2028612" cy="185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spc="56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 Prácticas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08" y="635936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Entrenamiento Personalizado por Perfil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630" y="1063142"/>
            <a:ext cx="5678573" cy="3116486"/>
          </a:xfrm>
          <a:custGeom>
            <a:avLst/>
            <a:gdLst/>
            <a:ahLst/>
            <a:cxnLst/>
            <a:rect l="l" t="t" r="r" b="b"/>
            <a:pathLst>
              <a:path w="5678573" h="3116486">
                <a:moveTo>
                  <a:pt x="70682" y="0"/>
                </a:moveTo>
                <a:lnTo>
                  <a:pt x="5607891" y="0"/>
                </a:lnTo>
                <a:cubicBezTo>
                  <a:pt x="5646928" y="0"/>
                  <a:pt x="5678573" y="31645"/>
                  <a:pt x="5678573" y="70682"/>
                </a:cubicBezTo>
                <a:lnTo>
                  <a:pt x="5678573" y="3045804"/>
                </a:lnTo>
                <a:cubicBezTo>
                  <a:pt x="5678573" y="3084841"/>
                  <a:pt x="5646928" y="3116486"/>
                  <a:pt x="5607891" y="3116486"/>
                </a:cubicBezTo>
                <a:lnTo>
                  <a:pt x="70682" y="3116486"/>
                </a:lnTo>
                <a:cubicBezTo>
                  <a:pt x="31645" y="3116486"/>
                  <a:pt x="0" y="3084841"/>
                  <a:pt x="0" y="3045804"/>
                </a:cubicBezTo>
                <a:lnTo>
                  <a:pt x="0" y="70682"/>
                </a:lnTo>
                <a:cubicBezTo>
                  <a:pt x="0" y="31645"/>
                  <a:pt x="31645" y="0"/>
                  <a:pt x="7068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5923" y="1172438"/>
            <a:ext cx="553940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Para Jugadores Sólidos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923" y="1490352"/>
            <a:ext cx="5459896" cy="742122"/>
          </a:xfrm>
          <a:custGeom>
            <a:avLst/>
            <a:gdLst/>
            <a:ahLst/>
            <a:cxnLst/>
            <a:rect l="l" t="t" r="r" b="b"/>
            <a:pathLst>
              <a:path w="5459896" h="742122">
                <a:moveTo>
                  <a:pt x="35340" y="0"/>
                </a:moveTo>
                <a:lnTo>
                  <a:pt x="5424556" y="0"/>
                </a:lnTo>
                <a:cubicBezTo>
                  <a:pt x="5444073" y="0"/>
                  <a:pt x="5459896" y="15822"/>
                  <a:pt x="5459896" y="35340"/>
                </a:cubicBezTo>
                <a:lnTo>
                  <a:pt x="5459896" y="706782"/>
                </a:lnTo>
                <a:cubicBezTo>
                  <a:pt x="5459896" y="726300"/>
                  <a:pt x="5444073" y="742122"/>
                  <a:pt x="5424556" y="742122"/>
                </a:cubicBezTo>
                <a:lnTo>
                  <a:pt x="35340" y="742122"/>
                </a:lnTo>
                <a:cubicBezTo>
                  <a:pt x="15822" y="742122"/>
                  <a:pt x="0" y="726300"/>
                  <a:pt x="0" y="706782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4171" y="159621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61843" y="0"/>
                </a:moveTo>
                <a:cubicBezTo>
                  <a:pt x="71589" y="0"/>
                  <a:pt x="79513" y="5936"/>
                  <a:pt x="79513" y="13252"/>
                </a:cubicBezTo>
                <a:cubicBezTo>
                  <a:pt x="79513" y="16123"/>
                  <a:pt x="78298" y="18774"/>
                  <a:pt x="76200" y="20955"/>
                </a:cubicBezTo>
                <a:cubicBezTo>
                  <a:pt x="74378" y="22860"/>
                  <a:pt x="72887" y="25179"/>
                  <a:pt x="72887" y="27830"/>
                </a:cubicBezTo>
                <a:cubicBezTo>
                  <a:pt x="72887" y="31971"/>
                  <a:pt x="76255" y="35339"/>
                  <a:pt x="80397" y="35339"/>
                </a:cubicBezTo>
                <a:lnTo>
                  <a:pt x="92765" y="35339"/>
                </a:lnTo>
                <a:cubicBezTo>
                  <a:pt x="100082" y="35339"/>
                  <a:pt x="106017" y="41275"/>
                  <a:pt x="106017" y="48591"/>
                </a:cubicBezTo>
                <a:lnTo>
                  <a:pt x="106017" y="60960"/>
                </a:lnTo>
                <a:cubicBezTo>
                  <a:pt x="106017" y="65101"/>
                  <a:pt x="109386" y="68470"/>
                  <a:pt x="113527" y="68470"/>
                </a:cubicBezTo>
                <a:cubicBezTo>
                  <a:pt x="116150" y="68470"/>
                  <a:pt x="118497" y="66979"/>
                  <a:pt x="120402" y="65157"/>
                </a:cubicBezTo>
                <a:cubicBezTo>
                  <a:pt x="122583" y="63086"/>
                  <a:pt x="125233" y="61843"/>
                  <a:pt x="128104" y="61843"/>
                </a:cubicBezTo>
                <a:cubicBezTo>
                  <a:pt x="135421" y="61843"/>
                  <a:pt x="141357" y="69767"/>
                  <a:pt x="141357" y="79513"/>
                </a:cubicBezTo>
                <a:cubicBezTo>
                  <a:pt x="141357" y="89259"/>
                  <a:pt x="135421" y="97183"/>
                  <a:pt x="128104" y="97183"/>
                </a:cubicBezTo>
                <a:cubicBezTo>
                  <a:pt x="125233" y="97183"/>
                  <a:pt x="122555" y="95968"/>
                  <a:pt x="120402" y="93870"/>
                </a:cubicBezTo>
                <a:cubicBezTo>
                  <a:pt x="118497" y="92047"/>
                  <a:pt x="116177" y="90557"/>
                  <a:pt x="113527" y="90557"/>
                </a:cubicBezTo>
                <a:cubicBezTo>
                  <a:pt x="109386" y="90557"/>
                  <a:pt x="106017" y="93925"/>
                  <a:pt x="106017" y="98066"/>
                </a:cubicBezTo>
                <a:lnTo>
                  <a:pt x="106017" y="128104"/>
                </a:lnTo>
                <a:cubicBezTo>
                  <a:pt x="106017" y="135421"/>
                  <a:pt x="100082" y="141357"/>
                  <a:pt x="92765" y="141357"/>
                </a:cubicBezTo>
                <a:lnTo>
                  <a:pt x="77083" y="141357"/>
                </a:lnTo>
                <a:cubicBezTo>
                  <a:pt x="73550" y="141357"/>
                  <a:pt x="70678" y="138485"/>
                  <a:pt x="70678" y="134951"/>
                </a:cubicBezTo>
                <a:cubicBezTo>
                  <a:pt x="70678" y="132411"/>
                  <a:pt x="72280" y="130175"/>
                  <a:pt x="74323" y="128657"/>
                </a:cubicBezTo>
                <a:cubicBezTo>
                  <a:pt x="77525" y="126255"/>
                  <a:pt x="79513" y="122942"/>
                  <a:pt x="79513" y="119270"/>
                </a:cubicBezTo>
                <a:cubicBezTo>
                  <a:pt x="79513" y="111953"/>
                  <a:pt x="71589" y="106017"/>
                  <a:pt x="61843" y="106017"/>
                </a:cubicBezTo>
                <a:cubicBezTo>
                  <a:pt x="52098" y="106017"/>
                  <a:pt x="44174" y="111953"/>
                  <a:pt x="44174" y="119270"/>
                </a:cubicBezTo>
                <a:cubicBezTo>
                  <a:pt x="44174" y="122942"/>
                  <a:pt x="46162" y="126255"/>
                  <a:pt x="49364" y="128657"/>
                </a:cubicBezTo>
                <a:cubicBezTo>
                  <a:pt x="51407" y="130175"/>
                  <a:pt x="53009" y="132384"/>
                  <a:pt x="53009" y="134951"/>
                </a:cubicBezTo>
                <a:cubicBezTo>
                  <a:pt x="53009" y="138485"/>
                  <a:pt x="50137" y="141357"/>
                  <a:pt x="46603" y="141357"/>
                </a:cubicBezTo>
                <a:lnTo>
                  <a:pt x="13252" y="141357"/>
                </a:lnTo>
                <a:cubicBezTo>
                  <a:pt x="5936" y="141357"/>
                  <a:pt x="0" y="135421"/>
                  <a:pt x="0" y="128104"/>
                </a:cubicBezTo>
                <a:lnTo>
                  <a:pt x="0" y="94753"/>
                </a:lnTo>
                <a:cubicBezTo>
                  <a:pt x="0" y="91219"/>
                  <a:pt x="2871" y="88348"/>
                  <a:pt x="6405" y="88348"/>
                </a:cubicBezTo>
                <a:cubicBezTo>
                  <a:pt x="8945" y="88348"/>
                  <a:pt x="11182" y="89949"/>
                  <a:pt x="12700" y="91992"/>
                </a:cubicBezTo>
                <a:cubicBezTo>
                  <a:pt x="15102" y="95195"/>
                  <a:pt x="18415" y="97183"/>
                  <a:pt x="22087" y="97183"/>
                </a:cubicBezTo>
                <a:cubicBezTo>
                  <a:pt x="29403" y="97183"/>
                  <a:pt x="35339" y="89259"/>
                  <a:pt x="35339" y="79513"/>
                </a:cubicBezTo>
                <a:cubicBezTo>
                  <a:pt x="35339" y="69767"/>
                  <a:pt x="29403" y="61843"/>
                  <a:pt x="22087" y="61843"/>
                </a:cubicBezTo>
                <a:cubicBezTo>
                  <a:pt x="18415" y="61843"/>
                  <a:pt x="15102" y="63831"/>
                  <a:pt x="12700" y="67034"/>
                </a:cubicBezTo>
                <a:cubicBezTo>
                  <a:pt x="11182" y="69077"/>
                  <a:pt x="8973" y="70678"/>
                  <a:pt x="6405" y="70678"/>
                </a:cubicBezTo>
                <a:cubicBezTo>
                  <a:pt x="2871" y="70678"/>
                  <a:pt x="0" y="67807"/>
                  <a:pt x="0" y="64273"/>
                </a:cubicBezTo>
                <a:lnTo>
                  <a:pt x="0" y="48591"/>
                </a:lnTo>
                <a:cubicBezTo>
                  <a:pt x="0" y="41275"/>
                  <a:pt x="5936" y="35339"/>
                  <a:pt x="13252" y="35339"/>
                </a:cubicBezTo>
                <a:lnTo>
                  <a:pt x="43290" y="35339"/>
                </a:lnTo>
                <a:cubicBezTo>
                  <a:pt x="47432" y="35339"/>
                  <a:pt x="50800" y="31971"/>
                  <a:pt x="50800" y="27830"/>
                </a:cubicBezTo>
                <a:cubicBezTo>
                  <a:pt x="50800" y="25207"/>
                  <a:pt x="49309" y="22860"/>
                  <a:pt x="47487" y="20955"/>
                </a:cubicBezTo>
                <a:cubicBezTo>
                  <a:pt x="45416" y="18774"/>
                  <a:pt x="44174" y="16123"/>
                  <a:pt x="44174" y="13252"/>
                </a:cubicBezTo>
                <a:cubicBezTo>
                  <a:pt x="44174" y="5936"/>
                  <a:pt x="52098" y="0"/>
                  <a:pt x="6184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783734" y="1560931"/>
            <a:ext cx="11926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Táctica Compleja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6501" y="1808266"/>
            <a:ext cx="538038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Practicar combinaciones de 3-4 jugadas. Desarrollar visión táctica en posiciones complicadas.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5923" y="2302733"/>
            <a:ext cx="5459896" cy="565426"/>
          </a:xfrm>
          <a:custGeom>
            <a:avLst/>
            <a:gdLst/>
            <a:ahLst/>
            <a:cxnLst/>
            <a:rect l="l" t="t" r="r" b="b"/>
            <a:pathLst>
              <a:path w="5459896" h="565426">
                <a:moveTo>
                  <a:pt x="35339" y="0"/>
                </a:moveTo>
                <a:lnTo>
                  <a:pt x="5424557" y="0"/>
                </a:lnTo>
                <a:cubicBezTo>
                  <a:pt x="5444074" y="0"/>
                  <a:pt x="5459896" y="15822"/>
                  <a:pt x="5459896" y="35339"/>
                </a:cubicBezTo>
                <a:lnTo>
                  <a:pt x="5459896" y="530087"/>
                </a:lnTo>
                <a:cubicBezTo>
                  <a:pt x="5459896" y="549604"/>
                  <a:pt x="5444074" y="565426"/>
                  <a:pt x="5424557" y="565426"/>
                </a:cubicBezTo>
                <a:lnTo>
                  <a:pt x="35339" y="565426"/>
                </a:lnTo>
                <a:cubicBezTo>
                  <a:pt x="15822" y="565426"/>
                  <a:pt x="0" y="549604"/>
                  <a:pt x="0" y="53008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71840" y="2408600"/>
            <a:ext cx="106017" cy="141357"/>
          </a:xfrm>
          <a:custGeom>
            <a:avLst/>
            <a:gdLst/>
            <a:ahLst/>
            <a:cxnLst/>
            <a:rect l="l" t="t" r="r" b="b"/>
            <a:pathLst>
              <a:path w="106017" h="141357">
                <a:moveTo>
                  <a:pt x="53009" y="-8835"/>
                </a:moveTo>
                <a:cubicBezTo>
                  <a:pt x="71313" y="-8835"/>
                  <a:pt x="86139" y="5991"/>
                  <a:pt x="86139" y="24296"/>
                </a:cubicBezTo>
                <a:cubicBezTo>
                  <a:pt x="86139" y="31750"/>
                  <a:pt x="83682" y="38625"/>
                  <a:pt x="79513" y="44174"/>
                </a:cubicBezTo>
                <a:cubicBezTo>
                  <a:pt x="84400" y="44174"/>
                  <a:pt x="88348" y="48122"/>
                  <a:pt x="88348" y="53009"/>
                </a:cubicBezTo>
                <a:cubicBezTo>
                  <a:pt x="88348" y="57895"/>
                  <a:pt x="84400" y="61843"/>
                  <a:pt x="79513" y="61843"/>
                </a:cubicBezTo>
                <a:lnTo>
                  <a:pt x="76559" y="61843"/>
                </a:lnTo>
                <a:lnTo>
                  <a:pt x="83930" y="106017"/>
                </a:lnTo>
                <a:lnTo>
                  <a:pt x="99447" y="125426"/>
                </a:lnTo>
                <a:cubicBezTo>
                  <a:pt x="100827" y="127166"/>
                  <a:pt x="101600" y="129319"/>
                  <a:pt x="101600" y="131555"/>
                </a:cubicBezTo>
                <a:cubicBezTo>
                  <a:pt x="101600" y="136967"/>
                  <a:pt x="97210" y="141357"/>
                  <a:pt x="91799" y="141357"/>
                </a:cubicBezTo>
                <a:lnTo>
                  <a:pt x="14218" y="141357"/>
                </a:lnTo>
                <a:cubicBezTo>
                  <a:pt x="8807" y="141357"/>
                  <a:pt x="4417" y="136967"/>
                  <a:pt x="4417" y="131555"/>
                </a:cubicBezTo>
                <a:cubicBezTo>
                  <a:pt x="4417" y="129319"/>
                  <a:pt x="5163" y="127166"/>
                  <a:pt x="6571" y="125426"/>
                </a:cubicBezTo>
                <a:lnTo>
                  <a:pt x="22087" y="106017"/>
                </a:lnTo>
                <a:lnTo>
                  <a:pt x="29458" y="61843"/>
                </a:lnTo>
                <a:lnTo>
                  <a:pt x="26504" y="61843"/>
                </a:lnTo>
                <a:cubicBezTo>
                  <a:pt x="21618" y="61843"/>
                  <a:pt x="17670" y="57895"/>
                  <a:pt x="17670" y="53009"/>
                </a:cubicBezTo>
                <a:cubicBezTo>
                  <a:pt x="17670" y="48122"/>
                  <a:pt x="21618" y="44174"/>
                  <a:pt x="26504" y="44174"/>
                </a:cubicBezTo>
                <a:cubicBezTo>
                  <a:pt x="22335" y="38625"/>
                  <a:pt x="19878" y="31750"/>
                  <a:pt x="19878" y="24296"/>
                </a:cubicBezTo>
                <a:cubicBezTo>
                  <a:pt x="19878" y="5991"/>
                  <a:pt x="34704" y="-8835"/>
                  <a:pt x="53009" y="-883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Text 10"/>
          <p:cNvSpPr/>
          <p:nvPr/>
        </p:nvSpPr>
        <p:spPr>
          <a:xfrm>
            <a:off x="783734" y="2373313"/>
            <a:ext cx="113968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Finales Técnicos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6501" y="2620648"/>
            <a:ext cx="5380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Dominar finales de peones, torres, y piezas menores. Optimización de la técnica.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923" y="2938458"/>
            <a:ext cx="5459896" cy="565426"/>
          </a:xfrm>
          <a:custGeom>
            <a:avLst/>
            <a:gdLst/>
            <a:ahLst/>
            <a:cxnLst/>
            <a:rect l="l" t="t" r="r" b="b"/>
            <a:pathLst>
              <a:path w="5459896" h="565426">
                <a:moveTo>
                  <a:pt x="35339" y="0"/>
                </a:moveTo>
                <a:lnTo>
                  <a:pt x="5424557" y="0"/>
                </a:lnTo>
                <a:cubicBezTo>
                  <a:pt x="5444074" y="0"/>
                  <a:pt x="5459896" y="15822"/>
                  <a:pt x="5459896" y="35339"/>
                </a:cubicBezTo>
                <a:lnTo>
                  <a:pt x="5459896" y="530087"/>
                </a:lnTo>
                <a:cubicBezTo>
                  <a:pt x="5459896" y="549604"/>
                  <a:pt x="5444074" y="565426"/>
                  <a:pt x="5424557" y="565426"/>
                </a:cubicBezTo>
                <a:lnTo>
                  <a:pt x="35339" y="565426"/>
                </a:lnTo>
                <a:cubicBezTo>
                  <a:pt x="15822" y="565426"/>
                  <a:pt x="0" y="549604"/>
                  <a:pt x="0" y="53008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4171" y="3044325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0"/>
                </a:moveTo>
                <a:cubicBezTo>
                  <a:pt x="109687" y="0"/>
                  <a:pt x="141357" y="31670"/>
                  <a:pt x="141357" y="70678"/>
                </a:cubicBezTo>
                <a:cubicBezTo>
                  <a:pt x="141357" y="109687"/>
                  <a:pt x="109687" y="141357"/>
                  <a:pt x="70678" y="141357"/>
                </a:cubicBezTo>
                <a:cubicBezTo>
                  <a:pt x="31670" y="141357"/>
                  <a:pt x="0" y="109687"/>
                  <a:pt x="0" y="70678"/>
                </a:cubicBezTo>
                <a:cubicBezTo>
                  <a:pt x="0" y="31670"/>
                  <a:pt x="31670" y="0"/>
                  <a:pt x="70678" y="0"/>
                </a:cubicBezTo>
                <a:close/>
                <a:moveTo>
                  <a:pt x="64052" y="33130"/>
                </a:moveTo>
                <a:lnTo>
                  <a:pt x="64052" y="70678"/>
                </a:lnTo>
                <a:cubicBezTo>
                  <a:pt x="64052" y="72887"/>
                  <a:pt x="65157" y="74958"/>
                  <a:pt x="67006" y="76200"/>
                </a:cubicBezTo>
                <a:lnTo>
                  <a:pt x="93511" y="93870"/>
                </a:lnTo>
                <a:cubicBezTo>
                  <a:pt x="96548" y="95913"/>
                  <a:pt x="100661" y="95084"/>
                  <a:pt x="102704" y="92020"/>
                </a:cubicBezTo>
                <a:cubicBezTo>
                  <a:pt x="104747" y="88955"/>
                  <a:pt x="103919" y="84869"/>
                  <a:pt x="100855" y="82826"/>
                </a:cubicBezTo>
                <a:lnTo>
                  <a:pt x="77304" y="67144"/>
                </a:lnTo>
                <a:lnTo>
                  <a:pt x="77304" y="33130"/>
                </a:lnTo>
                <a:cubicBezTo>
                  <a:pt x="77304" y="29458"/>
                  <a:pt x="74350" y="26504"/>
                  <a:pt x="70678" y="26504"/>
                </a:cubicBezTo>
                <a:cubicBezTo>
                  <a:pt x="67006" y="26504"/>
                  <a:pt x="64052" y="29458"/>
                  <a:pt x="64052" y="3313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4"/>
          <p:cNvSpPr/>
          <p:nvPr/>
        </p:nvSpPr>
        <p:spPr>
          <a:xfrm>
            <a:off x="783734" y="3009037"/>
            <a:ext cx="165210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Tiempo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6501" y="3256372"/>
            <a:ext cx="5380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Aprender a jugar más rápido sin perder precisión. Evitar time trouble.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5923" y="3574187"/>
            <a:ext cx="5459896" cy="494748"/>
          </a:xfrm>
          <a:custGeom>
            <a:avLst/>
            <a:gdLst/>
            <a:ahLst/>
            <a:cxnLst/>
            <a:rect l="l" t="t" r="r" b="b"/>
            <a:pathLst>
              <a:path w="5459896" h="494748">
                <a:moveTo>
                  <a:pt x="35340" y="0"/>
                </a:moveTo>
                <a:lnTo>
                  <a:pt x="5424556" y="0"/>
                </a:lnTo>
                <a:cubicBezTo>
                  <a:pt x="5444073" y="0"/>
                  <a:pt x="5459896" y="15822"/>
                  <a:pt x="5459896" y="35340"/>
                </a:cubicBezTo>
                <a:lnTo>
                  <a:pt x="5459896" y="459408"/>
                </a:lnTo>
                <a:cubicBezTo>
                  <a:pt x="5459896" y="478926"/>
                  <a:pt x="5444073" y="494748"/>
                  <a:pt x="5424556" y="494748"/>
                </a:cubicBezTo>
                <a:lnTo>
                  <a:pt x="35340" y="494748"/>
                </a:lnTo>
                <a:cubicBezTo>
                  <a:pt x="15822" y="494748"/>
                  <a:pt x="0" y="478926"/>
                  <a:pt x="0" y="459408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6501" y="3644762"/>
            <a:ext cx="538038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Ejercicios recomendados:</a:t>
            </a:r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Problemas de táctica de nivel 2000+, estudios de finales, partidas de Karpov/Carlsen.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50304" y="1063142"/>
            <a:ext cx="5678573" cy="3116486"/>
          </a:xfrm>
          <a:custGeom>
            <a:avLst/>
            <a:gdLst/>
            <a:ahLst/>
            <a:cxnLst/>
            <a:rect l="l" t="t" r="r" b="b"/>
            <a:pathLst>
              <a:path w="5678573" h="3116486">
                <a:moveTo>
                  <a:pt x="70682" y="0"/>
                </a:moveTo>
                <a:lnTo>
                  <a:pt x="5607891" y="0"/>
                </a:lnTo>
                <a:cubicBezTo>
                  <a:pt x="5646928" y="0"/>
                  <a:pt x="5678573" y="31645"/>
                  <a:pt x="5678573" y="70682"/>
                </a:cubicBezTo>
                <a:lnTo>
                  <a:pt x="5678573" y="3045804"/>
                </a:lnTo>
                <a:cubicBezTo>
                  <a:pt x="5678573" y="3084841"/>
                  <a:pt x="5646928" y="3116486"/>
                  <a:pt x="5607891" y="3116486"/>
                </a:cubicBezTo>
                <a:lnTo>
                  <a:pt x="70682" y="3116486"/>
                </a:lnTo>
                <a:cubicBezTo>
                  <a:pt x="31645" y="3116486"/>
                  <a:pt x="0" y="3084841"/>
                  <a:pt x="0" y="3045804"/>
                </a:cubicBezTo>
                <a:lnTo>
                  <a:pt x="0" y="70682"/>
                </a:lnTo>
                <a:cubicBezTo>
                  <a:pt x="0" y="31645"/>
                  <a:pt x="31645" y="0"/>
                  <a:pt x="7068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9597" y="1172438"/>
            <a:ext cx="553940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Para Jugadores Agresivos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9597" y="1490352"/>
            <a:ext cx="5459896" cy="565426"/>
          </a:xfrm>
          <a:custGeom>
            <a:avLst/>
            <a:gdLst/>
            <a:ahLst/>
            <a:cxnLst/>
            <a:rect l="l" t="t" r="r" b="b"/>
            <a:pathLst>
              <a:path w="5459896" h="565426">
                <a:moveTo>
                  <a:pt x="35339" y="0"/>
                </a:moveTo>
                <a:lnTo>
                  <a:pt x="5424557" y="0"/>
                </a:lnTo>
                <a:cubicBezTo>
                  <a:pt x="5444074" y="0"/>
                  <a:pt x="5459896" y="15822"/>
                  <a:pt x="5459896" y="35339"/>
                </a:cubicBezTo>
                <a:lnTo>
                  <a:pt x="5459896" y="530087"/>
                </a:lnTo>
                <a:cubicBezTo>
                  <a:pt x="5459896" y="549604"/>
                  <a:pt x="5444074" y="565426"/>
                  <a:pt x="5424557" y="565426"/>
                </a:cubicBezTo>
                <a:lnTo>
                  <a:pt x="35339" y="565426"/>
                </a:lnTo>
                <a:cubicBezTo>
                  <a:pt x="15822" y="565426"/>
                  <a:pt x="0" y="549604"/>
                  <a:pt x="0" y="53008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39010" y="1596218"/>
            <a:ext cx="159026" cy="141357"/>
          </a:xfrm>
          <a:custGeom>
            <a:avLst/>
            <a:gdLst/>
            <a:ahLst/>
            <a:cxnLst/>
            <a:rect l="l" t="t" r="r" b="b"/>
            <a:pathLst>
              <a:path w="159026" h="141357">
                <a:moveTo>
                  <a:pt x="79513" y="8835"/>
                </a:moveTo>
                <a:cubicBezTo>
                  <a:pt x="57205" y="8835"/>
                  <a:pt x="39342" y="18995"/>
                  <a:pt x="26339" y="31087"/>
                </a:cubicBezTo>
                <a:cubicBezTo>
                  <a:pt x="13418" y="43097"/>
                  <a:pt x="4776" y="57426"/>
                  <a:pt x="663" y="67282"/>
                </a:cubicBezTo>
                <a:cubicBezTo>
                  <a:pt x="-248" y="69463"/>
                  <a:pt x="-248" y="71893"/>
                  <a:pt x="663" y="74074"/>
                </a:cubicBezTo>
                <a:cubicBezTo>
                  <a:pt x="4776" y="83930"/>
                  <a:pt x="13418" y="98287"/>
                  <a:pt x="26339" y="110269"/>
                </a:cubicBezTo>
                <a:cubicBezTo>
                  <a:pt x="39342" y="122334"/>
                  <a:pt x="57205" y="132522"/>
                  <a:pt x="79513" y="132522"/>
                </a:cubicBezTo>
                <a:cubicBezTo>
                  <a:pt x="101821" y="132522"/>
                  <a:pt x="119684" y="122362"/>
                  <a:pt x="132687" y="110269"/>
                </a:cubicBezTo>
                <a:cubicBezTo>
                  <a:pt x="145608" y="98259"/>
                  <a:pt x="154250" y="83930"/>
                  <a:pt x="158363" y="74074"/>
                </a:cubicBezTo>
                <a:cubicBezTo>
                  <a:pt x="159275" y="71893"/>
                  <a:pt x="159275" y="69463"/>
                  <a:pt x="158363" y="67282"/>
                </a:cubicBezTo>
                <a:cubicBezTo>
                  <a:pt x="154250" y="57426"/>
                  <a:pt x="145608" y="43070"/>
                  <a:pt x="132687" y="31087"/>
                </a:cubicBezTo>
                <a:cubicBezTo>
                  <a:pt x="119684" y="19022"/>
                  <a:pt x="101821" y="8835"/>
                  <a:pt x="79513" y="8835"/>
                </a:cubicBezTo>
                <a:close/>
                <a:moveTo>
                  <a:pt x="39757" y="70678"/>
                </a:moveTo>
                <a:cubicBezTo>
                  <a:pt x="39757" y="48736"/>
                  <a:pt x="57571" y="30922"/>
                  <a:pt x="79513" y="30922"/>
                </a:cubicBezTo>
                <a:cubicBezTo>
                  <a:pt x="101455" y="30922"/>
                  <a:pt x="119270" y="48736"/>
                  <a:pt x="119270" y="70678"/>
                </a:cubicBezTo>
                <a:cubicBezTo>
                  <a:pt x="119270" y="92620"/>
                  <a:pt x="101455" y="110435"/>
                  <a:pt x="79513" y="110435"/>
                </a:cubicBezTo>
                <a:cubicBezTo>
                  <a:pt x="57571" y="110435"/>
                  <a:pt x="39757" y="92620"/>
                  <a:pt x="39757" y="70678"/>
                </a:cubicBezTo>
                <a:close/>
                <a:moveTo>
                  <a:pt x="79513" y="53009"/>
                </a:moveTo>
                <a:cubicBezTo>
                  <a:pt x="79513" y="62755"/>
                  <a:pt x="71589" y="70678"/>
                  <a:pt x="61843" y="70678"/>
                </a:cubicBezTo>
                <a:cubicBezTo>
                  <a:pt x="58668" y="70678"/>
                  <a:pt x="55687" y="69850"/>
                  <a:pt x="53092" y="68359"/>
                </a:cubicBezTo>
                <a:cubicBezTo>
                  <a:pt x="52815" y="71368"/>
                  <a:pt x="53064" y="74461"/>
                  <a:pt x="53892" y="77525"/>
                </a:cubicBezTo>
                <a:cubicBezTo>
                  <a:pt x="57675" y="91661"/>
                  <a:pt x="72224" y="100054"/>
                  <a:pt x="86360" y="96272"/>
                </a:cubicBezTo>
                <a:cubicBezTo>
                  <a:pt x="100496" y="92489"/>
                  <a:pt x="108889" y="77939"/>
                  <a:pt x="105106" y="63804"/>
                </a:cubicBezTo>
                <a:cubicBezTo>
                  <a:pt x="101738" y="51187"/>
                  <a:pt x="89783" y="43152"/>
                  <a:pt x="77194" y="44257"/>
                </a:cubicBezTo>
                <a:cubicBezTo>
                  <a:pt x="78657" y="46824"/>
                  <a:pt x="79513" y="49806"/>
                  <a:pt x="79513" y="530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577408" y="1560931"/>
            <a:ext cx="12368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Visión de Jugadas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0176" y="1808266"/>
            <a:ext cx="5380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Practicar mates básicos en 1-2 jugadas. Desarrollar precisión en cálculo.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59597" y="2126077"/>
            <a:ext cx="5459896" cy="565426"/>
          </a:xfrm>
          <a:custGeom>
            <a:avLst/>
            <a:gdLst/>
            <a:ahLst/>
            <a:cxnLst/>
            <a:rect l="l" t="t" r="r" b="b"/>
            <a:pathLst>
              <a:path w="5459896" h="565426">
                <a:moveTo>
                  <a:pt x="35339" y="0"/>
                </a:moveTo>
                <a:lnTo>
                  <a:pt x="5424557" y="0"/>
                </a:lnTo>
                <a:cubicBezTo>
                  <a:pt x="5444074" y="0"/>
                  <a:pt x="5459896" y="15822"/>
                  <a:pt x="5459896" y="35339"/>
                </a:cubicBezTo>
                <a:lnTo>
                  <a:pt x="5459896" y="530087"/>
                </a:lnTo>
                <a:cubicBezTo>
                  <a:pt x="5459896" y="549604"/>
                  <a:pt x="5444074" y="565426"/>
                  <a:pt x="5424557" y="565426"/>
                </a:cubicBezTo>
                <a:lnTo>
                  <a:pt x="35339" y="565426"/>
                </a:lnTo>
                <a:cubicBezTo>
                  <a:pt x="15822" y="565426"/>
                  <a:pt x="0" y="549604"/>
                  <a:pt x="0" y="53008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56680" y="2231947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61843" y="-8835"/>
                </a:moveTo>
                <a:cubicBezTo>
                  <a:pt x="66730" y="-8835"/>
                  <a:pt x="70678" y="-4887"/>
                  <a:pt x="70678" y="0"/>
                </a:cubicBezTo>
                <a:lnTo>
                  <a:pt x="70678" y="8835"/>
                </a:lnTo>
                <a:lnTo>
                  <a:pt x="79513" y="8835"/>
                </a:lnTo>
                <a:cubicBezTo>
                  <a:pt x="84400" y="8835"/>
                  <a:pt x="88348" y="12783"/>
                  <a:pt x="88348" y="17670"/>
                </a:cubicBezTo>
                <a:cubicBezTo>
                  <a:pt x="88348" y="22556"/>
                  <a:pt x="84400" y="26504"/>
                  <a:pt x="79513" y="26504"/>
                </a:cubicBezTo>
                <a:lnTo>
                  <a:pt x="70678" y="26504"/>
                </a:lnTo>
                <a:lnTo>
                  <a:pt x="70678" y="44174"/>
                </a:lnTo>
                <a:lnTo>
                  <a:pt x="113140" y="44174"/>
                </a:lnTo>
                <a:cubicBezTo>
                  <a:pt x="118966" y="44174"/>
                  <a:pt x="123687" y="48895"/>
                  <a:pt x="123687" y="54720"/>
                </a:cubicBezTo>
                <a:cubicBezTo>
                  <a:pt x="123687" y="56487"/>
                  <a:pt x="123245" y="58227"/>
                  <a:pt x="122389" y="59773"/>
                </a:cubicBezTo>
                <a:lnTo>
                  <a:pt x="97183" y="106017"/>
                </a:lnTo>
                <a:lnTo>
                  <a:pt x="112699" y="125426"/>
                </a:lnTo>
                <a:cubicBezTo>
                  <a:pt x="114079" y="127166"/>
                  <a:pt x="114852" y="129319"/>
                  <a:pt x="114852" y="131555"/>
                </a:cubicBezTo>
                <a:cubicBezTo>
                  <a:pt x="114852" y="136967"/>
                  <a:pt x="110462" y="141357"/>
                  <a:pt x="105051" y="141357"/>
                </a:cubicBezTo>
                <a:lnTo>
                  <a:pt x="18636" y="141357"/>
                </a:lnTo>
                <a:cubicBezTo>
                  <a:pt x="13225" y="141357"/>
                  <a:pt x="8835" y="136967"/>
                  <a:pt x="8835" y="131555"/>
                </a:cubicBezTo>
                <a:cubicBezTo>
                  <a:pt x="8835" y="129319"/>
                  <a:pt x="9580" y="127166"/>
                  <a:pt x="10988" y="125426"/>
                </a:cubicBezTo>
                <a:lnTo>
                  <a:pt x="26504" y="106017"/>
                </a:lnTo>
                <a:lnTo>
                  <a:pt x="1298" y="59800"/>
                </a:lnTo>
                <a:cubicBezTo>
                  <a:pt x="442" y="58227"/>
                  <a:pt x="0" y="56487"/>
                  <a:pt x="0" y="54720"/>
                </a:cubicBezTo>
                <a:cubicBezTo>
                  <a:pt x="0" y="48895"/>
                  <a:pt x="4721" y="44174"/>
                  <a:pt x="10547" y="44174"/>
                </a:cubicBezTo>
                <a:lnTo>
                  <a:pt x="53009" y="44174"/>
                </a:lnTo>
                <a:lnTo>
                  <a:pt x="53009" y="26504"/>
                </a:lnTo>
                <a:lnTo>
                  <a:pt x="44174" y="26504"/>
                </a:lnTo>
                <a:cubicBezTo>
                  <a:pt x="39287" y="26504"/>
                  <a:pt x="35339" y="22556"/>
                  <a:pt x="35339" y="17670"/>
                </a:cubicBezTo>
                <a:cubicBezTo>
                  <a:pt x="35339" y="12783"/>
                  <a:pt x="39287" y="8835"/>
                  <a:pt x="44174" y="8835"/>
                </a:cubicBezTo>
                <a:lnTo>
                  <a:pt x="53009" y="8835"/>
                </a:lnTo>
                <a:lnTo>
                  <a:pt x="53009" y="0"/>
                </a:lnTo>
                <a:cubicBezTo>
                  <a:pt x="53009" y="-4887"/>
                  <a:pt x="56957" y="-8835"/>
                  <a:pt x="61843" y="-883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577408" y="2196656"/>
            <a:ext cx="19348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de Patrones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0176" y="2443995"/>
            <a:ext cx="5380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Identificar clavadas, tenedores, mates típicos al instante. Automatizar patrones.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9597" y="2761806"/>
            <a:ext cx="5459896" cy="565426"/>
          </a:xfrm>
          <a:custGeom>
            <a:avLst/>
            <a:gdLst/>
            <a:ahLst/>
            <a:cxnLst/>
            <a:rect l="l" t="t" r="r" b="b"/>
            <a:pathLst>
              <a:path w="5459896" h="565426">
                <a:moveTo>
                  <a:pt x="35339" y="0"/>
                </a:moveTo>
                <a:lnTo>
                  <a:pt x="5424557" y="0"/>
                </a:lnTo>
                <a:cubicBezTo>
                  <a:pt x="5444074" y="0"/>
                  <a:pt x="5459896" y="15822"/>
                  <a:pt x="5459896" y="35339"/>
                </a:cubicBezTo>
                <a:lnTo>
                  <a:pt x="5459896" y="530087"/>
                </a:lnTo>
                <a:cubicBezTo>
                  <a:pt x="5459896" y="549604"/>
                  <a:pt x="5444074" y="565426"/>
                  <a:pt x="5424557" y="565426"/>
                </a:cubicBezTo>
                <a:lnTo>
                  <a:pt x="35339" y="565426"/>
                </a:lnTo>
                <a:cubicBezTo>
                  <a:pt x="15822" y="565426"/>
                  <a:pt x="0" y="549604"/>
                  <a:pt x="0" y="53008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30176" y="2867672"/>
            <a:ext cx="176696" cy="141357"/>
          </a:xfrm>
          <a:custGeom>
            <a:avLst/>
            <a:gdLst/>
            <a:ahLst/>
            <a:cxnLst/>
            <a:rect l="l" t="t" r="r" b="b"/>
            <a:pathLst>
              <a:path w="176696" h="141357">
                <a:moveTo>
                  <a:pt x="106017" y="8835"/>
                </a:moveTo>
                <a:lnTo>
                  <a:pt x="141357" y="8835"/>
                </a:lnTo>
                <a:cubicBezTo>
                  <a:pt x="146243" y="8835"/>
                  <a:pt x="150191" y="12783"/>
                  <a:pt x="150191" y="17670"/>
                </a:cubicBezTo>
                <a:cubicBezTo>
                  <a:pt x="150191" y="22556"/>
                  <a:pt x="146243" y="26504"/>
                  <a:pt x="141357" y="26504"/>
                </a:cubicBezTo>
                <a:lnTo>
                  <a:pt x="109993" y="26504"/>
                </a:lnTo>
                <a:cubicBezTo>
                  <a:pt x="108557" y="33627"/>
                  <a:pt x="103671" y="39508"/>
                  <a:pt x="97183" y="42324"/>
                </a:cubicBezTo>
                <a:lnTo>
                  <a:pt x="97183" y="123687"/>
                </a:lnTo>
                <a:lnTo>
                  <a:pt x="141357" y="123687"/>
                </a:lnTo>
                <a:cubicBezTo>
                  <a:pt x="146243" y="123687"/>
                  <a:pt x="150191" y="127635"/>
                  <a:pt x="150191" y="132522"/>
                </a:cubicBezTo>
                <a:cubicBezTo>
                  <a:pt x="150191" y="137408"/>
                  <a:pt x="146243" y="141357"/>
                  <a:pt x="141357" y="141357"/>
                </a:cubicBezTo>
                <a:lnTo>
                  <a:pt x="35339" y="141357"/>
                </a:lnTo>
                <a:cubicBezTo>
                  <a:pt x="30452" y="141357"/>
                  <a:pt x="26504" y="137408"/>
                  <a:pt x="26504" y="132522"/>
                </a:cubicBezTo>
                <a:cubicBezTo>
                  <a:pt x="26504" y="127635"/>
                  <a:pt x="30452" y="123687"/>
                  <a:pt x="35339" y="123687"/>
                </a:cubicBezTo>
                <a:lnTo>
                  <a:pt x="79513" y="123687"/>
                </a:lnTo>
                <a:lnTo>
                  <a:pt x="79513" y="42324"/>
                </a:lnTo>
                <a:cubicBezTo>
                  <a:pt x="73025" y="39480"/>
                  <a:pt x="68138" y="33600"/>
                  <a:pt x="66703" y="26504"/>
                </a:cubicBezTo>
                <a:lnTo>
                  <a:pt x="35339" y="26504"/>
                </a:lnTo>
                <a:cubicBezTo>
                  <a:pt x="30452" y="26504"/>
                  <a:pt x="26504" y="22556"/>
                  <a:pt x="26504" y="17670"/>
                </a:cubicBezTo>
                <a:cubicBezTo>
                  <a:pt x="26504" y="12783"/>
                  <a:pt x="30452" y="8835"/>
                  <a:pt x="35339" y="8835"/>
                </a:cubicBezTo>
                <a:lnTo>
                  <a:pt x="70678" y="8835"/>
                </a:lnTo>
                <a:cubicBezTo>
                  <a:pt x="74709" y="3479"/>
                  <a:pt x="81114" y="0"/>
                  <a:pt x="88348" y="0"/>
                </a:cubicBezTo>
                <a:cubicBezTo>
                  <a:pt x="95581" y="0"/>
                  <a:pt x="101987" y="3479"/>
                  <a:pt x="106017" y="8835"/>
                </a:cubicBezTo>
                <a:close/>
                <a:moveTo>
                  <a:pt x="121368" y="88348"/>
                </a:moveTo>
                <a:lnTo>
                  <a:pt x="161345" y="88348"/>
                </a:lnTo>
                <a:lnTo>
                  <a:pt x="141357" y="54058"/>
                </a:lnTo>
                <a:lnTo>
                  <a:pt x="121368" y="88348"/>
                </a:lnTo>
                <a:close/>
                <a:moveTo>
                  <a:pt x="141357" y="114852"/>
                </a:moveTo>
                <a:cubicBezTo>
                  <a:pt x="123991" y="114852"/>
                  <a:pt x="109551" y="105465"/>
                  <a:pt x="106570" y="93069"/>
                </a:cubicBezTo>
                <a:cubicBezTo>
                  <a:pt x="105852" y="90032"/>
                  <a:pt x="106846" y="86912"/>
                  <a:pt x="108419" y="84207"/>
                </a:cubicBezTo>
                <a:lnTo>
                  <a:pt x="134703" y="39149"/>
                </a:lnTo>
                <a:cubicBezTo>
                  <a:pt x="136083" y="36775"/>
                  <a:pt x="138623" y="35339"/>
                  <a:pt x="141357" y="35339"/>
                </a:cubicBezTo>
                <a:cubicBezTo>
                  <a:pt x="144090" y="35339"/>
                  <a:pt x="146630" y="36802"/>
                  <a:pt x="148010" y="39149"/>
                </a:cubicBezTo>
                <a:lnTo>
                  <a:pt x="174294" y="84207"/>
                </a:lnTo>
                <a:cubicBezTo>
                  <a:pt x="175867" y="86912"/>
                  <a:pt x="176861" y="90032"/>
                  <a:pt x="176143" y="93069"/>
                </a:cubicBezTo>
                <a:cubicBezTo>
                  <a:pt x="173162" y="105438"/>
                  <a:pt x="158722" y="114852"/>
                  <a:pt x="141357" y="114852"/>
                </a:cubicBezTo>
                <a:close/>
                <a:moveTo>
                  <a:pt x="35008" y="54058"/>
                </a:moveTo>
                <a:lnTo>
                  <a:pt x="15019" y="88348"/>
                </a:lnTo>
                <a:lnTo>
                  <a:pt x="55024" y="88348"/>
                </a:lnTo>
                <a:lnTo>
                  <a:pt x="35008" y="54058"/>
                </a:lnTo>
                <a:close/>
                <a:moveTo>
                  <a:pt x="248" y="93069"/>
                </a:moveTo>
                <a:cubicBezTo>
                  <a:pt x="-469" y="90032"/>
                  <a:pt x="525" y="86912"/>
                  <a:pt x="2098" y="84207"/>
                </a:cubicBezTo>
                <a:lnTo>
                  <a:pt x="28382" y="39149"/>
                </a:lnTo>
                <a:cubicBezTo>
                  <a:pt x="29762" y="36775"/>
                  <a:pt x="32302" y="35339"/>
                  <a:pt x="35035" y="35339"/>
                </a:cubicBezTo>
                <a:cubicBezTo>
                  <a:pt x="37769" y="35339"/>
                  <a:pt x="40309" y="36802"/>
                  <a:pt x="41689" y="39149"/>
                </a:cubicBezTo>
                <a:lnTo>
                  <a:pt x="67973" y="84207"/>
                </a:lnTo>
                <a:cubicBezTo>
                  <a:pt x="69546" y="86912"/>
                  <a:pt x="70540" y="90032"/>
                  <a:pt x="69822" y="93069"/>
                </a:cubicBezTo>
                <a:cubicBezTo>
                  <a:pt x="66841" y="105438"/>
                  <a:pt x="52401" y="114852"/>
                  <a:pt x="35035" y="114852"/>
                </a:cubicBezTo>
                <a:cubicBezTo>
                  <a:pt x="17670" y="114852"/>
                  <a:pt x="3230" y="105465"/>
                  <a:pt x="248" y="9306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6577408" y="2832385"/>
            <a:ext cx="145773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Posicional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30176" y="3079720"/>
            <a:ext cx="5380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el juicio posicional. No forzar táctica en posiciones inadecuadas.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59597" y="3397530"/>
            <a:ext cx="5459896" cy="318052"/>
          </a:xfrm>
          <a:custGeom>
            <a:avLst/>
            <a:gdLst/>
            <a:ahLst/>
            <a:cxnLst/>
            <a:rect l="l" t="t" r="r" b="b"/>
            <a:pathLst>
              <a:path w="5459896" h="318052">
                <a:moveTo>
                  <a:pt x="35339" y="0"/>
                </a:moveTo>
                <a:lnTo>
                  <a:pt x="5424557" y="0"/>
                </a:lnTo>
                <a:cubicBezTo>
                  <a:pt x="5444074" y="0"/>
                  <a:pt x="5459896" y="15822"/>
                  <a:pt x="5459896" y="35339"/>
                </a:cubicBezTo>
                <a:lnTo>
                  <a:pt x="5459896" y="282713"/>
                </a:lnTo>
                <a:cubicBezTo>
                  <a:pt x="5459896" y="302230"/>
                  <a:pt x="5444074" y="318052"/>
                  <a:pt x="5424557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22"/>
                  <a:pt x="15822" y="0"/>
                  <a:pt x="3533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30176" y="3468109"/>
            <a:ext cx="5380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Ejercicios recomendados:</a:t>
            </a:r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Mates en 1-2, táctica básica, partidas de Kasparov/Topalov.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6630" y="4255164"/>
            <a:ext cx="11474191" cy="1561564"/>
          </a:xfrm>
          <a:custGeom>
            <a:avLst/>
            <a:gdLst/>
            <a:ahLst/>
            <a:cxnLst/>
            <a:rect l="l" t="t" r="r" b="b"/>
            <a:pathLst>
              <a:path w="11474191" h="1561564">
                <a:moveTo>
                  <a:pt x="70676" y="0"/>
                </a:moveTo>
                <a:lnTo>
                  <a:pt x="11403514" y="0"/>
                </a:lnTo>
                <a:cubicBezTo>
                  <a:pt x="11442548" y="0"/>
                  <a:pt x="11474191" y="31643"/>
                  <a:pt x="11474191" y="70676"/>
                </a:cubicBezTo>
                <a:lnTo>
                  <a:pt x="11474191" y="1490888"/>
                </a:lnTo>
                <a:cubicBezTo>
                  <a:pt x="11474191" y="1529922"/>
                  <a:pt x="11442548" y="1561564"/>
                  <a:pt x="11403514" y="1561564"/>
                </a:cubicBezTo>
                <a:lnTo>
                  <a:pt x="70676" y="1561564"/>
                </a:lnTo>
                <a:cubicBezTo>
                  <a:pt x="31643" y="1561564"/>
                  <a:pt x="0" y="1529922"/>
                  <a:pt x="0" y="1490888"/>
                </a:cubicBezTo>
                <a:lnTo>
                  <a:pt x="0" y="70676"/>
                </a:lnTo>
                <a:cubicBezTo>
                  <a:pt x="0" y="31643"/>
                  <a:pt x="31643" y="0"/>
                  <a:pt x="7067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5923" y="4364460"/>
            <a:ext cx="113350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Recomendaciones Basadas en Patrones de Error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5923" y="4682374"/>
            <a:ext cx="3684104" cy="1024835"/>
          </a:xfrm>
          <a:custGeom>
            <a:avLst/>
            <a:gdLst/>
            <a:ahLst/>
            <a:cxnLst/>
            <a:rect l="l" t="t" r="r" b="b"/>
            <a:pathLst>
              <a:path w="3684104" h="1024835">
                <a:moveTo>
                  <a:pt x="35336" y="0"/>
                </a:moveTo>
                <a:lnTo>
                  <a:pt x="3648768" y="0"/>
                </a:lnTo>
                <a:cubicBezTo>
                  <a:pt x="3668284" y="0"/>
                  <a:pt x="3684104" y="15821"/>
                  <a:pt x="3684104" y="35336"/>
                </a:cubicBezTo>
                <a:lnTo>
                  <a:pt x="3684104" y="989498"/>
                </a:lnTo>
                <a:cubicBezTo>
                  <a:pt x="3684104" y="1009014"/>
                  <a:pt x="3668284" y="1024835"/>
                  <a:pt x="3648768" y="1024835"/>
                </a:cubicBezTo>
                <a:lnTo>
                  <a:pt x="35336" y="1024835"/>
                </a:lnTo>
                <a:cubicBezTo>
                  <a:pt x="15834" y="1024835"/>
                  <a:pt x="0" y="1009001"/>
                  <a:pt x="0" y="989498"/>
                </a:cubicBezTo>
                <a:lnTo>
                  <a:pt x="0" y="35336"/>
                </a:lnTo>
                <a:cubicBezTo>
                  <a:pt x="0" y="15834"/>
                  <a:pt x="15834" y="0"/>
                  <a:pt x="353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71894" y="4788344"/>
            <a:ext cx="35427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erras en finales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894" y="5070971"/>
            <a:ext cx="353391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Estudios de finales técnicos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Principios de oposición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Finales de peones esenciales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53296" y="4682374"/>
            <a:ext cx="3684104" cy="1024835"/>
          </a:xfrm>
          <a:custGeom>
            <a:avLst/>
            <a:gdLst/>
            <a:ahLst/>
            <a:cxnLst/>
            <a:rect l="l" t="t" r="r" b="b"/>
            <a:pathLst>
              <a:path w="3684104" h="1024835">
                <a:moveTo>
                  <a:pt x="35336" y="0"/>
                </a:moveTo>
                <a:lnTo>
                  <a:pt x="3648768" y="0"/>
                </a:lnTo>
                <a:cubicBezTo>
                  <a:pt x="3668284" y="0"/>
                  <a:pt x="3684104" y="15821"/>
                  <a:pt x="3684104" y="35336"/>
                </a:cubicBezTo>
                <a:lnTo>
                  <a:pt x="3684104" y="989498"/>
                </a:lnTo>
                <a:cubicBezTo>
                  <a:pt x="3684104" y="1009014"/>
                  <a:pt x="3668284" y="1024835"/>
                  <a:pt x="3648768" y="1024835"/>
                </a:cubicBezTo>
                <a:lnTo>
                  <a:pt x="35336" y="1024835"/>
                </a:lnTo>
                <a:cubicBezTo>
                  <a:pt x="15834" y="1024835"/>
                  <a:pt x="0" y="1009001"/>
                  <a:pt x="0" y="989498"/>
                </a:cubicBezTo>
                <a:lnTo>
                  <a:pt x="0" y="35336"/>
                </a:lnTo>
                <a:cubicBezTo>
                  <a:pt x="0" y="15834"/>
                  <a:pt x="15834" y="0"/>
                  <a:pt x="353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359268" y="4788344"/>
            <a:ext cx="35427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erras en tiempo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59268" y="5070971"/>
            <a:ext cx="353391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Entrenamiento con reloj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Priorización de jugadas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Time management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40669" y="4682374"/>
            <a:ext cx="3684104" cy="1024835"/>
          </a:xfrm>
          <a:custGeom>
            <a:avLst/>
            <a:gdLst/>
            <a:ahLst/>
            <a:cxnLst/>
            <a:rect l="l" t="t" r="r" b="b"/>
            <a:pathLst>
              <a:path w="3684104" h="1024835">
                <a:moveTo>
                  <a:pt x="35336" y="0"/>
                </a:moveTo>
                <a:lnTo>
                  <a:pt x="3648768" y="0"/>
                </a:lnTo>
                <a:cubicBezTo>
                  <a:pt x="3668284" y="0"/>
                  <a:pt x="3684104" y="15821"/>
                  <a:pt x="3684104" y="35336"/>
                </a:cubicBezTo>
                <a:lnTo>
                  <a:pt x="3684104" y="989498"/>
                </a:lnTo>
                <a:cubicBezTo>
                  <a:pt x="3684104" y="1009014"/>
                  <a:pt x="3668284" y="1024835"/>
                  <a:pt x="3648768" y="1024835"/>
                </a:cubicBezTo>
                <a:lnTo>
                  <a:pt x="35336" y="1024835"/>
                </a:lnTo>
                <a:cubicBezTo>
                  <a:pt x="15834" y="1024835"/>
                  <a:pt x="0" y="1009001"/>
                  <a:pt x="0" y="989498"/>
                </a:cubicBezTo>
                <a:lnTo>
                  <a:pt x="0" y="35336"/>
                </a:lnTo>
                <a:cubicBezTo>
                  <a:pt x="0" y="15834"/>
                  <a:pt x="15834" y="0"/>
                  <a:pt x="353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146641" y="4788344"/>
            <a:ext cx="35427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erras en táctica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46641" y="5070971"/>
            <a:ext cx="3533913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Problemas de táctica diarios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Reconocimiento de patrones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Cálculo de variantes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56630" y="5893421"/>
            <a:ext cx="11474191" cy="607408"/>
          </a:xfrm>
          <a:custGeom>
            <a:avLst/>
            <a:gdLst/>
            <a:ahLst/>
            <a:cxnLst/>
            <a:rect l="l" t="t" r="r" b="b"/>
            <a:pathLst>
              <a:path w="11474191" h="607408">
                <a:moveTo>
                  <a:pt x="70678" y="0"/>
                </a:moveTo>
                <a:lnTo>
                  <a:pt x="11403513" y="0"/>
                </a:lnTo>
                <a:cubicBezTo>
                  <a:pt x="11442547" y="0"/>
                  <a:pt x="11474191" y="31644"/>
                  <a:pt x="11474191" y="70678"/>
                </a:cubicBezTo>
                <a:lnTo>
                  <a:pt x="11474191" y="536730"/>
                </a:lnTo>
                <a:cubicBezTo>
                  <a:pt x="11474191" y="575764"/>
                  <a:pt x="11442547" y="607408"/>
                  <a:pt x="11403513" y="607408"/>
                </a:cubicBezTo>
                <a:lnTo>
                  <a:pt x="70678" y="607408"/>
                </a:lnTo>
                <a:cubicBezTo>
                  <a:pt x="31644" y="607408"/>
                  <a:pt x="0" y="575764"/>
                  <a:pt x="0" y="536730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2427" y="6091039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85530" y="106017"/>
                </a:moveTo>
                <a:cubicBezTo>
                  <a:pt x="185530" y="62133"/>
                  <a:pt x="149902" y="26504"/>
                  <a:pt x="106017" y="26504"/>
                </a:cubicBezTo>
                <a:cubicBezTo>
                  <a:pt x="62133" y="26504"/>
                  <a:pt x="26504" y="62133"/>
                  <a:pt x="26504" y="106017"/>
                </a:cubicBezTo>
                <a:cubicBezTo>
                  <a:pt x="26504" y="149902"/>
                  <a:pt x="62133" y="185530"/>
                  <a:pt x="106017" y="185530"/>
                </a:cubicBezTo>
                <a:cubicBezTo>
                  <a:pt x="149902" y="185530"/>
                  <a:pt x="185530" y="149902"/>
                  <a:pt x="185530" y="106017"/>
                </a:cubicBezTo>
                <a:close/>
                <a:moveTo>
                  <a:pt x="0" y="106017"/>
                </a:moveTo>
                <a:cubicBezTo>
                  <a:pt x="0" y="47505"/>
                  <a:pt x="47505" y="0"/>
                  <a:pt x="106017" y="0"/>
                </a:cubicBezTo>
                <a:cubicBezTo>
                  <a:pt x="164530" y="0"/>
                  <a:pt x="212035" y="47505"/>
                  <a:pt x="212035" y="106017"/>
                </a:cubicBezTo>
                <a:cubicBezTo>
                  <a:pt x="212035" y="164530"/>
                  <a:pt x="164530" y="212035"/>
                  <a:pt x="106017" y="212035"/>
                </a:cubicBezTo>
                <a:cubicBezTo>
                  <a:pt x="47505" y="212035"/>
                  <a:pt x="0" y="164530"/>
                  <a:pt x="0" y="106017"/>
                </a:cubicBezTo>
                <a:close/>
                <a:moveTo>
                  <a:pt x="106017" y="139148"/>
                </a:moveTo>
                <a:cubicBezTo>
                  <a:pt x="124303" y="139148"/>
                  <a:pt x="139148" y="124303"/>
                  <a:pt x="139148" y="106017"/>
                </a:cubicBezTo>
                <a:cubicBezTo>
                  <a:pt x="139148" y="87732"/>
                  <a:pt x="124303" y="72887"/>
                  <a:pt x="106017" y="72887"/>
                </a:cubicBezTo>
                <a:cubicBezTo>
                  <a:pt x="87732" y="72887"/>
                  <a:pt x="72887" y="87732"/>
                  <a:pt x="72887" y="106017"/>
                </a:cubicBezTo>
                <a:cubicBezTo>
                  <a:pt x="72887" y="124303"/>
                  <a:pt x="87732" y="139148"/>
                  <a:pt x="106017" y="139148"/>
                </a:cubicBezTo>
                <a:close/>
                <a:moveTo>
                  <a:pt x="106017" y="46383"/>
                </a:moveTo>
                <a:cubicBezTo>
                  <a:pt x="138931" y="46383"/>
                  <a:pt x="165652" y="73104"/>
                  <a:pt x="165652" y="106017"/>
                </a:cubicBezTo>
                <a:cubicBezTo>
                  <a:pt x="165652" y="138931"/>
                  <a:pt x="138931" y="165652"/>
                  <a:pt x="106017" y="165652"/>
                </a:cubicBezTo>
                <a:cubicBezTo>
                  <a:pt x="73104" y="165652"/>
                  <a:pt x="46383" y="138931"/>
                  <a:pt x="46383" y="106017"/>
                </a:cubicBezTo>
                <a:cubicBezTo>
                  <a:pt x="46383" y="73104"/>
                  <a:pt x="73104" y="46383"/>
                  <a:pt x="106017" y="46383"/>
                </a:cubicBezTo>
                <a:close/>
                <a:moveTo>
                  <a:pt x="92765" y="106017"/>
                </a:moveTo>
                <a:cubicBezTo>
                  <a:pt x="92765" y="98703"/>
                  <a:pt x="98703" y="92765"/>
                  <a:pt x="106017" y="92765"/>
                </a:cubicBezTo>
                <a:cubicBezTo>
                  <a:pt x="113331" y="92765"/>
                  <a:pt x="119270" y="98703"/>
                  <a:pt x="119270" y="106017"/>
                </a:cubicBezTo>
                <a:cubicBezTo>
                  <a:pt x="119270" y="113331"/>
                  <a:pt x="113331" y="119270"/>
                  <a:pt x="106017" y="119270"/>
                </a:cubicBezTo>
                <a:cubicBezTo>
                  <a:pt x="98703" y="119270"/>
                  <a:pt x="92765" y="113331"/>
                  <a:pt x="92765" y="10601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9" name="Text 47"/>
          <p:cNvSpPr/>
          <p:nvPr/>
        </p:nvSpPr>
        <p:spPr>
          <a:xfrm>
            <a:off x="836876" y="6002713"/>
            <a:ext cx="968292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Poder de la Personalización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6876" y="6214761"/>
            <a:ext cx="967408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lugar de entrenamiento genérico, recibes un plan específico para tus debilidades detectadas. Esto acelera el progreso 2-3x comparado con entrenamiento tradicional.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313" y="370145"/>
            <a:ext cx="1755295" cy="191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spc="57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Entrenadores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313" y="653943"/>
            <a:ext cx="11628733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 Prácticas para Entrenadores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6728" y="1093245"/>
            <a:ext cx="3740744" cy="2741400"/>
          </a:xfrm>
          <a:custGeom>
            <a:avLst/>
            <a:gdLst/>
            <a:ahLst/>
            <a:cxnLst/>
            <a:rect l="l" t="t" r="r" b="b"/>
            <a:pathLst>
              <a:path w="3740744" h="2741400">
                <a:moveTo>
                  <a:pt x="72675" y="0"/>
                </a:moveTo>
                <a:lnTo>
                  <a:pt x="3668070" y="0"/>
                </a:lnTo>
                <a:cubicBezTo>
                  <a:pt x="3708207" y="0"/>
                  <a:pt x="3740744" y="32537"/>
                  <a:pt x="3740744" y="72675"/>
                </a:cubicBezTo>
                <a:lnTo>
                  <a:pt x="3740744" y="2668726"/>
                </a:lnTo>
                <a:cubicBezTo>
                  <a:pt x="3740744" y="2708863"/>
                  <a:pt x="3708207" y="2741400"/>
                  <a:pt x="3668070" y="2741400"/>
                </a:cubicBezTo>
                <a:lnTo>
                  <a:pt x="72675" y="2741400"/>
                </a:lnTo>
                <a:cubicBezTo>
                  <a:pt x="32537" y="2741400"/>
                  <a:pt x="0" y="2708863"/>
                  <a:pt x="0" y="2668726"/>
                </a:cubicBezTo>
                <a:lnTo>
                  <a:pt x="0" y="72675"/>
                </a:lnTo>
                <a:cubicBezTo>
                  <a:pt x="0" y="32564"/>
                  <a:pt x="32564" y="0"/>
                  <a:pt x="7267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9116" y="1205632"/>
            <a:ext cx="359763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Análisis Automático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9116" y="1532553"/>
            <a:ext cx="3515875" cy="763136"/>
          </a:xfrm>
          <a:custGeom>
            <a:avLst/>
            <a:gdLst/>
            <a:ahLst/>
            <a:cxnLst/>
            <a:rect l="l" t="t" r="r" b="b"/>
            <a:pathLst>
              <a:path w="3515875" h="763136">
                <a:moveTo>
                  <a:pt x="36341" y="0"/>
                </a:moveTo>
                <a:lnTo>
                  <a:pt x="3479534" y="0"/>
                </a:lnTo>
                <a:cubicBezTo>
                  <a:pt x="3499605" y="0"/>
                  <a:pt x="3515875" y="16270"/>
                  <a:pt x="3515875" y="36341"/>
                </a:cubicBezTo>
                <a:lnTo>
                  <a:pt x="3515875" y="726795"/>
                </a:lnTo>
                <a:cubicBezTo>
                  <a:pt x="3515875" y="746865"/>
                  <a:pt x="3499605" y="763136"/>
                  <a:pt x="3479534" y="763136"/>
                </a:cubicBezTo>
                <a:lnTo>
                  <a:pt x="36341" y="763136"/>
                </a:lnTo>
                <a:cubicBezTo>
                  <a:pt x="16270" y="763136"/>
                  <a:pt x="0" y="746865"/>
                  <a:pt x="0" y="726795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51693" y="1605130"/>
            <a:ext cx="34431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Segundos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1693" y="1859469"/>
            <a:ext cx="3434110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completo de partidas de estudiantes en segundos, no minutos.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9116" y="2367938"/>
            <a:ext cx="3515875" cy="763136"/>
          </a:xfrm>
          <a:custGeom>
            <a:avLst/>
            <a:gdLst/>
            <a:ahLst/>
            <a:cxnLst/>
            <a:rect l="l" t="t" r="r" b="b"/>
            <a:pathLst>
              <a:path w="3515875" h="763136">
                <a:moveTo>
                  <a:pt x="36341" y="0"/>
                </a:moveTo>
                <a:lnTo>
                  <a:pt x="3479534" y="0"/>
                </a:lnTo>
                <a:cubicBezTo>
                  <a:pt x="3499605" y="0"/>
                  <a:pt x="3515875" y="16270"/>
                  <a:pt x="3515875" y="36341"/>
                </a:cubicBezTo>
                <a:lnTo>
                  <a:pt x="3515875" y="726795"/>
                </a:lnTo>
                <a:cubicBezTo>
                  <a:pt x="3515875" y="746865"/>
                  <a:pt x="3499605" y="763136"/>
                  <a:pt x="3479534" y="763136"/>
                </a:cubicBezTo>
                <a:lnTo>
                  <a:pt x="36341" y="763136"/>
                </a:lnTo>
                <a:cubicBezTo>
                  <a:pt x="16270" y="763136"/>
                  <a:pt x="0" y="746865"/>
                  <a:pt x="0" y="726795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1693" y="2440511"/>
            <a:ext cx="34431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Debilidades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1693" y="2694854"/>
            <a:ext cx="3434110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Detecta patrones de error específicos por jugador automáticamente.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531" y="3206733"/>
            <a:ext cx="3513621" cy="515588"/>
          </a:xfrm>
          <a:custGeom>
            <a:avLst/>
            <a:gdLst/>
            <a:ahLst/>
            <a:cxnLst/>
            <a:rect l="l" t="t" r="r" b="b"/>
            <a:pathLst>
              <a:path w="3513621" h="515588">
                <a:moveTo>
                  <a:pt x="36339" y="0"/>
                </a:moveTo>
                <a:lnTo>
                  <a:pt x="3477282" y="0"/>
                </a:lnTo>
                <a:cubicBezTo>
                  <a:pt x="3497351" y="0"/>
                  <a:pt x="3513621" y="16269"/>
                  <a:pt x="3513621" y="36339"/>
                </a:cubicBezTo>
                <a:lnTo>
                  <a:pt x="3513621" y="479249"/>
                </a:lnTo>
                <a:cubicBezTo>
                  <a:pt x="3513621" y="499319"/>
                  <a:pt x="3497351" y="515588"/>
                  <a:pt x="3477282" y="515588"/>
                </a:cubicBezTo>
                <a:lnTo>
                  <a:pt x="36339" y="515588"/>
                </a:lnTo>
                <a:cubicBezTo>
                  <a:pt x="16269" y="515588"/>
                  <a:pt x="0" y="499319"/>
                  <a:pt x="0" y="479249"/>
                </a:cubicBezTo>
                <a:lnTo>
                  <a:pt x="0" y="36339"/>
                </a:lnTo>
                <a:cubicBezTo>
                  <a:pt x="0" y="16283"/>
                  <a:pt x="16283" y="0"/>
                  <a:pt x="3633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524" y="3282727"/>
            <a:ext cx="3425025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Ahorro de tiempo:</a:t>
            </a:r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10-20 minutos de análisis manual → 5 segundos de análisis 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5483" y="1093245"/>
            <a:ext cx="3740744" cy="2741400"/>
          </a:xfrm>
          <a:custGeom>
            <a:avLst/>
            <a:gdLst/>
            <a:ahLst/>
            <a:cxnLst/>
            <a:rect l="l" t="t" r="r" b="b"/>
            <a:pathLst>
              <a:path w="3740744" h="2741400">
                <a:moveTo>
                  <a:pt x="72675" y="0"/>
                </a:moveTo>
                <a:lnTo>
                  <a:pt x="3668070" y="0"/>
                </a:lnTo>
                <a:cubicBezTo>
                  <a:pt x="3708207" y="0"/>
                  <a:pt x="3740744" y="32537"/>
                  <a:pt x="3740744" y="72675"/>
                </a:cubicBezTo>
                <a:lnTo>
                  <a:pt x="3740744" y="2668726"/>
                </a:lnTo>
                <a:cubicBezTo>
                  <a:pt x="3740744" y="2708863"/>
                  <a:pt x="3708207" y="2741400"/>
                  <a:pt x="3668070" y="2741400"/>
                </a:cubicBezTo>
                <a:lnTo>
                  <a:pt x="72675" y="2741400"/>
                </a:lnTo>
                <a:cubicBezTo>
                  <a:pt x="32537" y="2741400"/>
                  <a:pt x="0" y="2708863"/>
                  <a:pt x="0" y="2668726"/>
                </a:cubicBezTo>
                <a:lnTo>
                  <a:pt x="0" y="72675"/>
                </a:lnTo>
                <a:cubicBezTo>
                  <a:pt x="0" y="32564"/>
                  <a:pt x="32564" y="0"/>
                  <a:pt x="7267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7870" y="1205632"/>
            <a:ext cx="359763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Seguimiento de Progreso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37870" y="1532553"/>
            <a:ext cx="3515875" cy="763136"/>
          </a:xfrm>
          <a:custGeom>
            <a:avLst/>
            <a:gdLst/>
            <a:ahLst/>
            <a:cxnLst/>
            <a:rect l="l" t="t" r="r" b="b"/>
            <a:pathLst>
              <a:path w="3515875" h="763136">
                <a:moveTo>
                  <a:pt x="36341" y="0"/>
                </a:moveTo>
                <a:lnTo>
                  <a:pt x="3479534" y="0"/>
                </a:lnTo>
                <a:cubicBezTo>
                  <a:pt x="3499605" y="0"/>
                  <a:pt x="3515875" y="16270"/>
                  <a:pt x="3515875" y="36341"/>
                </a:cubicBezTo>
                <a:lnTo>
                  <a:pt x="3515875" y="726795"/>
                </a:lnTo>
                <a:cubicBezTo>
                  <a:pt x="3515875" y="746865"/>
                  <a:pt x="3499605" y="763136"/>
                  <a:pt x="3479534" y="763136"/>
                </a:cubicBezTo>
                <a:lnTo>
                  <a:pt x="36341" y="763136"/>
                </a:lnTo>
                <a:cubicBezTo>
                  <a:pt x="16270" y="763136"/>
                  <a:pt x="0" y="746865"/>
                  <a:pt x="0" y="726795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410447" y="1605130"/>
            <a:ext cx="34431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Métricas Objetivas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10447" y="1859469"/>
            <a:ext cx="3434110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errores, tasa de jugadas buenas, volatilidad, todo cuantificado.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37870" y="2367938"/>
            <a:ext cx="3515875" cy="581437"/>
          </a:xfrm>
          <a:custGeom>
            <a:avLst/>
            <a:gdLst/>
            <a:ahLst/>
            <a:cxnLst/>
            <a:rect l="l" t="t" r="r" b="b"/>
            <a:pathLst>
              <a:path w="3515875" h="581437">
                <a:moveTo>
                  <a:pt x="36340" y="0"/>
                </a:moveTo>
                <a:lnTo>
                  <a:pt x="3479535" y="0"/>
                </a:lnTo>
                <a:cubicBezTo>
                  <a:pt x="3499605" y="0"/>
                  <a:pt x="3515875" y="16270"/>
                  <a:pt x="3515875" y="36340"/>
                </a:cubicBezTo>
                <a:lnTo>
                  <a:pt x="3515875" y="545097"/>
                </a:lnTo>
                <a:cubicBezTo>
                  <a:pt x="3515875" y="565167"/>
                  <a:pt x="3499605" y="581437"/>
                  <a:pt x="3479535" y="581437"/>
                </a:cubicBez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10447" y="2440511"/>
            <a:ext cx="34431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Comparación con Pares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10447" y="2694854"/>
            <a:ext cx="343411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Comparar con jugadores de nivel similar para contexto.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41286" y="3025079"/>
            <a:ext cx="3513621" cy="515588"/>
          </a:xfrm>
          <a:custGeom>
            <a:avLst/>
            <a:gdLst/>
            <a:ahLst/>
            <a:cxnLst/>
            <a:rect l="l" t="t" r="r" b="b"/>
            <a:pathLst>
              <a:path w="3513621" h="515588">
                <a:moveTo>
                  <a:pt x="36339" y="0"/>
                </a:moveTo>
                <a:lnTo>
                  <a:pt x="3477282" y="0"/>
                </a:lnTo>
                <a:cubicBezTo>
                  <a:pt x="3497351" y="0"/>
                  <a:pt x="3513621" y="16269"/>
                  <a:pt x="3513621" y="36339"/>
                </a:cubicBezTo>
                <a:lnTo>
                  <a:pt x="3513621" y="479249"/>
                </a:lnTo>
                <a:cubicBezTo>
                  <a:pt x="3513621" y="499319"/>
                  <a:pt x="3497351" y="515588"/>
                  <a:pt x="3477282" y="515588"/>
                </a:cubicBezTo>
                <a:lnTo>
                  <a:pt x="36339" y="515588"/>
                </a:lnTo>
                <a:cubicBezTo>
                  <a:pt x="16269" y="515588"/>
                  <a:pt x="0" y="499319"/>
                  <a:pt x="0" y="479249"/>
                </a:cubicBezTo>
                <a:lnTo>
                  <a:pt x="0" y="36339"/>
                </a:lnTo>
                <a:cubicBezTo>
                  <a:pt x="0" y="16283"/>
                  <a:pt x="16283" y="0"/>
                  <a:pt x="3633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7278" y="3101072"/>
            <a:ext cx="3425025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"Tu tasa de errores graves bajó de 12% a 7% en 3 meses"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84238" y="1093245"/>
            <a:ext cx="3740744" cy="2741400"/>
          </a:xfrm>
          <a:custGeom>
            <a:avLst/>
            <a:gdLst/>
            <a:ahLst/>
            <a:cxnLst/>
            <a:rect l="l" t="t" r="r" b="b"/>
            <a:pathLst>
              <a:path w="3740744" h="2741400">
                <a:moveTo>
                  <a:pt x="72675" y="0"/>
                </a:moveTo>
                <a:lnTo>
                  <a:pt x="3668070" y="0"/>
                </a:lnTo>
                <a:cubicBezTo>
                  <a:pt x="3708207" y="0"/>
                  <a:pt x="3740744" y="32537"/>
                  <a:pt x="3740744" y="72675"/>
                </a:cubicBezTo>
                <a:lnTo>
                  <a:pt x="3740744" y="2668726"/>
                </a:lnTo>
                <a:cubicBezTo>
                  <a:pt x="3740744" y="2708863"/>
                  <a:pt x="3708207" y="2741400"/>
                  <a:pt x="3668070" y="2741400"/>
                </a:cubicBezTo>
                <a:lnTo>
                  <a:pt x="72675" y="2741400"/>
                </a:lnTo>
                <a:cubicBezTo>
                  <a:pt x="32537" y="2741400"/>
                  <a:pt x="0" y="2708863"/>
                  <a:pt x="0" y="2668726"/>
                </a:cubicBezTo>
                <a:lnTo>
                  <a:pt x="0" y="72675"/>
                </a:lnTo>
                <a:cubicBezTo>
                  <a:pt x="0" y="32564"/>
                  <a:pt x="32564" y="0"/>
                  <a:pt x="7267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6625" y="1205632"/>
            <a:ext cx="359763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Planes Personalizados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96625" y="1532553"/>
            <a:ext cx="3515875" cy="763136"/>
          </a:xfrm>
          <a:custGeom>
            <a:avLst/>
            <a:gdLst/>
            <a:ahLst/>
            <a:cxnLst/>
            <a:rect l="l" t="t" r="r" b="b"/>
            <a:pathLst>
              <a:path w="3515875" h="763136">
                <a:moveTo>
                  <a:pt x="36341" y="0"/>
                </a:moveTo>
                <a:lnTo>
                  <a:pt x="3479534" y="0"/>
                </a:lnTo>
                <a:cubicBezTo>
                  <a:pt x="3499605" y="0"/>
                  <a:pt x="3515875" y="16270"/>
                  <a:pt x="3515875" y="36341"/>
                </a:cubicBezTo>
                <a:lnTo>
                  <a:pt x="3515875" y="726795"/>
                </a:lnTo>
                <a:cubicBezTo>
                  <a:pt x="3515875" y="746865"/>
                  <a:pt x="3499605" y="763136"/>
                  <a:pt x="3479534" y="763136"/>
                </a:cubicBezTo>
                <a:lnTo>
                  <a:pt x="36341" y="763136"/>
                </a:lnTo>
                <a:cubicBezTo>
                  <a:pt x="16270" y="763136"/>
                  <a:pt x="0" y="746865"/>
                  <a:pt x="0" y="726795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69202" y="1605130"/>
            <a:ext cx="34431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Automática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9202" y="1859469"/>
            <a:ext cx="3434110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Planes de entrenamiento personalizados basados en análisis de errores.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96625" y="2367938"/>
            <a:ext cx="3515875" cy="763136"/>
          </a:xfrm>
          <a:custGeom>
            <a:avLst/>
            <a:gdLst/>
            <a:ahLst/>
            <a:cxnLst/>
            <a:rect l="l" t="t" r="r" b="b"/>
            <a:pathLst>
              <a:path w="3515875" h="763136">
                <a:moveTo>
                  <a:pt x="36341" y="0"/>
                </a:moveTo>
                <a:lnTo>
                  <a:pt x="3479534" y="0"/>
                </a:lnTo>
                <a:cubicBezTo>
                  <a:pt x="3499605" y="0"/>
                  <a:pt x="3515875" y="16270"/>
                  <a:pt x="3515875" y="36341"/>
                </a:cubicBezTo>
                <a:lnTo>
                  <a:pt x="3515875" y="726795"/>
                </a:lnTo>
                <a:cubicBezTo>
                  <a:pt x="3515875" y="746865"/>
                  <a:pt x="3499605" y="763136"/>
                  <a:pt x="3479534" y="763136"/>
                </a:cubicBezTo>
                <a:lnTo>
                  <a:pt x="36341" y="763136"/>
                </a:lnTo>
                <a:cubicBezTo>
                  <a:pt x="16270" y="763136"/>
                  <a:pt x="0" y="746865"/>
                  <a:pt x="0" y="726795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69202" y="2440511"/>
            <a:ext cx="34431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Ejercicios Específicos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69202" y="2694854"/>
            <a:ext cx="3434110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Recomendaciones de ejercicios específicos para cada debilidad.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00041" y="3206733"/>
            <a:ext cx="3513621" cy="515588"/>
          </a:xfrm>
          <a:custGeom>
            <a:avLst/>
            <a:gdLst/>
            <a:ahLst/>
            <a:cxnLst/>
            <a:rect l="l" t="t" r="r" b="b"/>
            <a:pathLst>
              <a:path w="3513621" h="515588">
                <a:moveTo>
                  <a:pt x="36339" y="0"/>
                </a:moveTo>
                <a:lnTo>
                  <a:pt x="3477282" y="0"/>
                </a:lnTo>
                <a:cubicBezTo>
                  <a:pt x="3497351" y="0"/>
                  <a:pt x="3513621" y="16269"/>
                  <a:pt x="3513621" y="36339"/>
                </a:cubicBezTo>
                <a:lnTo>
                  <a:pt x="3513621" y="479249"/>
                </a:lnTo>
                <a:cubicBezTo>
                  <a:pt x="3513621" y="499319"/>
                  <a:pt x="3497351" y="515588"/>
                  <a:pt x="3477282" y="515588"/>
                </a:cubicBezTo>
                <a:lnTo>
                  <a:pt x="36339" y="515588"/>
                </a:lnTo>
                <a:cubicBezTo>
                  <a:pt x="16269" y="515588"/>
                  <a:pt x="0" y="499319"/>
                  <a:pt x="0" y="479249"/>
                </a:cubicBezTo>
                <a:lnTo>
                  <a:pt x="0" y="36339"/>
                </a:lnTo>
                <a:cubicBezTo>
                  <a:pt x="0" y="16283"/>
                  <a:pt x="16283" y="0"/>
                  <a:pt x="36339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6033" y="3282727"/>
            <a:ext cx="3425025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"Practica mates en 2 durante 15 min/día durante 2 semanas"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6728" y="3917245"/>
            <a:ext cx="11462950" cy="1687546"/>
          </a:xfrm>
          <a:custGeom>
            <a:avLst/>
            <a:gdLst/>
            <a:ahLst/>
            <a:cxnLst/>
            <a:rect l="l" t="t" r="r" b="b"/>
            <a:pathLst>
              <a:path w="11462950" h="1687546">
                <a:moveTo>
                  <a:pt x="72683" y="0"/>
                </a:moveTo>
                <a:lnTo>
                  <a:pt x="11390267" y="0"/>
                </a:lnTo>
                <a:cubicBezTo>
                  <a:pt x="11430409" y="0"/>
                  <a:pt x="11462950" y="32541"/>
                  <a:pt x="11462950" y="72683"/>
                </a:cubicBezTo>
                <a:lnTo>
                  <a:pt x="11462950" y="1614864"/>
                </a:lnTo>
                <a:cubicBezTo>
                  <a:pt x="11462950" y="1655005"/>
                  <a:pt x="11430409" y="1687546"/>
                  <a:pt x="11390267" y="1687546"/>
                </a:cubicBezTo>
                <a:lnTo>
                  <a:pt x="72683" y="1687546"/>
                </a:lnTo>
                <a:cubicBezTo>
                  <a:pt x="32568" y="1687546"/>
                  <a:pt x="0" y="1654978"/>
                  <a:pt x="0" y="1614864"/>
                </a:cubicBezTo>
                <a:lnTo>
                  <a:pt x="0" y="72683"/>
                </a:lnTo>
                <a:cubicBezTo>
                  <a:pt x="0" y="32541"/>
                  <a:pt x="32541" y="0"/>
                  <a:pt x="7268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16" y="4029631"/>
            <a:ext cx="1131984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Flujo de Trabajo del Entrenador con IA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9116" y="4363379"/>
            <a:ext cx="2489276" cy="1126534"/>
          </a:xfrm>
          <a:custGeom>
            <a:avLst/>
            <a:gdLst/>
            <a:ahLst/>
            <a:cxnLst/>
            <a:rect l="l" t="t" r="r" b="b"/>
            <a:pathLst>
              <a:path w="2489276" h="1126534">
                <a:moveTo>
                  <a:pt x="36342" y="0"/>
                </a:moveTo>
                <a:lnTo>
                  <a:pt x="2452934" y="0"/>
                </a:lnTo>
                <a:cubicBezTo>
                  <a:pt x="2473005" y="0"/>
                  <a:pt x="2489276" y="16271"/>
                  <a:pt x="2489276" y="36342"/>
                </a:cubicBezTo>
                <a:lnTo>
                  <a:pt x="2489276" y="1090192"/>
                </a:lnTo>
                <a:cubicBezTo>
                  <a:pt x="2489276" y="1110263"/>
                  <a:pt x="2473005" y="1126534"/>
                  <a:pt x="2452934" y="1126534"/>
                </a:cubicBezTo>
                <a:lnTo>
                  <a:pt x="36342" y="1126534"/>
                </a:lnTo>
                <a:cubicBezTo>
                  <a:pt x="16271" y="1126534"/>
                  <a:pt x="0" y="1110263"/>
                  <a:pt x="0" y="1090192"/>
                </a:cubicBezTo>
                <a:lnTo>
                  <a:pt x="0" y="36342"/>
                </a:lnTo>
                <a:cubicBezTo>
                  <a:pt x="0" y="16284"/>
                  <a:pt x="16284" y="0"/>
                  <a:pt x="36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07256" y="4472354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/>
          <p:cNvSpPr/>
          <p:nvPr/>
        </p:nvSpPr>
        <p:spPr>
          <a:xfrm>
            <a:off x="1645708" y="4599468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90849" y="38788"/>
                </a:moveTo>
                <a:lnTo>
                  <a:pt x="90849" y="113562"/>
                </a:lnTo>
                <a:cubicBezTo>
                  <a:pt x="90849" y="119843"/>
                  <a:pt x="85775" y="124918"/>
                  <a:pt x="79493" y="124918"/>
                </a:cubicBezTo>
                <a:cubicBezTo>
                  <a:pt x="73212" y="124918"/>
                  <a:pt x="68137" y="119843"/>
                  <a:pt x="68137" y="113562"/>
                </a:cubicBezTo>
                <a:lnTo>
                  <a:pt x="68137" y="38788"/>
                </a:lnTo>
                <a:lnTo>
                  <a:pt x="53445" y="53481"/>
                </a:lnTo>
                <a:cubicBezTo>
                  <a:pt x="49009" y="57917"/>
                  <a:pt x="41805" y="57917"/>
                  <a:pt x="37369" y="53481"/>
                </a:cubicBezTo>
                <a:cubicBezTo>
                  <a:pt x="32933" y="49045"/>
                  <a:pt x="32933" y="41840"/>
                  <a:pt x="37369" y="37404"/>
                </a:cubicBezTo>
                <a:lnTo>
                  <a:pt x="71438" y="3336"/>
                </a:lnTo>
                <a:cubicBezTo>
                  <a:pt x="75874" y="-1100"/>
                  <a:pt x="83078" y="-1100"/>
                  <a:pt x="87514" y="3336"/>
                </a:cubicBezTo>
                <a:lnTo>
                  <a:pt x="121582" y="37404"/>
                </a:lnTo>
                <a:cubicBezTo>
                  <a:pt x="126018" y="41840"/>
                  <a:pt x="126018" y="49045"/>
                  <a:pt x="121582" y="53481"/>
                </a:cubicBezTo>
                <a:cubicBezTo>
                  <a:pt x="117146" y="57917"/>
                  <a:pt x="109942" y="57917"/>
                  <a:pt x="105506" y="53481"/>
                </a:cubicBezTo>
                <a:lnTo>
                  <a:pt x="90849" y="38788"/>
                </a:lnTo>
                <a:close/>
                <a:moveTo>
                  <a:pt x="79493" y="141952"/>
                </a:moveTo>
                <a:cubicBezTo>
                  <a:pt x="95179" y="141952"/>
                  <a:pt x="107884" y="129248"/>
                  <a:pt x="107884" y="113562"/>
                </a:cubicBezTo>
                <a:lnTo>
                  <a:pt x="136274" y="113562"/>
                </a:lnTo>
                <a:cubicBezTo>
                  <a:pt x="148802" y="113562"/>
                  <a:pt x="158987" y="123747"/>
                  <a:pt x="158987" y="136274"/>
                </a:cubicBezTo>
                <a:lnTo>
                  <a:pt x="158987" y="147630"/>
                </a:lnTo>
                <a:cubicBezTo>
                  <a:pt x="158987" y="160158"/>
                  <a:pt x="148802" y="170343"/>
                  <a:pt x="136274" y="170343"/>
                </a:cubicBezTo>
                <a:lnTo>
                  <a:pt x="22712" y="170343"/>
                </a:lnTo>
                <a:cubicBezTo>
                  <a:pt x="10185" y="170343"/>
                  <a:pt x="0" y="160158"/>
                  <a:pt x="0" y="147630"/>
                </a:cubicBezTo>
                <a:lnTo>
                  <a:pt x="0" y="136274"/>
                </a:lnTo>
                <a:cubicBezTo>
                  <a:pt x="0" y="123747"/>
                  <a:pt x="10185" y="113562"/>
                  <a:pt x="22712" y="113562"/>
                </a:cubicBezTo>
                <a:lnTo>
                  <a:pt x="51103" y="113562"/>
                </a:lnTo>
                <a:cubicBezTo>
                  <a:pt x="51103" y="129248"/>
                  <a:pt x="63808" y="141952"/>
                  <a:pt x="79493" y="141952"/>
                </a:cubicBezTo>
                <a:close/>
                <a:moveTo>
                  <a:pt x="130596" y="150469"/>
                </a:moveTo>
                <a:cubicBezTo>
                  <a:pt x="135297" y="150469"/>
                  <a:pt x="139113" y="146653"/>
                  <a:pt x="139113" y="141952"/>
                </a:cubicBezTo>
                <a:cubicBezTo>
                  <a:pt x="139113" y="137252"/>
                  <a:pt x="135297" y="133435"/>
                  <a:pt x="130596" y="133435"/>
                </a:cubicBezTo>
                <a:cubicBezTo>
                  <a:pt x="125895" y="133435"/>
                  <a:pt x="122079" y="137252"/>
                  <a:pt x="122079" y="141952"/>
                </a:cubicBezTo>
                <a:cubicBezTo>
                  <a:pt x="122079" y="146653"/>
                  <a:pt x="125895" y="150469"/>
                  <a:pt x="130596" y="150469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39" name="Text 37"/>
          <p:cNvSpPr/>
          <p:nvPr/>
        </p:nvSpPr>
        <p:spPr>
          <a:xfrm>
            <a:off x="551748" y="4980925"/>
            <a:ext cx="234391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Subir Partidas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6291" y="5198977"/>
            <a:ext cx="23348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PGN del estudiante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071225" y="4817413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214036" y="118644"/>
                </a:moveTo>
                <a:cubicBezTo>
                  <a:pt x="219359" y="113321"/>
                  <a:pt x="219359" y="104676"/>
                  <a:pt x="214036" y="99352"/>
                </a:cubicBezTo>
                <a:lnTo>
                  <a:pt x="145899" y="31215"/>
                </a:lnTo>
                <a:cubicBezTo>
                  <a:pt x="140575" y="25892"/>
                  <a:pt x="131930" y="25892"/>
                  <a:pt x="126607" y="31215"/>
                </a:cubicBezTo>
                <a:cubicBezTo>
                  <a:pt x="121284" y="36539"/>
                  <a:pt x="121284" y="45183"/>
                  <a:pt x="126607" y="50507"/>
                </a:cubicBezTo>
                <a:lnTo>
                  <a:pt x="171493" y="95392"/>
                </a:lnTo>
                <a:lnTo>
                  <a:pt x="13627" y="95392"/>
                </a:lnTo>
                <a:cubicBezTo>
                  <a:pt x="6090" y="95392"/>
                  <a:pt x="0" y="101482"/>
                  <a:pt x="0" y="109019"/>
                </a:cubicBezTo>
                <a:cubicBezTo>
                  <a:pt x="0" y="116557"/>
                  <a:pt x="6090" y="122647"/>
                  <a:pt x="13627" y="122647"/>
                </a:cubicBezTo>
                <a:lnTo>
                  <a:pt x="171493" y="122647"/>
                </a:lnTo>
                <a:lnTo>
                  <a:pt x="126607" y="167532"/>
                </a:lnTo>
                <a:cubicBezTo>
                  <a:pt x="121284" y="172855"/>
                  <a:pt x="121284" y="181500"/>
                  <a:pt x="126607" y="186823"/>
                </a:cubicBezTo>
                <a:cubicBezTo>
                  <a:pt x="131930" y="192147"/>
                  <a:pt x="140575" y="192147"/>
                  <a:pt x="145899" y="186823"/>
                </a:cubicBezTo>
                <a:lnTo>
                  <a:pt x="214036" y="11868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2" name="Shape 40"/>
          <p:cNvSpPr/>
          <p:nvPr/>
        </p:nvSpPr>
        <p:spPr>
          <a:xfrm>
            <a:off x="3389031" y="4363379"/>
            <a:ext cx="2489276" cy="1126534"/>
          </a:xfrm>
          <a:custGeom>
            <a:avLst/>
            <a:gdLst/>
            <a:ahLst/>
            <a:cxnLst/>
            <a:rect l="l" t="t" r="r" b="b"/>
            <a:pathLst>
              <a:path w="2489276" h="1126534">
                <a:moveTo>
                  <a:pt x="36342" y="0"/>
                </a:moveTo>
                <a:lnTo>
                  <a:pt x="2452934" y="0"/>
                </a:lnTo>
                <a:cubicBezTo>
                  <a:pt x="2473005" y="0"/>
                  <a:pt x="2489276" y="16271"/>
                  <a:pt x="2489276" y="36342"/>
                </a:cubicBezTo>
                <a:lnTo>
                  <a:pt x="2489276" y="1090192"/>
                </a:lnTo>
                <a:cubicBezTo>
                  <a:pt x="2489276" y="1110263"/>
                  <a:pt x="2473005" y="1126534"/>
                  <a:pt x="2452934" y="1126534"/>
                </a:cubicBezTo>
                <a:lnTo>
                  <a:pt x="36342" y="1126534"/>
                </a:lnTo>
                <a:cubicBezTo>
                  <a:pt x="16271" y="1126534"/>
                  <a:pt x="0" y="1110263"/>
                  <a:pt x="0" y="1090192"/>
                </a:cubicBezTo>
                <a:lnTo>
                  <a:pt x="0" y="36342"/>
                </a:lnTo>
                <a:cubicBezTo>
                  <a:pt x="0" y="16284"/>
                  <a:pt x="16284" y="0"/>
                  <a:pt x="36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17172" y="4472354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4" name="Shape 42"/>
          <p:cNvSpPr/>
          <p:nvPr/>
        </p:nvSpPr>
        <p:spPr>
          <a:xfrm>
            <a:off x="4521555" y="4599468"/>
            <a:ext cx="227124" cy="181699"/>
          </a:xfrm>
          <a:custGeom>
            <a:avLst/>
            <a:gdLst/>
            <a:ahLst/>
            <a:cxnLst/>
            <a:rect l="l" t="t" r="r" b="b"/>
            <a:pathLst>
              <a:path w="227124" h="181699">
                <a:moveTo>
                  <a:pt x="147595" y="74702"/>
                </a:moveTo>
                <a:cubicBezTo>
                  <a:pt x="151924" y="73531"/>
                  <a:pt x="156467" y="75590"/>
                  <a:pt x="158419" y="79600"/>
                </a:cubicBezTo>
                <a:lnTo>
                  <a:pt x="165020" y="92943"/>
                </a:lnTo>
                <a:cubicBezTo>
                  <a:pt x="168675" y="93440"/>
                  <a:pt x="172259" y="94434"/>
                  <a:pt x="175630" y="95818"/>
                </a:cubicBezTo>
                <a:lnTo>
                  <a:pt x="188051" y="87549"/>
                </a:lnTo>
                <a:cubicBezTo>
                  <a:pt x="191778" y="85065"/>
                  <a:pt x="196710" y="85562"/>
                  <a:pt x="199869" y="88720"/>
                </a:cubicBezTo>
                <a:lnTo>
                  <a:pt x="206683" y="95534"/>
                </a:lnTo>
                <a:cubicBezTo>
                  <a:pt x="209841" y="98692"/>
                  <a:pt x="210338" y="103661"/>
                  <a:pt x="207854" y="107351"/>
                </a:cubicBezTo>
                <a:lnTo>
                  <a:pt x="199585" y="119737"/>
                </a:lnTo>
                <a:cubicBezTo>
                  <a:pt x="200259" y="121405"/>
                  <a:pt x="200863" y="123144"/>
                  <a:pt x="201359" y="124954"/>
                </a:cubicBezTo>
                <a:cubicBezTo>
                  <a:pt x="201856" y="126763"/>
                  <a:pt x="202176" y="128538"/>
                  <a:pt x="202424" y="130348"/>
                </a:cubicBezTo>
                <a:lnTo>
                  <a:pt x="215803" y="136948"/>
                </a:lnTo>
                <a:cubicBezTo>
                  <a:pt x="219813" y="138936"/>
                  <a:pt x="221871" y="143478"/>
                  <a:pt x="220700" y="147772"/>
                </a:cubicBezTo>
                <a:lnTo>
                  <a:pt x="218216" y="157070"/>
                </a:lnTo>
                <a:cubicBezTo>
                  <a:pt x="217045" y="161364"/>
                  <a:pt x="213035" y="164274"/>
                  <a:pt x="208563" y="163990"/>
                </a:cubicBezTo>
                <a:lnTo>
                  <a:pt x="193658" y="163032"/>
                </a:lnTo>
                <a:cubicBezTo>
                  <a:pt x="191423" y="165907"/>
                  <a:pt x="188832" y="168568"/>
                  <a:pt x="185887" y="170840"/>
                </a:cubicBezTo>
                <a:lnTo>
                  <a:pt x="186845" y="185709"/>
                </a:lnTo>
                <a:cubicBezTo>
                  <a:pt x="187129" y="190181"/>
                  <a:pt x="184219" y="194226"/>
                  <a:pt x="179925" y="195362"/>
                </a:cubicBezTo>
                <a:lnTo>
                  <a:pt x="170627" y="197846"/>
                </a:lnTo>
                <a:cubicBezTo>
                  <a:pt x="166297" y="199017"/>
                  <a:pt x="161790" y="196959"/>
                  <a:pt x="159803" y="192949"/>
                </a:cubicBezTo>
                <a:lnTo>
                  <a:pt x="153202" y="179605"/>
                </a:lnTo>
                <a:cubicBezTo>
                  <a:pt x="149547" y="179108"/>
                  <a:pt x="145962" y="178115"/>
                  <a:pt x="142591" y="176731"/>
                </a:cubicBezTo>
                <a:lnTo>
                  <a:pt x="130170" y="184999"/>
                </a:lnTo>
                <a:cubicBezTo>
                  <a:pt x="126444" y="187484"/>
                  <a:pt x="121511" y="186987"/>
                  <a:pt x="118353" y="183828"/>
                </a:cubicBezTo>
                <a:lnTo>
                  <a:pt x="111539" y="177015"/>
                </a:lnTo>
                <a:cubicBezTo>
                  <a:pt x="108381" y="173856"/>
                  <a:pt x="107884" y="168923"/>
                  <a:pt x="110368" y="165197"/>
                </a:cubicBezTo>
                <a:lnTo>
                  <a:pt x="118637" y="152776"/>
                </a:lnTo>
                <a:cubicBezTo>
                  <a:pt x="117962" y="151108"/>
                  <a:pt x="117359" y="149369"/>
                  <a:pt x="116862" y="147559"/>
                </a:cubicBezTo>
                <a:cubicBezTo>
                  <a:pt x="116365" y="145750"/>
                  <a:pt x="116046" y="143940"/>
                  <a:pt x="115798" y="142165"/>
                </a:cubicBezTo>
                <a:lnTo>
                  <a:pt x="102419" y="135564"/>
                </a:lnTo>
                <a:cubicBezTo>
                  <a:pt x="98408" y="133577"/>
                  <a:pt x="96386" y="129035"/>
                  <a:pt x="97521" y="124741"/>
                </a:cubicBezTo>
                <a:lnTo>
                  <a:pt x="100005" y="115443"/>
                </a:lnTo>
                <a:cubicBezTo>
                  <a:pt x="101177" y="111149"/>
                  <a:pt x="105187" y="108239"/>
                  <a:pt x="109658" y="108523"/>
                </a:cubicBezTo>
                <a:lnTo>
                  <a:pt x="124528" y="109481"/>
                </a:lnTo>
                <a:cubicBezTo>
                  <a:pt x="126763" y="106606"/>
                  <a:pt x="129354" y="103945"/>
                  <a:pt x="132300" y="101673"/>
                </a:cubicBezTo>
                <a:lnTo>
                  <a:pt x="131341" y="86839"/>
                </a:lnTo>
                <a:cubicBezTo>
                  <a:pt x="131057" y="82368"/>
                  <a:pt x="133967" y="78322"/>
                  <a:pt x="138262" y="77187"/>
                </a:cubicBezTo>
                <a:lnTo>
                  <a:pt x="147559" y="74702"/>
                </a:lnTo>
                <a:close/>
                <a:moveTo>
                  <a:pt x="159129" y="120659"/>
                </a:moveTo>
                <a:cubicBezTo>
                  <a:pt x="150511" y="120669"/>
                  <a:pt x="143522" y="127674"/>
                  <a:pt x="143532" y="136292"/>
                </a:cubicBezTo>
                <a:cubicBezTo>
                  <a:pt x="143541" y="144910"/>
                  <a:pt x="150546" y="151899"/>
                  <a:pt x="159164" y="151889"/>
                </a:cubicBezTo>
                <a:cubicBezTo>
                  <a:pt x="167782" y="151879"/>
                  <a:pt x="174771" y="144874"/>
                  <a:pt x="174761" y="136256"/>
                </a:cubicBezTo>
                <a:cubicBezTo>
                  <a:pt x="174751" y="127638"/>
                  <a:pt x="167747" y="120650"/>
                  <a:pt x="159129" y="120659"/>
                </a:cubicBezTo>
                <a:close/>
                <a:moveTo>
                  <a:pt x="79813" y="-16147"/>
                </a:moveTo>
                <a:lnTo>
                  <a:pt x="89111" y="-13663"/>
                </a:lnTo>
                <a:cubicBezTo>
                  <a:pt x="93405" y="-12492"/>
                  <a:pt x="96315" y="-8446"/>
                  <a:pt x="96031" y="-4010"/>
                </a:cubicBezTo>
                <a:lnTo>
                  <a:pt x="95073" y="10824"/>
                </a:lnTo>
                <a:cubicBezTo>
                  <a:pt x="98018" y="13095"/>
                  <a:pt x="100609" y="15721"/>
                  <a:pt x="102844" y="18631"/>
                </a:cubicBezTo>
                <a:lnTo>
                  <a:pt x="117749" y="17673"/>
                </a:lnTo>
                <a:cubicBezTo>
                  <a:pt x="122185" y="17389"/>
                  <a:pt x="126231" y="20299"/>
                  <a:pt x="127402" y="24593"/>
                </a:cubicBezTo>
                <a:lnTo>
                  <a:pt x="129886" y="33891"/>
                </a:lnTo>
                <a:cubicBezTo>
                  <a:pt x="131022" y="38185"/>
                  <a:pt x="128999" y="42728"/>
                  <a:pt x="124989" y="44715"/>
                </a:cubicBezTo>
                <a:lnTo>
                  <a:pt x="111610" y="51316"/>
                </a:lnTo>
                <a:cubicBezTo>
                  <a:pt x="111362" y="53126"/>
                  <a:pt x="111007" y="54936"/>
                  <a:pt x="110545" y="56710"/>
                </a:cubicBezTo>
                <a:cubicBezTo>
                  <a:pt x="110084" y="58484"/>
                  <a:pt x="109445" y="60259"/>
                  <a:pt x="108771" y="61927"/>
                </a:cubicBezTo>
                <a:lnTo>
                  <a:pt x="117040" y="74348"/>
                </a:lnTo>
                <a:cubicBezTo>
                  <a:pt x="119524" y="78074"/>
                  <a:pt x="119027" y="83007"/>
                  <a:pt x="115869" y="86165"/>
                </a:cubicBezTo>
                <a:lnTo>
                  <a:pt x="109055" y="92979"/>
                </a:lnTo>
                <a:cubicBezTo>
                  <a:pt x="105896" y="96137"/>
                  <a:pt x="100964" y="96634"/>
                  <a:pt x="97237" y="94150"/>
                </a:cubicBezTo>
                <a:lnTo>
                  <a:pt x="84817" y="85881"/>
                </a:lnTo>
                <a:cubicBezTo>
                  <a:pt x="81445" y="87265"/>
                  <a:pt x="77861" y="88259"/>
                  <a:pt x="74206" y="88756"/>
                </a:cubicBezTo>
                <a:lnTo>
                  <a:pt x="67605" y="102099"/>
                </a:lnTo>
                <a:cubicBezTo>
                  <a:pt x="65617" y="106109"/>
                  <a:pt x="61075" y="108132"/>
                  <a:pt x="56781" y="106997"/>
                </a:cubicBezTo>
                <a:lnTo>
                  <a:pt x="47483" y="104512"/>
                </a:lnTo>
                <a:cubicBezTo>
                  <a:pt x="43154" y="103341"/>
                  <a:pt x="40279" y="99296"/>
                  <a:pt x="40563" y="94860"/>
                </a:cubicBezTo>
                <a:lnTo>
                  <a:pt x="41521" y="79990"/>
                </a:lnTo>
                <a:cubicBezTo>
                  <a:pt x="38576" y="77719"/>
                  <a:pt x="35985" y="75093"/>
                  <a:pt x="33749" y="72183"/>
                </a:cubicBezTo>
                <a:lnTo>
                  <a:pt x="18844" y="73141"/>
                </a:lnTo>
                <a:cubicBezTo>
                  <a:pt x="14408" y="73425"/>
                  <a:pt x="10363" y="70515"/>
                  <a:pt x="9191" y="66221"/>
                </a:cubicBezTo>
                <a:lnTo>
                  <a:pt x="6707" y="56923"/>
                </a:lnTo>
                <a:cubicBezTo>
                  <a:pt x="5572" y="52629"/>
                  <a:pt x="7594" y="48086"/>
                  <a:pt x="11605" y="46099"/>
                </a:cubicBezTo>
                <a:lnTo>
                  <a:pt x="24984" y="39498"/>
                </a:lnTo>
                <a:cubicBezTo>
                  <a:pt x="25232" y="37688"/>
                  <a:pt x="25587" y="35914"/>
                  <a:pt x="26048" y="34104"/>
                </a:cubicBezTo>
                <a:cubicBezTo>
                  <a:pt x="26545" y="32294"/>
                  <a:pt x="27113" y="30555"/>
                  <a:pt x="27823" y="28887"/>
                </a:cubicBezTo>
                <a:lnTo>
                  <a:pt x="19554" y="16502"/>
                </a:lnTo>
                <a:cubicBezTo>
                  <a:pt x="17070" y="12776"/>
                  <a:pt x="17567" y="7843"/>
                  <a:pt x="20725" y="4684"/>
                </a:cubicBezTo>
                <a:lnTo>
                  <a:pt x="27539" y="-2129"/>
                </a:lnTo>
                <a:cubicBezTo>
                  <a:pt x="30697" y="-5288"/>
                  <a:pt x="35630" y="-5785"/>
                  <a:pt x="39356" y="-3300"/>
                </a:cubicBezTo>
                <a:lnTo>
                  <a:pt x="51777" y="4968"/>
                </a:lnTo>
                <a:cubicBezTo>
                  <a:pt x="55148" y="3584"/>
                  <a:pt x="58733" y="2591"/>
                  <a:pt x="62388" y="2094"/>
                </a:cubicBezTo>
                <a:lnTo>
                  <a:pt x="68989" y="-11250"/>
                </a:lnTo>
                <a:cubicBezTo>
                  <a:pt x="70976" y="-15260"/>
                  <a:pt x="75483" y="-17283"/>
                  <a:pt x="79813" y="-16147"/>
                </a:cubicBezTo>
                <a:close/>
                <a:moveTo>
                  <a:pt x="68279" y="29810"/>
                </a:moveTo>
                <a:cubicBezTo>
                  <a:pt x="59661" y="29810"/>
                  <a:pt x="52664" y="36807"/>
                  <a:pt x="52664" y="45425"/>
                </a:cubicBezTo>
                <a:cubicBezTo>
                  <a:pt x="52664" y="54043"/>
                  <a:pt x="59661" y="61039"/>
                  <a:pt x="68279" y="61039"/>
                </a:cubicBezTo>
                <a:cubicBezTo>
                  <a:pt x="76897" y="61039"/>
                  <a:pt x="83894" y="54043"/>
                  <a:pt x="83894" y="45425"/>
                </a:cubicBezTo>
                <a:cubicBezTo>
                  <a:pt x="83894" y="36807"/>
                  <a:pt x="76897" y="29810"/>
                  <a:pt x="68279" y="29810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45" name="Text 43"/>
          <p:cNvSpPr/>
          <p:nvPr/>
        </p:nvSpPr>
        <p:spPr>
          <a:xfrm>
            <a:off x="3461664" y="4980925"/>
            <a:ext cx="234391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Análisis IA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466206" y="5198977"/>
            <a:ext cx="23348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 segundos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81140" y="4817413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214036" y="118644"/>
                </a:moveTo>
                <a:cubicBezTo>
                  <a:pt x="219359" y="113321"/>
                  <a:pt x="219359" y="104676"/>
                  <a:pt x="214036" y="99352"/>
                </a:cubicBezTo>
                <a:lnTo>
                  <a:pt x="145899" y="31215"/>
                </a:lnTo>
                <a:cubicBezTo>
                  <a:pt x="140575" y="25892"/>
                  <a:pt x="131930" y="25892"/>
                  <a:pt x="126607" y="31215"/>
                </a:cubicBezTo>
                <a:cubicBezTo>
                  <a:pt x="121284" y="36539"/>
                  <a:pt x="121284" y="45183"/>
                  <a:pt x="126607" y="50507"/>
                </a:cubicBezTo>
                <a:lnTo>
                  <a:pt x="171493" y="95392"/>
                </a:lnTo>
                <a:lnTo>
                  <a:pt x="13627" y="95392"/>
                </a:lnTo>
                <a:cubicBezTo>
                  <a:pt x="6090" y="95392"/>
                  <a:pt x="0" y="101482"/>
                  <a:pt x="0" y="109019"/>
                </a:cubicBezTo>
                <a:cubicBezTo>
                  <a:pt x="0" y="116557"/>
                  <a:pt x="6090" y="122647"/>
                  <a:pt x="13627" y="122647"/>
                </a:cubicBezTo>
                <a:lnTo>
                  <a:pt x="171493" y="122647"/>
                </a:lnTo>
                <a:lnTo>
                  <a:pt x="126607" y="167532"/>
                </a:lnTo>
                <a:cubicBezTo>
                  <a:pt x="121284" y="172855"/>
                  <a:pt x="121284" y="181500"/>
                  <a:pt x="126607" y="186823"/>
                </a:cubicBezTo>
                <a:cubicBezTo>
                  <a:pt x="131930" y="192147"/>
                  <a:pt x="140575" y="192147"/>
                  <a:pt x="145899" y="186823"/>
                </a:cubicBezTo>
                <a:lnTo>
                  <a:pt x="214036" y="11868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Shape 46"/>
          <p:cNvSpPr/>
          <p:nvPr/>
        </p:nvSpPr>
        <p:spPr>
          <a:xfrm>
            <a:off x="6298947" y="4363379"/>
            <a:ext cx="2489276" cy="1126534"/>
          </a:xfrm>
          <a:custGeom>
            <a:avLst/>
            <a:gdLst/>
            <a:ahLst/>
            <a:cxnLst/>
            <a:rect l="l" t="t" r="r" b="b"/>
            <a:pathLst>
              <a:path w="2489276" h="1126534">
                <a:moveTo>
                  <a:pt x="36342" y="0"/>
                </a:moveTo>
                <a:lnTo>
                  <a:pt x="2452934" y="0"/>
                </a:lnTo>
                <a:cubicBezTo>
                  <a:pt x="2473005" y="0"/>
                  <a:pt x="2489276" y="16271"/>
                  <a:pt x="2489276" y="36342"/>
                </a:cubicBezTo>
                <a:lnTo>
                  <a:pt x="2489276" y="1090192"/>
                </a:lnTo>
                <a:cubicBezTo>
                  <a:pt x="2489276" y="1110263"/>
                  <a:pt x="2473005" y="1126534"/>
                  <a:pt x="2452934" y="1126534"/>
                </a:cubicBezTo>
                <a:lnTo>
                  <a:pt x="36342" y="1126534"/>
                </a:lnTo>
                <a:cubicBezTo>
                  <a:pt x="16271" y="1126534"/>
                  <a:pt x="0" y="1110263"/>
                  <a:pt x="0" y="1090192"/>
                </a:cubicBezTo>
                <a:lnTo>
                  <a:pt x="0" y="36342"/>
                </a:lnTo>
                <a:cubicBezTo>
                  <a:pt x="0" y="16284"/>
                  <a:pt x="16284" y="0"/>
                  <a:pt x="36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27087" y="4472354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0" name="Shape 48"/>
          <p:cNvSpPr/>
          <p:nvPr/>
        </p:nvSpPr>
        <p:spPr>
          <a:xfrm>
            <a:off x="7454183" y="4599468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11356" y="11356"/>
                </a:moveTo>
                <a:cubicBezTo>
                  <a:pt x="17638" y="11356"/>
                  <a:pt x="22712" y="16431"/>
                  <a:pt x="22712" y="22712"/>
                </a:cubicBezTo>
                <a:lnTo>
                  <a:pt x="22712" y="141952"/>
                </a:lnTo>
                <a:cubicBezTo>
                  <a:pt x="22712" y="145075"/>
                  <a:pt x="25268" y="147630"/>
                  <a:pt x="28390" y="147630"/>
                </a:cubicBezTo>
                <a:lnTo>
                  <a:pt x="170343" y="147630"/>
                </a:lnTo>
                <a:cubicBezTo>
                  <a:pt x="176624" y="147630"/>
                  <a:pt x="181699" y="152705"/>
                  <a:pt x="181699" y="158987"/>
                </a:cubicBezTo>
                <a:cubicBezTo>
                  <a:pt x="181699" y="165268"/>
                  <a:pt x="176624" y="170343"/>
                  <a:pt x="170343" y="170343"/>
                </a:cubicBezTo>
                <a:lnTo>
                  <a:pt x="28390" y="170343"/>
                </a:lnTo>
                <a:cubicBezTo>
                  <a:pt x="12705" y="170343"/>
                  <a:pt x="0" y="157638"/>
                  <a:pt x="0" y="141952"/>
                </a:cubicBezTo>
                <a:lnTo>
                  <a:pt x="0" y="22712"/>
                </a:lnTo>
                <a:cubicBezTo>
                  <a:pt x="0" y="16431"/>
                  <a:pt x="5075" y="11356"/>
                  <a:pt x="11356" y="11356"/>
                </a:cubicBezTo>
                <a:close/>
                <a:moveTo>
                  <a:pt x="45425" y="34069"/>
                </a:moveTo>
                <a:cubicBezTo>
                  <a:pt x="45425" y="27787"/>
                  <a:pt x="50500" y="22712"/>
                  <a:pt x="56781" y="22712"/>
                </a:cubicBezTo>
                <a:lnTo>
                  <a:pt x="124918" y="22712"/>
                </a:lnTo>
                <a:cubicBezTo>
                  <a:pt x="131199" y="22712"/>
                  <a:pt x="136274" y="27787"/>
                  <a:pt x="136274" y="34069"/>
                </a:cubicBezTo>
                <a:cubicBezTo>
                  <a:pt x="136274" y="40350"/>
                  <a:pt x="131199" y="45425"/>
                  <a:pt x="124918" y="45425"/>
                </a:cubicBezTo>
                <a:lnTo>
                  <a:pt x="56781" y="45425"/>
                </a:lnTo>
                <a:cubicBezTo>
                  <a:pt x="50500" y="45425"/>
                  <a:pt x="45425" y="40350"/>
                  <a:pt x="45425" y="34069"/>
                </a:cubicBezTo>
                <a:close/>
                <a:moveTo>
                  <a:pt x="56781" y="62459"/>
                </a:moveTo>
                <a:lnTo>
                  <a:pt x="102206" y="62459"/>
                </a:lnTo>
                <a:cubicBezTo>
                  <a:pt x="108487" y="62459"/>
                  <a:pt x="113562" y="67534"/>
                  <a:pt x="113562" y="73815"/>
                </a:cubicBezTo>
                <a:cubicBezTo>
                  <a:pt x="113562" y="80097"/>
                  <a:pt x="108487" y="85171"/>
                  <a:pt x="102206" y="85171"/>
                </a:cubicBezTo>
                <a:lnTo>
                  <a:pt x="56781" y="85171"/>
                </a:lnTo>
                <a:cubicBezTo>
                  <a:pt x="50500" y="85171"/>
                  <a:pt x="45425" y="80097"/>
                  <a:pt x="45425" y="73815"/>
                </a:cubicBezTo>
                <a:cubicBezTo>
                  <a:pt x="45425" y="67534"/>
                  <a:pt x="50500" y="62459"/>
                  <a:pt x="56781" y="62459"/>
                </a:cubicBezTo>
                <a:close/>
                <a:moveTo>
                  <a:pt x="56781" y="102206"/>
                </a:moveTo>
                <a:lnTo>
                  <a:pt x="147630" y="102206"/>
                </a:lnTo>
                <a:cubicBezTo>
                  <a:pt x="153912" y="102206"/>
                  <a:pt x="158987" y="107280"/>
                  <a:pt x="158987" y="113562"/>
                </a:cubicBezTo>
                <a:cubicBezTo>
                  <a:pt x="158987" y="119843"/>
                  <a:pt x="153912" y="124918"/>
                  <a:pt x="147630" y="124918"/>
                </a:cubicBezTo>
                <a:lnTo>
                  <a:pt x="56781" y="124918"/>
                </a:lnTo>
                <a:cubicBezTo>
                  <a:pt x="50500" y="124918"/>
                  <a:pt x="45425" y="119843"/>
                  <a:pt x="45425" y="113562"/>
                </a:cubicBezTo>
                <a:cubicBezTo>
                  <a:pt x="45425" y="107280"/>
                  <a:pt x="50500" y="102206"/>
                  <a:pt x="56781" y="102206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51" name="Text 49"/>
          <p:cNvSpPr/>
          <p:nvPr/>
        </p:nvSpPr>
        <p:spPr>
          <a:xfrm>
            <a:off x="6371579" y="4980925"/>
            <a:ext cx="234391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Ver Reporte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76122" y="5198977"/>
            <a:ext cx="23348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Debilidades identificadas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891056" y="4817413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214036" y="118644"/>
                </a:moveTo>
                <a:cubicBezTo>
                  <a:pt x="219359" y="113321"/>
                  <a:pt x="219359" y="104676"/>
                  <a:pt x="214036" y="99352"/>
                </a:cubicBezTo>
                <a:lnTo>
                  <a:pt x="145899" y="31215"/>
                </a:lnTo>
                <a:cubicBezTo>
                  <a:pt x="140575" y="25892"/>
                  <a:pt x="131930" y="25892"/>
                  <a:pt x="126607" y="31215"/>
                </a:cubicBezTo>
                <a:cubicBezTo>
                  <a:pt x="121284" y="36539"/>
                  <a:pt x="121284" y="45183"/>
                  <a:pt x="126607" y="50507"/>
                </a:cubicBezTo>
                <a:lnTo>
                  <a:pt x="171493" y="95392"/>
                </a:lnTo>
                <a:lnTo>
                  <a:pt x="13627" y="95392"/>
                </a:lnTo>
                <a:cubicBezTo>
                  <a:pt x="6090" y="95392"/>
                  <a:pt x="0" y="101482"/>
                  <a:pt x="0" y="109019"/>
                </a:cubicBezTo>
                <a:cubicBezTo>
                  <a:pt x="0" y="116557"/>
                  <a:pt x="6090" y="122647"/>
                  <a:pt x="13627" y="122647"/>
                </a:cubicBezTo>
                <a:lnTo>
                  <a:pt x="171493" y="122647"/>
                </a:lnTo>
                <a:lnTo>
                  <a:pt x="126607" y="167532"/>
                </a:lnTo>
                <a:cubicBezTo>
                  <a:pt x="121284" y="172855"/>
                  <a:pt x="121284" y="181500"/>
                  <a:pt x="126607" y="186823"/>
                </a:cubicBezTo>
                <a:cubicBezTo>
                  <a:pt x="131930" y="192147"/>
                  <a:pt x="140575" y="192147"/>
                  <a:pt x="145899" y="186823"/>
                </a:cubicBezTo>
                <a:lnTo>
                  <a:pt x="214036" y="11868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Shape 52"/>
          <p:cNvSpPr/>
          <p:nvPr/>
        </p:nvSpPr>
        <p:spPr>
          <a:xfrm>
            <a:off x="9212278" y="4359963"/>
            <a:ext cx="2496106" cy="1133364"/>
          </a:xfrm>
          <a:custGeom>
            <a:avLst/>
            <a:gdLst/>
            <a:ahLst/>
            <a:cxnLst/>
            <a:rect l="l" t="t" r="r" b="b"/>
            <a:pathLst>
              <a:path w="2496106" h="1133364">
                <a:moveTo>
                  <a:pt x="36336" y="0"/>
                </a:moveTo>
                <a:lnTo>
                  <a:pt x="2459771" y="0"/>
                </a:lnTo>
                <a:cubicBezTo>
                  <a:pt x="2479838" y="0"/>
                  <a:pt x="2496106" y="16268"/>
                  <a:pt x="2496106" y="36336"/>
                </a:cubicBezTo>
                <a:lnTo>
                  <a:pt x="2496106" y="1097029"/>
                </a:lnTo>
                <a:cubicBezTo>
                  <a:pt x="2496106" y="1117096"/>
                  <a:pt x="2479838" y="1133364"/>
                  <a:pt x="2459771" y="1133364"/>
                </a:cubicBezTo>
                <a:lnTo>
                  <a:pt x="36336" y="1133364"/>
                </a:lnTo>
                <a:cubicBezTo>
                  <a:pt x="16268" y="1133364"/>
                  <a:pt x="0" y="1117096"/>
                  <a:pt x="0" y="1097029"/>
                </a:cubicBezTo>
                <a:lnTo>
                  <a:pt x="0" y="36336"/>
                </a:lnTo>
                <a:cubicBezTo>
                  <a:pt x="0" y="16268"/>
                  <a:pt x="16268" y="0"/>
                  <a:pt x="36336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43833" y="4472354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93642" y="4599468"/>
            <a:ext cx="136274" cy="181699"/>
          </a:xfrm>
          <a:custGeom>
            <a:avLst/>
            <a:gdLst/>
            <a:ahLst/>
            <a:cxnLst/>
            <a:rect l="l" t="t" r="r" b="b"/>
            <a:pathLst>
              <a:path w="136274" h="181699">
                <a:moveTo>
                  <a:pt x="110510" y="11356"/>
                </a:moveTo>
                <a:lnTo>
                  <a:pt x="113562" y="11356"/>
                </a:lnTo>
                <a:cubicBezTo>
                  <a:pt x="126089" y="11356"/>
                  <a:pt x="136274" y="21541"/>
                  <a:pt x="136274" y="34069"/>
                </a:cubicBezTo>
                <a:lnTo>
                  <a:pt x="136274" y="158987"/>
                </a:lnTo>
                <a:cubicBezTo>
                  <a:pt x="136274" y="171514"/>
                  <a:pt x="126089" y="181699"/>
                  <a:pt x="113562" y="181699"/>
                </a:cubicBezTo>
                <a:lnTo>
                  <a:pt x="22712" y="181699"/>
                </a:lnTo>
                <a:cubicBezTo>
                  <a:pt x="10185" y="181699"/>
                  <a:pt x="0" y="171514"/>
                  <a:pt x="0" y="158987"/>
                </a:cubicBezTo>
                <a:lnTo>
                  <a:pt x="0" y="34069"/>
                </a:lnTo>
                <a:cubicBezTo>
                  <a:pt x="0" y="21541"/>
                  <a:pt x="10185" y="11356"/>
                  <a:pt x="22712" y="11356"/>
                </a:cubicBezTo>
                <a:lnTo>
                  <a:pt x="25764" y="11356"/>
                </a:lnTo>
                <a:cubicBezTo>
                  <a:pt x="29668" y="4578"/>
                  <a:pt x="37014" y="0"/>
                  <a:pt x="45425" y="0"/>
                </a:cubicBezTo>
                <a:lnTo>
                  <a:pt x="90849" y="0"/>
                </a:lnTo>
                <a:cubicBezTo>
                  <a:pt x="99260" y="0"/>
                  <a:pt x="106606" y="4578"/>
                  <a:pt x="110510" y="11356"/>
                </a:cubicBezTo>
                <a:close/>
                <a:moveTo>
                  <a:pt x="88010" y="39747"/>
                </a:moveTo>
                <a:cubicBezTo>
                  <a:pt x="92730" y="39747"/>
                  <a:pt x="96528" y="35949"/>
                  <a:pt x="96528" y="31230"/>
                </a:cubicBezTo>
                <a:cubicBezTo>
                  <a:pt x="96528" y="26510"/>
                  <a:pt x="92730" y="22712"/>
                  <a:pt x="88010" y="22712"/>
                </a:cubicBezTo>
                <a:lnTo>
                  <a:pt x="48264" y="22712"/>
                </a:lnTo>
                <a:cubicBezTo>
                  <a:pt x="43544" y="22712"/>
                  <a:pt x="39747" y="26510"/>
                  <a:pt x="39747" y="31230"/>
                </a:cubicBezTo>
                <a:cubicBezTo>
                  <a:pt x="39747" y="35949"/>
                  <a:pt x="43544" y="39747"/>
                  <a:pt x="48264" y="39747"/>
                </a:cubicBezTo>
                <a:lnTo>
                  <a:pt x="88010" y="39747"/>
                </a:lnTo>
                <a:close/>
                <a:moveTo>
                  <a:pt x="45425" y="90849"/>
                </a:moveTo>
                <a:cubicBezTo>
                  <a:pt x="45425" y="84582"/>
                  <a:pt x="40336" y="79493"/>
                  <a:pt x="34069" y="79493"/>
                </a:cubicBezTo>
                <a:cubicBezTo>
                  <a:pt x="27801" y="79493"/>
                  <a:pt x="22712" y="84582"/>
                  <a:pt x="22712" y="90849"/>
                </a:cubicBezTo>
                <a:cubicBezTo>
                  <a:pt x="22712" y="97117"/>
                  <a:pt x="27801" y="102206"/>
                  <a:pt x="34069" y="102206"/>
                </a:cubicBezTo>
                <a:cubicBezTo>
                  <a:pt x="40336" y="102206"/>
                  <a:pt x="45425" y="97117"/>
                  <a:pt x="45425" y="90849"/>
                </a:cubicBezTo>
                <a:close/>
                <a:moveTo>
                  <a:pt x="56781" y="90849"/>
                </a:moveTo>
                <a:cubicBezTo>
                  <a:pt x="56781" y="95569"/>
                  <a:pt x="60578" y="99367"/>
                  <a:pt x="65298" y="99367"/>
                </a:cubicBezTo>
                <a:lnTo>
                  <a:pt x="105045" y="99367"/>
                </a:lnTo>
                <a:cubicBezTo>
                  <a:pt x="109765" y="99367"/>
                  <a:pt x="113562" y="95569"/>
                  <a:pt x="113562" y="90849"/>
                </a:cubicBezTo>
                <a:cubicBezTo>
                  <a:pt x="113562" y="86130"/>
                  <a:pt x="109765" y="82332"/>
                  <a:pt x="105045" y="82332"/>
                </a:cubicBezTo>
                <a:lnTo>
                  <a:pt x="65298" y="82332"/>
                </a:lnTo>
                <a:cubicBezTo>
                  <a:pt x="60578" y="82332"/>
                  <a:pt x="56781" y="86130"/>
                  <a:pt x="56781" y="90849"/>
                </a:cubicBezTo>
                <a:close/>
                <a:moveTo>
                  <a:pt x="56781" y="136274"/>
                </a:moveTo>
                <a:cubicBezTo>
                  <a:pt x="56781" y="140994"/>
                  <a:pt x="60578" y="144791"/>
                  <a:pt x="65298" y="144791"/>
                </a:cubicBezTo>
                <a:lnTo>
                  <a:pt x="105045" y="144791"/>
                </a:lnTo>
                <a:cubicBezTo>
                  <a:pt x="109765" y="144791"/>
                  <a:pt x="113562" y="140994"/>
                  <a:pt x="113562" y="136274"/>
                </a:cubicBezTo>
                <a:cubicBezTo>
                  <a:pt x="113562" y="131554"/>
                  <a:pt x="109765" y="127757"/>
                  <a:pt x="105045" y="127757"/>
                </a:cubicBezTo>
                <a:lnTo>
                  <a:pt x="65298" y="127757"/>
                </a:lnTo>
                <a:cubicBezTo>
                  <a:pt x="60578" y="127757"/>
                  <a:pt x="56781" y="131554"/>
                  <a:pt x="56781" y="136274"/>
                </a:cubicBezTo>
                <a:close/>
                <a:moveTo>
                  <a:pt x="34069" y="147630"/>
                </a:moveTo>
                <a:cubicBezTo>
                  <a:pt x="40336" y="147630"/>
                  <a:pt x="45425" y="142542"/>
                  <a:pt x="45425" y="136274"/>
                </a:cubicBezTo>
                <a:cubicBezTo>
                  <a:pt x="45425" y="130007"/>
                  <a:pt x="40336" y="124918"/>
                  <a:pt x="34069" y="124918"/>
                </a:cubicBezTo>
                <a:cubicBezTo>
                  <a:pt x="27801" y="124918"/>
                  <a:pt x="22712" y="130007"/>
                  <a:pt x="22712" y="136274"/>
                </a:cubicBezTo>
                <a:cubicBezTo>
                  <a:pt x="22712" y="142542"/>
                  <a:pt x="27801" y="147630"/>
                  <a:pt x="34069" y="14763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7" name="Text 55"/>
          <p:cNvSpPr/>
          <p:nvPr/>
        </p:nvSpPr>
        <p:spPr>
          <a:xfrm>
            <a:off x="9288326" y="4980925"/>
            <a:ext cx="234391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Plan de Entreno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292868" y="5198977"/>
            <a:ext cx="23348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Personalizado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66728" y="5688233"/>
            <a:ext cx="5675838" cy="806306"/>
          </a:xfrm>
          <a:custGeom>
            <a:avLst/>
            <a:gdLst/>
            <a:ahLst/>
            <a:cxnLst/>
            <a:rect l="l" t="t" r="r" b="b"/>
            <a:pathLst>
              <a:path w="5675838" h="806306">
                <a:moveTo>
                  <a:pt x="72680" y="0"/>
                </a:moveTo>
                <a:lnTo>
                  <a:pt x="5603158" y="0"/>
                </a:lnTo>
                <a:cubicBezTo>
                  <a:pt x="5643298" y="0"/>
                  <a:pt x="5675838" y="32540"/>
                  <a:pt x="5675838" y="72680"/>
                </a:cubicBezTo>
                <a:lnTo>
                  <a:pt x="5675838" y="733626"/>
                </a:lnTo>
                <a:cubicBezTo>
                  <a:pt x="5675838" y="773766"/>
                  <a:pt x="5643298" y="806306"/>
                  <a:pt x="5603158" y="806306"/>
                </a:cubicBezTo>
                <a:lnTo>
                  <a:pt x="72680" y="806306"/>
                </a:lnTo>
                <a:cubicBezTo>
                  <a:pt x="32540" y="806306"/>
                  <a:pt x="0" y="773766"/>
                  <a:pt x="0" y="733626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5488" y="5982274"/>
            <a:ext cx="272548" cy="218039"/>
          </a:xfrm>
          <a:custGeom>
            <a:avLst/>
            <a:gdLst/>
            <a:ahLst/>
            <a:cxnLst/>
            <a:rect l="l" t="t" r="r" b="b"/>
            <a:pathLst>
              <a:path w="272548" h="218039">
                <a:moveTo>
                  <a:pt x="136274" y="6814"/>
                </a:moveTo>
                <a:cubicBezTo>
                  <a:pt x="160718" y="6814"/>
                  <a:pt x="180563" y="26659"/>
                  <a:pt x="180563" y="51103"/>
                </a:cubicBezTo>
                <a:cubicBezTo>
                  <a:pt x="180563" y="75547"/>
                  <a:pt x="160718" y="95392"/>
                  <a:pt x="136274" y="95392"/>
                </a:cubicBezTo>
                <a:cubicBezTo>
                  <a:pt x="111830" y="95392"/>
                  <a:pt x="91985" y="75547"/>
                  <a:pt x="91985" y="51103"/>
                </a:cubicBezTo>
                <a:cubicBezTo>
                  <a:pt x="91985" y="26659"/>
                  <a:pt x="111830" y="6814"/>
                  <a:pt x="136274" y="6814"/>
                </a:cubicBezTo>
                <a:close/>
                <a:moveTo>
                  <a:pt x="40882" y="37475"/>
                </a:moveTo>
                <a:cubicBezTo>
                  <a:pt x="57805" y="37475"/>
                  <a:pt x="71544" y="51214"/>
                  <a:pt x="71544" y="68137"/>
                </a:cubicBezTo>
                <a:cubicBezTo>
                  <a:pt x="71544" y="85060"/>
                  <a:pt x="57805" y="98799"/>
                  <a:pt x="40882" y="98799"/>
                </a:cubicBezTo>
                <a:cubicBezTo>
                  <a:pt x="23960" y="98799"/>
                  <a:pt x="10221" y="85060"/>
                  <a:pt x="10221" y="68137"/>
                </a:cubicBezTo>
                <a:cubicBezTo>
                  <a:pt x="10221" y="51214"/>
                  <a:pt x="23960" y="37475"/>
                  <a:pt x="40882" y="37475"/>
                </a:cubicBezTo>
                <a:close/>
                <a:moveTo>
                  <a:pt x="0" y="177156"/>
                </a:moveTo>
                <a:cubicBezTo>
                  <a:pt x="0" y="147048"/>
                  <a:pt x="24402" y="122647"/>
                  <a:pt x="54510" y="122647"/>
                </a:cubicBezTo>
                <a:cubicBezTo>
                  <a:pt x="59961" y="122647"/>
                  <a:pt x="65241" y="123456"/>
                  <a:pt x="70224" y="124946"/>
                </a:cubicBezTo>
                <a:cubicBezTo>
                  <a:pt x="56213" y="140618"/>
                  <a:pt x="47696" y="161315"/>
                  <a:pt x="47696" y="183970"/>
                </a:cubicBezTo>
                <a:lnTo>
                  <a:pt x="47696" y="190784"/>
                </a:lnTo>
                <a:cubicBezTo>
                  <a:pt x="47696" y="195639"/>
                  <a:pt x="48718" y="200238"/>
                  <a:pt x="50549" y="204411"/>
                </a:cubicBezTo>
                <a:lnTo>
                  <a:pt x="13627" y="204411"/>
                </a:lnTo>
                <a:cubicBezTo>
                  <a:pt x="6090" y="204411"/>
                  <a:pt x="0" y="198322"/>
                  <a:pt x="0" y="190784"/>
                </a:cubicBezTo>
                <a:lnTo>
                  <a:pt x="0" y="177156"/>
                </a:lnTo>
                <a:close/>
                <a:moveTo>
                  <a:pt x="221999" y="204411"/>
                </a:moveTo>
                <a:cubicBezTo>
                  <a:pt x="223830" y="200238"/>
                  <a:pt x="224852" y="195639"/>
                  <a:pt x="224852" y="190784"/>
                </a:cubicBezTo>
                <a:lnTo>
                  <a:pt x="224852" y="183970"/>
                </a:lnTo>
                <a:cubicBezTo>
                  <a:pt x="224852" y="161315"/>
                  <a:pt x="216335" y="140618"/>
                  <a:pt x="202325" y="124946"/>
                </a:cubicBezTo>
                <a:cubicBezTo>
                  <a:pt x="207307" y="123456"/>
                  <a:pt x="212588" y="122647"/>
                  <a:pt x="218039" y="122647"/>
                </a:cubicBezTo>
                <a:cubicBezTo>
                  <a:pt x="248147" y="122647"/>
                  <a:pt x="272548" y="147048"/>
                  <a:pt x="272548" y="177156"/>
                </a:cubicBezTo>
                <a:lnTo>
                  <a:pt x="272548" y="190784"/>
                </a:lnTo>
                <a:cubicBezTo>
                  <a:pt x="272548" y="198322"/>
                  <a:pt x="266459" y="204411"/>
                  <a:pt x="258921" y="204411"/>
                </a:cubicBezTo>
                <a:lnTo>
                  <a:pt x="221999" y="204411"/>
                </a:lnTo>
                <a:close/>
                <a:moveTo>
                  <a:pt x="201004" y="68137"/>
                </a:moveTo>
                <a:cubicBezTo>
                  <a:pt x="201004" y="51214"/>
                  <a:pt x="214744" y="37475"/>
                  <a:pt x="231666" y="37475"/>
                </a:cubicBezTo>
                <a:cubicBezTo>
                  <a:pt x="248589" y="37475"/>
                  <a:pt x="262328" y="51214"/>
                  <a:pt x="262328" y="68137"/>
                </a:cubicBezTo>
                <a:cubicBezTo>
                  <a:pt x="262328" y="85060"/>
                  <a:pt x="248589" y="98799"/>
                  <a:pt x="231666" y="98799"/>
                </a:cubicBezTo>
                <a:cubicBezTo>
                  <a:pt x="214744" y="98799"/>
                  <a:pt x="201004" y="85060"/>
                  <a:pt x="201004" y="68137"/>
                </a:cubicBezTo>
                <a:close/>
                <a:moveTo>
                  <a:pt x="68137" y="183970"/>
                </a:moveTo>
                <a:cubicBezTo>
                  <a:pt x="68137" y="146324"/>
                  <a:pt x="98628" y="115833"/>
                  <a:pt x="136274" y="115833"/>
                </a:cubicBezTo>
                <a:cubicBezTo>
                  <a:pt x="173920" y="115833"/>
                  <a:pt x="204411" y="146324"/>
                  <a:pt x="204411" y="183970"/>
                </a:cubicBezTo>
                <a:lnTo>
                  <a:pt x="204411" y="190784"/>
                </a:lnTo>
                <a:cubicBezTo>
                  <a:pt x="204411" y="198322"/>
                  <a:pt x="198322" y="204411"/>
                  <a:pt x="190784" y="204411"/>
                </a:cubicBezTo>
                <a:lnTo>
                  <a:pt x="81765" y="204411"/>
                </a:lnTo>
                <a:cubicBezTo>
                  <a:pt x="74227" y="204411"/>
                  <a:pt x="68137" y="198322"/>
                  <a:pt x="68137" y="190784"/>
                </a:cubicBezTo>
                <a:lnTo>
                  <a:pt x="68137" y="18397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1" name="Text 59"/>
          <p:cNvSpPr/>
          <p:nvPr/>
        </p:nvSpPr>
        <p:spPr>
          <a:xfrm>
            <a:off x="836451" y="5800619"/>
            <a:ext cx="5160250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Múltiples Estudiantes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6451" y="6018671"/>
            <a:ext cx="5151165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con métricas de todos los estudiantes. Identificar quién necesita atención prioritaria.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54860" y="5688233"/>
            <a:ext cx="5675838" cy="806306"/>
          </a:xfrm>
          <a:custGeom>
            <a:avLst/>
            <a:gdLst/>
            <a:ahLst/>
            <a:cxnLst/>
            <a:rect l="l" t="t" r="r" b="b"/>
            <a:pathLst>
              <a:path w="5675838" h="806306">
                <a:moveTo>
                  <a:pt x="72680" y="0"/>
                </a:moveTo>
                <a:lnTo>
                  <a:pt x="5603158" y="0"/>
                </a:lnTo>
                <a:cubicBezTo>
                  <a:pt x="5643298" y="0"/>
                  <a:pt x="5675838" y="32540"/>
                  <a:pt x="5675838" y="72680"/>
                </a:cubicBezTo>
                <a:lnTo>
                  <a:pt x="5675838" y="733626"/>
                </a:lnTo>
                <a:cubicBezTo>
                  <a:pt x="5675838" y="773766"/>
                  <a:pt x="5643298" y="806306"/>
                  <a:pt x="5603158" y="806306"/>
                </a:cubicBezTo>
                <a:lnTo>
                  <a:pt x="72680" y="806306"/>
                </a:lnTo>
                <a:cubicBezTo>
                  <a:pt x="32540" y="806306"/>
                  <a:pt x="0" y="773766"/>
                  <a:pt x="0" y="733626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80875" y="5982274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109019" y="0"/>
                </a:moveTo>
                <a:cubicBezTo>
                  <a:pt x="169189" y="0"/>
                  <a:pt x="218039" y="48850"/>
                  <a:pt x="218039" y="109019"/>
                </a:cubicBezTo>
                <a:cubicBezTo>
                  <a:pt x="218039" y="169189"/>
                  <a:pt x="169189" y="218039"/>
                  <a:pt x="109019" y="218039"/>
                </a:cubicBezTo>
                <a:cubicBezTo>
                  <a:pt x="48850" y="218039"/>
                  <a:pt x="0" y="169189"/>
                  <a:pt x="0" y="109019"/>
                </a:cubicBezTo>
                <a:cubicBezTo>
                  <a:pt x="0" y="48850"/>
                  <a:pt x="48850" y="0"/>
                  <a:pt x="109019" y="0"/>
                </a:cubicBezTo>
                <a:close/>
                <a:moveTo>
                  <a:pt x="98799" y="51103"/>
                </a:moveTo>
                <a:lnTo>
                  <a:pt x="98799" y="109019"/>
                </a:lnTo>
                <a:cubicBezTo>
                  <a:pt x="98799" y="112426"/>
                  <a:pt x="100502" y="115620"/>
                  <a:pt x="103355" y="117537"/>
                </a:cubicBezTo>
                <a:lnTo>
                  <a:pt x="144238" y="144791"/>
                </a:lnTo>
                <a:cubicBezTo>
                  <a:pt x="148922" y="147943"/>
                  <a:pt x="155267" y="146665"/>
                  <a:pt x="158419" y="141938"/>
                </a:cubicBezTo>
                <a:cubicBezTo>
                  <a:pt x="161570" y="137211"/>
                  <a:pt x="160293" y="130908"/>
                  <a:pt x="155566" y="127757"/>
                </a:cubicBezTo>
                <a:lnTo>
                  <a:pt x="119240" y="103568"/>
                </a:lnTo>
                <a:lnTo>
                  <a:pt x="119240" y="51103"/>
                </a:lnTo>
                <a:cubicBezTo>
                  <a:pt x="119240" y="45439"/>
                  <a:pt x="114683" y="40882"/>
                  <a:pt x="109019" y="40882"/>
                </a:cubicBezTo>
                <a:cubicBezTo>
                  <a:pt x="103355" y="40882"/>
                  <a:pt x="98799" y="45439"/>
                  <a:pt x="98799" y="5110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5" name="Text 63"/>
          <p:cNvSpPr/>
          <p:nvPr/>
        </p:nvSpPr>
        <p:spPr>
          <a:xfrm>
            <a:off x="6617752" y="5800619"/>
            <a:ext cx="516933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Ahorro de Tiempo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617752" y="6018671"/>
            <a:ext cx="5160250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2-3 horas de análisis manual a 15 minutos de revisión de reportes IA. Más tiempo para enseñar.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25" y="323395"/>
            <a:ext cx="2233724" cy="1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Jugadores Individuales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425" y="571349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 para Jugadores Individuales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409" y="955170"/>
            <a:ext cx="5728906" cy="1918906"/>
          </a:xfrm>
          <a:custGeom>
            <a:avLst/>
            <a:gdLst/>
            <a:ahLst/>
            <a:cxnLst/>
            <a:rect l="l" t="t" r="r" b="b"/>
            <a:pathLst>
              <a:path w="5728906" h="1918906">
                <a:moveTo>
                  <a:pt x="63497" y="0"/>
                </a:moveTo>
                <a:lnTo>
                  <a:pt x="5665409" y="0"/>
                </a:lnTo>
                <a:cubicBezTo>
                  <a:pt x="5700477" y="0"/>
                  <a:pt x="5728906" y="28428"/>
                  <a:pt x="5728906" y="63497"/>
                </a:cubicBezTo>
                <a:lnTo>
                  <a:pt x="5728906" y="1855409"/>
                </a:lnTo>
                <a:cubicBezTo>
                  <a:pt x="5728906" y="1890477"/>
                  <a:pt x="5700477" y="1918906"/>
                  <a:pt x="5665409" y="1918906"/>
                </a:cubicBezTo>
                <a:lnTo>
                  <a:pt x="63497" y="1918906"/>
                </a:lnTo>
                <a:cubicBezTo>
                  <a:pt x="28428" y="1918906"/>
                  <a:pt x="0" y="1890477"/>
                  <a:pt x="0" y="1855409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8602" y="10533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Análisis Inmediato Post-Partida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602" y="133898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2013" y="1402399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Después de Cada Partida Online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013" y="162461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Subes tu PGN y en 5 segundos tienes análisis completo con todas las jugadas clasificadas.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602" y="1910147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2013" y="1973558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Errores Críticos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013" y="2195777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resalta tus errores graves para que los revises primero.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1586" y="2484294"/>
            <a:ext cx="5522531" cy="291718"/>
          </a:xfrm>
          <a:custGeom>
            <a:avLst/>
            <a:gdLst/>
            <a:ahLst/>
            <a:cxnLst/>
            <a:rect l="l" t="t" r="r" b="b"/>
            <a:pathLst>
              <a:path w="5522531" h="291718">
                <a:moveTo>
                  <a:pt x="31751" y="0"/>
                </a:moveTo>
                <a:lnTo>
                  <a:pt x="5490780" y="0"/>
                </a:lnTo>
                <a:cubicBezTo>
                  <a:pt x="5508315" y="0"/>
                  <a:pt x="5522531" y="14215"/>
                  <a:pt x="5522531" y="31751"/>
                </a:cubicBezTo>
                <a:lnTo>
                  <a:pt x="5522531" y="259967"/>
                </a:lnTo>
                <a:cubicBezTo>
                  <a:pt x="5522531" y="277503"/>
                  <a:pt x="5508315" y="291718"/>
                  <a:pt x="5490780" y="291718"/>
                </a:cubicBezTo>
                <a:lnTo>
                  <a:pt x="31751" y="291718"/>
                </a:lnTo>
                <a:cubicBezTo>
                  <a:pt x="14215" y="291718"/>
                  <a:pt x="0" y="277503"/>
                  <a:pt x="0" y="25996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981" y="2550689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"Jugada 23: Blunder - perdiste dama por descuido. Revisa la línea alternativa."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46527" y="955170"/>
            <a:ext cx="5728906" cy="1918906"/>
          </a:xfrm>
          <a:custGeom>
            <a:avLst/>
            <a:gdLst/>
            <a:ahLst/>
            <a:cxnLst/>
            <a:rect l="l" t="t" r="r" b="b"/>
            <a:pathLst>
              <a:path w="5728906" h="1918906">
                <a:moveTo>
                  <a:pt x="63497" y="0"/>
                </a:moveTo>
                <a:lnTo>
                  <a:pt x="5665409" y="0"/>
                </a:lnTo>
                <a:cubicBezTo>
                  <a:pt x="5700477" y="0"/>
                  <a:pt x="5728906" y="28428"/>
                  <a:pt x="5728906" y="63497"/>
                </a:cubicBezTo>
                <a:lnTo>
                  <a:pt x="5728906" y="1855409"/>
                </a:lnTo>
                <a:cubicBezTo>
                  <a:pt x="5728906" y="1890477"/>
                  <a:pt x="5700477" y="1918906"/>
                  <a:pt x="5665409" y="1918906"/>
                </a:cubicBezTo>
                <a:lnTo>
                  <a:pt x="63497" y="1918906"/>
                </a:lnTo>
                <a:cubicBezTo>
                  <a:pt x="28428" y="1918906"/>
                  <a:pt x="0" y="1890477"/>
                  <a:pt x="0" y="1855409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4720" y="10533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Detección de Patrones Recurrentes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4720" y="133898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08130" y="1402399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¿Siempre Erras en Finales?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8130" y="162461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detecta si tus errores ocurren predominantemente en cierta fase del juego.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4720" y="1910147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08130" y="1973558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¿Problemas en Posiciones Complejas?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8130" y="2195777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 si erras más cuando hay muchas opciones disponibles (alto branching factor).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7704" y="2484294"/>
            <a:ext cx="5522531" cy="291718"/>
          </a:xfrm>
          <a:custGeom>
            <a:avLst/>
            <a:gdLst/>
            <a:ahLst/>
            <a:cxnLst/>
            <a:rect l="l" t="t" r="r" b="b"/>
            <a:pathLst>
              <a:path w="5522531" h="291718">
                <a:moveTo>
                  <a:pt x="31751" y="0"/>
                </a:moveTo>
                <a:lnTo>
                  <a:pt x="5490780" y="0"/>
                </a:lnTo>
                <a:cubicBezTo>
                  <a:pt x="5508315" y="0"/>
                  <a:pt x="5522531" y="14215"/>
                  <a:pt x="5522531" y="31751"/>
                </a:cubicBezTo>
                <a:lnTo>
                  <a:pt x="5522531" y="259967"/>
                </a:lnTo>
                <a:cubicBezTo>
                  <a:pt x="5522531" y="277503"/>
                  <a:pt x="5508315" y="291718"/>
                  <a:pt x="5490780" y="291718"/>
                </a:cubicBezTo>
                <a:lnTo>
                  <a:pt x="31751" y="291718"/>
                </a:lnTo>
                <a:cubicBezTo>
                  <a:pt x="14215" y="291718"/>
                  <a:pt x="0" y="277503"/>
                  <a:pt x="0" y="25996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4099" y="2550689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"68% de tus errores ocurren en finales. Prioriza estudio de finales."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409" y="2946351"/>
            <a:ext cx="5728906" cy="1347406"/>
          </a:xfrm>
          <a:custGeom>
            <a:avLst/>
            <a:gdLst/>
            <a:ahLst/>
            <a:cxnLst/>
            <a:rect l="l" t="t" r="r" b="b"/>
            <a:pathLst>
              <a:path w="5728906" h="1347406">
                <a:moveTo>
                  <a:pt x="63503" y="0"/>
                </a:moveTo>
                <a:lnTo>
                  <a:pt x="5665402" y="0"/>
                </a:lnTo>
                <a:cubicBezTo>
                  <a:pt x="5700474" y="0"/>
                  <a:pt x="5728906" y="28431"/>
                  <a:pt x="5728906" y="63503"/>
                </a:cubicBezTo>
                <a:lnTo>
                  <a:pt x="5728906" y="1283902"/>
                </a:lnTo>
                <a:cubicBezTo>
                  <a:pt x="5728906" y="1318974"/>
                  <a:pt x="5700474" y="1347406"/>
                  <a:pt x="5665402" y="1347406"/>
                </a:cubicBezTo>
                <a:lnTo>
                  <a:pt x="63503" y="1347406"/>
                </a:lnTo>
                <a:cubicBezTo>
                  <a:pt x="28431" y="1347406"/>
                  <a:pt x="0" y="1318974"/>
                  <a:pt x="0" y="1283902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8602" y="3044543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Alertas de Zona de Riesgo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8602" y="3330169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2013" y="3393580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Durante Partidas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2013" y="3615799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puede alertarte en tiempo real cuando detecta que estás en "zona de riesgo".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1586" y="3904316"/>
            <a:ext cx="5522531" cy="291718"/>
          </a:xfrm>
          <a:custGeom>
            <a:avLst/>
            <a:gdLst/>
            <a:ahLst/>
            <a:cxnLst/>
            <a:rect l="l" t="t" r="r" b="b"/>
            <a:pathLst>
              <a:path w="5522531" h="291718">
                <a:moveTo>
                  <a:pt x="31751" y="0"/>
                </a:moveTo>
                <a:lnTo>
                  <a:pt x="5490780" y="0"/>
                </a:lnTo>
                <a:cubicBezTo>
                  <a:pt x="5508315" y="0"/>
                  <a:pt x="5522531" y="14215"/>
                  <a:pt x="5522531" y="31751"/>
                </a:cubicBezTo>
                <a:lnTo>
                  <a:pt x="5522531" y="259967"/>
                </a:lnTo>
                <a:cubicBezTo>
                  <a:pt x="5522531" y="277503"/>
                  <a:pt x="5508315" y="291718"/>
                  <a:pt x="5490780" y="291718"/>
                </a:cubicBezTo>
                <a:lnTo>
                  <a:pt x="31751" y="291718"/>
                </a:lnTo>
                <a:cubicBezTo>
                  <a:pt x="14215" y="291718"/>
                  <a:pt x="0" y="277503"/>
                  <a:pt x="0" y="25996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981" y="3970711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"⚠️ Alerta: Has cometido 2 errores seguidos. Tómate 30 segundos adicionales."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46527" y="2946351"/>
            <a:ext cx="5728906" cy="1347406"/>
          </a:xfrm>
          <a:custGeom>
            <a:avLst/>
            <a:gdLst/>
            <a:ahLst/>
            <a:cxnLst/>
            <a:rect l="l" t="t" r="r" b="b"/>
            <a:pathLst>
              <a:path w="5728906" h="1347406">
                <a:moveTo>
                  <a:pt x="63503" y="0"/>
                </a:moveTo>
                <a:lnTo>
                  <a:pt x="5665402" y="0"/>
                </a:lnTo>
                <a:cubicBezTo>
                  <a:pt x="5700474" y="0"/>
                  <a:pt x="5728906" y="28431"/>
                  <a:pt x="5728906" y="63503"/>
                </a:cubicBezTo>
                <a:lnTo>
                  <a:pt x="5728906" y="1283902"/>
                </a:lnTo>
                <a:cubicBezTo>
                  <a:pt x="5728906" y="1318974"/>
                  <a:pt x="5700474" y="1347406"/>
                  <a:pt x="5665402" y="1347406"/>
                </a:cubicBezTo>
                <a:lnTo>
                  <a:pt x="63503" y="1347406"/>
                </a:lnTo>
                <a:cubicBezTo>
                  <a:pt x="28431" y="1347406"/>
                  <a:pt x="0" y="1318974"/>
                  <a:pt x="0" y="1283902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4720" y="3044543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Comparación con Jugadores de tu Nivel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44720" y="3330169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08130" y="3393580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Benchmarking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8130" y="3615799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 tus métricas con jugadores de tu mismo nivel (ELO ± 100).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47704" y="3904316"/>
            <a:ext cx="5522531" cy="291718"/>
          </a:xfrm>
          <a:custGeom>
            <a:avLst/>
            <a:gdLst/>
            <a:ahLst/>
            <a:cxnLst/>
            <a:rect l="l" t="t" r="r" b="b"/>
            <a:pathLst>
              <a:path w="5522531" h="291718">
                <a:moveTo>
                  <a:pt x="31751" y="0"/>
                </a:moveTo>
                <a:lnTo>
                  <a:pt x="5490780" y="0"/>
                </a:lnTo>
                <a:cubicBezTo>
                  <a:pt x="5508315" y="0"/>
                  <a:pt x="5522531" y="14215"/>
                  <a:pt x="5522531" y="31751"/>
                </a:cubicBezTo>
                <a:lnTo>
                  <a:pt x="5522531" y="259967"/>
                </a:lnTo>
                <a:cubicBezTo>
                  <a:pt x="5522531" y="277503"/>
                  <a:pt x="5508315" y="291718"/>
                  <a:pt x="5490780" y="291718"/>
                </a:cubicBezTo>
                <a:lnTo>
                  <a:pt x="31751" y="291718"/>
                </a:lnTo>
                <a:cubicBezTo>
                  <a:pt x="14215" y="291718"/>
                  <a:pt x="0" y="277503"/>
                  <a:pt x="0" y="25996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4099" y="3970711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"Tu tasa de blunders (8%) está por encima del promedio de tu nivel (5%)."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0409" y="4366373"/>
            <a:ext cx="11555031" cy="990218"/>
          </a:xfrm>
          <a:custGeom>
            <a:avLst/>
            <a:gdLst/>
            <a:ahLst/>
            <a:cxnLst/>
            <a:rect l="l" t="t" r="r" b="b"/>
            <a:pathLst>
              <a:path w="11555031" h="990218">
                <a:moveTo>
                  <a:pt x="63503" y="0"/>
                </a:moveTo>
                <a:lnTo>
                  <a:pt x="11491528" y="0"/>
                </a:lnTo>
                <a:cubicBezTo>
                  <a:pt x="11526599" y="0"/>
                  <a:pt x="11555031" y="28431"/>
                  <a:pt x="11555031" y="63503"/>
                </a:cubicBezTo>
                <a:lnTo>
                  <a:pt x="11555031" y="926715"/>
                </a:lnTo>
                <a:cubicBezTo>
                  <a:pt x="11555031" y="961787"/>
                  <a:pt x="11526599" y="990218"/>
                  <a:pt x="11491528" y="990218"/>
                </a:cubicBezTo>
                <a:lnTo>
                  <a:pt x="63503" y="990218"/>
                </a:lnTo>
                <a:cubicBezTo>
                  <a:pt x="28431" y="990218"/>
                  <a:pt x="0" y="961787"/>
                  <a:pt x="0" y="92671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8602" y="4464565"/>
            <a:ext cx="1143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Recomendaciones de Ejercicios Específicos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8602" y="4750191"/>
            <a:ext cx="3722688" cy="508000"/>
          </a:xfrm>
          <a:custGeom>
            <a:avLst/>
            <a:gdLst/>
            <a:ahLst/>
            <a:cxnLst/>
            <a:rect l="l" t="t" r="r" b="b"/>
            <a:pathLst>
              <a:path w="3722688" h="508000">
                <a:moveTo>
                  <a:pt x="31750" y="0"/>
                </a:moveTo>
                <a:lnTo>
                  <a:pt x="3690937" y="0"/>
                </a:lnTo>
                <a:cubicBezTo>
                  <a:pt x="3708461" y="0"/>
                  <a:pt x="3722688" y="14227"/>
                  <a:pt x="3722688" y="31750"/>
                </a:cubicBezTo>
                <a:lnTo>
                  <a:pt x="3722688" y="476250"/>
                </a:lnTo>
                <a:cubicBezTo>
                  <a:pt x="3722688" y="493773"/>
                  <a:pt x="3708461" y="508000"/>
                  <a:pt x="3690937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2013" y="4813602"/>
            <a:ext cx="3659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Basado en Patrones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2013" y="5035821"/>
            <a:ext cx="365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erras clavadas → Ejercicios de clavadas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35260" y="4750191"/>
            <a:ext cx="3722688" cy="508000"/>
          </a:xfrm>
          <a:custGeom>
            <a:avLst/>
            <a:gdLst/>
            <a:ahLst/>
            <a:cxnLst/>
            <a:rect l="l" t="t" r="r" b="b"/>
            <a:pathLst>
              <a:path w="3722688" h="508000">
                <a:moveTo>
                  <a:pt x="31750" y="0"/>
                </a:moveTo>
                <a:lnTo>
                  <a:pt x="3690937" y="0"/>
                </a:lnTo>
                <a:cubicBezTo>
                  <a:pt x="3708461" y="0"/>
                  <a:pt x="3722688" y="14227"/>
                  <a:pt x="3722688" y="31750"/>
                </a:cubicBezTo>
                <a:lnTo>
                  <a:pt x="3722688" y="476250"/>
                </a:lnTo>
                <a:cubicBezTo>
                  <a:pt x="3722688" y="493773"/>
                  <a:pt x="3708461" y="508000"/>
                  <a:pt x="3690937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298671" y="4813602"/>
            <a:ext cx="3659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Basado en Fase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298671" y="5035821"/>
            <a:ext cx="365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erras en finales → Estudios de finales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51918" y="4750191"/>
            <a:ext cx="3722688" cy="508000"/>
          </a:xfrm>
          <a:custGeom>
            <a:avLst/>
            <a:gdLst/>
            <a:ahLst/>
            <a:cxnLst/>
            <a:rect l="l" t="t" r="r" b="b"/>
            <a:pathLst>
              <a:path w="3722688" h="508000">
                <a:moveTo>
                  <a:pt x="31750" y="0"/>
                </a:moveTo>
                <a:lnTo>
                  <a:pt x="3690937" y="0"/>
                </a:lnTo>
                <a:cubicBezTo>
                  <a:pt x="3708461" y="0"/>
                  <a:pt x="3722688" y="14227"/>
                  <a:pt x="3722688" y="31750"/>
                </a:cubicBezTo>
                <a:lnTo>
                  <a:pt x="3722688" y="476250"/>
                </a:lnTo>
                <a:cubicBezTo>
                  <a:pt x="3722688" y="493773"/>
                  <a:pt x="3708461" y="508000"/>
                  <a:pt x="3690937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115329" y="4813602"/>
            <a:ext cx="3659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Basado en Tiempo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15329" y="5035821"/>
            <a:ext cx="365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erras con poco tiempo → Time management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0409" y="5425514"/>
            <a:ext cx="11555031" cy="545718"/>
          </a:xfrm>
          <a:custGeom>
            <a:avLst/>
            <a:gdLst/>
            <a:ahLst/>
            <a:cxnLst/>
            <a:rect l="l" t="t" r="r" b="b"/>
            <a:pathLst>
              <a:path w="11555031" h="545718">
                <a:moveTo>
                  <a:pt x="63500" y="0"/>
                </a:moveTo>
                <a:lnTo>
                  <a:pt x="11491531" y="0"/>
                </a:lnTo>
                <a:cubicBezTo>
                  <a:pt x="11526601" y="0"/>
                  <a:pt x="11555031" y="28430"/>
                  <a:pt x="11555031" y="63500"/>
                </a:cubicBezTo>
                <a:lnTo>
                  <a:pt x="11555031" y="482218"/>
                </a:lnTo>
                <a:cubicBezTo>
                  <a:pt x="11555031" y="517288"/>
                  <a:pt x="11526601" y="545718"/>
                  <a:pt x="11491531" y="545718"/>
                </a:cubicBezTo>
                <a:lnTo>
                  <a:pt x="63500" y="545718"/>
                </a:lnTo>
                <a:cubicBezTo>
                  <a:pt x="28430" y="545718"/>
                  <a:pt x="0" y="517288"/>
                  <a:pt x="0" y="48221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227" y="560306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1" name="Text 49"/>
          <p:cNvSpPr/>
          <p:nvPr/>
        </p:nvSpPr>
        <p:spPr>
          <a:xfrm>
            <a:off x="751880" y="5523705"/>
            <a:ext cx="631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con Plataformas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1880" y="5714217"/>
            <a:ext cx="631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puede integrarse con chess.com, Lichess, y otras plataformas para análisis automático después de cada partida.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225" y="333375"/>
            <a:ext cx="853531" cy="17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spc="52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Expansión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225" y="588984"/>
            <a:ext cx="11684682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9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en Otros Juegos: Go y Poker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301" y="984655"/>
            <a:ext cx="5709390" cy="2567291"/>
          </a:xfrm>
          <a:custGeom>
            <a:avLst/>
            <a:gdLst/>
            <a:ahLst/>
            <a:cxnLst/>
            <a:rect l="l" t="t" r="r" b="b"/>
            <a:pathLst>
              <a:path w="5709390" h="2567291">
                <a:moveTo>
                  <a:pt x="65466" y="0"/>
                </a:moveTo>
                <a:lnTo>
                  <a:pt x="5643924" y="0"/>
                </a:lnTo>
                <a:cubicBezTo>
                  <a:pt x="5680080" y="0"/>
                  <a:pt x="5709390" y="29310"/>
                  <a:pt x="5709390" y="65466"/>
                </a:cubicBezTo>
                <a:lnTo>
                  <a:pt x="5709390" y="2501825"/>
                </a:lnTo>
                <a:cubicBezTo>
                  <a:pt x="5709390" y="2537980"/>
                  <a:pt x="5680080" y="2567291"/>
                  <a:pt x="5643924" y="2567291"/>
                </a:cubicBezTo>
                <a:lnTo>
                  <a:pt x="65466" y="2567291"/>
                </a:lnTo>
                <a:cubicBezTo>
                  <a:pt x="29310" y="2567291"/>
                  <a:pt x="0" y="2537980"/>
                  <a:pt x="0" y="2501825"/>
                </a:cubicBezTo>
                <a:lnTo>
                  <a:pt x="0" y="65466"/>
                </a:lnTo>
                <a:cubicBezTo>
                  <a:pt x="0" y="29310"/>
                  <a:pt x="29310" y="0"/>
                  <a:pt x="6546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1526" y="1085882"/>
            <a:ext cx="558049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Go: AlphaGo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1526" y="1380326"/>
            <a:ext cx="5506856" cy="523683"/>
          </a:xfrm>
          <a:custGeom>
            <a:avLst/>
            <a:gdLst/>
            <a:ahLst/>
            <a:cxnLst/>
            <a:rect l="l" t="t" r="r" b="b"/>
            <a:pathLst>
              <a:path w="5506856" h="523683">
                <a:moveTo>
                  <a:pt x="32730" y="0"/>
                </a:moveTo>
                <a:lnTo>
                  <a:pt x="5474126" y="0"/>
                </a:lnTo>
                <a:cubicBezTo>
                  <a:pt x="5492203" y="0"/>
                  <a:pt x="5506856" y="14654"/>
                  <a:pt x="5506856" y="32730"/>
                </a:cubicBezTo>
                <a:lnTo>
                  <a:pt x="5506856" y="490953"/>
                </a:lnTo>
                <a:cubicBezTo>
                  <a:pt x="5506856" y="509029"/>
                  <a:pt x="5492203" y="523683"/>
                  <a:pt x="5474126" y="523683"/>
                </a:cubicBezTo>
                <a:lnTo>
                  <a:pt x="32730" y="523683"/>
                </a:lnTo>
                <a:cubicBezTo>
                  <a:pt x="14654" y="523683"/>
                  <a:pt x="0" y="509029"/>
                  <a:pt x="0" y="49095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6894" y="1445690"/>
            <a:ext cx="544139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 del 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6894" y="1674770"/>
            <a:ext cx="543321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Go es mucho más complejo que el ajedrez: 10^170 posiciones posibles vs 10^44 en ajedrez.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526" y="1969118"/>
            <a:ext cx="5506856" cy="523683"/>
          </a:xfrm>
          <a:custGeom>
            <a:avLst/>
            <a:gdLst/>
            <a:ahLst/>
            <a:cxnLst/>
            <a:rect l="l" t="t" r="r" b="b"/>
            <a:pathLst>
              <a:path w="5506856" h="523683">
                <a:moveTo>
                  <a:pt x="32730" y="0"/>
                </a:moveTo>
                <a:lnTo>
                  <a:pt x="5474126" y="0"/>
                </a:lnTo>
                <a:cubicBezTo>
                  <a:pt x="5492203" y="0"/>
                  <a:pt x="5506856" y="14654"/>
                  <a:pt x="5506856" y="32730"/>
                </a:cubicBezTo>
                <a:lnTo>
                  <a:pt x="5506856" y="490953"/>
                </a:lnTo>
                <a:cubicBezTo>
                  <a:pt x="5506856" y="509029"/>
                  <a:pt x="5492203" y="523683"/>
                  <a:pt x="5474126" y="523683"/>
                </a:cubicBezTo>
                <a:lnTo>
                  <a:pt x="32730" y="523683"/>
                </a:lnTo>
                <a:cubicBezTo>
                  <a:pt x="14654" y="523683"/>
                  <a:pt x="0" y="509029"/>
                  <a:pt x="0" y="49095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6894" y="2034482"/>
            <a:ext cx="544139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AlphaGo (2016)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894" y="2263562"/>
            <a:ext cx="543321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Desarrollado por DeepMind. Derrotó a Lee Sedol, campeón mundial de Go, 4-1.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1526" y="2557910"/>
            <a:ext cx="5506856" cy="523683"/>
          </a:xfrm>
          <a:custGeom>
            <a:avLst/>
            <a:gdLst/>
            <a:ahLst/>
            <a:cxnLst/>
            <a:rect l="l" t="t" r="r" b="b"/>
            <a:pathLst>
              <a:path w="5506856" h="523683">
                <a:moveTo>
                  <a:pt x="32730" y="0"/>
                </a:moveTo>
                <a:lnTo>
                  <a:pt x="5474126" y="0"/>
                </a:lnTo>
                <a:cubicBezTo>
                  <a:pt x="5492203" y="0"/>
                  <a:pt x="5506856" y="14654"/>
                  <a:pt x="5506856" y="32730"/>
                </a:cubicBezTo>
                <a:lnTo>
                  <a:pt x="5506856" y="490953"/>
                </a:lnTo>
                <a:cubicBezTo>
                  <a:pt x="5506856" y="509029"/>
                  <a:pt x="5492203" y="523683"/>
                  <a:pt x="5474126" y="523683"/>
                </a:cubicBezTo>
                <a:lnTo>
                  <a:pt x="32730" y="523683"/>
                </a:lnTo>
                <a:cubicBezTo>
                  <a:pt x="14654" y="523683"/>
                  <a:pt x="0" y="509029"/>
                  <a:pt x="0" y="49095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6894" y="2623282"/>
            <a:ext cx="544139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6894" y="2852354"/>
            <a:ext cx="543321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profundas + Monte Carlo Tree Search. Aprendió de millones de partidas.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602" y="3149778"/>
            <a:ext cx="5504826" cy="300724"/>
          </a:xfrm>
          <a:custGeom>
            <a:avLst/>
            <a:gdLst/>
            <a:ahLst/>
            <a:cxnLst/>
            <a:rect l="l" t="t" r="r" b="b"/>
            <a:pathLst>
              <a:path w="5504826" h="300724">
                <a:moveTo>
                  <a:pt x="32731" y="0"/>
                </a:moveTo>
                <a:lnTo>
                  <a:pt x="5472095" y="0"/>
                </a:lnTo>
                <a:cubicBezTo>
                  <a:pt x="5490172" y="0"/>
                  <a:pt x="5504826" y="14654"/>
                  <a:pt x="5504826" y="32731"/>
                </a:cubicBezTo>
                <a:lnTo>
                  <a:pt x="5504826" y="267993"/>
                </a:lnTo>
                <a:cubicBezTo>
                  <a:pt x="5504826" y="286070"/>
                  <a:pt x="5490172" y="300724"/>
                  <a:pt x="5472095" y="300724"/>
                </a:cubicBezTo>
                <a:lnTo>
                  <a:pt x="32731" y="300724"/>
                </a:lnTo>
                <a:cubicBezTo>
                  <a:pt x="14654" y="300724"/>
                  <a:pt x="0" y="286070"/>
                  <a:pt x="0" y="267993"/>
                </a:cubicBezTo>
                <a:lnTo>
                  <a:pt x="0" y="32731"/>
                </a:lnTo>
                <a:cubicBezTo>
                  <a:pt x="0" y="14666"/>
                  <a:pt x="14666" y="0"/>
                  <a:pt x="3273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046" y="3218227"/>
            <a:ext cx="542503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Revolucionó la teoría del Go. Jugadas de AlphaGo ahora se estudian como clásicas.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47199" y="984655"/>
            <a:ext cx="5709390" cy="2567291"/>
          </a:xfrm>
          <a:custGeom>
            <a:avLst/>
            <a:gdLst/>
            <a:ahLst/>
            <a:cxnLst/>
            <a:rect l="l" t="t" r="r" b="b"/>
            <a:pathLst>
              <a:path w="5709390" h="2567291">
                <a:moveTo>
                  <a:pt x="65466" y="0"/>
                </a:moveTo>
                <a:lnTo>
                  <a:pt x="5643924" y="0"/>
                </a:lnTo>
                <a:cubicBezTo>
                  <a:pt x="5680080" y="0"/>
                  <a:pt x="5709390" y="29310"/>
                  <a:pt x="5709390" y="65466"/>
                </a:cubicBezTo>
                <a:lnTo>
                  <a:pt x="5709390" y="2501825"/>
                </a:lnTo>
                <a:cubicBezTo>
                  <a:pt x="5709390" y="2537980"/>
                  <a:pt x="5680080" y="2567291"/>
                  <a:pt x="5643924" y="2567291"/>
                </a:cubicBezTo>
                <a:lnTo>
                  <a:pt x="65466" y="2567291"/>
                </a:lnTo>
                <a:cubicBezTo>
                  <a:pt x="29310" y="2567291"/>
                  <a:pt x="0" y="2537980"/>
                  <a:pt x="0" y="2501825"/>
                </a:cubicBezTo>
                <a:lnTo>
                  <a:pt x="0" y="65466"/>
                </a:lnTo>
                <a:cubicBezTo>
                  <a:pt x="0" y="29310"/>
                  <a:pt x="29310" y="0"/>
                  <a:pt x="6546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8423" y="1085882"/>
            <a:ext cx="558049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Poker: Pluribus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8423" y="1380326"/>
            <a:ext cx="5506856" cy="523683"/>
          </a:xfrm>
          <a:custGeom>
            <a:avLst/>
            <a:gdLst/>
            <a:ahLst/>
            <a:cxnLst/>
            <a:rect l="l" t="t" r="r" b="b"/>
            <a:pathLst>
              <a:path w="5506856" h="523683">
                <a:moveTo>
                  <a:pt x="32730" y="0"/>
                </a:moveTo>
                <a:lnTo>
                  <a:pt x="5474126" y="0"/>
                </a:lnTo>
                <a:cubicBezTo>
                  <a:pt x="5492203" y="0"/>
                  <a:pt x="5506856" y="14654"/>
                  <a:pt x="5506856" y="32730"/>
                </a:cubicBezTo>
                <a:lnTo>
                  <a:pt x="5506856" y="490953"/>
                </a:lnTo>
                <a:cubicBezTo>
                  <a:pt x="5506856" y="509029"/>
                  <a:pt x="5492203" y="523683"/>
                  <a:pt x="5474126" y="523683"/>
                </a:cubicBezTo>
                <a:lnTo>
                  <a:pt x="32730" y="523683"/>
                </a:lnTo>
                <a:cubicBezTo>
                  <a:pt x="14654" y="523683"/>
                  <a:pt x="0" y="509029"/>
                  <a:pt x="0" y="49095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13791" y="1445690"/>
            <a:ext cx="544139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 del Poker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13791" y="1674770"/>
            <a:ext cx="543321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imperfecta: no ves las cartas del oponente. Requiere bluffing y lectura de patrones.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423" y="1969118"/>
            <a:ext cx="5506856" cy="523683"/>
          </a:xfrm>
          <a:custGeom>
            <a:avLst/>
            <a:gdLst/>
            <a:ahLst/>
            <a:cxnLst/>
            <a:rect l="l" t="t" r="r" b="b"/>
            <a:pathLst>
              <a:path w="5506856" h="523683">
                <a:moveTo>
                  <a:pt x="32730" y="0"/>
                </a:moveTo>
                <a:lnTo>
                  <a:pt x="5474126" y="0"/>
                </a:lnTo>
                <a:cubicBezTo>
                  <a:pt x="5492203" y="0"/>
                  <a:pt x="5506856" y="14654"/>
                  <a:pt x="5506856" y="32730"/>
                </a:cubicBezTo>
                <a:lnTo>
                  <a:pt x="5506856" y="490953"/>
                </a:lnTo>
                <a:cubicBezTo>
                  <a:pt x="5506856" y="509029"/>
                  <a:pt x="5492203" y="523683"/>
                  <a:pt x="5474126" y="523683"/>
                </a:cubicBezTo>
                <a:lnTo>
                  <a:pt x="32730" y="523683"/>
                </a:lnTo>
                <a:cubicBezTo>
                  <a:pt x="14654" y="523683"/>
                  <a:pt x="0" y="509029"/>
                  <a:pt x="0" y="49095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13791" y="2034482"/>
            <a:ext cx="544139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Pluribus (2019)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3791" y="2263562"/>
            <a:ext cx="543321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Desarrollado por Facebook AI. Venció a profesionales en Texas Hold'em 6-jugadores.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48423" y="2557910"/>
            <a:ext cx="5506856" cy="523683"/>
          </a:xfrm>
          <a:custGeom>
            <a:avLst/>
            <a:gdLst/>
            <a:ahLst/>
            <a:cxnLst/>
            <a:rect l="l" t="t" r="r" b="b"/>
            <a:pathLst>
              <a:path w="5506856" h="523683">
                <a:moveTo>
                  <a:pt x="32730" y="0"/>
                </a:moveTo>
                <a:lnTo>
                  <a:pt x="5474126" y="0"/>
                </a:lnTo>
                <a:cubicBezTo>
                  <a:pt x="5492203" y="0"/>
                  <a:pt x="5506856" y="14654"/>
                  <a:pt x="5506856" y="32730"/>
                </a:cubicBezTo>
                <a:lnTo>
                  <a:pt x="5506856" y="490953"/>
                </a:lnTo>
                <a:cubicBezTo>
                  <a:pt x="5506856" y="509029"/>
                  <a:pt x="5492203" y="523683"/>
                  <a:pt x="5474126" y="523683"/>
                </a:cubicBezTo>
                <a:lnTo>
                  <a:pt x="32730" y="523683"/>
                </a:lnTo>
                <a:cubicBezTo>
                  <a:pt x="14654" y="523683"/>
                  <a:pt x="0" y="509029"/>
                  <a:pt x="0" y="49095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13791" y="2623282"/>
            <a:ext cx="544139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13791" y="2852354"/>
            <a:ext cx="543321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Self-play + counterfactual regret minimization. Aprendió estrategias óptimas de bluffing.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1499" y="3149778"/>
            <a:ext cx="5504826" cy="300724"/>
          </a:xfrm>
          <a:custGeom>
            <a:avLst/>
            <a:gdLst/>
            <a:ahLst/>
            <a:cxnLst/>
            <a:rect l="l" t="t" r="r" b="b"/>
            <a:pathLst>
              <a:path w="5504826" h="300724">
                <a:moveTo>
                  <a:pt x="32731" y="0"/>
                </a:moveTo>
                <a:lnTo>
                  <a:pt x="5472095" y="0"/>
                </a:lnTo>
                <a:cubicBezTo>
                  <a:pt x="5490172" y="0"/>
                  <a:pt x="5504826" y="14654"/>
                  <a:pt x="5504826" y="32731"/>
                </a:cubicBezTo>
                <a:lnTo>
                  <a:pt x="5504826" y="267993"/>
                </a:lnTo>
                <a:cubicBezTo>
                  <a:pt x="5504826" y="286070"/>
                  <a:pt x="5490172" y="300724"/>
                  <a:pt x="5472095" y="300724"/>
                </a:cubicBezTo>
                <a:lnTo>
                  <a:pt x="32731" y="300724"/>
                </a:lnTo>
                <a:cubicBezTo>
                  <a:pt x="14654" y="300724"/>
                  <a:pt x="0" y="286070"/>
                  <a:pt x="0" y="267993"/>
                </a:cubicBezTo>
                <a:lnTo>
                  <a:pt x="0" y="32731"/>
                </a:lnTo>
                <a:cubicBezTo>
                  <a:pt x="0" y="14666"/>
                  <a:pt x="14666" y="0"/>
                  <a:pt x="3273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9943" y="3218227"/>
            <a:ext cx="542503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Cambió estrategias de poker profesional. Pluribus juega más agresivo que humanos.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0301" y="3626100"/>
            <a:ext cx="11527183" cy="1609932"/>
          </a:xfrm>
          <a:custGeom>
            <a:avLst/>
            <a:gdLst/>
            <a:ahLst/>
            <a:cxnLst/>
            <a:rect l="l" t="t" r="r" b="b"/>
            <a:pathLst>
              <a:path w="11527183" h="1609932">
                <a:moveTo>
                  <a:pt x="65460" y="0"/>
                </a:moveTo>
                <a:lnTo>
                  <a:pt x="11461723" y="0"/>
                </a:lnTo>
                <a:cubicBezTo>
                  <a:pt x="11497876" y="0"/>
                  <a:pt x="11527183" y="29307"/>
                  <a:pt x="11527183" y="65460"/>
                </a:cubicBezTo>
                <a:lnTo>
                  <a:pt x="11527183" y="1544472"/>
                </a:lnTo>
                <a:cubicBezTo>
                  <a:pt x="11527183" y="1580625"/>
                  <a:pt x="11497876" y="1609932"/>
                  <a:pt x="11461723" y="1609932"/>
                </a:cubicBezTo>
                <a:lnTo>
                  <a:pt x="65460" y="1609932"/>
                </a:lnTo>
                <a:cubicBezTo>
                  <a:pt x="29307" y="1609932"/>
                  <a:pt x="0" y="1580625"/>
                  <a:pt x="0" y="1544472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26" y="3727327"/>
            <a:ext cx="1139829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Diferencias Clave entre Juegos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1526" y="4021771"/>
            <a:ext cx="3706695" cy="1112827"/>
          </a:xfrm>
          <a:custGeom>
            <a:avLst/>
            <a:gdLst/>
            <a:ahLst/>
            <a:cxnLst/>
            <a:rect l="l" t="t" r="r" b="b"/>
            <a:pathLst>
              <a:path w="3706695" h="1112827">
                <a:moveTo>
                  <a:pt x="32728" y="0"/>
                </a:moveTo>
                <a:lnTo>
                  <a:pt x="3673967" y="0"/>
                </a:lnTo>
                <a:cubicBezTo>
                  <a:pt x="3692042" y="0"/>
                  <a:pt x="3706695" y="14653"/>
                  <a:pt x="3706695" y="32728"/>
                </a:cubicBezTo>
                <a:lnTo>
                  <a:pt x="3706695" y="1080099"/>
                </a:lnTo>
                <a:cubicBezTo>
                  <a:pt x="3706695" y="1098174"/>
                  <a:pt x="3692042" y="1112827"/>
                  <a:pt x="3673967" y="1112827"/>
                </a:cubicBezTo>
                <a:lnTo>
                  <a:pt x="32728" y="1112827"/>
                </a:lnTo>
                <a:cubicBezTo>
                  <a:pt x="14653" y="1112827"/>
                  <a:pt x="0" y="1098174"/>
                  <a:pt x="0" y="1080099"/>
                </a:cubicBezTo>
                <a:lnTo>
                  <a:pt x="0" y="32728"/>
                </a:lnTo>
                <a:cubicBezTo>
                  <a:pt x="0" y="14665"/>
                  <a:pt x="14665" y="0"/>
                  <a:pt x="3272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9674" y="4119922"/>
            <a:ext cx="357577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Ajedrez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9674" y="4381684"/>
            <a:ext cx="3567592" cy="654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Información perfecta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Sin azar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Reglas claras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ML supervisado funciona bien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39892" y="4021771"/>
            <a:ext cx="3706695" cy="1112827"/>
          </a:xfrm>
          <a:custGeom>
            <a:avLst/>
            <a:gdLst/>
            <a:ahLst/>
            <a:cxnLst/>
            <a:rect l="l" t="t" r="r" b="b"/>
            <a:pathLst>
              <a:path w="3706695" h="1112827">
                <a:moveTo>
                  <a:pt x="32728" y="0"/>
                </a:moveTo>
                <a:lnTo>
                  <a:pt x="3673967" y="0"/>
                </a:lnTo>
                <a:cubicBezTo>
                  <a:pt x="3692042" y="0"/>
                  <a:pt x="3706695" y="14653"/>
                  <a:pt x="3706695" y="32728"/>
                </a:cubicBezTo>
                <a:lnTo>
                  <a:pt x="3706695" y="1080099"/>
                </a:lnTo>
                <a:cubicBezTo>
                  <a:pt x="3706695" y="1098174"/>
                  <a:pt x="3692042" y="1112827"/>
                  <a:pt x="3673967" y="1112827"/>
                </a:cubicBezTo>
                <a:lnTo>
                  <a:pt x="32728" y="1112827"/>
                </a:lnTo>
                <a:cubicBezTo>
                  <a:pt x="14653" y="1112827"/>
                  <a:pt x="0" y="1098174"/>
                  <a:pt x="0" y="1080099"/>
                </a:cubicBezTo>
                <a:lnTo>
                  <a:pt x="0" y="32728"/>
                </a:lnTo>
                <a:cubicBezTo>
                  <a:pt x="0" y="14665"/>
                  <a:pt x="14665" y="0"/>
                  <a:pt x="3272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338040" y="4119922"/>
            <a:ext cx="357577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38040" y="4381684"/>
            <a:ext cx="3567592" cy="654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Información perfecta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Sin azar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Reglas simples, complejidad masiva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Requiere RL + búsqueda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48257" y="4021771"/>
            <a:ext cx="3706695" cy="1112827"/>
          </a:xfrm>
          <a:custGeom>
            <a:avLst/>
            <a:gdLst/>
            <a:ahLst/>
            <a:cxnLst/>
            <a:rect l="l" t="t" r="r" b="b"/>
            <a:pathLst>
              <a:path w="3706695" h="1112827">
                <a:moveTo>
                  <a:pt x="32728" y="0"/>
                </a:moveTo>
                <a:lnTo>
                  <a:pt x="3673967" y="0"/>
                </a:lnTo>
                <a:cubicBezTo>
                  <a:pt x="3692042" y="0"/>
                  <a:pt x="3706695" y="14653"/>
                  <a:pt x="3706695" y="32728"/>
                </a:cubicBezTo>
                <a:lnTo>
                  <a:pt x="3706695" y="1080099"/>
                </a:lnTo>
                <a:cubicBezTo>
                  <a:pt x="3706695" y="1098174"/>
                  <a:pt x="3692042" y="1112827"/>
                  <a:pt x="3673967" y="1112827"/>
                </a:cubicBezTo>
                <a:lnTo>
                  <a:pt x="32728" y="1112827"/>
                </a:lnTo>
                <a:cubicBezTo>
                  <a:pt x="14653" y="1112827"/>
                  <a:pt x="0" y="1098174"/>
                  <a:pt x="0" y="1080099"/>
                </a:cubicBezTo>
                <a:lnTo>
                  <a:pt x="0" y="32728"/>
                </a:lnTo>
                <a:cubicBezTo>
                  <a:pt x="0" y="14665"/>
                  <a:pt x="14665" y="0"/>
                  <a:pt x="3272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46406" y="4119922"/>
            <a:ext cx="357577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Poker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46406" y="4381684"/>
            <a:ext cx="3567592" cy="654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Información imperfecta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Elemento de azar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Psicología importante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Requiere teoría de juegos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30301" y="5307023"/>
            <a:ext cx="11527183" cy="562566"/>
          </a:xfrm>
          <a:custGeom>
            <a:avLst/>
            <a:gdLst/>
            <a:ahLst/>
            <a:cxnLst/>
            <a:rect l="l" t="t" r="r" b="b"/>
            <a:pathLst>
              <a:path w="11527183" h="562566">
                <a:moveTo>
                  <a:pt x="65460" y="0"/>
                </a:moveTo>
                <a:lnTo>
                  <a:pt x="11461723" y="0"/>
                </a:lnTo>
                <a:cubicBezTo>
                  <a:pt x="11497876" y="0"/>
                  <a:pt x="11527183" y="29308"/>
                  <a:pt x="11527183" y="65460"/>
                </a:cubicBezTo>
                <a:lnTo>
                  <a:pt x="11527183" y="497106"/>
                </a:lnTo>
                <a:cubicBezTo>
                  <a:pt x="11527183" y="533258"/>
                  <a:pt x="11497876" y="562566"/>
                  <a:pt x="11461723" y="562566"/>
                </a:cubicBezTo>
                <a:lnTo>
                  <a:pt x="65460" y="562566"/>
                </a:lnTo>
                <a:cubicBezTo>
                  <a:pt x="29332" y="562566"/>
                  <a:pt x="0" y="533234"/>
                  <a:pt x="0" y="497106"/>
                </a:cubicBezTo>
                <a:lnTo>
                  <a:pt x="0" y="65460"/>
                </a:lnTo>
                <a:cubicBezTo>
                  <a:pt x="0" y="29308"/>
                  <a:pt x="29308" y="0"/>
                  <a:pt x="654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621" y="5490052"/>
            <a:ext cx="147286" cy="196381"/>
          </a:xfrm>
          <a:custGeom>
            <a:avLst/>
            <a:gdLst/>
            <a:ahLst/>
            <a:cxnLst/>
            <a:rect l="l" t="t" r="r" b="b"/>
            <a:pathLst>
              <a:path w="147286" h="196381">
                <a:moveTo>
                  <a:pt x="112344" y="147286"/>
                </a:moveTo>
                <a:cubicBezTo>
                  <a:pt x="115144" y="138733"/>
                  <a:pt x="120744" y="130985"/>
                  <a:pt x="127072" y="124311"/>
                </a:cubicBezTo>
                <a:cubicBezTo>
                  <a:pt x="139615" y="111116"/>
                  <a:pt x="147286" y="93281"/>
                  <a:pt x="147286" y="73643"/>
                </a:cubicBezTo>
                <a:cubicBezTo>
                  <a:pt x="147286" y="32986"/>
                  <a:pt x="114300" y="0"/>
                  <a:pt x="73643" y="0"/>
                </a:cubicBezTo>
                <a:cubicBezTo>
                  <a:pt x="32986" y="0"/>
                  <a:pt x="0" y="32986"/>
                  <a:pt x="0" y="73643"/>
                </a:cubicBezTo>
                <a:cubicBezTo>
                  <a:pt x="0" y="93281"/>
                  <a:pt x="7671" y="111116"/>
                  <a:pt x="20213" y="124311"/>
                </a:cubicBezTo>
                <a:cubicBezTo>
                  <a:pt x="26542" y="130985"/>
                  <a:pt x="32180" y="138733"/>
                  <a:pt x="34942" y="147286"/>
                </a:cubicBezTo>
                <a:lnTo>
                  <a:pt x="112306" y="147286"/>
                </a:lnTo>
                <a:close/>
                <a:moveTo>
                  <a:pt x="110464" y="165697"/>
                </a:moveTo>
                <a:lnTo>
                  <a:pt x="36821" y="165697"/>
                </a:lnTo>
                <a:lnTo>
                  <a:pt x="36821" y="171834"/>
                </a:lnTo>
                <a:cubicBezTo>
                  <a:pt x="36821" y="188787"/>
                  <a:pt x="50553" y="202518"/>
                  <a:pt x="67506" y="202518"/>
                </a:cubicBezTo>
                <a:lnTo>
                  <a:pt x="79780" y="202518"/>
                </a:lnTo>
                <a:cubicBezTo>
                  <a:pt x="96733" y="202518"/>
                  <a:pt x="110464" y="188787"/>
                  <a:pt x="110464" y="171834"/>
                </a:cubicBezTo>
                <a:lnTo>
                  <a:pt x="110464" y="165697"/>
                </a:lnTo>
                <a:close/>
                <a:moveTo>
                  <a:pt x="70574" y="42958"/>
                </a:moveTo>
                <a:cubicBezTo>
                  <a:pt x="55309" y="42958"/>
                  <a:pt x="42958" y="55309"/>
                  <a:pt x="42958" y="70574"/>
                </a:cubicBezTo>
                <a:cubicBezTo>
                  <a:pt x="42958" y="75676"/>
                  <a:pt x="38854" y="79780"/>
                  <a:pt x="33753" y="79780"/>
                </a:cubicBezTo>
                <a:cubicBezTo>
                  <a:pt x="28652" y="79780"/>
                  <a:pt x="24548" y="75676"/>
                  <a:pt x="24548" y="70574"/>
                </a:cubicBezTo>
                <a:cubicBezTo>
                  <a:pt x="24548" y="45145"/>
                  <a:pt x="45145" y="24548"/>
                  <a:pt x="70574" y="24548"/>
                </a:cubicBezTo>
                <a:cubicBezTo>
                  <a:pt x="75676" y="24548"/>
                  <a:pt x="79780" y="28652"/>
                  <a:pt x="79780" y="33753"/>
                </a:cubicBezTo>
                <a:cubicBezTo>
                  <a:pt x="79780" y="38854"/>
                  <a:pt x="75676" y="42958"/>
                  <a:pt x="70574" y="4295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775093" y="5408250"/>
            <a:ext cx="9434481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Principios Transferibles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5093" y="5604639"/>
            <a:ext cx="942629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mismos principios de ML (feature engineering, redes neuronales, ensembles) se adaptan a cada tipo de juego. La clave es entender las características específicas del dominio.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677" y="328750"/>
            <a:ext cx="2519040" cy="169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spc="51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2677" y="580806"/>
            <a:ext cx="1169173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7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en Finanzas: Predicción de Riesgos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711" y="970978"/>
            <a:ext cx="5718797" cy="3015740"/>
          </a:xfrm>
          <a:custGeom>
            <a:avLst/>
            <a:gdLst/>
            <a:ahLst/>
            <a:cxnLst/>
            <a:rect l="l" t="t" r="r" b="b"/>
            <a:pathLst>
              <a:path w="5718797" h="3015740">
                <a:moveTo>
                  <a:pt x="64537" y="0"/>
                </a:moveTo>
                <a:lnTo>
                  <a:pt x="5654261" y="0"/>
                </a:lnTo>
                <a:cubicBezTo>
                  <a:pt x="5689903" y="0"/>
                  <a:pt x="5718797" y="28894"/>
                  <a:pt x="5718797" y="64537"/>
                </a:cubicBezTo>
                <a:lnTo>
                  <a:pt x="5718797" y="2951203"/>
                </a:lnTo>
                <a:cubicBezTo>
                  <a:pt x="5718797" y="2986846"/>
                  <a:pt x="5689903" y="3015740"/>
                  <a:pt x="5654261" y="3015740"/>
                </a:cubicBezTo>
                <a:lnTo>
                  <a:pt x="64537" y="3015740"/>
                </a:lnTo>
                <a:cubicBezTo>
                  <a:pt x="28894" y="3015740"/>
                  <a:pt x="0" y="2986846"/>
                  <a:pt x="0" y="2951203"/>
                </a:cubicBezTo>
                <a:lnTo>
                  <a:pt x="0" y="64537"/>
                </a:lnTo>
                <a:cubicBezTo>
                  <a:pt x="0" y="28894"/>
                  <a:pt x="28894" y="0"/>
                  <a:pt x="6453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528" y="1070790"/>
            <a:ext cx="5591698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528" y="1361142"/>
            <a:ext cx="5519079" cy="677782"/>
          </a:xfrm>
          <a:custGeom>
            <a:avLst/>
            <a:gdLst/>
            <a:ahLst/>
            <a:cxnLst/>
            <a:rect l="l" t="t" r="r" b="b"/>
            <a:pathLst>
              <a:path w="5519079" h="677782">
                <a:moveTo>
                  <a:pt x="32276" y="0"/>
                </a:moveTo>
                <a:lnTo>
                  <a:pt x="5486803" y="0"/>
                </a:lnTo>
                <a:cubicBezTo>
                  <a:pt x="5504628" y="0"/>
                  <a:pt x="5519079" y="14450"/>
                  <a:pt x="5519079" y="32276"/>
                </a:cubicBezTo>
                <a:lnTo>
                  <a:pt x="5519079" y="645506"/>
                </a:lnTo>
                <a:cubicBezTo>
                  <a:pt x="5519079" y="663331"/>
                  <a:pt x="5504628" y="677782"/>
                  <a:pt x="5486803" y="677782"/>
                </a:cubicBezTo>
                <a:lnTo>
                  <a:pt x="32276" y="677782"/>
                </a:lnTo>
                <a:cubicBezTo>
                  <a:pt x="14450" y="677782"/>
                  <a:pt x="0" y="663331"/>
                  <a:pt x="0" y="645506"/>
                </a:cubicBezTo>
                <a:lnTo>
                  <a:pt x="0" y="32276"/>
                </a:lnTo>
                <a:cubicBezTo>
                  <a:pt x="0" y="14450"/>
                  <a:pt x="14450" y="0"/>
                  <a:pt x="3227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9988" y="1425606"/>
            <a:ext cx="545452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 Análogo al Ajedrez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988" y="1651494"/>
            <a:ext cx="5446459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Predecir si alguien pagará un préstamo (good) o resultará en default (blunder). Mismo desbalanceo: ~90% pagan, ~10% no.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528" y="2103096"/>
            <a:ext cx="5519079" cy="516405"/>
          </a:xfrm>
          <a:custGeom>
            <a:avLst/>
            <a:gdLst/>
            <a:ahLst/>
            <a:cxnLst/>
            <a:rect l="l" t="t" r="r" b="b"/>
            <a:pathLst>
              <a:path w="5519079" h="516405">
                <a:moveTo>
                  <a:pt x="32275" y="0"/>
                </a:moveTo>
                <a:lnTo>
                  <a:pt x="5486803" y="0"/>
                </a:lnTo>
                <a:cubicBezTo>
                  <a:pt x="5504629" y="0"/>
                  <a:pt x="5519079" y="14450"/>
                  <a:pt x="5519079" y="32275"/>
                </a:cubicBezTo>
                <a:lnTo>
                  <a:pt x="5519079" y="484130"/>
                </a:lnTo>
                <a:cubicBezTo>
                  <a:pt x="5519079" y="501955"/>
                  <a:pt x="5504629" y="516405"/>
                  <a:pt x="5486803" y="516405"/>
                </a:cubicBezTo>
                <a:lnTo>
                  <a:pt x="32275" y="516405"/>
                </a:lnTo>
                <a:cubicBezTo>
                  <a:pt x="14450" y="516405"/>
                  <a:pt x="0" y="501955"/>
                  <a:pt x="0" y="484130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9988" y="2167552"/>
            <a:ext cx="545452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Mismos Algoritmos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988" y="2393448"/>
            <a:ext cx="5446459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XGBoost, Random Forest, MLP que usamos en Chess Trainer se aplican directamente.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528" y="2683705"/>
            <a:ext cx="5519079" cy="839158"/>
          </a:xfrm>
          <a:custGeom>
            <a:avLst/>
            <a:gdLst/>
            <a:ahLst/>
            <a:cxnLst/>
            <a:rect l="l" t="t" r="r" b="b"/>
            <a:pathLst>
              <a:path w="5519079" h="839158">
                <a:moveTo>
                  <a:pt x="32274" y="0"/>
                </a:moveTo>
                <a:lnTo>
                  <a:pt x="5486805" y="0"/>
                </a:lnTo>
                <a:cubicBezTo>
                  <a:pt x="5504629" y="0"/>
                  <a:pt x="5519079" y="14450"/>
                  <a:pt x="5519079" y="32274"/>
                </a:cubicBezTo>
                <a:lnTo>
                  <a:pt x="5519079" y="806884"/>
                </a:lnTo>
                <a:cubicBezTo>
                  <a:pt x="5519079" y="824709"/>
                  <a:pt x="5504629" y="839158"/>
                  <a:pt x="5486805" y="839158"/>
                </a:cubicBezTo>
                <a:lnTo>
                  <a:pt x="32274" y="839158"/>
                </a:lnTo>
                <a:cubicBezTo>
                  <a:pt x="14462" y="839158"/>
                  <a:pt x="0" y="824697"/>
                  <a:pt x="0" y="806884"/>
                </a:cubicBezTo>
                <a:lnTo>
                  <a:pt x="0" y="32274"/>
                </a:lnTo>
                <a:cubicBezTo>
                  <a:pt x="0" y="14462"/>
                  <a:pt x="14462" y="0"/>
                  <a:pt x="322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9988" y="2748161"/>
            <a:ext cx="545452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Similares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988" y="2974057"/>
            <a:ext cx="5446459" cy="484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Historial crediticio = evaluación posicional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de ingresos/gastos = balance material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Complejidad financiera = branching factor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8562" y="3590030"/>
            <a:ext cx="5517077" cy="296545"/>
          </a:xfrm>
          <a:custGeom>
            <a:avLst/>
            <a:gdLst/>
            <a:ahLst/>
            <a:cxnLst/>
            <a:rect l="l" t="t" r="r" b="b"/>
            <a:pathLst>
              <a:path w="5517077" h="296545">
                <a:moveTo>
                  <a:pt x="32276" y="0"/>
                </a:moveTo>
                <a:lnTo>
                  <a:pt x="5484801" y="0"/>
                </a:lnTo>
                <a:cubicBezTo>
                  <a:pt x="5502626" y="0"/>
                  <a:pt x="5517077" y="14450"/>
                  <a:pt x="5517077" y="32276"/>
                </a:cubicBezTo>
                <a:lnTo>
                  <a:pt x="5517077" y="264269"/>
                </a:lnTo>
                <a:cubicBezTo>
                  <a:pt x="5517077" y="282094"/>
                  <a:pt x="5502626" y="296545"/>
                  <a:pt x="5484801" y="296545"/>
                </a:cubicBezTo>
                <a:lnTo>
                  <a:pt x="32276" y="296545"/>
                </a:lnTo>
                <a:cubicBezTo>
                  <a:pt x="14450" y="296545"/>
                  <a:pt x="0" y="282094"/>
                  <a:pt x="0" y="264269"/>
                </a:cubicBezTo>
                <a:lnTo>
                  <a:pt x="0" y="32276"/>
                </a:lnTo>
                <a:cubicBezTo>
                  <a:pt x="0" y="14462"/>
                  <a:pt x="14462" y="0"/>
                  <a:pt x="32276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055" y="3657520"/>
            <a:ext cx="5438390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Resultados:</a:t>
            </a:r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93-98% accuracy. Bancos ahorran millones en préstamos incobrables.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47837" y="970978"/>
            <a:ext cx="5718797" cy="3015740"/>
          </a:xfrm>
          <a:custGeom>
            <a:avLst/>
            <a:gdLst/>
            <a:ahLst/>
            <a:cxnLst/>
            <a:rect l="l" t="t" r="r" b="b"/>
            <a:pathLst>
              <a:path w="5718797" h="3015740">
                <a:moveTo>
                  <a:pt x="64537" y="0"/>
                </a:moveTo>
                <a:lnTo>
                  <a:pt x="5654261" y="0"/>
                </a:lnTo>
                <a:cubicBezTo>
                  <a:pt x="5689903" y="0"/>
                  <a:pt x="5718797" y="28894"/>
                  <a:pt x="5718797" y="64537"/>
                </a:cubicBezTo>
                <a:lnTo>
                  <a:pt x="5718797" y="2951203"/>
                </a:lnTo>
                <a:cubicBezTo>
                  <a:pt x="5718797" y="2986846"/>
                  <a:pt x="5689903" y="3015740"/>
                  <a:pt x="5654261" y="3015740"/>
                </a:cubicBezTo>
                <a:lnTo>
                  <a:pt x="64537" y="3015740"/>
                </a:lnTo>
                <a:cubicBezTo>
                  <a:pt x="28894" y="3015740"/>
                  <a:pt x="0" y="2986846"/>
                  <a:pt x="0" y="2951203"/>
                </a:cubicBezTo>
                <a:lnTo>
                  <a:pt x="0" y="64537"/>
                </a:lnTo>
                <a:cubicBezTo>
                  <a:pt x="0" y="28894"/>
                  <a:pt x="28894" y="0"/>
                  <a:pt x="6453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7654" y="1070790"/>
            <a:ext cx="5591698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Trading Algorítmico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7654" y="1361142"/>
            <a:ext cx="5519079" cy="516405"/>
          </a:xfrm>
          <a:custGeom>
            <a:avLst/>
            <a:gdLst/>
            <a:ahLst/>
            <a:cxnLst/>
            <a:rect l="l" t="t" r="r" b="b"/>
            <a:pathLst>
              <a:path w="5519079" h="516405">
                <a:moveTo>
                  <a:pt x="32275" y="0"/>
                </a:moveTo>
                <a:lnTo>
                  <a:pt x="5486803" y="0"/>
                </a:lnTo>
                <a:cubicBezTo>
                  <a:pt x="5504629" y="0"/>
                  <a:pt x="5519079" y="14450"/>
                  <a:pt x="5519079" y="32275"/>
                </a:cubicBezTo>
                <a:lnTo>
                  <a:pt x="5519079" y="484130"/>
                </a:lnTo>
                <a:cubicBezTo>
                  <a:pt x="5519079" y="501955"/>
                  <a:pt x="5504629" y="516405"/>
                  <a:pt x="5486803" y="516405"/>
                </a:cubicBezTo>
                <a:lnTo>
                  <a:pt x="32275" y="516405"/>
                </a:lnTo>
                <a:cubicBezTo>
                  <a:pt x="14450" y="516405"/>
                  <a:pt x="0" y="501955"/>
                  <a:pt x="0" y="484130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12114" y="1425606"/>
            <a:ext cx="545452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Precios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12114" y="1651494"/>
            <a:ext cx="5446459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(como en Fase 3 de Chess Trainer) predice movimientos de precios en series temporales.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7654" y="1941759"/>
            <a:ext cx="5519079" cy="677782"/>
          </a:xfrm>
          <a:custGeom>
            <a:avLst/>
            <a:gdLst/>
            <a:ahLst/>
            <a:cxnLst/>
            <a:rect l="l" t="t" r="r" b="b"/>
            <a:pathLst>
              <a:path w="5519079" h="677782">
                <a:moveTo>
                  <a:pt x="32276" y="0"/>
                </a:moveTo>
                <a:lnTo>
                  <a:pt x="5486803" y="0"/>
                </a:lnTo>
                <a:cubicBezTo>
                  <a:pt x="5504628" y="0"/>
                  <a:pt x="5519079" y="14450"/>
                  <a:pt x="5519079" y="32276"/>
                </a:cubicBezTo>
                <a:lnTo>
                  <a:pt x="5519079" y="645506"/>
                </a:lnTo>
                <a:cubicBezTo>
                  <a:pt x="5519079" y="663331"/>
                  <a:pt x="5504628" y="677782"/>
                  <a:pt x="5486803" y="677782"/>
                </a:cubicBezTo>
                <a:lnTo>
                  <a:pt x="32276" y="677782"/>
                </a:lnTo>
                <a:cubicBezTo>
                  <a:pt x="14450" y="677782"/>
                  <a:pt x="0" y="663331"/>
                  <a:pt x="0" y="645506"/>
                </a:cubicBezTo>
                <a:lnTo>
                  <a:pt x="0" y="32276"/>
                </a:lnTo>
                <a:cubicBezTo>
                  <a:pt x="0" y="14450"/>
                  <a:pt x="14450" y="0"/>
                  <a:pt x="3227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12114" y="2006215"/>
            <a:ext cx="545452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Fraude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2114" y="2232111"/>
            <a:ext cx="5446459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 Forest detecta transacciones anómalas en tiempo real, como detectar jugadas "fuera de patrón".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47654" y="2683705"/>
            <a:ext cx="5519079" cy="516405"/>
          </a:xfrm>
          <a:custGeom>
            <a:avLst/>
            <a:gdLst/>
            <a:ahLst/>
            <a:cxnLst/>
            <a:rect l="l" t="t" r="r" b="b"/>
            <a:pathLst>
              <a:path w="5519079" h="516405">
                <a:moveTo>
                  <a:pt x="32275" y="0"/>
                </a:moveTo>
                <a:lnTo>
                  <a:pt x="5486803" y="0"/>
                </a:lnTo>
                <a:cubicBezTo>
                  <a:pt x="5504629" y="0"/>
                  <a:pt x="5519079" y="14450"/>
                  <a:pt x="5519079" y="32275"/>
                </a:cubicBezTo>
                <a:lnTo>
                  <a:pt x="5519079" y="484130"/>
                </a:lnTo>
                <a:cubicBezTo>
                  <a:pt x="5519079" y="501955"/>
                  <a:pt x="5504629" y="516405"/>
                  <a:pt x="5486803" y="516405"/>
                </a:cubicBezTo>
                <a:lnTo>
                  <a:pt x="32275" y="516405"/>
                </a:lnTo>
                <a:cubicBezTo>
                  <a:pt x="14450" y="516405"/>
                  <a:pt x="0" y="501955"/>
                  <a:pt x="0" y="484130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12114" y="2748161"/>
            <a:ext cx="545452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12114" y="2974057"/>
            <a:ext cx="5446459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 predice deterioro crediticio con anticipación, como predecir "rachas de errores".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0688" y="3267347"/>
            <a:ext cx="5517077" cy="296545"/>
          </a:xfrm>
          <a:custGeom>
            <a:avLst/>
            <a:gdLst/>
            <a:ahLst/>
            <a:cxnLst/>
            <a:rect l="l" t="t" r="r" b="b"/>
            <a:pathLst>
              <a:path w="5517077" h="296545">
                <a:moveTo>
                  <a:pt x="32276" y="0"/>
                </a:moveTo>
                <a:lnTo>
                  <a:pt x="5484801" y="0"/>
                </a:lnTo>
                <a:cubicBezTo>
                  <a:pt x="5502626" y="0"/>
                  <a:pt x="5517077" y="14450"/>
                  <a:pt x="5517077" y="32276"/>
                </a:cubicBezTo>
                <a:lnTo>
                  <a:pt x="5517077" y="264269"/>
                </a:lnTo>
                <a:cubicBezTo>
                  <a:pt x="5517077" y="282094"/>
                  <a:pt x="5502626" y="296545"/>
                  <a:pt x="5484801" y="296545"/>
                </a:cubicBezTo>
                <a:lnTo>
                  <a:pt x="32276" y="296545"/>
                </a:lnTo>
                <a:cubicBezTo>
                  <a:pt x="14450" y="296545"/>
                  <a:pt x="0" y="282094"/>
                  <a:pt x="0" y="264269"/>
                </a:cubicBezTo>
                <a:lnTo>
                  <a:pt x="0" y="32276"/>
                </a:lnTo>
                <a:cubicBezTo>
                  <a:pt x="0" y="14462"/>
                  <a:pt x="14462" y="0"/>
                  <a:pt x="32276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181" y="3334845"/>
            <a:ext cx="5438390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Evaluar el riesgo de una jugada es como evaluar el riesgo de una inversión.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5711" y="4059732"/>
            <a:ext cx="11544492" cy="1684383"/>
          </a:xfrm>
          <a:custGeom>
            <a:avLst/>
            <a:gdLst/>
            <a:ahLst/>
            <a:cxnLst/>
            <a:rect l="l" t="t" r="r" b="b"/>
            <a:pathLst>
              <a:path w="11544492" h="1684383">
                <a:moveTo>
                  <a:pt x="64546" y="0"/>
                </a:moveTo>
                <a:lnTo>
                  <a:pt x="11479946" y="0"/>
                </a:lnTo>
                <a:cubicBezTo>
                  <a:pt x="11515594" y="0"/>
                  <a:pt x="11544492" y="28898"/>
                  <a:pt x="11544492" y="64546"/>
                </a:cubicBezTo>
                <a:lnTo>
                  <a:pt x="11544492" y="1619838"/>
                </a:lnTo>
                <a:cubicBezTo>
                  <a:pt x="11544492" y="1655485"/>
                  <a:pt x="11515594" y="1684383"/>
                  <a:pt x="11479946" y="1684383"/>
                </a:cubicBezTo>
                <a:lnTo>
                  <a:pt x="64546" y="1684383"/>
                </a:lnTo>
                <a:cubicBezTo>
                  <a:pt x="28898" y="1684383"/>
                  <a:pt x="0" y="1655485"/>
                  <a:pt x="0" y="1619838"/>
                </a:cubicBezTo>
                <a:lnTo>
                  <a:pt x="0" y="64546"/>
                </a:lnTo>
                <a:cubicBezTo>
                  <a:pt x="0" y="28922"/>
                  <a:pt x="28922" y="0"/>
                  <a:pt x="6454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528" y="4159544"/>
            <a:ext cx="11417392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Comparación: Ajedrez vs Finanzas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528" y="4449896"/>
            <a:ext cx="5623974" cy="1194187"/>
          </a:xfrm>
          <a:custGeom>
            <a:avLst/>
            <a:gdLst/>
            <a:ahLst/>
            <a:cxnLst/>
            <a:rect l="l" t="t" r="r" b="b"/>
            <a:pathLst>
              <a:path w="5623974" h="1194187">
                <a:moveTo>
                  <a:pt x="32279" y="0"/>
                </a:moveTo>
                <a:lnTo>
                  <a:pt x="5591695" y="0"/>
                </a:lnTo>
                <a:cubicBezTo>
                  <a:pt x="5609522" y="0"/>
                  <a:pt x="5623974" y="14452"/>
                  <a:pt x="5623974" y="32279"/>
                </a:cubicBezTo>
                <a:lnTo>
                  <a:pt x="5623974" y="1161908"/>
                </a:lnTo>
                <a:cubicBezTo>
                  <a:pt x="5623974" y="1179735"/>
                  <a:pt x="5609522" y="1194187"/>
                  <a:pt x="5591695" y="1194187"/>
                </a:cubicBezTo>
                <a:lnTo>
                  <a:pt x="32279" y="1194187"/>
                </a:lnTo>
                <a:cubicBezTo>
                  <a:pt x="14452" y="1194187"/>
                  <a:pt x="0" y="1179735"/>
                  <a:pt x="0" y="1161908"/>
                </a:cubicBezTo>
                <a:lnTo>
                  <a:pt x="0" y="32279"/>
                </a:lnTo>
                <a:cubicBezTo>
                  <a:pt x="0" y="14464"/>
                  <a:pt x="14464" y="0"/>
                  <a:pt x="322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2313" y="4546682"/>
            <a:ext cx="549487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Ajedrez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2313" y="4804806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Predecir calidad de jugada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2313" y="4998371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Features: material, posición, tiempo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2313" y="5191944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Clases: good, inaccuracy, mistake, blunder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2313" y="5385510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Desbalanceo: 59:1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44804" y="4449896"/>
            <a:ext cx="5623974" cy="1194187"/>
          </a:xfrm>
          <a:custGeom>
            <a:avLst/>
            <a:gdLst/>
            <a:ahLst/>
            <a:cxnLst/>
            <a:rect l="l" t="t" r="r" b="b"/>
            <a:pathLst>
              <a:path w="5623974" h="1194187">
                <a:moveTo>
                  <a:pt x="32279" y="0"/>
                </a:moveTo>
                <a:lnTo>
                  <a:pt x="5591695" y="0"/>
                </a:lnTo>
                <a:cubicBezTo>
                  <a:pt x="5609522" y="0"/>
                  <a:pt x="5623974" y="14452"/>
                  <a:pt x="5623974" y="32279"/>
                </a:cubicBezTo>
                <a:lnTo>
                  <a:pt x="5623974" y="1161908"/>
                </a:lnTo>
                <a:cubicBezTo>
                  <a:pt x="5623974" y="1179735"/>
                  <a:pt x="5609522" y="1194187"/>
                  <a:pt x="5591695" y="1194187"/>
                </a:cubicBezTo>
                <a:lnTo>
                  <a:pt x="32279" y="1194187"/>
                </a:lnTo>
                <a:cubicBezTo>
                  <a:pt x="14452" y="1194187"/>
                  <a:pt x="0" y="1179735"/>
                  <a:pt x="0" y="1161908"/>
                </a:cubicBezTo>
                <a:lnTo>
                  <a:pt x="0" y="32279"/>
                </a:lnTo>
                <a:cubicBezTo>
                  <a:pt x="0" y="14464"/>
                  <a:pt x="14464" y="0"/>
                  <a:pt x="322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41588" y="4546682"/>
            <a:ext cx="549487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41588" y="4804806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Predecir probabilidad de default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41588" y="4998371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Features: historial, ratios, comportamiento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41588" y="5191944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Clases: paga, default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41588" y="5385510"/>
            <a:ext cx="548680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Desbalanceo: 9:1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5711" y="5813977"/>
            <a:ext cx="11544492" cy="554747"/>
          </a:xfrm>
          <a:custGeom>
            <a:avLst/>
            <a:gdLst/>
            <a:ahLst/>
            <a:cxnLst/>
            <a:rect l="l" t="t" r="r" b="b"/>
            <a:pathLst>
              <a:path w="11544492" h="554747">
                <a:moveTo>
                  <a:pt x="64550" y="0"/>
                </a:moveTo>
                <a:lnTo>
                  <a:pt x="11479941" y="0"/>
                </a:lnTo>
                <a:cubicBezTo>
                  <a:pt x="11515591" y="0"/>
                  <a:pt x="11544492" y="28900"/>
                  <a:pt x="11544492" y="64550"/>
                </a:cubicBezTo>
                <a:lnTo>
                  <a:pt x="11544492" y="490197"/>
                </a:lnTo>
                <a:cubicBezTo>
                  <a:pt x="11544492" y="525847"/>
                  <a:pt x="11515591" y="554747"/>
                  <a:pt x="11479941" y="554747"/>
                </a:cubicBezTo>
                <a:lnTo>
                  <a:pt x="64550" y="554747"/>
                </a:lnTo>
                <a:cubicBezTo>
                  <a:pt x="28900" y="554747"/>
                  <a:pt x="0" y="525847"/>
                  <a:pt x="0" y="490197"/>
                </a:cubicBezTo>
                <a:lnTo>
                  <a:pt x="0" y="64550"/>
                </a:lnTo>
                <a:cubicBezTo>
                  <a:pt x="0" y="28924"/>
                  <a:pt x="28924" y="0"/>
                  <a:pt x="645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9735" y="5994462"/>
            <a:ext cx="193652" cy="193652"/>
          </a:xfrm>
          <a:custGeom>
            <a:avLst/>
            <a:gdLst/>
            <a:ahLst/>
            <a:cxnLst/>
            <a:rect l="l" t="t" r="r" b="b"/>
            <a:pathLst>
              <a:path w="193652" h="193652">
                <a:moveTo>
                  <a:pt x="24206" y="24206"/>
                </a:moveTo>
                <a:cubicBezTo>
                  <a:pt x="24206" y="17512"/>
                  <a:pt x="18798" y="12103"/>
                  <a:pt x="12103" y="12103"/>
                </a:cubicBezTo>
                <a:cubicBezTo>
                  <a:pt x="5409" y="12103"/>
                  <a:pt x="0" y="17512"/>
                  <a:pt x="0" y="24206"/>
                </a:cubicBezTo>
                <a:lnTo>
                  <a:pt x="0" y="151291"/>
                </a:lnTo>
                <a:cubicBezTo>
                  <a:pt x="0" y="168008"/>
                  <a:pt x="13541" y="181549"/>
                  <a:pt x="30258" y="181549"/>
                </a:cubicBezTo>
                <a:lnTo>
                  <a:pt x="181549" y="181549"/>
                </a:lnTo>
                <a:cubicBezTo>
                  <a:pt x="188243" y="181549"/>
                  <a:pt x="193652" y="176140"/>
                  <a:pt x="193652" y="169445"/>
                </a:cubicBezTo>
                <a:cubicBezTo>
                  <a:pt x="193652" y="162751"/>
                  <a:pt x="188243" y="157342"/>
                  <a:pt x="181549" y="157342"/>
                </a:cubicBezTo>
                <a:lnTo>
                  <a:pt x="30258" y="157342"/>
                </a:lnTo>
                <a:cubicBezTo>
                  <a:pt x="26930" y="157342"/>
                  <a:pt x="24206" y="154619"/>
                  <a:pt x="24206" y="151291"/>
                </a:cubicBezTo>
                <a:lnTo>
                  <a:pt x="24206" y="24206"/>
                </a:lnTo>
                <a:close/>
                <a:moveTo>
                  <a:pt x="177993" y="56961"/>
                </a:moveTo>
                <a:cubicBezTo>
                  <a:pt x="182721" y="52233"/>
                  <a:pt x="182721" y="44555"/>
                  <a:pt x="177993" y="39827"/>
                </a:cubicBezTo>
                <a:cubicBezTo>
                  <a:pt x="173265" y="35099"/>
                  <a:pt x="165587" y="35099"/>
                  <a:pt x="160860" y="39827"/>
                </a:cubicBezTo>
                <a:lnTo>
                  <a:pt x="121032" y="79692"/>
                </a:lnTo>
                <a:lnTo>
                  <a:pt x="99322" y="58020"/>
                </a:lnTo>
                <a:cubicBezTo>
                  <a:pt x="94594" y="53292"/>
                  <a:pt x="86916" y="53292"/>
                  <a:pt x="82189" y="58020"/>
                </a:cubicBezTo>
                <a:lnTo>
                  <a:pt x="45879" y="94330"/>
                </a:lnTo>
                <a:cubicBezTo>
                  <a:pt x="41151" y="99057"/>
                  <a:pt x="41151" y="106735"/>
                  <a:pt x="45879" y="111463"/>
                </a:cubicBezTo>
                <a:cubicBezTo>
                  <a:pt x="50607" y="116191"/>
                  <a:pt x="58285" y="116191"/>
                  <a:pt x="63013" y="111463"/>
                </a:cubicBezTo>
                <a:lnTo>
                  <a:pt x="90774" y="83701"/>
                </a:lnTo>
                <a:lnTo>
                  <a:pt x="112485" y="105412"/>
                </a:lnTo>
                <a:cubicBezTo>
                  <a:pt x="117212" y="110140"/>
                  <a:pt x="124890" y="110140"/>
                  <a:pt x="129618" y="105412"/>
                </a:cubicBezTo>
                <a:lnTo>
                  <a:pt x="178031" y="5699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6" name="Text 44"/>
          <p:cNvSpPr/>
          <p:nvPr/>
        </p:nvSpPr>
        <p:spPr>
          <a:xfrm>
            <a:off x="764321" y="5913797"/>
            <a:ext cx="1093326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Mismo Cerebro, Diferentes Problemas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4321" y="6107457"/>
            <a:ext cx="10925194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algoritmos de ML son como un cerebro matemático que puede aprender cualquier patrón. Los mismos principios que detectan errores en ajedrez detectan fraudes en bancos o enfermedades en hospitales.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0" y="388069"/>
            <a:ext cx="2973648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10" y="685614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en Salud: Diagnóstico Médico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491" y="1146199"/>
            <a:ext cx="5655487" cy="2683687"/>
          </a:xfrm>
          <a:custGeom>
            <a:avLst/>
            <a:gdLst/>
            <a:ahLst/>
            <a:cxnLst/>
            <a:rect l="l" t="t" r="r" b="b"/>
            <a:pathLst>
              <a:path w="5655487" h="2683687">
                <a:moveTo>
                  <a:pt x="76190" y="0"/>
                </a:moveTo>
                <a:lnTo>
                  <a:pt x="5579297" y="0"/>
                </a:lnTo>
                <a:cubicBezTo>
                  <a:pt x="5621375" y="0"/>
                  <a:pt x="5655487" y="34111"/>
                  <a:pt x="5655487" y="76190"/>
                </a:cubicBezTo>
                <a:lnTo>
                  <a:pt x="5655487" y="2607497"/>
                </a:lnTo>
                <a:cubicBezTo>
                  <a:pt x="5655487" y="2649575"/>
                  <a:pt x="5621375" y="2683687"/>
                  <a:pt x="5579297" y="2683687"/>
                </a:cubicBezTo>
                <a:lnTo>
                  <a:pt x="76190" y="2683687"/>
                </a:lnTo>
                <a:cubicBezTo>
                  <a:pt x="34111" y="2683687"/>
                  <a:pt x="0" y="2649575"/>
                  <a:pt x="0" y="2607497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323" y="1264034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Imágenes Médicas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323" y="1606786"/>
            <a:ext cx="5419725" cy="800100"/>
          </a:xfrm>
          <a:custGeom>
            <a:avLst/>
            <a:gdLst/>
            <a:ahLst/>
            <a:cxnLst/>
            <a:rect l="l" t="t" r="r" b="b"/>
            <a:pathLst>
              <a:path w="5419725" h="800100">
                <a:moveTo>
                  <a:pt x="38101" y="0"/>
                </a:moveTo>
                <a:lnTo>
                  <a:pt x="5381624" y="0"/>
                </a:lnTo>
                <a:cubicBezTo>
                  <a:pt x="5402667" y="0"/>
                  <a:pt x="5419725" y="17058"/>
                  <a:pt x="5419725" y="38101"/>
                </a:cubicBezTo>
                <a:lnTo>
                  <a:pt x="5419725" y="761999"/>
                </a:lnTo>
                <a:cubicBezTo>
                  <a:pt x="5419725" y="783042"/>
                  <a:pt x="5402667" y="800100"/>
                  <a:pt x="53816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78415" y="1682874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para Diagnóstico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8415" y="1949537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convolucionales (CNN) analizan mamografías, radiografías, tomografías.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323" y="2482630"/>
            <a:ext cx="5419725" cy="800100"/>
          </a:xfrm>
          <a:custGeom>
            <a:avLst/>
            <a:gdLst/>
            <a:ahLst/>
            <a:cxnLst/>
            <a:rect l="l" t="t" r="r" b="b"/>
            <a:pathLst>
              <a:path w="5419725" h="800100">
                <a:moveTo>
                  <a:pt x="38101" y="0"/>
                </a:moveTo>
                <a:lnTo>
                  <a:pt x="5381624" y="0"/>
                </a:lnTo>
                <a:cubicBezTo>
                  <a:pt x="5402667" y="0"/>
                  <a:pt x="5419725" y="17058"/>
                  <a:pt x="5419725" y="38101"/>
                </a:cubicBezTo>
                <a:lnTo>
                  <a:pt x="5419725" y="761999"/>
                </a:lnTo>
                <a:cubicBezTo>
                  <a:pt x="5419725" y="783042"/>
                  <a:pt x="5402667" y="800100"/>
                  <a:pt x="53816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8415" y="2558728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Cáncer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8415" y="2825381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Health: 94% accuracy en detección de cáncer de mama, comparable a radiólogos expertos.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5904" y="3362055"/>
            <a:ext cx="5407837" cy="350062"/>
          </a:xfrm>
          <a:custGeom>
            <a:avLst/>
            <a:gdLst/>
            <a:ahLst/>
            <a:cxnLst/>
            <a:rect l="l" t="t" r="r" b="b"/>
            <a:pathLst>
              <a:path w="5407837" h="350062">
                <a:moveTo>
                  <a:pt x="38101" y="0"/>
                </a:moveTo>
                <a:lnTo>
                  <a:pt x="5369736" y="0"/>
                </a:lnTo>
                <a:cubicBezTo>
                  <a:pt x="5390778" y="0"/>
                  <a:pt x="5407837" y="17058"/>
                  <a:pt x="5407837" y="38101"/>
                </a:cubicBezTo>
                <a:lnTo>
                  <a:pt x="5407837" y="311961"/>
                </a:lnTo>
                <a:cubicBezTo>
                  <a:pt x="5407837" y="333003"/>
                  <a:pt x="5390778" y="350062"/>
                  <a:pt x="5369736" y="350062"/>
                </a:cubicBezTo>
                <a:lnTo>
                  <a:pt x="38101" y="350062"/>
                </a:lnTo>
                <a:cubicBezTo>
                  <a:pt x="17058" y="350062"/>
                  <a:pt x="0" y="333003"/>
                  <a:pt x="0" y="311961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577" y="3441734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Reduce falsos negativos en 5.7% y falsos positivos en 1.2%.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6673" y="1146199"/>
            <a:ext cx="5655487" cy="2683687"/>
          </a:xfrm>
          <a:custGeom>
            <a:avLst/>
            <a:gdLst/>
            <a:ahLst/>
            <a:cxnLst/>
            <a:rect l="l" t="t" r="r" b="b"/>
            <a:pathLst>
              <a:path w="5655487" h="2683687">
                <a:moveTo>
                  <a:pt x="76190" y="0"/>
                </a:moveTo>
                <a:lnTo>
                  <a:pt x="5579297" y="0"/>
                </a:lnTo>
                <a:cubicBezTo>
                  <a:pt x="5621375" y="0"/>
                  <a:pt x="5655487" y="34111"/>
                  <a:pt x="5655487" y="76190"/>
                </a:cubicBezTo>
                <a:lnTo>
                  <a:pt x="5655487" y="2607497"/>
                </a:lnTo>
                <a:cubicBezTo>
                  <a:pt x="5655487" y="2649575"/>
                  <a:pt x="5621375" y="2683687"/>
                  <a:pt x="5579297" y="2683687"/>
                </a:cubicBezTo>
                <a:lnTo>
                  <a:pt x="76190" y="2683687"/>
                </a:lnTo>
                <a:cubicBezTo>
                  <a:pt x="34111" y="2683687"/>
                  <a:pt x="0" y="2649575"/>
                  <a:pt x="0" y="2607497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4504" y="1264034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Datos de Pacientes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4504" y="1606786"/>
            <a:ext cx="5419725" cy="609600"/>
          </a:xfrm>
          <a:custGeom>
            <a:avLst/>
            <a:gdLst/>
            <a:ahLst/>
            <a:cxnLst/>
            <a:rect l="l" t="t" r="r" b="b"/>
            <a:pathLst>
              <a:path w="5419725" h="609600">
                <a:moveTo>
                  <a:pt x="38100" y="0"/>
                </a:moveTo>
                <a:lnTo>
                  <a:pt x="5381625" y="0"/>
                </a:lnTo>
                <a:cubicBezTo>
                  <a:pt x="5402653" y="0"/>
                  <a:pt x="5419725" y="17072"/>
                  <a:pt x="5419725" y="38100"/>
                </a:cubicBezTo>
                <a:lnTo>
                  <a:pt x="5419725" y="571500"/>
                </a:lnTo>
                <a:cubicBezTo>
                  <a:pt x="5419725" y="592528"/>
                  <a:pt x="5402653" y="609600"/>
                  <a:pt x="53816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50597" y="1682874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 (como Fase 2)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597" y="1949537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Mismo tipo de red neuronal usada en Chess Trainer Fase 2 para datos tabulares.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4504" y="2292176"/>
            <a:ext cx="5419725" cy="800100"/>
          </a:xfrm>
          <a:custGeom>
            <a:avLst/>
            <a:gdLst/>
            <a:ahLst/>
            <a:cxnLst/>
            <a:rect l="l" t="t" r="r" b="b"/>
            <a:pathLst>
              <a:path w="5419725" h="800100">
                <a:moveTo>
                  <a:pt x="38101" y="0"/>
                </a:moveTo>
                <a:lnTo>
                  <a:pt x="5381624" y="0"/>
                </a:lnTo>
                <a:cubicBezTo>
                  <a:pt x="5402667" y="0"/>
                  <a:pt x="5419725" y="17058"/>
                  <a:pt x="5419725" y="38101"/>
                </a:cubicBezTo>
                <a:lnTo>
                  <a:pt x="5419725" y="761999"/>
                </a:lnTo>
                <a:cubicBezTo>
                  <a:pt x="5419725" y="783042"/>
                  <a:pt x="5402667" y="800100"/>
                  <a:pt x="53816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50597" y="2368265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Enfermedades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0597" y="2634928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predice evolución de enfermedades crónicas usando series temporales de biomarcadores.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78085" y="3171601"/>
            <a:ext cx="5407837" cy="350062"/>
          </a:xfrm>
          <a:custGeom>
            <a:avLst/>
            <a:gdLst/>
            <a:ahLst/>
            <a:cxnLst/>
            <a:rect l="l" t="t" r="r" b="b"/>
            <a:pathLst>
              <a:path w="5407837" h="350062">
                <a:moveTo>
                  <a:pt x="38101" y="0"/>
                </a:moveTo>
                <a:lnTo>
                  <a:pt x="5369736" y="0"/>
                </a:lnTo>
                <a:cubicBezTo>
                  <a:pt x="5390778" y="0"/>
                  <a:pt x="5407837" y="17058"/>
                  <a:pt x="5407837" y="38101"/>
                </a:cubicBezTo>
                <a:lnTo>
                  <a:pt x="5407837" y="311961"/>
                </a:lnTo>
                <a:cubicBezTo>
                  <a:pt x="5407837" y="333003"/>
                  <a:pt x="5390778" y="350062"/>
                  <a:pt x="5369736" y="350062"/>
                </a:cubicBezTo>
                <a:lnTo>
                  <a:pt x="38101" y="350062"/>
                </a:lnTo>
                <a:cubicBezTo>
                  <a:pt x="17058" y="350062"/>
                  <a:pt x="0" y="333003"/>
                  <a:pt x="0" y="311961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7758" y="3251281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Diagnosticar una posición es como diagnosticar una enfermedad.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491" y="3916533"/>
            <a:ext cx="11427637" cy="1454962"/>
          </a:xfrm>
          <a:custGeom>
            <a:avLst/>
            <a:gdLst/>
            <a:ahLst/>
            <a:cxnLst/>
            <a:rect l="l" t="t" r="r" b="b"/>
            <a:pathLst>
              <a:path w="11427637" h="1454962">
                <a:moveTo>
                  <a:pt x="76196" y="0"/>
                </a:moveTo>
                <a:lnTo>
                  <a:pt x="11351440" y="0"/>
                </a:lnTo>
                <a:cubicBezTo>
                  <a:pt x="11393522" y="0"/>
                  <a:pt x="11427637" y="34114"/>
                  <a:pt x="11427637" y="76196"/>
                </a:cubicBezTo>
                <a:lnTo>
                  <a:pt x="11427637" y="1378765"/>
                </a:lnTo>
                <a:cubicBezTo>
                  <a:pt x="11427637" y="1420847"/>
                  <a:pt x="11393522" y="1454962"/>
                  <a:pt x="11351440" y="1454962"/>
                </a:cubicBezTo>
                <a:lnTo>
                  <a:pt x="76196" y="1454962"/>
                </a:lnTo>
                <a:cubicBezTo>
                  <a:pt x="34114" y="1454962"/>
                  <a:pt x="0" y="1420847"/>
                  <a:pt x="0" y="1378765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323" y="4034358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Medicina Personalizada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323" y="4377110"/>
            <a:ext cx="3657600" cy="876300"/>
          </a:xfrm>
          <a:custGeom>
            <a:avLst/>
            <a:gdLst/>
            <a:ahLst/>
            <a:cxnLst/>
            <a:rect l="l" t="t" r="r" b="b"/>
            <a:pathLst>
              <a:path w="3657600" h="876300">
                <a:moveTo>
                  <a:pt x="38102" y="0"/>
                </a:moveTo>
                <a:lnTo>
                  <a:pt x="3619498" y="0"/>
                </a:lnTo>
                <a:cubicBezTo>
                  <a:pt x="3640541" y="0"/>
                  <a:pt x="3657600" y="17059"/>
                  <a:pt x="3657600" y="38102"/>
                </a:cubicBezTo>
                <a:lnTo>
                  <a:pt x="3657600" y="838198"/>
                </a:lnTo>
                <a:cubicBezTo>
                  <a:pt x="3657600" y="859241"/>
                  <a:pt x="3640541" y="876300"/>
                  <a:pt x="361949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6574" y="4491363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Genómico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6574" y="4758026"/>
            <a:ext cx="3495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detecta mutaciones y biomarcadores que predicen respuesta al tratamiento.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9465" y="4377110"/>
            <a:ext cx="3657600" cy="876300"/>
          </a:xfrm>
          <a:custGeom>
            <a:avLst/>
            <a:gdLst/>
            <a:ahLst/>
            <a:cxnLst/>
            <a:rect l="l" t="t" r="r" b="b"/>
            <a:pathLst>
              <a:path w="3657600" h="876300">
                <a:moveTo>
                  <a:pt x="38102" y="0"/>
                </a:moveTo>
                <a:lnTo>
                  <a:pt x="3619498" y="0"/>
                </a:lnTo>
                <a:cubicBezTo>
                  <a:pt x="3640541" y="0"/>
                  <a:pt x="3657600" y="17059"/>
                  <a:pt x="3657600" y="38102"/>
                </a:cubicBezTo>
                <a:lnTo>
                  <a:pt x="3657600" y="838198"/>
                </a:lnTo>
                <a:cubicBezTo>
                  <a:pt x="3657600" y="859241"/>
                  <a:pt x="3640541" y="876300"/>
                  <a:pt x="361949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383716" y="4491363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Estratificación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3716" y="4758026"/>
            <a:ext cx="3495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 (como Fase 4) clasifica pacientes por respuesta probable al tratamiento.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36607" y="4377110"/>
            <a:ext cx="3657600" cy="876300"/>
          </a:xfrm>
          <a:custGeom>
            <a:avLst/>
            <a:gdLst/>
            <a:ahLst/>
            <a:cxnLst/>
            <a:rect l="l" t="t" r="r" b="b"/>
            <a:pathLst>
              <a:path w="3657600" h="876300">
                <a:moveTo>
                  <a:pt x="38102" y="0"/>
                </a:moveTo>
                <a:lnTo>
                  <a:pt x="3619498" y="0"/>
                </a:lnTo>
                <a:cubicBezTo>
                  <a:pt x="3640541" y="0"/>
                  <a:pt x="3657600" y="17059"/>
                  <a:pt x="3657600" y="38102"/>
                </a:cubicBezTo>
                <a:lnTo>
                  <a:pt x="3657600" y="838198"/>
                </a:lnTo>
                <a:cubicBezTo>
                  <a:pt x="3657600" y="859241"/>
                  <a:pt x="3640541" y="876300"/>
                  <a:pt x="361949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150858" y="4491363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Diagnósticos de Acompañamiento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50858" y="4758026"/>
            <a:ext cx="3495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Identifican qué pacientes se beneficiarán de terapias específicas.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491" y="5454271"/>
            <a:ext cx="5655487" cy="845362"/>
          </a:xfrm>
          <a:custGeom>
            <a:avLst/>
            <a:gdLst/>
            <a:ahLst/>
            <a:cxnLst/>
            <a:rect l="l" t="t" r="r" b="b"/>
            <a:pathLst>
              <a:path w="5655487" h="845362">
                <a:moveTo>
                  <a:pt x="76201" y="0"/>
                </a:moveTo>
                <a:lnTo>
                  <a:pt x="5579286" y="0"/>
                </a:lnTo>
                <a:cubicBezTo>
                  <a:pt x="5621370" y="0"/>
                  <a:pt x="5655487" y="34116"/>
                  <a:pt x="5655487" y="76201"/>
                </a:cubicBezTo>
                <a:lnTo>
                  <a:pt x="5655487" y="769161"/>
                </a:lnTo>
                <a:cubicBezTo>
                  <a:pt x="5655487" y="811245"/>
                  <a:pt x="5621370" y="845362"/>
                  <a:pt x="5579286" y="845362"/>
                </a:cubicBezTo>
                <a:lnTo>
                  <a:pt x="76201" y="845362"/>
                </a:lnTo>
                <a:cubicBezTo>
                  <a:pt x="34116" y="845362"/>
                  <a:pt x="0" y="811245"/>
                  <a:pt x="0" y="769161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7560" y="57625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50006"/>
                </a:moveTo>
                <a:cubicBezTo>
                  <a:pt x="28575" y="38174"/>
                  <a:pt x="38174" y="28575"/>
                  <a:pt x="50006" y="28575"/>
                </a:cubicBezTo>
                <a:cubicBezTo>
                  <a:pt x="61838" y="28575"/>
                  <a:pt x="71438" y="38174"/>
                  <a:pt x="71438" y="50006"/>
                </a:cubicBezTo>
                <a:lnTo>
                  <a:pt x="71438" y="100013"/>
                </a:lnTo>
                <a:lnTo>
                  <a:pt x="28575" y="100013"/>
                </a:lnTo>
                <a:lnTo>
                  <a:pt x="28575" y="50006"/>
                </a:lnTo>
                <a:close/>
                <a:moveTo>
                  <a:pt x="78581" y="164306"/>
                </a:moveTo>
                <a:cubicBezTo>
                  <a:pt x="78581" y="142562"/>
                  <a:pt x="86663" y="122694"/>
                  <a:pt x="100013" y="107603"/>
                </a:cubicBezTo>
                <a:lnTo>
                  <a:pt x="100013" y="50006"/>
                </a:ln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lnTo>
                  <a:pt x="0" y="178594"/>
                </a:lnTo>
                <a:cubicBezTo>
                  <a:pt x="0" y="206231"/>
                  <a:pt x="22369" y="228600"/>
                  <a:pt x="50006" y="228600"/>
                </a:cubicBezTo>
                <a:cubicBezTo>
                  <a:pt x="66660" y="228600"/>
                  <a:pt x="81394" y="220474"/>
                  <a:pt x="90502" y="207928"/>
                </a:cubicBezTo>
                <a:cubicBezTo>
                  <a:pt x="82912" y="195158"/>
                  <a:pt x="78581" y="180246"/>
                  <a:pt x="78581" y="164306"/>
                </a:cubicBezTo>
                <a:close/>
                <a:moveTo>
                  <a:pt x="107469" y="194399"/>
                </a:moveTo>
                <a:cubicBezTo>
                  <a:pt x="109523" y="198284"/>
                  <a:pt x="114746" y="198730"/>
                  <a:pt x="117872" y="195605"/>
                </a:cubicBezTo>
                <a:lnTo>
                  <a:pt x="195605" y="117872"/>
                </a:lnTo>
                <a:cubicBezTo>
                  <a:pt x="198730" y="114746"/>
                  <a:pt x="198284" y="109523"/>
                  <a:pt x="194399" y="107469"/>
                </a:cubicBezTo>
                <a:cubicBezTo>
                  <a:pt x="185425" y="102691"/>
                  <a:pt x="175200" y="100013"/>
                  <a:pt x="164306" y="100013"/>
                </a:cubicBezTo>
                <a:cubicBezTo>
                  <a:pt x="128811" y="100013"/>
                  <a:pt x="100013" y="128811"/>
                  <a:pt x="100013" y="164306"/>
                </a:cubicBezTo>
                <a:cubicBezTo>
                  <a:pt x="100013" y="175156"/>
                  <a:pt x="102691" y="185425"/>
                  <a:pt x="107469" y="194399"/>
                </a:cubicBezTo>
                <a:close/>
                <a:moveTo>
                  <a:pt x="133008" y="210741"/>
                </a:moveTo>
                <a:cubicBezTo>
                  <a:pt x="129882" y="213866"/>
                  <a:pt x="130329" y="219090"/>
                  <a:pt x="134213" y="221144"/>
                </a:cubicBezTo>
                <a:cubicBezTo>
                  <a:pt x="143188" y="225921"/>
                  <a:pt x="153412" y="228600"/>
                  <a:pt x="164306" y="228600"/>
                </a:cubicBezTo>
                <a:cubicBezTo>
                  <a:pt x="199802" y="228600"/>
                  <a:pt x="228600" y="199802"/>
                  <a:pt x="228600" y="164306"/>
                </a:cubicBezTo>
                <a:cubicBezTo>
                  <a:pt x="228600" y="153457"/>
                  <a:pt x="225921" y="143188"/>
                  <a:pt x="221144" y="134213"/>
                </a:cubicBezTo>
                <a:cubicBezTo>
                  <a:pt x="219090" y="130329"/>
                  <a:pt x="213866" y="129882"/>
                  <a:pt x="210741" y="133008"/>
                </a:cubicBezTo>
                <a:lnTo>
                  <a:pt x="133008" y="21074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837466" y="5572097"/>
            <a:ext cx="515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Descubrimiento de Fármacos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7466" y="5800716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AlphaFold predice estructuras de proteínas. Exscientia: primer fármaco diseñado por IA en ensayos clínicos.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56673" y="5454271"/>
            <a:ext cx="5655487" cy="845362"/>
          </a:xfrm>
          <a:custGeom>
            <a:avLst/>
            <a:gdLst/>
            <a:ahLst/>
            <a:cxnLst/>
            <a:rect l="l" t="t" r="r" b="b"/>
            <a:pathLst>
              <a:path w="5655487" h="845362">
                <a:moveTo>
                  <a:pt x="76201" y="0"/>
                </a:moveTo>
                <a:lnTo>
                  <a:pt x="5579286" y="0"/>
                </a:lnTo>
                <a:cubicBezTo>
                  <a:pt x="5621370" y="0"/>
                  <a:pt x="5655487" y="34116"/>
                  <a:pt x="5655487" y="76201"/>
                </a:cubicBezTo>
                <a:lnTo>
                  <a:pt x="5655487" y="769161"/>
                </a:lnTo>
                <a:cubicBezTo>
                  <a:pt x="5655487" y="811245"/>
                  <a:pt x="5621370" y="845362"/>
                  <a:pt x="5579286" y="845362"/>
                </a:cubicBezTo>
                <a:lnTo>
                  <a:pt x="76201" y="845362"/>
                </a:lnTo>
                <a:cubicBezTo>
                  <a:pt x="34116" y="845362"/>
                  <a:pt x="0" y="811245"/>
                  <a:pt x="0" y="769161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6892" y="576256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1" name="Text 39"/>
          <p:cNvSpPr/>
          <p:nvPr/>
        </p:nvSpPr>
        <p:spPr>
          <a:xfrm>
            <a:off x="6665374" y="5572097"/>
            <a:ext cx="509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Farmacovigilancia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65374" y="5800716"/>
            <a:ext cx="508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eventos adversos en tiempo real usando NLP en registros electrónicos.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25" y="323399"/>
            <a:ext cx="2478040" cy="1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425" y="571353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en Otras Áreas de la Vida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409" y="955174"/>
            <a:ext cx="3784218" cy="2077656"/>
          </a:xfrm>
          <a:custGeom>
            <a:avLst/>
            <a:gdLst/>
            <a:ahLst/>
            <a:cxnLst/>
            <a:rect l="l" t="t" r="r" b="b"/>
            <a:pathLst>
              <a:path w="3784218" h="2077656">
                <a:moveTo>
                  <a:pt x="63493" y="0"/>
                </a:moveTo>
                <a:lnTo>
                  <a:pt x="3720725" y="0"/>
                </a:lnTo>
                <a:cubicBezTo>
                  <a:pt x="3755791" y="0"/>
                  <a:pt x="3784218" y="28427"/>
                  <a:pt x="3784218" y="63493"/>
                </a:cubicBezTo>
                <a:lnTo>
                  <a:pt x="3784218" y="2014162"/>
                </a:lnTo>
                <a:cubicBezTo>
                  <a:pt x="3784218" y="2049229"/>
                  <a:pt x="3755791" y="2077656"/>
                  <a:pt x="3720725" y="2077656"/>
                </a:cubicBezTo>
                <a:lnTo>
                  <a:pt x="63493" y="2077656"/>
                </a:lnTo>
                <a:cubicBezTo>
                  <a:pt x="28427" y="2077656"/>
                  <a:pt x="0" y="2049229"/>
                  <a:pt x="0" y="2014162"/>
                </a:cubicBezTo>
                <a:lnTo>
                  <a:pt x="0" y="63493"/>
                </a:lnTo>
                <a:cubicBezTo>
                  <a:pt x="0" y="28427"/>
                  <a:pt x="28427" y="0"/>
                  <a:pt x="6349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8602" y="1053362"/>
            <a:ext cx="36591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Netflix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602" y="1338988"/>
            <a:ext cx="3587750" cy="508000"/>
          </a:xfrm>
          <a:custGeom>
            <a:avLst/>
            <a:gdLst/>
            <a:ahLst/>
            <a:cxnLst/>
            <a:rect l="l" t="t" r="r" b="b"/>
            <a:pathLst>
              <a:path w="3587750" h="508000">
                <a:moveTo>
                  <a:pt x="31750" y="0"/>
                </a:moveTo>
                <a:lnTo>
                  <a:pt x="3556000" y="0"/>
                </a:lnTo>
                <a:cubicBezTo>
                  <a:pt x="3573523" y="0"/>
                  <a:pt x="3587750" y="14227"/>
                  <a:pt x="3587750" y="31750"/>
                </a:cubicBezTo>
                <a:lnTo>
                  <a:pt x="3587750" y="476250"/>
                </a:lnTo>
                <a:cubicBezTo>
                  <a:pt x="3587750" y="493773"/>
                  <a:pt x="3573523" y="508000"/>
                  <a:pt x="355600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2013" y="1402403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013" y="1624614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Recomienda películas basado en tus patrones de visualización.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602" y="1910147"/>
            <a:ext cx="3587750" cy="508000"/>
          </a:xfrm>
          <a:custGeom>
            <a:avLst/>
            <a:gdLst/>
            <a:ahLst/>
            <a:cxnLst/>
            <a:rect l="l" t="t" r="r" b="b"/>
            <a:pathLst>
              <a:path w="3587750" h="508000">
                <a:moveTo>
                  <a:pt x="31750" y="0"/>
                </a:moveTo>
                <a:lnTo>
                  <a:pt x="3556000" y="0"/>
                </a:lnTo>
                <a:cubicBezTo>
                  <a:pt x="3573523" y="0"/>
                  <a:pt x="3587750" y="14227"/>
                  <a:pt x="3587750" y="31750"/>
                </a:cubicBezTo>
                <a:lnTo>
                  <a:pt x="3587750" y="476250"/>
                </a:lnTo>
                <a:cubicBezTo>
                  <a:pt x="3587750" y="493773"/>
                  <a:pt x="3573523" y="508000"/>
                  <a:pt x="355600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2013" y="1973562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013" y="2195781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filtering + matrix factorization (similar a K-Means).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1586" y="2484298"/>
            <a:ext cx="3577843" cy="291718"/>
          </a:xfrm>
          <a:custGeom>
            <a:avLst/>
            <a:gdLst/>
            <a:ahLst/>
            <a:cxnLst/>
            <a:rect l="l" t="t" r="r" b="b"/>
            <a:pathLst>
              <a:path w="3577843" h="291718">
                <a:moveTo>
                  <a:pt x="31751" y="0"/>
                </a:moveTo>
                <a:lnTo>
                  <a:pt x="3546092" y="0"/>
                </a:lnTo>
                <a:cubicBezTo>
                  <a:pt x="3563628" y="0"/>
                  <a:pt x="3577843" y="14215"/>
                  <a:pt x="3577843" y="31751"/>
                </a:cubicBezTo>
                <a:lnTo>
                  <a:pt x="3577843" y="259967"/>
                </a:lnTo>
                <a:cubicBezTo>
                  <a:pt x="3577843" y="277503"/>
                  <a:pt x="3563628" y="291718"/>
                  <a:pt x="3546092" y="291718"/>
                </a:cubicBezTo>
                <a:lnTo>
                  <a:pt x="31751" y="291718"/>
                </a:lnTo>
                <a:cubicBezTo>
                  <a:pt x="14215" y="291718"/>
                  <a:pt x="0" y="277503"/>
                  <a:pt x="0" y="25996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981" y="2550689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80% del contenido visto viene de recomendaciones.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4488" y="955174"/>
            <a:ext cx="3784218" cy="2077656"/>
          </a:xfrm>
          <a:custGeom>
            <a:avLst/>
            <a:gdLst/>
            <a:ahLst/>
            <a:cxnLst/>
            <a:rect l="l" t="t" r="r" b="b"/>
            <a:pathLst>
              <a:path w="3784218" h="2077656">
                <a:moveTo>
                  <a:pt x="63493" y="0"/>
                </a:moveTo>
                <a:lnTo>
                  <a:pt x="3720725" y="0"/>
                </a:lnTo>
                <a:cubicBezTo>
                  <a:pt x="3755791" y="0"/>
                  <a:pt x="3784218" y="28427"/>
                  <a:pt x="3784218" y="63493"/>
                </a:cubicBezTo>
                <a:lnTo>
                  <a:pt x="3784218" y="2014162"/>
                </a:lnTo>
                <a:cubicBezTo>
                  <a:pt x="3784218" y="2049229"/>
                  <a:pt x="3755791" y="2077656"/>
                  <a:pt x="3720725" y="2077656"/>
                </a:cubicBezTo>
                <a:lnTo>
                  <a:pt x="63493" y="2077656"/>
                </a:lnTo>
                <a:cubicBezTo>
                  <a:pt x="28427" y="2077656"/>
                  <a:pt x="0" y="2049229"/>
                  <a:pt x="0" y="2014162"/>
                </a:cubicBezTo>
                <a:lnTo>
                  <a:pt x="0" y="63493"/>
                </a:lnTo>
                <a:cubicBezTo>
                  <a:pt x="0" y="28427"/>
                  <a:pt x="28427" y="0"/>
                  <a:pt x="6349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2681" y="1053362"/>
            <a:ext cx="36591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Amazon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02681" y="1338988"/>
            <a:ext cx="3587750" cy="666750"/>
          </a:xfrm>
          <a:custGeom>
            <a:avLst/>
            <a:gdLst/>
            <a:ahLst/>
            <a:cxnLst/>
            <a:rect l="l" t="t" r="r" b="b"/>
            <a:pathLst>
              <a:path w="3587750" h="666750">
                <a:moveTo>
                  <a:pt x="31751" y="0"/>
                </a:moveTo>
                <a:lnTo>
                  <a:pt x="3555999" y="0"/>
                </a:lnTo>
                <a:cubicBezTo>
                  <a:pt x="3573535" y="0"/>
                  <a:pt x="3587750" y="14215"/>
                  <a:pt x="3587750" y="31751"/>
                </a:cubicBezTo>
                <a:lnTo>
                  <a:pt x="3587750" y="634999"/>
                </a:lnTo>
                <a:cubicBezTo>
                  <a:pt x="3587750" y="652535"/>
                  <a:pt x="3573535" y="666750"/>
                  <a:pt x="355599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66091" y="1402403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Sugerencias de Productos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66091" y="1624614"/>
            <a:ext cx="3516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Sugiere productos según tu historial de compras y comportamiento.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02681" y="2068866"/>
            <a:ext cx="3587750" cy="508000"/>
          </a:xfrm>
          <a:custGeom>
            <a:avLst/>
            <a:gdLst/>
            <a:ahLst/>
            <a:cxnLst/>
            <a:rect l="l" t="t" r="r" b="b"/>
            <a:pathLst>
              <a:path w="3587750" h="508000">
                <a:moveTo>
                  <a:pt x="31750" y="0"/>
                </a:moveTo>
                <a:lnTo>
                  <a:pt x="3556000" y="0"/>
                </a:lnTo>
                <a:cubicBezTo>
                  <a:pt x="3573523" y="0"/>
                  <a:pt x="3587750" y="14227"/>
                  <a:pt x="3587750" y="31750"/>
                </a:cubicBezTo>
                <a:lnTo>
                  <a:pt x="3587750" y="476250"/>
                </a:lnTo>
                <a:cubicBezTo>
                  <a:pt x="3587750" y="493773"/>
                  <a:pt x="3573523" y="508000"/>
                  <a:pt x="355600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66091" y="2132273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66091" y="2354492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Item-to-item collaborative filtering + deep learning.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05665" y="2643009"/>
            <a:ext cx="3577843" cy="291718"/>
          </a:xfrm>
          <a:custGeom>
            <a:avLst/>
            <a:gdLst/>
            <a:ahLst/>
            <a:cxnLst/>
            <a:rect l="l" t="t" r="r" b="b"/>
            <a:pathLst>
              <a:path w="3577843" h="291718">
                <a:moveTo>
                  <a:pt x="31751" y="0"/>
                </a:moveTo>
                <a:lnTo>
                  <a:pt x="3546092" y="0"/>
                </a:lnTo>
                <a:cubicBezTo>
                  <a:pt x="3563628" y="0"/>
                  <a:pt x="3577843" y="14215"/>
                  <a:pt x="3577843" y="31751"/>
                </a:cubicBezTo>
                <a:lnTo>
                  <a:pt x="3577843" y="259967"/>
                </a:lnTo>
                <a:cubicBezTo>
                  <a:pt x="3577843" y="277503"/>
                  <a:pt x="3563628" y="291718"/>
                  <a:pt x="3546092" y="291718"/>
                </a:cubicBezTo>
                <a:lnTo>
                  <a:pt x="31751" y="291718"/>
                </a:lnTo>
                <a:cubicBezTo>
                  <a:pt x="14215" y="291718"/>
                  <a:pt x="0" y="277503"/>
                  <a:pt x="0" y="25996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2059" y="2709401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35% de ventas vienen de recomendaciones.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88566" y="955174"/>
            <a:ext cx="3784218" cy="2077656"/>
          </a:xfrm>
          <a:custGeom>
            <a:avLst/>
            <a:gdLst/>
            <a:ahLst/>
            <a:cxnLst/>
            <a:rect l="l" t="t" r="r" b="b"/>
            <a:pathLst>
              <a:path w="3784218" h="2077656">
                <a:moveTo>
                  <a:pt x="63493" y="0"/>
                </a:moveTo>
                <a:lnTo>
                  <a:pt x="3720725" y="0"/>
                </a:lnTo>
                <a:cubicBezTo>
                  <a:pt x="3755791" y="0"/>
                  <a:pt x="3784218" y="28427"/>
                  <a:pt x="3784218" y="63493"/>
                </a:cubicBezTo>
                <a:lnTo>
                  <a:pt x="3784218" y="2014162"/>
                </a:lnTo>
                <a:cubicBezTo>
                  <a:pt x="3784218" y="2049229"/>
                  <a:pt x="3755791" y="2077656"/>
                  <a:pt x="3720725" y="2077656"/>
                </a:cubicBezTo>
                <a:lnTo>
                  <a:pt x="63493" y="2077656"/>
                </a:lnTo>
                <a:cubicBezTo>
                  <a:pt x="28427" y="2077656"/>
                  <a:pt x="0" y="2049229"/>
                  <a:pt x="0" y="2014162"/>
                </a:cubicBezTo>
                <a:lnTo>
                  <a:pt x="0" y="63493"/>
                </a:lnTo>
                <a:cubicBezTo>
                  <a:pt x="0" y="28427"/>
                  <a:pt x="28427" y="0"/>
                  <a:pt x="6349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6759" y="1053362"/>
            <a:ext cx="36591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GPS/Maps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86759" y="1338988"/>
            <a:ext cx="3587750" cy="666750"/>
          </a:xfrm>
          <a:custGeom>
            <a:avLst/>
            <a:gdLst/>
            <a:ahLst/>
            <a:cxnLst/>
            <a:rect l="l" t="t" r="r" b="b"/>
            <a:pathLst>
              <a:path w="3587750" h="666750">
                <a:moveTo>
                  <a:pt x="31751" y="0"/>
                </a:moveTo>
                <a:lnTo>
                  <a:pt x="3555999" y="0"/>
                </a:lnTo>
                <a:cubicBezTo>
                  <a:pt x="3573535" y="0"/>
                  <a:pt x="3587750" y="14215"/>
                  <a:pt x="3587750" y="31751"/>
                </a:cubicBezTo>
                <a:lnTo>
                  <a:pt x="3587750" y="634999"/>
                </a:lnTo>
                <a:cubicBezTo>
                  <a:pt x="3587750" y="652535"/>
                  <a:pt x="3573535" y="666750"/>
                  <a:pt x="355599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50170" y="1402403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Tráfico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50170" y="1624614"/>
            <a:ext cx="3516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Predice tráfico y sugiere rutas óptimas basado en datos históricos y en tiempo real.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86759" y="2068866"/>
            <a:ext cx="3587750" cy="508000"/>
          </a:xfrm>
          <a:custGeom>
            <a:avLst/>
            <a:gdLst/>
            <a:ahLst/>
            <a:cxnLst/>
            <a:rect l="l" t="t" r="r" b="b"/>
            <a:pathLst>
              <a:path w="3587750" h="508000">
                <a:moveTo>
                  <a:pt x="31750" y="0"/>
                </a:moveTo>
                <a:lnTo>
                  <a:pt x="3556000" y="0"/>
                </a:lnTo>
                <a:cubicBezTo>
                  <a:pt x="3573523" y="0"/>
                  <a:pt x="3587750" y="14227"/>
                  <a:pt x="3587750" y="31750"/>
                </a:cubicBezTo>
                <a:lnTo>
                  <a:pt x="3587750" y="476250"/>
                </a:lnTo>
                <a:cubicBezTo>
                  <a:pt x="3587750" y="493773"/>
                  <a:pt x="3573523" y="508000"/>
                  <a:pt x="355600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50170" y="2132273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50170" y="2354492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para series temporales de tráfico + graph neural networks.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89743" y="2643009"/>
            <a:ext cx="3577843" cy="291718"/>
          </a:xfrm>
          <a:custGeom>
            <a:avLst/>
            <a:gdLst/>
            <a:ahLst/>
            <a:cxnLst/>
            <a:rect l="l" t="t" r="r" b="b"/>
            <a:pathLst>
              <a:path w="3577843" h="291718">
                <a:moveTo>
                  <a:pt x="31751" y="0"/>
                </a:moveTo>
                <a:lnTo>
                  <a:pt x="3546092" y="0"/>
                </a:lnTo>
                <a:cubicBezTo>
                  <a:pt x="3563628" y="0"/>
                  <a:pt x="3577843" y="14215"/>
                  <a:pt x="3577843" y="31751"/>
                </a:cubicBezTo>
                <a:lnTo>
                  <a:pt x="3577843" y="259967"/>
                </a:lnTo>
                <a:cubicBezTo>
                  <a:pt x="3577843" y="277503"/>
                  <a:pt x="3563628" y="291718"/>
                  <a:pt x="3546092" y="291718"/>
                </a:cubicBezTo>
                <a:lnTo>
                  <a:pt x="31751" y="291718"/>
                </a:lnTo>
                <a:cubicBezTo>
                  <a:pt x="14215" y="291718"/>
                  <a:pt x="0" y="277503"/>
                  <a:pt x="0" y="25996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6138" y="2709401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Ahorra millones de horas de tráfico diariamente.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0409" y="3105066"/>
            <a:ext cx="5728906" cy="1529968"/>
          </a:xfrm>
          <a:custGeom>
            <a:avLst/>
            <a:gdLst/>
            <a:ahLst/>
            <a:cxnLst/>
            <a:rect l="l" t="t" r="r" b="b"/>
            <a:pathLst>
              <a:path w="5728906" h="1529968">
                <a:moveTo>
                  <a:pt x="63494" y="0"/>
                </a:moveTo>
                <a:lnTo>
                  <a:pt x="5665412" y="0"/>
                </a:lnTo>
                <a:cubicBezTo>
                  <a:pt x="5700478" y="0"/>
                  <a:pt x="5728906" y="28427"/>
                  <a:pt x="5728906" y="63494"/>
                </a:cubicBezTo>
                <a:lnTo>
                  <a:pt x="5728906" y="1466474"/>
                </a:lnTo>
                <a:cubicBezTo>
                  <a:pt x="5728906" y="1501541"/>
                  <a:pt x="5700478" y="1529968"/>
                  <a:pt x="5665412" y="1529968"/>
                </a:cubicBezTo>
                <a:lnTo>
                  <a:pt x="63494" y="1529968"/>
                </a:lnTo>
                <a:cubicBezTo>
                  <a:pt x="28427" y="1529968"/>
                  <a:pt x="0" y="1501541"/>
                  <a:pt x="0" y="1466474"/>
                </a:cubicBezTo>
                <a:lnTo>
                  <a:pt x="0" y="63494"/>
                </a:lnTo>
                <a:cubicBezTo>
                  <a:pt x="0" y="28427"/>
                  <a:pt x="28427" y="0"/>
                  <a:pt x="6349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602" y="32032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Asistentes Virtuales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8602" y="348888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2013" y="3552295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Siri, Alexa, Google Assistant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2013" y="377451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Entienden y responden preguntas usando NLP (procesamiento de lenguaje natural).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8602" y="4028343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2013" y="4091750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2013" y="4313969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Transformers (BERT, GPT) para comprensión de lenguaje.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46527" y="3105066"/>
            <a:ext cx="5728906" cy="1529968"/>
          </a:xfrm>
          <a:custGeom>
            <a:avLst/>
            <a:gdLst/>
            <a:ahLst/>
            <a:cxnLst/>
            <a:rect l="l" t="t" r="r" b="b"/>
            <a:pathLst>
              <a:path w="5728906" h="1529968">
                <a:moveTo>
                  <a:pt x="63494" y="0"/>
                </a:moveTo>
                <a:lnTo>
                  <a:pt x="5665412" y="0"/>
                </a:lnTo>
                <a:cubicBezTo>
                  <a:pt x="5700478" y="0"/>
                  <a:pt x="5728906" y="28427"/>
                  <a:pt x="5728906" y="63494"/>
                </a:cubicBezTo>
                <a:lnTo>
                  <a:pt x="5728906" y="1466474"/>
                </a:lnTo>
                <a:cubicBezTo>
                  <a:pt x="5728906" y="1501541"/>
                  <a:pt x="5700478" y="1529968"/>
                  <a:pt x="5665412" y="1529968"/>
                </a:cubicBezTo>
                <a:lnTo>
                  <a:pt x="63494" y="1529968"/>
                </a:lnTo>
                <a:cubicBezTo>
                  <a:pt x="28427" y="1529968"/>
                  <a:pt x="0" y="1501541"/>
                  <a:pt x="0" y="1466474"/>
                </a:cubicBezTo>
                <a:lnTo>
                  <a:pt x="0" y="63494"/>
                </a:lnTo>
                <a:cubicBezTo>
                  <a:pt x="0" y="28427"/>
                  <a:pt x="28427" y="0"/>
                  <a:pt x="6349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4720" y="32032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Industria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44720" y="348888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08130" y="3552295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8130" y="377451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predice fallas en equipos basado en sensores IoT.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44720" y="4028343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08130" y="4091750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Calidad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08130" y="4313969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detecta defectos en líneas de producción.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0409" y="4703658"/>
            <a:ext cx="11555031" cy="1180718"/>
          </a:xfrm>
          <a:custGeom>
            <a:avLst/>
            <a:gdLst/>
            <a:ahLst/>
            <a:cxnLst/>
            <a:rect l="l" t="t" r="r" b="b"/>
            <a:pathLst>
              <a:path w="11555031" h="1180718">
                <a:moveTo>
                  <a:pt x="63499" y="0"/>
                </a:moveTo>
                <a:lnTo>
                  <a:pt x="11491532" y="0"/>
                </a:lnTo>
                <a:cubicBezTo>
                  <a:pt x="11526601" y="0"/>
                  <a:pt x="11555031" y="28429"/>
                  <a:pt x="11555031" y="63499"/>
                </a:cubicBezTo>
                <a:lnTo>
                  <a:pt x="11555031" y="1117219"/>
                </a:lnTo>
                <a:cubicBezTo>
                  <a:pt x="11555031" y="1152289"/>
                  <a:pt x="11526601" y="1180718"/>
                  <a:pt x="11491532" y="1180718"/>
                </a:cubicBezTo>
                <a:lnTo>
                  <a:pt x="63499" y="1180718"/>
                </a:lnTo>
                <a:cubicBezTo>
                  <a:pt x="28429" y="1180718"/>
                  <a:pt x="0" y="1152289"/>
                  <a:pt x="0" y="1117219"/>
                </a:cubicBezTo>
                <a:lnTo>
                  <a:pt x="0" y="63499"/>
                </a:lnTo>
                <a:cubicBezTo>
                  <a:pt x="0" y="28429"/>
                  <a:pt x="28429" y="0"/>
                  <a:pt x="634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8602" y="4801854"/>
            <a:ext cx="1143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Patrón Universal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18602" y="5087480"/>
            <a:ext cx="2770188" cy="698500"/>
          </a:xfrm>
          <a:custGeom>
            <a:avLst/>
            <a:gdLst/>
            <a:ahLst/>
            <a:cxnLst/>
            <a:rect l="l" t="t" r="r" b="b"/>
            <a:pathLst>
              <a:path w="2770188" h="698500">
                <a:moveTo>
                  <a:pt x="31747" y="0"/>
                </a:moveTo>
                <a:lnTo>
                  <a:pt x="2738441" y="0"/>
                </a:lnTo>
                <a:cubicBezTo>
                  <a:pt x="2755974" y="0"/>
                  <a:pt x="2770188" y="14214"/>
                  <a:pt x="2770188" y="31747"/>
                </a:cubicBezTo>
                <a:lnTo>
                  <a:pt x="2770188" y="666753"/>
                </a:lnTo>
                <a:cubicBezTo>
                  <a:pt x="2770187" y="684286"/>
                  <a:pt x="2755974" y="698500"/>
                  <a:pt x="2738441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706988" y="51508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450263" y="5373106"/>
            <a:ext cx="270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Clásico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54232" y="5563622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Forest, XGBoost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81026" y="5087480"/>
            <a:ext cx="2770188" cy="698500"/>
          </a:xfrm>
          <a:custGeom>
            <a:avLst/>
            <a:gdLst/>
            <a:ahLst/>
            <a:cxnLst/>
            <a:rect l="l" t="t" r="r" b="b"/>
            <a:pathLst>
              <a:path w="2770188" h="698500">
                <a:moveTo>
                  <a:pt x="31747" y="0"/>
                </a:moveTo>
                <a:lnTo>
                  <a:pt x="2738441" y="0"/>
                </a:lnTo>
                <a:cubicBezTo>
                  <a:pt x="2755974" y="0"/>
                  <a:pt x="2770188" y="14214"/>
                  <a:pt x="2770188" y="31747"/>
                </a:cubicBezTo>
                <a:lnTo>
                  <a:pt x="2770188" y="666753"/>
                </a:lnTo>
                <a:cubicBezTo>
                  <a:pt x="2770187" y="684286"/>
                  <a:pt x="2755974" y="698500"/>
                  <a:pt x="2738441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557505" y="515089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8" name="Text 56"/>
          <p:cNvSpPr/>
          <p:nvPr/>
        </p:nvSpPr>
        <p:spPr>
          <a:xfrm>
            <a:off x="3312687" y="5373106"/>
            <a:ext cx="270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316655" y="5563622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MLP, CNN, LSTM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43543" y="5087480"/>
            <a:ext cx="2770188" cy="698500"/>
          </a:xfrm>
          <a:custGeom>
            <a:avLst/>
            <a:gdLst/>
            <a:ahLst/>
            <a:cxnLst/>
            <a:rect l="l" t="t" r="r" b="b"/>
            <a:pathLst>
              <a:path w="2770188" h="698500">
                <a:moveTo>
                  <a:pt x="31747" y="0"/>
                </a:moveTo>
                <a:lnTo>
                  <a:pt x="2738441" y="0"/>
                </a:lnTo>
                <a:cubicBezTo>
                  <a:pt x="2755974" y="0"/>
                  <a:pt x="2770188" y="14214"/>
                  <a:pt x="2770188" y="31747"/>
                </a:cubicBezTo>
                <a:lnTo>
                  <a:pt x="2770188" y="666753"/>
                </a:lnTo>
                <a:cubicBezTo>
                  <a:pt x="2770187" y="684286"/>
                  <a:pt x="2755974" y="698500"/>
                  <a:pt x="2738441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08116" y="515089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2" name="Text 60"/>
          <p:cNvSpPr/>
          <p:nvPr/>
        </p:nvSpPr>
        <p:spPr>
          <a:xfrm>
            <a:off x="6175203" y="5373106"/>
            <a:ext cx="270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179172" y="5563622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K-Means, Segmentación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06060" y="5087480"/>
            <a:ext cx="2770188" cy="698500"/>
          </a:xfrm>
          <a:custGeom>
            <a:avLst/>
            <a:gdLst/>
            <a:ahLst/>
            <a:cxnLst/>
            <a:rect l="l" t="t" r="r" b="b"/>
            <a:pathLst>
              <a:path w="2770188" h="698500">
                <a:moveTo>
                  <a:pt x="31747" y="0"/>
                </a:moveTo>
                <a:lnTo>
                  <a:pt x="2738441" y="0"/>
                </a:lnTo>
                <a:cubicBezTo>
                  <a:pt x="2755974" y="0"/>
                  <a:pt x="2770188" y="14214"/>
                  <a:pt x="2770188" y="31747"/>
                </a:cubicBezTo>
                <a:lnTo>
                  <a:pt x="2770188" y="666753"/>
                </a:lnTo>
                <a:cubicBezTo>
                  <a:pt x="2770187" y="684286"/>
                  <a:pt x="2755974" y="698500"/>
                  <a:pt x="2738441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294445" y="51508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6" name="Text 64"/>
          <p:cNvSpPr/>
          <p:nvPr/>
        </p:nvSpPr>
        <p:spPr>
          <a:xfrm>
            <a:off x="9037721" y="5373106"/>
            <a:ext cx="270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41689" y="5563622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LSTM, Predicción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0409" y="5953318"/>
            <a:ext cx="11555031" cy="545718"/>
          </a:xfrm>
          <a:custGeom>
            <a:avLst/>
            <a:gdLst/>
            <a:ahLst/>
            <a:cxnLst/>
            <a:rect l="l" t="t" r="r" b="b"/>
            <a:pathLst>
              <a:path w="11555031" h="545718">
                <a:moveTo>
                  <a:pt x="63500" y="0"/>
                </a:moveTo>
                <a:lnTo>
                  <a:pt x="11491531" y="0"/>
                </a:lnTo>
                <a:cubicBezTo>
                  <a:pt x="11526601" y="0"/>
                  <a:pt x="11555031" y="28430"/>
                  <a:pt x="11555031" y="63500"/>
                </a:cubicBezTo>
                <a:lnTo>
                  <a:pt x="11555031" y="482218"/>
                </a:lnTo>
                <a:cubicBezTo>
                  <a:pt x="11555031" y="517288"/>
                  <a:pt x="11526601" y="545718"/>
                  <a:pt x="11491531" y="545718"/>
                </a:cubicBezTo>
                <a:lnTo>
                  <a:pt x="63500" y="545718"/>
                </a:lnTo>
                <a:cubicBezTo>
                  <a:pt x="28430" y="545718"/>
                  <a:pt x="0" y="517288"/>
                  <a:pt x="0" y="48221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2415" y="613086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0" name="Text 68"/>
          <p:cNvSpPr/>
          <p:nvPr/>
        </p:nvSpPr>
        <p:spPr>
          <a:xfrm>
            <a:off x="751880" y="6051507"/>
            <a:ext cx="996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Revolución de la IA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51880" y="6242022"/>
            <a:ext cx="995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mismos principios de ML aplicados en Chess Trainer se usan en Netflix, Amazon, hospitales, bancos, y miles de aplicaciones más. La IA está transformando todos los sectores de la economía.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deab1446ced40cd0f9c362c8df0856af7e8b566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0910" y="826945"/>
            <a:ext cx="2089408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Futuro del Ajedrez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0910" y="112449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y Ajedrez: Un Futuro Juntos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491" y="1813796"/>
            <a:ext cx="11427637" cy="1493062"/>
          </a:xfrm>
          <a:custGeom>
            <a:avLst/>
            <a:gdLst/>
            <a:ahLst/>
            <a:cxnLst/>
            <a:rect l="l" t="t" r="r" b="b"/>
            <a:pathLst>
              <a:path w="11427637" h="1493062">
                <a:moveTo>
                  <a:pt x="76206" y="0"/>
                </a:moveTo>
                <a:lnTo>
                  <a:pt x="11351431" y="0"/>
                </a:lnTo>
                <a:cubicBezTo>
                  <a:pt x="11393518" y="0"/>
                  <a:pt x="11427637" y="34119"/>
                  <a:pt x="11427637" y="76206"/>
                </a:cubicBezTo>
                <a:lnTo>
                  <a:pt x="11427637" y="1416856"/>
                </a:lnTo>
                <a:cubicBezTo>
                  <a:pt x="11427637" y="1458943"/>
                  <a:pt x="11393518" y="1493062"/>
                  <a:pt x="11351431" y="1493062"/>
                </a:cubicBezTo>
                <a:lnTo>
                  <a:pt x="76206" y="1493062"/>
                </a:lnTo>
                <a:cubicBezTo>
                  <a:pt x="34119" y="1493062"/>
                  <a:pt x="0" y="1458943"/>
                  <a:pt x="0" y="1416856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8527" y="2007831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IA No Reemplaza al Entrenador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2815" y="24266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821240" y="2388636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potencia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 entrenador, no lo reemplaza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2815" y="26932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821240" y="2655177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Combina experiencia humana con análisis objetivo de millones de datos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2815" y="295977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821240" y="2921729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entrenador interpreta, la IA cuantifica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72115" y="2007831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Futuro del Entrenamiento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86403" y="24266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3"/>
          <p:cNvSpPr/>
          <p:nvPr/>
        </p:nvSpPr>
        <p:spPr>
          <a:xfrm>
            <a:off x="6414828" y="2388636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Entrenamiento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hiper-personalizado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basado en tu perfil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86403" y="26932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6414828" y="2655177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en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real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durante partidas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86403" y="295977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6414828" y="2921729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Preparación específica contra oponentes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4491" y="3541886"/>
            <a:ext cx="3702862" cy="1131112"/>
          </a:xfrm>
          <a:custGeom>
            <a:avLst/>
            <a:gdLst/>
            <a:ahLst/>
            <a:cxnLst/>
            <a:rect l="l" t="t" r="r" b="b"/>
            <a:pathLst>
              <a:path w="3702862" h="1131112">
                <a:moveTo>
                  <a:pt x="76203" y="0"/>
                </a:moveTo>
                <a:lnTo>
                  <a:pt x="3626659" y="0"/>
                </a:lnTo>
                <a:cubicBezTo>
                  <a:pt x="3668744" y="0"/>
                  <a:pt x="3702862" y="34117"/>
                  <a:pt x="3702862" y="76203"/>
                </a:cubicBezTo>
                <a:lnTo>
                  <a:pt x="3702862" y="1054909"/>
                </a:lnTo>
                <a:cubicBezTo>
                  <a:pt x="3702862" y="1096994"/>
                  <a:pt x="3668744" y="1131112"/>
                  <a:pt x="3626659" y="1131112"/>
                </a:cubicBezTo>
                <a:lnTo>
                  <a:pt x="76203" y="1131112"/>
                </a:lnTo>
                <a:cubicBezTo>
                  <a:pt x="34117" y="1131112"/>
                  <a:pt x="0" y="1096994"/>
                  <a:pt x="0" y="1054909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058895" y="3697756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3" name="Text 20"/>
          <p:cNvSpPr/>
          <p:nvPr/>
        </p:nvSpPr>
        <p:spPr>
          <a:xfrm>
            <a:off x="497507" y="40596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Automático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07032" y="4326303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Post-partida en segundos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45294" y="3541886"/>
            <a:ext cx="3702862" cy="1131112"/>
          </a:xfrm>
          <a:custGeom>
            <a:avLst/>
            <a:gdLst/>
            <a:ahLst/>
            <a:cxnLst/>
            <a:rect l="l" t="t" r="r" b="b"/>
            <a:pathLst>
              <a:path w="3702862" h="1131112">
                <a:moveTo>
                  <a:pt x="76203" y="0"/>
                </a:moveTo>
                <a:lnTo>
                  <a:pt x="3626659" y="0"/>
                </a:lnTo>
                <a:cubicBezTo>
                  <a:pt x="3668744" y="0"/>
                  <a:pt x="3702862" y="34117"/>
                  <a:pt x="3702862" y="76203"/>
                </a:cubicBezTo>
                <a:lnTo>
                  <a:pt x="3702862" y="1054909"/>
                </a:lnTo>
                <a:cubicBezTo>
                  <a:pt x="3702862" y="1096994"/>
                  <a:pt x="3668744" y="1131112"/>
                  <a:pt x="3626659" y="1131112"/>
                </a:cubicBezTo>
                <a:lnTo>
                  <a:pt x="76203" y="1131112"/>
                </a:lnTo>
                <a:cubicBezTo>
                  <a:pt x="34117" y="1131112"/>
                  <a:pt x="0" y="1096994"/>
                  <a:pt x="0" y="1054909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73276" y="369775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4671" y="-7255"/>
                </a:moveTo>
                <a:cubicBezTo>
                  <a:pt x="128308" y="-8539"/>
                  <a:pt x="121779" y="-8539"/>
                  <a:pt x="115416" y="-7255"/>
                </a:cubicBezTo>
                <a:lnTo>
                  <a:pt x="10771" y="13674"/>
                </a:lnTo>
                <a:cubicBezTo>
                  <a:pt x="4521" y="14901"/>
                  <a:pt x="0" y="20427"/>
                  <a:pt x="0" y="26789"/>
                </a:cubicBezTo>
                <a:cubicBezTo>
                  <a:pt x="0" y="32538"/>
                  <a:pt x="3628" y="37560"/>
                  <a:pt x="8930" y="39402"/>
                </a:cubicBezTo>
                <a:lnTo>
                  <a:pt x="8930" y="80367"/>
                </a:lnTo>
                <a:lnTo>
                  <a:pt x="167" y="124234"/>
                </a:lnTo>
                <a:cubicBezTo>
                  <a:pt x="56" y="124737"/>
                  <a:pt x="0" y="125295"/>
                  <a:pt x="0" y="125853"/>
                </a:cubicBezTo>
                <a:cubicBezTo>
                  <a:pt x="0" y="130318"/>
                  <a:pt x="3628" y="134001"/>
                  <a:pt x="8148" y="134001"/>
                </a:cubicBezTo>
                <a:lnTo>
                  <a:pt x="27626" y="134001"/>
                </a:lnTo>
                <a:cubicBezTo>
                  <a:pt x="32091" y="134001"/>
                  <a:pt x="35775" y="130373"/>
                  <a:pt x="35775" y="125853"/>
                </a:cubicBezTo>
                <a:cubicBezTo>
                  <a:pt x="35775" y="125295"/>
                  <a:pt x="35719" y="124792"/>
                  <a:pt x="35607" y="124234"/>
                </a:cubicBezTo>
                <a:lnTo>
                  <a:pt x="26789" y="80367"/>
                </a:lnTo>
                <a:lnTo>
                  <a:pt x="26789" y="43142"/>
                </a:lnTo>
                <a:lnTo>
                  <a:pt x="53578" y="48499"/>
                </a:lnTo>
                <a:lnTo>
                  <a:pt x="53578" y="80367"/>
                </a:lnTo>
                <a:cubicBezTo>
                  <a:pt x="53578" y="119825"/>
                  <a:pt x="85558" y="151805"/>
                  <a:pt x="125016" y="151805"/>
                </a:cubicBezTo>
                <a:cubicBezTo>
                  <a:pt x="164474" y="151805"/>
                  <a:pt x="196453" y="119825"/>
                  <a:pt x="196453" y="80367"/>
                </a:cubicBezTo>
                <a:lnTo>
                  <a:pt x="196453" y="48499"/>
                </a:lnTo>
                <a:lnTo>
                  <a:pt x="239260" y="39960"/>
                </a:lnTo>
                <a:cubicBezTo>
                  <a:pt x="245511" y="38677"/>
                  <a:pt x="250031" y="33151"/>
                  <a:pt x="250031" y="26789"/>
                </a:cubicBezTo>
                <a:cubicBezTo>
                  <a:pt x="250031" y="20427"/>
                  <a:pt x="245511" y="14901"/>
                  <a:pt x="239260" y="13674"/>
                </a:cubicBezTo>
                <a:lnTo>
                  <a:pt x="134671" y="-7255"/>
                </a:lnTo>
                <a:close/>
                <a:moveTo>
                  <a:pt x="125016" y="125016"/>
                </a:moveTo>
                <a:cubicBezTo>
                  <a:pt x="100347" y="125016"/>
                  <a:pt x="80367" y="105035"/>
                  <a:pt x="80367" y="80367"/>
                </a:cubicBezTo>
                <a:lnTo>
                  <a:pt x="169664" y="80367"/>
                </a:lnTo>
                <a:cubicBezTo>
                  <a:pt x="169664" y="105035"/>
                  <a:pt x="149684" y="125016"/>
                  <a:pt x="125016" y="125016"/>
                </a:cubicBezTo>
                <a:close/>
                <a:moveTo>
                  <a:pt x="67028" y="178650"/>
                </a:moveTo>
                <a:cubicBezTo>
                  <a:pt x="32761" y="194388"/>
                  <a:pt x="8930" y="22899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111621" y="285750"/>
                </a:lnTo>
                <a:lnTo>
                  <a:pt x="111621" y="204267"/>
                </a:lnTo>
                <a:lnTo>
                  <a:pt x="79586" y="180268"/>
                </a:lnTo>
                <a:cubicBezTo>
                  <a:pt x="75958" y="177533"/>
                  <a:pt x="71103" y="176808"/>
                  <a:pt x="66973" y="178705"/>
                </a:cubicBezTo>
                <a:close/>
                <a:moveTo>
                  <a:pt x="138410" y="285750"/>
                </a:move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28991"/>
                  <a:pt x="217270" y="194388"/>
                  <a:pt x="183003" y="178705"/>
                </a:cubicBezTo>
                <a:cubicBezTo>
                  <a:pt x="178873" y="176808"/>
                  <a:pt x="174017" y="177533"/>
                  <a:pt x="170390" y="180268"/>
                </a:cubicBezTo>
                <a:lnTo>
                  <a:pt x="138354" y="204267"/>
                </a:lnTo>
                <a:lnTo>
                  <a:pt x="138354" y="28575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4"/>
          <p:cNvSpPr/>
          <p:nvPr/>
        </p:nvSpPr>
        <p:spPr>
          <a:xfrm>
            <a:off x="4358310" y="40596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Entrenamiento Personalizado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367835" y="4326303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Basado en tus debilidades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06097" y="3541886"/>
            <a:ext cx="3702862" cy="1131112"/>
          </a:xfrm>
          <a:custGeom>
            <a:avLst/>
            <a:gdLst/>
            <a:ahLst/>
            <a:cxnLst/>
            <a:rect l="l" t="t" r="r" b="b"/>
            <a:pathLst>
              <a:path w="3702862" h="1131112">
                <a:moveTo>
                  <a:pt x="76203" y="0"/>
                </a:moveTo>
                <a:lnTo>
                  <a:pt x="3626659" y="0"/>
                </a:lnTo>
                <a:cubicBezTo>
                  <a:pt x="3668744" y="0"/>
                  <a:pt x="3702862" y="34117"/>
                  <a:pt x="3702862" y="76203"/>
                </a:cubicBezTo>
                <a:lnTo>
                  <a:pt x="3702862" y="1054909"/>
                </a:lnTo>
                <a:cubicBezTo>
                  <a:pt x="3702862" y="1096994"/>
                  <a:pt x="3668744" y="1131112"/>
                  <a:pt x="3626659" y="1131112"/>
                </a:cubicBezTo>
                <a:lnTo>
                  <a:pt x="76203" y="1131112"/>
                </a:lnTo>
                <a:cubicBezTo>
                  <a:pt x="34117" y="1131112"/>
                  <a:pt x="0" y="1096994"/>
                  <a:pt x="0" y="1054909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816219" y="36977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1" name="Text 28"/>
          <p:cNvSpPr/>
          <p:nvPr/>
        </p:nvSpPr>
        <p:spPr>
          <a:xfrm>
            <a:off x="8219113" y="40596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Seguimiento de Progreso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28638" y="4326303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Métricas objetivas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88072" y="4911886"/>
            <a:ext cx="11415748" cy="1119223"/>
          </a:xfrm>
          <a:custGeom>
            <a:avLst/>
            <a:gdLst/>
            <a:ahLst/>
            <a:cxnLst/>
            <a:rect l="l" t="t" r="r" b="b"/>
            <a:pathLst>
              <a:path w="11415748" h="1119223">
                <a:moveTo>
                  <a:pt x="76197" y="0"/>
                </a:moveTo>
                <a:lnTo>
                  <a:pt x="11339552" y="0"/>
                </a:lnTo>
                <a:cubicBezTo>
                  <a:pt x="11381634" y="0"/>
                  <a:pt x="11415748" y="34114"/>
                  <a:pt x="11415748" y="76197"/>
                </a:cubicBezTo>
                <a:lnTo>
                  <a:pt x="11415748" y="1043027"/>
                </a:lnTo>
                <a:cubicBezTo>
                  <a:pt x="11415748" y="1085109"/>
                  <a:pt x="11381634" y="1119223"/>
                  <a:pt x="11339552" y="1119223"/>
                </a:cubicBezTo>
                <a:lnTo>
                  <a:pt x="76197" y="1119223"/>
                </a:lnTo>
                <a:cubicBezTo>
                  <a:pt x="34114" y="1119223"/>
                  <a:pt x="0" y="1085109"/>
                  <a:pt x="0" y="104302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9098">
            <a:solidFill>
              <a:srgbClr val="C9A2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8481" y="529995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5" name="Text 32"/>
          <p:cNvSpPr/>
          <p:nvPr/>
        </p:nvSpPr>
        <p:spPr>
          <a:xfrm>
            <a:off x="999946" y="5071346"/>
            <a:ext cx="1076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Democratización del Entrenamiento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99946" y="5414209"/>
            <a:ext cx="1072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democratiza el acceso a entrenamiento de clase mundial. Ahora cualquier jugador, en cualquier lugar, puede acceder a análisis que antes solo estaban disponibles para profesionales con entrenadores personales.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en Ajedrez - Jugadores y Entrenadores</dc:title>
  <dc:subject>IA en Ajedrez - Jugadores y Entrenadores</dc:subject>
  <dc:creator>Kimi</dc:creator>
  <cp:lastModifiedBy>Kimi</cp:lastModifiedBy>
  <cp:revision>1</cp:revision>
  <dcterms:created xsi:type="dcterms:W3CDTF">2026-02-15T01:00:02Z</dcterms:created>
  <dcterms:modified xsi:type="dcterms:W3CDTF">2026-02-15T01:00:02Z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{"Label":"IA en Ajedrez - Jugadores y Entrenadores","ContentProducer":"001191110108MACG2KBH8F10000","ProduceID":"19c5d623-7de2-816c-8000-0000ca6b55f0","ReservedCode1":"","ContentPropagator":"001191110108MACG2KBH8F20000","PropagateID":"19c5d623-7de2-816c-8000-0000ca6b55f0","ReservedCode2":""}</vt:lpwstr>
  </property>
</Properties>
</file>